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5"/>
  </p:notesMasterIdLst>
  <p:sldIdLst>
    <p:sldId id="936" r:id="rId3"/>
    <p:sldId id="399" r:id="rId4"/>
    <p:sldId id="256" r:id="rId5"/>
    <p:sldId id="403" r:id="rId6"/>
    <p:sldId id="404" r:id="rId7"/>
    <p:sldId id="400" r:id="rId8"/>
    <p:sldId id="257" r:id="rId9"/>
    <p:sldId id="401" r:id="rId10"/>
    <p:sldId id="402" r:id="rId11"/>
    <p:sldId id="405" r:id="rId12"/>
    <p:sldId id="406" r:id="rId13"/>
    <p:sldId id="93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359DAE-74E7-4044-8D0F-58F8BC826689}" v="6" dt="2026-10-01T15:14:39.0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uskett, Harve A" userId="213d60ac-aef1-4d38-a1a1-cc3530dfbff5" providerId="ADAL" clId="{46A6D219-DC58-45E8-8D58-021ACE409CDA}"/>
    <pc:docChg chg="addSld delSld modSld">
      <pc:chgData name="Truskett, Harve A" userId="213d60ac-aef1-4d38-a1a1-cc3530dfbff5" providerId="ADAL" clId="{46A6D219-DC58-45E8-8D58-021ACE409CDA}" dt="2026-10-01T15:14:39.046" v="5"/>
      <pc:docMkLst>
        <pc:docMk/>
      </pc:docMkLst>
      <pc:sldChg chg="modSp">
        <pc:chgData name="Truskett, Harve A" userId="213d60ac-aef1-4d38-a1a1-cc3530dfbff5" providerId="ADAL" clId="{46A6D219-DC58-45E8-8D58-021ACE409CDA}" dt="2026-10-01T15:09:51.732" v="4"/>
        <pc:sldMkLst>
          <pc:docMk/>
          <pc:sldMk cId="842705799" sldId="399"/>
        </pc:sldMkLst>
        <pc:graphicFrameChg chg="mod">
          <ac:chgData name="Truskett, Harve A" userId="213d60ac-aef1-4d38-a1a1-cc3530dfbff5" providerId="ADAL" clId="{46A6D219-DC58-45E8-8D58-021ACE409CDA}" dt="2026-10-01T15:09:51.732" v="4"/>
          <ac:graphicFrameMkLst>
            <pc:docMk/>
            <pc:sldMk cId="842705799" sldId="399"/>
            <ac:graphicFrameMk id="14" creationId="{B3E97826-F806-7FD8-40AB-50488E618AF5}"/>
          </ac:graphicFrameMkLst>
        </pc:graphicFrameChg>
      </pc:sldChg>
      <pc:sldChg chg="add del">
        <pc:chgData name="Truskett, Harve A" userId="213d60ac-aef1-4d38-a1a1-cc3530dfbff5" providerId="ADAL" clId="{46A6D219-DC58-45E8-8D58-021ACE409CDA}" dt="2026-10-01T14:42:59.932" v="2"/>
        <pc:sldMkLst>
          <pc:docMk/>
          <pc:sldMk cId="1623937882" sldId="935"/>
        </pc:sldMkLst>
      </pc:sldChg>
      <pc:sldChg chg="modSp">
        <pc:chgData name="Truskett, Harve A" userId="213d60ac-aef1-4d38-a1a1-cc3530dfbff5" providerId="ADAL" clId="{46A6D219-DC58-45E8-8D58-021ACE409CDA}" dt="2026-10-01T15:14:39.046" v="5"/>
        <pc:sldMkLst>
          <pc:docMk/>
          <pc:sldMk cId="227999731" sldId="936"/>
        </pc:sldMkLst>
        <pc:spChg chg="mod">
          <ac:chgData name="Truskett, Harve A" userId="213d60ac-aef1-4d38-a1a1-cc3530dfbff5" providerId="ADAL" clId="{46A6D219-DC58-45E8-8D58-021ACE409CDA}" dt="2026-10-01T15:14:39.046" v="5"/>
          <ac:spMkLst>
            <pc:docMk/>
            <pc:sldMk cId="227999731" sldId="936"/>
            <ac:spMk id="5" creationId="{7FC6E8F1-BB0B-4510-D136-E9321EF302D2}"/>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3">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FB8E129-B831-4CAF-9772-8ACB8C238FFF}" type="doc">
      <dgm:prSet loTypeId="urn:microsoft.com/office/officeart/2005/8/layout/vList2" loCatId="list" qsTypeId="urn:microsoft.com/office/officeart/2005/8/quickstyle/simple4#6" qsCatId="simple" csTypeId="urn:microsoft.com/office/officeart/2005/8/colors/colorful1#3" csCatId="colorful" phldr="1"/>
      <dgm:spPr/>
      <dgm:t>
        <a:bodyPr/>
        <a:lstStyle/>
        <a:p>
          <a:endParaRPr lang="en-US"/>
        </a:p>
      </dgm:t>
    </dgm:pt>
    <dgm:pt modelId="{0F95985B-7594-4083-9215-53B438D0E454}">
      <dgm:prSet/>
      <dgm:spPr/>
      <dgm:t>
        <a:bodyPr/>
        <a:lstStyle/>
        <a:p>
          <a:r>
            <a:rPr lang="en-US" dirty="0"/>
            <a:t>Research Assessment – October 8</a:t>
          </a:r>
          <a:r>
            <a:rPr lang="en-US" baseline="30000" dirty="0"/>
            <a:t>th</a:t>
          </a:r>
          <a:r>
            <a:rPr lang="en-US" dirty="0"/>
            <a:t> – In Class</a:t>
          </a:r>
        </a:p>
      </dgm:t>
    </dgm:pt>
    <dgm:pt modelId="{E6DBA1F5-7738-4CD3-932D-50CE4116FE41}" type="parTrans" cxnId="{3AD937F5-5DCE-45DC-A1A2-00082BE29338}">
      <dgm:prSet/>
      <dgm:spPr/>
      <dgm:t>
        <a:bodyPr/>
        <a:lstStyle/>
        <a:p>
          <a:endParaRPr lang="en-US"/>
        </a:p>
      </dgm:t>
    </dgm:pt>
    <dgm:pt modelId="{F89B3265-60DB-46B1-8001-89F8F7265B63}" type="sibTrans" cxnId="{3AD937F5-5DCE-45DC-A1A2-00082BE29338}">
      <dgm:prSet/>
      <dgm:spPr/>
      <dgm:t>
        <a:bodyPr/>
        <a:lstStyle/>
        <a:p>
          <a:endParaRPr lang="en-US"/>
        </a:p>
      </dgm:t>
    </dgm:pt>
    <dgm:pt modelId="{EC2A9315-4B58-4AF4-A31B-5B1FC91EFAD9}">
      <dgm:prSet/>
      <dgm:spPr/>
      <dgm:t>
        <a:bodyPr/>
        <a:lstStyle/>
        <a:p>
          <a:r>
            <a:rPr lang="en-US" dirty="0"/>
            <a:t>Legal Research Modules 4.5 and 4.6</a:t>
          </a:r>
        </a:p>
      </dgm:t>
    </dgm:pt>
    <dgm:pt modelId="{A0F2DC88-C8EC-44E1-B575-4EC7E2EAF20C}" type="parTrans" cxnId="{8B309552-6231-4C36-84E5-40F3ED0E67D2}">
      <dgm:prSet/>
      <dgm:spPr/>
      <dgm:t>
        <a:bodyPr/>
        <a:lstStyle/>
        <a:p>
          <a:endParaRPr lang="en-US"/>
        </a:p>
      </dgm:t>
    </dgm:pt>
    <dgm:pt modelId="{17E1CB5B-D4ED-4B03-B556-28377ABBB7A7}" type="sibTrans" cxnId="{8B309552-6231-4C36-84E5-40F3ED0E67D2}">
      <dgm:prSet/>
      <dgm:spPr/>
      <dgm:t>
        <a:bodyPr/>
        <a:lstStyle/>
        <a:p>
          <a:endParaRPr lang="en-US"/>
        </a:p>
      </dgm:t>
    </dgm:pt>
    <dgm:pt modelId="{00E7AD03-F02E-4334-8B16-11568DF4A94F}">
      <dgm:prSet phldrT="[Text]" phldr="0"/>
      <dgm:spPr/>
      <dgm:t>
        <a:bodyPr/>
        <a:lstStyle/>
        <a:p>
          <a:r>
            <a:rPr lang="en-US" dirty="0"/>
            <a:t>Bennett – Glass Case Law Exercise</a:t>
          </a:r>
        </a:p>
      </dgm:t>
    </dgm:pt>
    <dgm:pt modelId="{7B40D751-D691-447F-8476-0ED39FD16973}" type="parTrans" cxnId="{095223AF-46DF-4F5C-AE2A-C40F1F2B2B25}">
      <dgm:prSet/>
      <dgm:spPr/>
      <dgm:t>
        <a:bodyPr/>
        <a:lstStyle/>
        <a:p>
          <a:endParaRPr lang="en-US"/>
        </a:p>
      </dgm:t>
    </dgm:pt>
    <dgm:pt modelId="{CE33BED7-CFCB-4C89-9436-E6F41AD04F1C}" type="sibTrans" cxnId="{095223AF-46DF-4F5C-AE2A-C40F1F2B2B25}">
      <dgm:prSet/>
      <dgm:spPr/>
      <dgm:t>
        <a:bodyPr/>
        <a:lstStyle/>
        <a:p>
          <a:endParaRPr lang="en-US"/>
        </a:p>
      </dgm:t>
    </dgm:pt>
    <dgm:pt modelId="{CF86A8AF-585B-4810-8817-229159775B35}">
      <dgm:prSet phldrT="[Text]" phldr="0"/>
      <dgm:spPr/>
      <dgm:t>
        <a:bodyPr/>
        <a:lstStyle/>
        <a:p>
          <a:r>
            <a:rPr lang="en-US" dirty="0"/>
            <a:t>Anatomy of a Case</a:t>
          </a:r>
        </a:p>
      </dgm:t>
    </dgm:pt>
    <dgm:pt modelId="{EF4E0E5D-136F-45AC-A60A-533FCC20D4BF}" type="parTrans" cxnId="{37376430-E231-4D59-9204-2FEF890D348B}">
      <dgm:prSet/>
      <dgm:spPr/>
    </dgm:pt>
    <dgm:pt modelId="{0362F17C-84EB-4714-8D7A-CCF8B8946892}" type="sibTrans" cxnId="{37376430-E231-4D59-9204-2FEF890D348B}">
      <dgm:prSet/>
      <dgm:spPr/>
    </dgm:pt>
    <dgm:pt modelId="{D3018D55-36C3-41E0-84E1-9DE562A8E234}" type="pres">
      <dgm:prSet presAssocID="{DFB8E129-B831-4CAF-9772-8ACB8C238FFF}" presName="linear" presStyleCnt="0">
        <dgm:presLayoutVars>
          <dgm:animLvl val="lvl"/>
          <dgm:resizeHandles val="exact"/>
        </dgm:presLayoutVars>
      </dgm:prSet>
      <dgm:spPr/>
    </dgm:pt>
    <dgm:pt modelId="{6472C315-B51E-4BE6-8982-0E73FAC170F4}" type="pres">
      <dgm:prSet presAssocID="{0F95985B-7594-4083-9215-53B438D0E454}" presName="parentText" presStyleLbl="node1" presStyleIdx="0" presStyleCnt="4">
        <dgm:presLayoutVars>
          <dgm:chMax val="0"/>
          <dgm:bulletEnabled val="1"/>
        </dgm:presLayoutVars>
      </dgm:prSet>
      <dgm:spPr/>
    </dgm:pt>
    <dgm:pt modelId="{AE087E22-D561-4C52-BC8E-4C1B104C2A58}" type="pres">
      <dgm:prSet presAssocID="{F89B3265-60DB-46B1-8001-89F8F7265B63}" presName="spacer" presStyleCnt="0"/>
      <dgm:spPr/>
    </dgm:pt>
    <dgm:pt modelId="{9D99D879-86EB-4369-AD20-729EEB3FE344}" type="pres">
      <dgm:prSet presAssocID="{CF86A8AF-585B-4810-8817-229159775B35}" presName="parentText" presStyleLbl="node1" presStyleIdx="1" presStyleCnt="4">
        <dgm:presLayoutVars>
          <dgm:chMax val="0"/>
          <dgm:bulletEnabled val="1"/>
        </dgm:presLayoutVars>
      </dgm:prSet>
      <dgm:spPr/>
    </dgm:pt>
    <dgm:pt modelId="{DDBD8AF2-CCEE-44D1-9626-E79288157626}" type="pres">
      <dgm:prSet presAssocID="{0362F17C-84EB-4714-8D7A-CCF8B8946892}" presName="spacer" presStyleCnt="0"/>
      <dgm:spPr/>
    </dgm:pt>
    <dgm:pt modelId="{F9BF4985-C11A-491F-A1CA-48FEE9841A2F}" type="pres">
      <dgm:prSet presAssocID="{EC2A9315-4B58-4AF4-A31B-5B1FC91EFAD9}" presName="parentText" presStyleLbl="node1" presStyleIdx="2" presStyleCnt="4">
        <dgm:presLayoutVars>
          <dgm:chMax val="0"/>
          <dgm:bulletEnabled val="1"/>
        </dgm:presLayoutVars>
      </dgm:prSet>
      <dgm:spPr/>
    </dgm:pt>
    <dgm:pt modelId="{8D2037AB-69EB-4A8B-8408-ED91945DC1D4}" type="pres">
      <dgm:prSet presAssocID="{17E1CB5B-D4ED-4B03-B556-28377ABBB7A7}" presName="spacer" presStyleCnt="0"/>
      <dgm:spPr/>
    </dgm:pt>
    <dgm:pt modelId="{3D62706A-DE16-47B8-A05C-3B1860B7F5C1}" type="pres">
      <dgm:prSet presAssocID="{00E7AD03-F02E-4334-8B16-11568DF4A94F}" presName="parentText" presStyleLbl="node1" presStyleIdx="3" presStyleCnt="4">
        <dgm:presLayoutVars>
          <dgm:chMax val="0"/>
          <dgm:bulletEnabled val="1"/>
        </dgm:presLayoutVars>
      </dgm:prSet>
      <dgm:spPr/>
    </dgm:pt>
  </dgm:ptLst>
  <dgm:cxnLst>
    <dgm:cxn modelId="{5EFB6F03-FB87-4FB0-A5CB-0B8854C3379B}" type="presOf" srcId="{EC2A9315-4B58-4AF4-A31B-5B1FC91EFAD9}" destId="{F9BF4985-C11A-491F-A1CA-48FEE9841A2F}" srcOrd="0" destOrd="0" presId="urn:microsoft.com/office/officeart/2005/8/layout/vList2"/>
    <dgm:cxn modelId="{37376430-E231-4D59-9204-2FEF890D348B}" srcId="{DFB8E129-B831-4CAF-9772-8ACB8C238FFF}" destId="{CF86A8AF-585B-4810-8817-229159775B35}" srcOrd="1" destOrd="0" parTransId="{EF4E0E5D-136F-45AC-A60A-533FCC20D4BF}" sibTransId="{0362F17C-84EB-4714-8D7A-CCF8B8946892}"/>
    <dgm:cxn modelId="{86B6D24A-4F34-4C8D-A478-0A71309320F3}" type="presOf" srcId="{CF86A8AF-585B-4810-8817-229159775B35}" destId="{9D99D879-86EB-4369-AD20-729EEB3FE344}" srcOrd="0" destOrd="0" presId="urn:microsoft.com/office/officeart/2005/8/layout/vList2"/>
    <dgm:cxn modelId="{8B309552-6231-4C36-84E5-40F3ED0E67D2}" srcId="{DFB8E129-B831-4CAF-9772-8ACB8C238FFF}" destId="{EC2A9315-4B58-4AF4-A31B-5B1FC91EFAD9}" srcOrd="2" destOrd="0" parTransId="{A0F2DC88-C8EC-44E1-B575-4EC7E2EAF20C}" sibTransId="{17E1CB5B-D4ED-4B03-B556-28377ABBB7A7}"/>
    <dgm:cxn modelId="{B1037157-7F19-48EA-8065-8F90501D48C6}" type="presOf" srcId="{00E7AD03-F02E-4334-8B16-11568DF4A94F}" destId="{3D62706A-DE16-47B8-A05C-3B1860B7F5C1}" srcOrd="0" destOrd="0" presId="urn:microsoft.com/office/officeart/2005/8/layout/vList2"/>
    <dgm:cxn modelId="{A5C22BAE-BD1C-43C0-B81C-E611B2DD3D9A}" type="presOf" srcId="{0F95985B-7594-4083-9215-53B438D0E454}" destId="{6472C315-B51E-4BE6-8982-0E73FAC170F4}" srcOrd="0" destOrd="0" presId="urn:microsoft.com/office/officeart/2005/8/layout/vList2"/>
    <dgm:cxn modelId="{095223AF-46DF-4F5C-AE2A-C40F1F2B2B25}" srcId="{DFB8E129-B831-4CAF-9772-8ACB8C238FFF}" destId="{00E7AD03-F02E-4334-8B16-11568DF4A94F}" srcOrd="3" destOrd="0" parTransId="{7B40D751-D691-447F-8476-0ED39FD16973}" sibTransId="{CE33BED7-CFCB-4C89-9436-E6F41AD04F1C}"/>
    <dgm:cxn modelId="{670FE9BB-A333-4786-A34F-1549B056C71C}" type="presOf" srcId="{DFB8E129-B831-4CAF-9772-8ACB8C238FFF}" destId="{D3018D55-36C3-41E0-84E1-9DE562A8E234}" srcOrd="0" destOrd="0" presId="urn:microsoft.com/office/officeart/2005/8/layout/vList2"/>
    <dgm:cxn modelId="{3AD937F5-5DCE-45DC-A1A2-00082BE29338}" srcId="{DFB8E129-B831-4CAF-9772-8ACB8C238FFF}" destId="{0F95985B-7594-4083-9215-53B438D0E454}" srcOrd="0" destOrd="0" parTransId="{E6DBA1F5-7738-4CD3-932D-50CE4116FE41}" sibTransId="{F89B3265-60DB-46B1-8001-89F8F7265B63}"/>
    <dgm:cxn modelId="{E845EC46-4B3B-4735-A466-DD0FC4B49451}" type="presParOf" srcId="{D3018D55-36C3-41E0-84E1-9DE562A8E234}" destId="{6472C315-B51E-4BE6-8982-0E73FAC170F4}" srcOrd="0" destOrd="0" presId="urn:microsoft.com/office/officeart/2005/8/layout/vList2"/>
    <dgm:cxn modelId="{5CD3445B-821E-411C-85EB-7FF876C21B15}" type="presParOf" srcId="{D3018D55-36C3-41E0-84E1-9DE562A8E234}" destId="{AE087E22-D561-4C52-BC8E-4C1B104C2A58}" srcOrd="1" destOrd="0" presId="urn:microsoft.com/office/officeart/2005/8/layout/vList2"/>
    <dgm:cxn modelId="{31D5057A-A658-4FCD-A6EE-2B2F20E81DE3}" type="presParOf" srcId="{D3018D55-36C3-41E0-84E1-9DE562A8E234}" destId="{9D99D879-86EB-4369-AD20-729EEB3FE344}" srcOrd="2" destOrd="0" presId="urn:microsoft.com/office/officeart/2005/8/layout/vList2"/>
    <dgm:cxn modelId="{CF7877DC-9FB1-49FE-81F8-C81BB52F626C}" type="presParOf" srcId="{D3018D55-36C3-41E0-84E1-9DE562A8E234}" destId="{DDBD8AF2-CCEE-44D1-9626-E79288157626}" srcOrd="3" destOrd="0" presId="urn:microsoft.com/office/officeart/2005/8/layout/vList2"/>
    <dgm:cxn modelId="{824EE2F2-EB26-47C6-9135-A0EB990CB2C2}" type="presParOf" srcId="{D3018D55-36C3-41E0-84E1-9DE562A8E234}" destId="{F9BF4985-C11A-491F-A1CA-48FEE9841A2F}" srcOrd="4" destOrd="0" presId="urn:microsoft.com/office/officeart/2005/8/layout/vList2"/>
    <dgm:cxn modelId="{D31C6189-D4B1-4A08-BA63-9C3DA36A7BD2}" type="presParOf" srcId="{D3018D55-36C3-41E0-84E1-9DE562A8E234}" destId="{8D2037AB-69EB-4A8B-8408-ED91945DC1D4}" srcOrd="5" destOrd="0" presId="urn:microsoft.com/office/officeart/2005/8/layout/vList2"/>
    <dgm:cxn modelId="{5C5BC45C-F2F8-4D8F-8B1E-B07A592EA013}" type="presParOf" srcId="{D3018D55-36C3-41E0-84E1-9DE562A8E234}" destId="{3D62706A-DE16-47B8-A05C-3B1860B7F5C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72C315-B51E-4BE6-8982-0E73FAC170F4}">
      <dsp:nvSpPr>
        <dsp:cNvPr id="0" name=""/>
        <dsp:cNvSpPr/>
      </dsp:nvSpPr>
      <dsp:spPr>
        <a:xfrm>
          <a:off x="0" y="37268"/>
          <a:ext cx="10515600" cy="9828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Research Assessment – October 8</a:t>
          </a:r>
          <a:r>
            <a:rPr lang="en-US" sz="4000" kern="1200" baseline="30000" dirty="0"/>
            <a:t>th</a:t>
          </a:r>
          <a:r>
            <a:rPr lang="en-US" sz="4000" kern="1200" dirty="0"/>
            <a:t> – In Class</a:t>
          </a:r>
        </a:p>
      </dsp:txBody>
      <dsp:txXfrm>
        <a:off x="47976" y="85244"/>
        <a:ext cx="10419648" cy="886848"/>
      </dsp:txXfrm>
    </dsp:sp>
    <dsp:sp modelId="{9D99D879-86EB-4369-AD20-729EEB3FE344}">
      <dsp:nvSpPr>
        <dsp:cNvPr id="0" name=""/>
        <dsp:cNvSpPr/>
      </dsp:nvSpPr>
      <dsp:spPr>
        <a:xfrm>
          <a:off x="0" y="1135269"/>
          <a:ext cx="10515600" cy="9828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Anatomy of a Case</a:t>
          </a:r>
        </a:p>
      </dsp:txBody>
      <dsp:txXfrm>
        <a:off x="47976" y="1183245"/>
        <a:ext cx="10419648" cy="886848"/>
      </dsp:txXfrm>
    </dsp:sp>
    <dsp:sp modelId="{F9BF4985-C11A-491F-A1CA-48FEE9841A2F}">
      <dsp:nvSpPr>
        <dsp:cNvPr id="0" name=""/>
        <dsp:cNvSpPr/>
      </dsp:nvSpPr>
      <dsp:spPr>
        <a:xfrm>
          <a:off x="0" y="2233269"/>
          <a:ext cx="10515600" cy="9828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Legal Research Modules 4.5 and 4.6</a:t>
          </a:r>
        </a:p>
      </dsp:txBody>
      <dsp:txXfrm>
        <a:off x="47976" y="2281245"/>
        <a:ext cx="10419648" cy="886848"/>
      </dsp:txXfrm>
    </dsp:sp>
    <dsp:sp modelId="{3D62706A-DE16-47B8-A05C-3B1860B7F5C1}">
      <dsp:nvSpPr>
        <dsp:cNvPr id="0" name=""/>
        <dsp:cNvSpPr/>
      </dsp:nvSpPr>
      <dsp:spPr>
        <a:xfrm>
          <a:off x="0" y="3331269"/>
          <a:ext cx="10515600" cy="9828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l" defTabSz="1778000">
            <a:lnSpc>
              <a:spcPct val="90000"/>
            </a:lnSpc>
            <a:spcBef>
              <a:spcPct val="0"/>
            </a:spcBef>
            <a:spcAft>
              <a:spcPct val="35000"/>
            </a:spcAft>
            <a:buNone/>
          </a:pPr>
          <a:r>
            <a:rPr lang="en-US" sz="4000" kern="1200" dirty="0"/>
            <a:t>Bennett – Glass Case Law Exercise</a:t>
          </a:r>
        </a:p>
      </dsp:txBody>
      <dsp:txXfrm>
        <a:off x="47976" y="3379245"/>
        <a:ext cx="10419648" cy="8868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6">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153508-CE69-4418-8BA4-BC700020A220}" type="datetimeFigureOut">
              <a:rPr lang="en-US" smtClean="0"/>
              <a:t>10/1/2026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597A7-BF18-445B-938C-ED327B66B10B}" type="slidenum">
              <a:rPr lang="en-US" smtClean="0"/>
              <a:t>‹#›</a:t>
            </a:fld>
            <a:endParaRPr lang="en-US"/>
          </a:p>
        </p:txBody>
      </p:sp>
    </p:spTree>
    <p:extLst>
      <p:ext uri="{BB962C8B-B14F-4D97-AF65-F5344CB8AC3E}">
        <p14:creationId xmlns:p14="http://schemas.microsoft.com/office/powerpoint/2010/main" val="2919238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5C597A7-BF18-445B-938C-ED327B66B10B}" type="slidenum">
              <a:rPr lang="en-US" smtClean="0"/>
              <a:t>11</a:t>
            </a:fld>
            <a:endParaRPr lang="en-US"/>
          </a:p>
        </p:txBody>
      </p:sp>
    </p:spTree>
    <p:extLst>
      <p:ext uri="{BB962C8B-B14F-4D97-AF65-F5344CB8AC3E}">
        <p14:creationId xmlns:p14="http://schemas.microsoft.com/office/powerpoint/2010/main" val="1864898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2E038-E526-2159-9855-1F3A5458E5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B5B2D4-3AB0-FE9C-7D42-2071A65867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DBC89FC-8460-B32D-68B0-BBA213148B78}"/>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5" name="Footer Placeholder 4">
            <a:extLst>
              <a:ext uri="{FF2B5EF4-FFF2-40B4-BE49-F238E27FC236}">
                <a16:creationId xmlns:a16="http://schemas.microsoft.com/office/drawing/2014/main" id="{27D08961-E71B-9FDC-CA77-A197AA02D4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C2A199-5F7A-F4A8-E01A-D09DF86C9373}"/>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3181293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DEA7F-60EB-D546-3872-7DDEBE6423F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2548A7-CBC6-11B7-9165-31D0538045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8852A7-E70A-12B9-3057-319338C447CC}"/>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5" name="Footer Placeholder 4">
            <a:extLst>
              <a:ext uri="{FF2B5EF4-FFF2-40B4-BE49-F238E27FC236}">
                <a16:creationId xmlns:a16="http://schemas.microsoft.com/office/drawing/2014/main" id="{C5712E3F-479A-BAE5-E1C4-AAB68D4A57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987119-C4C2-9FBB-82C3-194EC6F1A80F}"/>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63228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6EAD2-9899-358D-81D3-7E1DB1561A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311D16-70DF-C636-4DF3-ED77020100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E1CD31-FB22-FF12-6869-011C33697879}"/>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5" name="Footer Placeholder 4">
            <a:extLst>
              <a:ext uri="{FF2B5EF4-FFF2-40B4-BE49-F238E27FC236}">
                <a16:creationId xmlns:a16="http://schemas.microsoft.com/office/drawing/2014/main" id="{1942C6C8-B0BD-5FB6-5C3E-E5B695AD0A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CA8070-DCFB-7553-063B-A821E43B328E}"/>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2099141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01059-BE41-9DEE-1DDB-DBC6D30F8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63FE4F-56F0-3A3F-3499-323923966C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BC2EA29-7C86-C9F6-BE54-03F230BC136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EA2322-0FA7-1B46-22A5-07EC30BBC656}"/>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6" name="Footer Placeholder 5">
            <a:extLst>
              <a:ext uri="{FF2B5EF4-FFF2-40B4-BE49-F238E27FC236}">
                <a16:creationId xmlns:a16="http://schemas.microsoft.com/office/drawing/2014/main" id="{B3D49182-398F-9E13-491E-DF775EFEF3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1D733A-8040-8404-C961-FE7F562D4544}"/>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3199226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A728-774C-9476-5EB5-A052929251B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312D59-75AD-C900-F142-1FB64BB254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5E49E2-BAC4-1B5D-6EA6-9CA71830D5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5937CF9-32A3-E367-82C9-568DCE039C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BE7C00-1169-8A3D-38E5-2717059A96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0EA978-42AC-0DED-132B-27175587BF5D}"/>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8" name="Footer Placeholder 7">
            <a:extLst>
              <a:ext uri="{FF2B5EF4-FFF2-40B4-BE49-F238E27FC236}">
                <a16:creationId xmlns:a16="http://schemas.microsoft.com/office/drawing/2014/main" id="{44E2FD19-BFF2-B4FD-3CC7-3C1C5B0289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981375-D1D6-0716-54D0-67DE2D495E1C}"/>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1147759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7BEE4-5AB9-3801-8C55-0B785ABA90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E8651E-C990-99F2-1154-761E22554941}"/>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4" name="Footer Placeholder 3">
            <a:extLst>
              <a:ext uri="{FF2B5EF4-FFF2-40B4-BE49-F238E27FC236}">
                <a16:creationId xmlns:a16="http://schemas.microsoft.com/office/drawing/2014/main" id="{61043FBA-8A03-AB67-D62A-AB1AC29A224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804E20-30CB-A4D8-70EF-094564F9B13A}"/>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40519335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9971DC-F284-2471-2691-0C4002E85880}"/>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3" name="Footer Placeholder 2">
            <a:extLst>
              <a:ext uri="{FF2B5EF4-FFF2-40B4-BE49-F238E27FC236}">
                <a16:creationId xmlns:a16="http://schemas.microsoft.com/office/drawing/2014/main" id="{BBF5F5F1-FE8B-40E3-524A-1FE78CF3D0A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5938BE-34E0-359C-EED3-08F865111222}"/>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1565113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EB1D9-E19E-FAAE-71CF-4031C878A4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51D68B-4F16-91C9-61B7-48D15A0DA7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6D1543-DEC6-F13E-12BC-DD4962ABDD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FEB3D3-0507-795C-F1F2-E1DB775977BF}"/>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6" name="Footer Placeholder 5">
            <a:extLst>
              <a:ext uri="{FF2B5EF4-FFF2-40B4-BE49-F238E27FC236}">
                <a16:creationId xmlns:a16="http://schemas.microsoft.com/office/drawing/2014/main" id="{22693E85-BD34-D0C9-23B6-76936D87B5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E49E7F-0A67-2DD0-76B2-3B0CE154D810}"/>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105093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F54DA-64E4-8B28-CE2A-F54F6401E7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C571E03-074C-0759-F9F9-208F61E4CEA2}"/>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0793235-BB39-794B-0B1C-21CCF76342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3FA18E-E43D-209F-B454-91D99651E9E5}"/>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6" name="Footer Placeholder 5">
            <a:extLst>
              <a:ext uri="{FF2B5EF4-FFF2-40B4-BE49-F238E27FC236}">
                <a16:creationId xmlns:a16="http://schemas.microsoft.com/office/drawing/2014/main" id="{0EC91627-1ACF-E99D-CBA9-D2C0AD9394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BDF7720-CA1F-D76C-D9B3-250032594C09}"/>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26241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D24CD-F612-9FFC-FFC6-8AA6B4B98D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E90EFC-BB2F-6524-A8D3-CF139BF8DB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A19B52-6683-CE7E-F011-17BFBAF0C0D0}"/>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5" name="Footer Placeholder 4">
            <a:extLst>
              <a:ext uri="{FF2B5EF4-FFF2-40B4-BE49-F238E27FC236}">
                <a16:creationId xmlns:a16="http://schemas.microsoft.com/office/drawing/2014/main" id="{6900BA5B-6AC3-2D55-AAE6-6B465FF123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E2C3FF-3E28-E2BD-C805-47BB4F0C3442}"/>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1787486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03DF29-56D2-7C8C-1236-5E417C286C1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7C93D4-5A53-2D20-97DD-C8F7DC2683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A54745-A2D8-32F9-90E4-676717F8CA92}"/>
              </a:ext>
            </a:extLst>
          </p:cNvPr>
          <p:cNvSpPr>
            <a:spLocks noGrp="1"/>
          </p:cNvSpPr>
          <p:nvPr>
            <p:ph type="dt" sz="half" idx="10"/>
          </p:nvPr>
        </p:nvSpPr>
        <p:spPr/>
        <p:txBody>
          <a:bodyPr/>
          <a:lstStyle/>
          <a:p>
            <a:fld id="{5DC261E4-DCA2-449C-A449-5A4A8C3931E9}" type="datetimeFigureOut">
              <a:rPr lang="en-US" smtClean="0"/>
              <a:t>10/1/2026</a:t>
            </a:fld>
            <a:endParaRPr lang="en-US"/>
          </a:p>
        </p:txBody>
      </p:sp>
      <p:sp>
        <p:nvSpPr>
          <p:cNvPr id="5" name="Footer Placeholder 4">
            <a:extLst>
              <a:ext uri="{FF2B5EF4-FFF2-40B4-BE49-F238E27FC236}">
                <a16:creationId xmlns:a16="http://schemas.microsoft.com/office/drawing/2014/main" id="{905962D2-E074-1027-5BA8-640CD1CD45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68E38D-2963-C162-477D-6F41F2D444EF}"/>
              </a:ext>
            </a:extLst>
          </p:cNvPr>
          <p:cNvSpPr>
            <a:spLocks noGrp="1"/>
          </p:cNvSpPr>
          <p:nvPr>
            <p:ph type="sldNum" sz="quarter" idx="12"/>
          </p:nvPr>
        </p:nvSpPr>
        <p:spPr/>
        <p:txBody>
          <a:bodyPr/>
          <a:lstStyle/>
          <a:p>
            <a:fld id="{4B086A11-4F4A-45D7-B3C8-0E1BA80ABFF3}" type="slidenum">
              <a:rPr lang="en-US" smtClean="0"/>
              <a:t>‹#›</a:t>
            </a:fld>
            <a:endParaRPr lang="en-US"/>
          </a:p>
        </p:txBody>
      </p:sp>
    </p:spTree>
    <p:extLst>
      <p:ext uri="{BB962C8B-B14F-4D97-AF65-F5344CB8AC3E}">
        <p14:creationId xmlns:p14="http://schemas.microsoft.com/office/powerpoint/2010/main" val="133054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072520-4D46-423A-A292-F40B3F894B6B}"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746323-BE5C-4802-8A6C-5DBFE3F3E9C0}" type="slidenum">
              <a:rPr lang="en-US" smtClean="0"/>
              <a:t>‹#›</a:t>
            </a:fld>
            <a:endParaRPr lang="en-US"/>
          </a:p>
        </p:txBody>
      </p:sp>
    </p:spTree>
    <p:extLst>
      <p:ext uri="{BB962C8B-B14F-4D97-AF65-F5344CB8AC3E}">
        <p14:creationId xmlns:p14="http://schemas.microsoft.com/office/powerpoint/2010/main" val="2494550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565027-3348-2D17-82EB-82CD61FFB2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4F1859-04B7-A7BC-1E1B-3FECF2126B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3265A5-9751-94B2-8572-605494D402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C261E4-DCA2-449C-A449-5A4A8C3931E9}" type="datetimeFigureOut">
              <a:rPr lang="en-US" smtClean="0"/>
              <a:t>10/1/2026</a:t>
            </a:fld>
            <a:endParaRPr lang="en-US"/>
          </a:p>
        </p:txBody>
      </p:sp>
      <p:sp>
        <p:nvSpPr>
          <p:cNvPr id="5" name="Footer Placeholder 4">
            <a:extLst>
              <a:ext uri="{FF2B5EF4-FFF2-40B4-BE49-F238E27FC236}">
                <a16:creationId xmlns:a16="http://schemas.microsoft.com/office/drawing/2014/main" id="{B693BDDE-8FC5-B7F8-55BC-2AADDCA0AD5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6636979-16A3-42F4-017B-1986247DF1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B086A11-4F4A-45D7-B3C8-0E1BA80ABFF3}" type="slidenum">
              <a:rPr lang="en-US" smtClean="0"/>
              <a:t>‹#›</a:t>
            </a:fld>
            <a:endParaRPr lang="en-US"/>
          </a:p>
        </p:txBody>
      </p:sp>
    </p:spTree>
    <p:extLst>
      <p:ext uri="{BB962C8B-B14F-4D97-AF65-F5344CB8AC3E}">
        <p14:creationId xmlns:p14="http://schemas.microsoft.com/office/powerpoint/2010/main" val="5206017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6">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E072520-4D46-423A-A292-F40B3F894B6B}" type="datetimeFigureOut">
              <a:rPr lang="en-US" smtClean="0"/>
              <a:t>10/1/2026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6746323-BE5C-4802-8A6C-5DBFE3F3E9C0}" type="slidenum">
              <a:rPr lang="en-US" smtClean="0"/>
              <a:t>‹#›</a:t>
            </a:fld>
            <a:endParaRPr lang="en-US"/>
          </a:p>
        </p:txBody>
      </p:sp>
    </p:spTree>
    <p:extLst>
      <p:ext uri="{BB962C8B-B14F-4D97-AF65-F5344CB8AC3E}">
        <p14:creationId xmlns:p14="http://schemas.microsoft.com/office/powerpoint/2010/main" val="3763754595"/>
      </p:ext>
    </p:extLst>
  </p:cSld>
  <p:clrMap bg1="dk1" tx1="lt1" bg2="dk2" tx2="lt2" accent1="accent1" accent2="accent2" accent3="accent3" accent4="accent4" accent5="accent5" accent6="accent6" hlink="hlink" folHlink="folHlink"/>
  <p:sldLayoutIdLst>
    <p:sldLayoutId id="2147483661" r:id="rId1"/>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hyperlink" Target="https://guides.ll.georgetown.edu/home/treatise-finders" TargetMode="External"/><Relationship Id="rId7" Type="http://schemas.openxmlformats.org/officeDocument/2006/relationships/image" Target="../media/image19.png"/><Relationship Id="rId2" Type="http://schemas.openxmlformats.org/officeDocument/2006/relationships/hyperlink" Target="https://rbbrownelluh.github.io/flip-cards/" TargetMode="External"/><Relationship Id="rId1" Type="http://schemas.openxmlformats.org/officeDocument/2006/relationships/slideLayout" Target="../slideLayouts/slideLayout7.xml"/><Relationship Id="rId6" Type="http://schemas.openxmlformats.org/officeDocument/2006/relationships/image" Target="../media/image18.jpg"/><Relationship Id="rId11" Type="http://schemas.openxmlformats.org/officeDocument/2006/relationships/image" Target="../media/image23.jpg"/><Relationship Id="rId5" Type="http://schemas.openxmlformats.org/officeDocument/2006/relationships/image" Target="../media/image17.png"/><Relationship Id="rId10" Type="http://schemas.openxmlformats.org/officeDocument/2006/relationships/image" Target="../media/image22.jpg"/><Relationship Id="rId4" Type="http://schemas.openxmlformats.org/officeDocument/2006/relationships/hyperlink" Target="https://law-uh.libguides.com/texas_sources" TargetMode="External"/><Relationship Id="rId9"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hyperlink" Target="mailto:adrake2@central.uh.edu"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1197EB6B-727D-EAF9-878A-136D17127B4D}"/>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Warmup – 5 mins</a:t>
            </a:r>
          </a:p>
        </p:txBody>
      </p:sp>
      <p:sp>
        <p:nvSpPr>
          <p:cNvPr id="5" name="Content Placeholder 4">
            <a:extLst>
              <a:ext uri="{FF2B5EF4-FFF2-40B4-BE49-F238E27FC236}">
                <a16:creationId xmlns:a16="http://schemas.microsoft.com/office/drawing/2014/main" id="{7FC6E8F1-BB0B-4510-D136-E9321EF302D2}"/>
              </a:ext>
            </a:extLst>
          </p:cNvPr>
          <p:cNvSpPr>
            <a:spLocks noGrp="1"/>
          </p:cNvSpPr>
          <p:nvPr>
            <p:ph idx="1"/>
          </p:nvPr>
        </p:nvSpPr>
        <p:spPr>
          <a:xfrm>
            <a:off x="6503158" y="649480"/>
            <a:ext cx="4862447" cy="5546047"/>
          </a:xfrm>
        </p:spPr>
        <p:txBody>
          <a:bodyPr anchor="ctr">
            <a:normAutofit/>
          </a:bodyPr>
          <a:lstStyle/>
          <a:p>
            <a:r>
              <a:rPr lang="en-US" sz="2000" dirty="0"/>
              <a:t>List the three directional steps in the “Any Good Case Method” from your Legal Research Modules. </a:t>
            </a:r>
          </a:p>
          <a:p>
            <a:r>
              <a:rPr lang="en-US" sz="2000" dirty="0"/>
              <a:t>What is essential to find before proceeding with the three steps?</a:t>
            </a:r>
          </a:p>
          <a:p>
            <a:r>
              <a:rPr lang="en-US" sz="2000" dirty="0"/>
              <a:t>Pick one to explain. </a:t>
            </a:r>
          </a:p>
          <a:p>
            <a:r>
              <a:rPr lang="en-US" sz="2000" dirty="0"/>
              <a:t>Be Prepared to Share</a:t>
            </a:r>
          </a:p>
          <a:p>
            <a:endParaRPr lang="en-US" sz="2000" dirty="0"/>
          </a:p>
        </p:txBody>
      </p:sp>
    </p:spTree>
    <p:extLst>
      <p:ext uri="{BB962C8B-B14F-4D97-AF65-F5344CB8AC3E}">
        <p14:creationId xmlns:p14="http://schemas.microsoft.com/office/powerpoint/2010/main" val="2279997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itle 3">
            <a:extLst>
              <a:ext uri="{FF2B5EF4-FFF2-40B4-BE49-F238E27FC236}">
                <a16:creationId xmlns:a16="http://schemas.microsoft.com/office/drawing/2014/main" id="{DDF48FF2-349E-ED9B-D8FB-048BC76C9959}"/>
              </a:ext>
            </a:extLst>
          </p:cNvPr>
          <p:cNvSpPr>
            <a:spLocks noGrp="1"/>
          </p:cNvSpPr>
          <p:nvPr>
            <p:ph type="title"/>
          </p:nvPr>
        </p:nvSpPr>
        <p:spPr>
          <a:xfrm>
            <a:off x="838200" y="365125"/>
            <a:ext cx="10515600" cy="1325563"/>
          </a:xfrm>
        </p:spPr>
        <p:txBody>
          <a:bodyPr>
            <a:normAutofit/>
          </a:bodyPr>
          <a:lstStyle/>
          <a:p>
            <a:r>
              <a:rPr lang="en-US" dirty="0">
                <a:solidFill>
                  <a:srgbClr val="FFFFFF"/>
                </a:solidFill>
              </a:rPr>
              <a:t>Today in LSS – Cases and Citators</a:t>
            </a:r>
          </a:p>
        </p:txBody>
      </p:sp>
      <p:graphicFrame>
        <p:nvGraphicFramePr>
          <p:cNvPr id="14" name="Content Placeholder 4">
            <a:extLst>
              <a:ext uri="{FF2B5EF4-FFF2-40B4-BE49-F238E27FC236}">
                <a16:creationId xmlns:a16="http://schemas.microsoft.com/office/drawing/2014/main" id="{B3E97826-F806-7FD8-40AB-50488E618AF5}"/>
              </a:ext>
            </a:extLst>
          </p:cNvPr>
          <p:cNvGraphicFramePr>
            <a:graphicFrameLocks noGrp="1"/>
          </p:cNvGraphicFramePr>
          <p:nvPr>
            <p:ph idx="1"/>
            <p:extLst>
              <p:ext uri="{D42A27DB-BD31-4B8C-83A1-F6EECF244321}">
                <p14:modId xmlns:p14="http://schemas.microsoft.com/office/powerpoint/2010/main" val="403607022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270579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CB74AC-9449-0E7C-BDD3-EFF9BF4CD5A9}"/>
              </a:ext>
            </a:extLst>
          </p:cNvPr>
          <p:cNvSpPr>
            <a:spLocks noGrp="1"/>
          </p:cNvSpPr>
          <p:nvPr>
            <p:ph type="title"/>
          </p:nvPr>
        </p:nvSpPr>
        <p:spPr/>
        <p:txBody>
          <a:bodyPr/>
          <a:lstStyle/>
          <a:p>
            <a:r>
              <a:rPr lang="en-US" dirty="0"/>
              <a:t>What to Study</a:t>
            </a:r>
          </a:p>
        </p:txBody>
      </p:sp>
      <p:sp>
        <p:nvSpPr>
          <p:cNvPr id="5" name="Content Placeholder 4">
            <a:extLst>
              <a:ext uri="{FF2B5EF4-FFF2-40B4-BE49-F238E27FC236}">
                <a16:creationId xmlns:a16="http://schemas.microsoft.com/office/drawing/2014/main" id="{BF397A8C-E3DA-14CC-A5FC-8158189EEDDA}"/>
              </a:ext>
            </a:extLst>
          </p:cNvPr>
          <p:cNvSpPr>
            <a:spLocks noGrp="1"/>
          </p:cNvSpPr>
          <p:nvPr>
            <p:ph idx="1"/>
          </p:nvPr>
        </p:nvSpPr>
        <p:spPr>
          <a:xfrm>
            <a:off x="838200" y="1825624"/>
            <a:ext cx="10515600" cy="5032376"/>
          </a:xfrm>
        </p:spPr>
        <p:txBody>
          <a:bodyPr>
            <a:normAutofit lnSpcReduction="10000"/>
          </a:bodyPr>
          <a:lstStyle/>
          <a:p>
            <a:r>
              <a:rPr lang="en-US" dirty="0"/>
              <a:t>Material in the Legal Research Modules and What We Have Discussed/Will Discuss in Class Sept. 22 – Oct. 6</a:t>
            </a:r>
          </a:p>
          <a:p>
            <a:pPr lvl="1"/>
            <a:r>
              <a:rPr lang="en-US" dirty="0"/>
              <a:t>Hierarchy of Authority</a:t>
            </a:r>
          </a:p>
          <a:p>
            <a:pPr lvl="2"/>
            <a:r>
              <a:rPr lang="en-US" dirty="0"/>
              <a:t>Primary and Secondary Sources</a:t>
            </a:r>
          </a:p>
          <a:p>
            <a:pPr lvl="2"/>
            <a:r>
              <a:rPr lang="en-US" dirty="0"/>
              <a:t>Mandatory or Persuasive Sources</a:t>
            </a:r>
          </a:p>
          <a:p>
            <a:pPr lvl="1"/>
            <a:r>
              <a:rPr lang="en-US" dirty="0"/>
              <a:t>Secondary Sources</a:t>
            </a:r>
          </a:p>
          <a:p>
            <a:pPr lvl="1"/>
            <a:r>
              <a:rPr lang="en-US" dirty="0"/>
              <a:t>Statutory Research</a:t>
            </a:r>
          </a:p>
          <a:p>
            <a:pPr lvl="1"/>
            <a:r>
              <a:rPr lang="en-US" dirty="0"/>
              <a:t>Case Law Research and Citators</a:t>
            </a:r>
          </a:p>
          <a:p>
            <a:r>
              <a:rPr lang="en-US" dirty="0"/>
              <a:t>Participate in and review the In – Class Exercises; Review Slides</a:t>
            </a:r>
          </a:p>
          <a:p>
            <a:r>
              <a:rPr lang="en-US" dirty="0"/>
              <a:t>Review and rewatch the Legal Research Modules (review exercises)</a:t>
            </a:r>
          </a:p>
          <a:p>
            <a:r>
              <a:rPr lang="en-US" dirty="0"/>
              <a:t>My Office Hours (Regular/Bonus 3:30 – 5:00 pm Monday) and Legal Research Fellow Office Hours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7897485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853EBD0-19B1-6BAD-2DFA-757EA3491DF2}"/>
              </a:ext>
            </a:extLst>
          </p:cNvPr>
          <p:cNvPicPr>
            <a:picLocks noChangeAspect="1"/>
          </p:cNvPicPr>
          <p:nvPr/>
        </p:nvPicPr>
        <p:blipFill>
          <a:blip r:embed="rId2"/>
          <a:stretch>
            <a:fillRect/>
          </a:stretch>
        </p:blipFill>
        <p:spPr>
          <a:xfrm>
            <a:off x="3162325" y="0"/>
            <a:ext cx="5867350" cy="6858000"/>
          </a:xfrm>
          <a:prstGeom prst="rect">
            <a:avLst/>
          </a:prstGeom>
        </p:spPr>
      </p:pic>
    </p:spTree>
    <p:extLst>
      <p:ext uri="{BB962C8B-B14F-4D97-AF65-F5344CB8AC3E}">
        <p14:creationId xmlns:p14="http://schemas.microsoft.com/office/powerpoint/2010/main" val="10122331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72A6AC3-A5EB-4E50-B460-8B0A428F31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KeyCite red-striped flag. Indicates that a case has been partially overruled and provides direct access to the specific language within the case that addresses the overruled point of law.">
            <a:extLst>
              <a:ext uri="{FF2B5EF4-FFF2-40B4-BE49-F238E27FC236}">
                <a16:creationId xmlns:a16="http://schemas.microsoft.com/office/drawing/2014/main" id="{F9B34346-DCE9-19FA-DD94-C517761A3141}"/>
              </a:ext>
            </a:extLst>
          </p:cNvPr>
          <p:cNvPicPr>
            <a:picLocks noChangeAspect="1"/>
          </p:cNvPicPr>
          <p:nvPr/>
        </p:nvPicPr>
        <p:blipFill>
          <a:blip r:embed="rId2"/>
          <a:stretch>
            <a:fillRect/>
          </a:stretch>
        </p:blipFill>
        <p:spPr>
          <a:xfrm>
            <a:off x="5381533" y="562334"/>
            <a:ext cx="1311728" cy="1285494"/>
          </a:xfrm>
          <a:prstGeom prst="rect">
            <a:avLst/>
          </a:prstGeom>
        </p:spPr>
      </p:pic>
      <p:sp>
        <p:nvSpPr>
          <p:cNvPr id="3" name="TextBox 2">
            <a:extLst>
              <a:ext uri="{FF2B5EF4-FFF2-40B4-BE49-F238E27FC236}">
                <a16:creationId xmlns:a16="http://schemas.microsoft.com/office/drawing/2014/main" id="{E72B753C-24C6-780B-F84E-2829A5C81EEF}"/>
              </a:ext>
            </a:extLst>
          </p:cNvPr>
          <p:cNvSpPr txBox="1"/>
          <p:nvPr/>
        </p:nvSpPr>
        <p:spPr>
          <a:xfrm>
            <a:off x="1198181" y="3514855"/>
            <a:ext cx="9792469" cy="2606545"/>
          </a:xfrm>
          <a:prstGeom prst="rect">
            <a:avLst/>
          </a:prstGeom>
        </p:spPr>
        <p:txBody>
          <a:bodyPr vert="horz" lIns="91440" tIns="45720" rIns="91440" bIns="45720" rtlCol="0">
            <a:normAutofit/>
          </a:bodyPr>
          <a:lstStyle/>
          <a:p>
            <a:pPr indent="-228600" algn="ctr">
              <a:lnSpc>
                <a:spcPct val="90000"/>
              </a:lnSpc>
              <a:spcAft>
                <a:spcPts val="600"/>
              </a:spcAft>
              <a:buFont typeface="Arial" panose="020B0604020202020204" pitchFamily="34" charset="0"/>
              <a:buChar char="•"/>
            </a:pPr>
            <a:r>
              <a:rPr lang="en-US" sz="2000" b="0" i="0" dirty="0">
                <a:effectLst/>
              </a:rPr>
              <a:t>New Variation of A Westlaw Red Flag - A red-striped flag indicates that a case has been partially overruled and provides direct access to the specific language within the case that addresses the overruled point of law. For example, one identified point of law can be overruled while other points remain good law. It still means you need to review the negative history and see if the partial overruling applies to your issue. </a:t>
            </a:r>
            <a:endParaRPr lang="en-US" sz="2000" dirty="0"/>
          </a:p>
        </p:txBody>
      </p:sp>
    </p:spTree>
    <p:extLst>
      <p:ext uri="{BB962C8B-B14F-4D97-AF65-F5344CB8AC3E}">
        <p14:creationId xmlns:p14="http://schemas.microsoft.com/office/powerpoint/2010/main" val="131201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08843" y="146993"/>
            <a:ext cx="1356629" cy="709409"/>
            <a:chOff x="2934752" y="162101"/>
            <a:chExt cx="1496060" cy="782320"/>
          </a:xfrm>
        </p:grpSpPr>
        <p:sp>
          <p:nvSpPr>
            <p:cNvPr id="3" name="object 3"/>
            <p:cNvSpPr/>
            <p:nvPr/>
          </p:nvSpPr>
          <p:spPr>
            <a:xfrm>
              <a:off x="2934752" y="162101"/>
              <a:ext cx="1496060" cy="782320"/>
            </a:xfrm>
            <a:custGeom>
              <a:avLst/>
              <a:gdLst/>
              <a:ahLst/>
              <a:cxnLst/>
              <a:rect l="l" t="t" r="r" b="b"/>
              <a:pathLst>
                <a:path w="1496060" h="782319">
                  <a:moveTo>
                    <a:pt x="1376143" y="782216"/>
                  </a:moveTo>
                  <a:lnTo>
                    <a:pt x="197989" y="782216"/>
                  </a:lnTo>
                  <a:lnTo>
                    <a:pt x="165601" y="777776"/>
                  </a:lnTo>
                  <a:lnTo>
                    <a:pt x="136592" y="765262"/>
                  </a:lnTo>
                  <a:lnTo>
                    <a:pt x="112170" y="745886"/>
                  </a:lnTo>
                  <a:lnTo>
                    <a:pt x="93543" y="720857"/>
                  </a:lnTo>
                  <a:lnTo>
                    <a:pt x="56260" y="704307"/>
                  </a:lnTo>
                  <a:lnTo>
                    <a:pt x="26623" y="677053"/>
                  </a:lnTo>
                  <a:lnTo>
                    <a:pt x="7060" y="641523"/>
                  </a:lnTo>
                  <a:lnTo>
                    <a:pt x="0" y="600142"/>
                  </a:lnTo>
                  <a:lnTo>
                    <a:pt x="0" y="124638"/>
                  </a:lnTo>
                  <a:lnTo>
                    <a:pt x="9810" y="76170"/>
                  </a:lnTo>
                  <a:lnTo>
                    <a:pt x="36547" y="36547"/>
                  </a:lnTo>
                  <a:lnTo>
                    <a:pt x="76170" y="9810"/>
                  </a:lnTo>
                  <a:lnTo>
                    <a:pt x="124638" y="0"/>
                  </a:lnTo>
                  <a:lnTo>
                    <a:pt x="1302794" y="0"/>
                  </a:lnTo>
                  <a:lnTo>
                    <a:pt x="1339453" y="5501"/>
                  </a:lnTo>
                  <a:lnTo>
                    <a:pt x="1371810" y="20902"/>
                  </a:lnTo>
                  <a:lnTo>
                    <a:pt x="1398216" y="44550"/>
                  </a:lnTo>
                  <a:lnTo>
                    <a:pt x="1417019" y="74792"/>
                  </a:lnTo>
                  <a:lnTo>
                    <a:pt x="1448673" y="92128"/>
                  </a:lnTo>
                  <a:lnTo>
                    <a:pt x="1473565" y="117864"/>
                  </a:lnTo>
                  <a:lnTo>
                    <a:pt x="1489852" y="150157"/>
                  </a:lnTo>
                  <a:lnTo>
                    <a:pt x="1495690" y="187164"/>
                  </a:lnTo>
                  <a:lnTo>
                    <a:pt x="1495690" y="662668"/>
                  </a:lnTo>
                  <a:lnTo>
                    <a:pt x="1486296" y="709202"/>
                  </a:lnTo>
                  <a:lnTo>
                    <a:pt x="1460676" y="747201"/>
                  </a:lnTo>
                  <a:lnTo>
                    <a:pt x="1422676" y="772821"/>
                  </a:lnTo>
                  <a:lnTo>
                    <a:pt x="1376143" y="782216"/>
                  </a:lnTo>
                  <a:close/>
                </a:path>
              </a:pathLst>
            </a:custGeom>
            <a:solidFill>
              <a:srgbClr val="000000"/>
            </a:solidFill>
          </p:spPr>
          <p:txBody>
            <a:bodyPr wrap="square" lIns="0" tIns="0" rIns="0" bIns="0" rtlCol="0"/>
            <a:lstStyle/>
            <a:p>
              <a:endParaRPr sz="1632"/>
            </a:p>
          </p:txBody>
        </p:sp>
        <p:sp>
          <p:nvSpPr>
            <p:cNvPr id="4" name="object 4"/>
            <p:cNvSpPr/>
            <p:nvPr/>
          </p:nvSpPr>
          <p:spPr>
            <a:xfrm>
              <a:off x="2944936" y="172287"/>
              <a:ext cx="1407160" cy="704850"/>
            </a:xfrm>
            <a:custGeom>
              <a:avLst/>
              <a:gdLst/>
              <a:ahLst/>
              <a:cxnLst/>
              <a:rect l="l" t="t" r="r" b="b"/>
              <a:pathLst>
                <a:path w="1407160" h="704850">
                  <a:moveTo>
                    <a:pt x="1292610" y="704413"/>
                  </a:moveTo>
                  <a:lnTo>
                    <a:pt x="114454" y="704413"/>
                  </a:lnTo>
                  <a:lnTo>
                    <a:pt x="69921" y="695413"/>
                  </a:lnTo>
                  <a:lnTo>
                    <a:pt x="33538" y="670874"/>
                  </a:lnTo>
                  <a:lnTo>
                    <a:pt x="9000" y="634491"/>
                  </a:lnTo>
                  <a:lnTo>
                    <a:pt x="0" y="589958"/>
                  </a:lnTo>
                  <a:lnTo>
                    <a:pt x="0" y="114453"/>
                  </a:lnTo>
                  <a:lnTo>
                    <a:pt x="9001" y="69920"/>
                  </a:lnTo>
                  <a:lnTo>
                    <a:pt x="33539" y="33538"/>
                  </a:lnTo>
                  <a:lnTo>
                    <a:pt x="69921" y="9000"/>
                  </a:lnTo>
                  <a:lnTo>
                    <a:pt x="114454" y="0"/>
                  </a:lnTo>
                  <a:lnTo>
                    <a:pt x="1292610" y="0"/>
                  </a:lnTo>
                  <a:lnTo>
                    <a:pt x="1337143" y="9000"/>
                  </a:lnTo>
                  <a:lnTo>
                    <a:pt x="1373526" y="33538"/>
                  </a:lnTo>
                  <a:lnTo>
                    <a:pt x="1398064" y="69921"/>
                  </a:lnTo>
                  <a:lnTo>
                    <a:pt x="1407065" y="114454"/>
                  </a:lnTo>
                  <a:lnTo>
                    <a:pt x="1407065" y="589958"/>
                  </a:lnTo>
                  <a:lnTo>
                    <a:pt x="1398064" y="634491"/>
                  </a:lnTo>
                  <a:lnTo>
                    <a:pt x="1373526" y="670874"/>
                  </a:lnTo>
                  <a:lnTo>
                    <a:pt x="1337143" y="695413"/>
                  </a:lnTo>
                  <a:lnTo>
                    <a:pt x="1292610" y="704413"/>
                  </a:lnTo>
                  <a:close/>
                </a:path>
              </a:pathLst>
            </a:custGeom>
            <a:solidFill>
              <a:srgbClr val="FFFFFF"/>
            </a:solidFill>
          </p:spPr>
          <p:txBody>
            <a:bodyPr wrap="square" lIns="0" tIns="0" rIns="0" bIns="0" rtlCol="0"/>
            <a:lstStyle/>
            <a:p>
              <a:endParaRPr sz="1632"/>
            </a:p>
          </p:txBody>
        </p:sp>
      </p:grpSp>
      <p:pic>
        <p:nvPicPr>
          <p:cNvPr id="5" name="object 5"/>
          <p:cNvPicPr/>
          <p:nvPr/>
        </p:nvPicPr>
        <p:blipFill>
          <a:blip r:embed="rId2" cstate="print"/>
          <a:stretch>
            <a:fillRect/>
          </a:stretch>
        </p:blipFill>
        <p:spPr>
          <a:xfrm>
            <a:off x="3217906" y="2131160"/>
            <a:ext cx="7586389" cy="4614045"/>
          </a:xfrm>
          <a:prstGeom prst="rect">
            <a:avLst/>
          </a:prstGeom>
        </p:spPr>
      </p:pic>
      <p:grpSp>
        <p:nvGrpSpPr>
          <p:cNvPr id="6" name="object 6"/>
          <p:cNvGrpSpPr/>
          <p:nvPr/>
        </p:nvGrpSpPr>
        <p:grpSpPr>
          <a:xfrm>
            <a:off x="5055487" y="1031994"/>
            <a:ext cx="1474672" cy="771021"/>
            <a:chOff x="4199245" y="1138059"/>
            <a:chExt cx="1626235" cy="850265"/>
          </a:xfrm>
        </p:grpSpPr>
        <p:sp>
          <p:nvSpPr>
            <p:cNvPr id="7" name="object 7"/>
            <p:cNvSpPr/>
            <p:nvPr/>
          </p:nvSpPr>
          <p:spPr>
            <a:xfrm>
              <a:off x="4199245" y="1138059"/>
              <a:ext cx="1626235" cy="850265"/>
            </a:xfrm>
            <a:custGeom>
              <a:avLst/>
              <a:gdLst/>
              <a:ahLst/>
              <a:cxnLst/>
              <a:rect l="l" t="t" r="r" b="b"/>
              <a:pathLst>
                <a:path w="1626235" h="850264">
                  <a:moveTo>
                    <a:pt x="1495867" y="850269"/>
                  </a:moveTo>
                  <a:lnTo>
                    <a:pt x="215214" y="850269"/>
                  </a:lnTo>
                  <a:lnTo>
                    <a:pt x="180008" y="845442"/>
                  </a:lnTo>
                  <a:lnTo>
                    <a:pt x="148475" y="831840"/>
                  </a:lnTo>
                  <a:lnTo>
                    <a:pt x="121929" y="810778"/>
                  </a:lnTo>
                  <a:lnTo>
                    <a:pt x="101681" y="783571"/>
                  </a:lnTo>
                  <a:lnTo>
                    <a:pt x="61154" y="765582"/>
                  </a:lnTo>
                  <a:lnTo>
                    <a:pt x="28939" y="735957"/>
                  </a:lnTo>
                  <a:lnTo>
                    <a:pt x="7674" y="697335"/>
                  </a:lnTo>
                  <a:lnTo>
                    <a:pt x="0" y="652355"/>
                  </a:lnTo>
                  <a:lnTo>
                    <a:pt x="0" y="135482"/>
                  </a:lnTo>
                  <a:lnTo>
                    <a:pt x="6918" y="92705"/>
                  </a:lnTo>
                  <a:lnTo>
                    <a:pt x="26174" y="55520"/>
                  </a:lnTo>
                  <a:lnTo>
                    <a:pt x="55520" y="26174"/>
                  </a:lnTo>
                  <a:lnTo>
                    <a:pt x="92705" y="6918"/>
                  </a:lnTo>
                  <a:lnTo>
                    <a:pt x="135482" y="0"/>
                  </a:lnTo>
                  <a:lnTo>
                    <a:pt x="1416137" y="0"/>
                  </a:lnTo>
                  <a:lnTo>
                    <a:pt x="1455985" y="5979"/>
                  </a:lnTo>
                  <a:lnTo>
                    <a:pt x="1491158" y="22720"/>
                  </a:lnTo>
                  <a:lnTo>
                    <a:pt x="1519861" y="48425"/>
                  </a:lnTo>
                  <a:lnTo>
                    <a:pt x="1540299" y="81298"/>
                  </a:lnTo>
                  <a:lnTo>
                    <a:pt x="1574707" y="100144"/>
                  </a:lnTo>
                  <a:lnTo>
                    <a:pt x="1601765" y="128119"/>
                  </a:lnTo>
                  <a:lnTo>
                    <a:pt x="1619469" y="163221"/>
                  </a:lnTo>
                  <a:lnTo>
                    <a:pt x="1625815" y="203448"/>
                  </a:lnTo>
                  <a:lnTo>
                    <a:pt x="1625815" y="720320"/>
                  </a:lnTo>
                  <a:lnTo>
                    <a:pt x="1615603" y="770902"/>
                  </a:lnTo>
                  <a:lnTo>
                    <a:pt x="1587754" y="812208"/>
                  </a:lnTo>
                  <a:lnTo>
                    <a:pt x="1546449" y="840057"/>
                  </a:lnTo>
                  <a:lnTo>
                    <a:pt x="1495867" y="850269"/>
                  </a:lnTo>
                  <a:close/>
                </a:path>
              </a:pathLst>
            </a:custGeom>
            <a:solidFill>
              <a:srgbClr val="000000"/>
            </a:solidFill>
          </p:spPr>
          <p:txBody>
            <a:bodyPr wrap="square" lIns="0" tIns="0" rIns="0" bIns="0" rtlCol="0"/>
            <a:lstStyle/>
            <a:p>
              <a:endParaRPr sz="1632"/>
            </a:p>
          </p:txBody>
        </p:sp>
        <p:sp>
          <p:nvSpPr>
            <p:cNvPr id="8" name="object 8"/>
            <p:cNvSpPr/>
            <p:nvPr/>
          </p:nvSpPr>
          <p:spPr>
            <a:xfrm>
              <a:off x="4210315" y="1149130"/>
              <a:ext cx="1529715" cy="765810"/>
            </a:xfrm>
            <a:custGeom>
              <a:avLst/>
              <a:gdLst/>
              <a:ahLst/>
              <a:cxnLst/>
              <a:rect l="l" t="t" r="r" b="b"/>
              <a:pathLst>
                <a:path w="1529714" h="765810">
                  <a:moveTo>
                    <a:pt x="1405067" y="765697"/>
                  </a:moveTo>
                  <a:lnTo>
                    <a:pt x="124412" y="765697"/>
                  </a:lnTo>
                  <a:lnTo>
                    <a:pt x="76004" y="755913"/>
                  </a:lnTo>
                  <a:lnTo>
                    <a:pt x="36456" y="729240"/>
                  </a:lnTo>
                  <a:lnTo>
                    <a:pt x="9783" y="689692"/>
                  </a:lnTo>
                  <a:lnTo>
                    <a:pt x="0" y="641285"/>
                  </a:lnTo>
                  <a:lnTo>
                    <a:pt x="0" y="124410"/>
                  </a:lnTo>
                  <a:lnTo>
                    <a:pt x="9784" y="76003"/>
                  </a:lnTo>
                  <a:lnTo>
                    <a:pt x="36457" y="36456"/>
                  </a:lnTo>
                  <a:lnTo>
                    <a:pt x="76005" y="9783"/>
                  </a:lnTo>
                  <a:lnTo>
                    <a:pt x="124412" y="0"/>
                  </a:lnTo>
                  <a:lnTo>
                    <a:pt x="1405067" y="0"/>
                  </a:lnTo>
                  <a:lnTo>
                    <a:pt x="1453474" y="9783"/>
                  </a:lnTo>
                  <a:lnTo>
                    <a:pt x="1493022" y="36456"/>
                  </a:lnTo>
                  <a:lnTo>
                    <a:pt x="1519696" y="76004"/>
                  </a:lnTo>
                  <a:lnTo>
                    <a:pt x="1529479" y="124412"/>
                  </a:lnTo>
                  <a:lnTo>
                    <a:pt x="1529479" y="641285"/>
                  </a:lnTo>
                  <a:lnTo>
                    <a:pt x="1519696" y="689692"/>
                  </a:lnTo>
                  <a:lnTo>
                    <a:pt x="1493022" y="729240"/>
                  </a:lnTo>
                  <a:lnTo>
                    <a:pt x="1453474" y="755913"/>
                  </a:lnTo>
                  <a:lnTo>
                    <a:pt x="1405067" y="765697"/>
                  </a:lnTo>
                  <a:close/>
                </a:path>
              </a:pathLst>
            </a:custGeom>
            <a:solidFill>
              <a:srgbClr val="FFFFFF"/>
            </a:solidFill>
          </p:spPr>
          <p:txBody>
            <a:bodyPr wrap="square" lIns="0" tIns="0" rIns="0" bIns="0" rtlCol="0"/>
            <a:lstStyle/>
            <a:p>
              <a:endParaRPr sz="1632"/>
            </a:p>
          </p:txBody>
        </p:sp>
      </p:grpSp>
      <p:grpSp>
        <p:nvGrpSpPr>
          <p:cNvPr id="9" name="object 9"/>
          <p:cNvGrpSpPr/>
          <p:nvPr/>
        </p:nvGrpSpPr>
        <p:grpSpPr>
          <a:xfrm>
            <a:off x="9333758" y="147130"/>
            <a:ext cx="1503462" cy="785992"/>
            <a:chOff x="8917227" y="162251"/>
            <a:chExt cx="1657985" cy="866775"/>
          </a:xfrm>
        </p:grpSpPr>
        <p:sp>
          <p:nvSpPr>
            <p:cNvPr id="10" name="object 10"/>
            <p:cNvSpPr/>
            <p:nvPr/>
          </p:nvSpPr>
          <p:spPr>
            <a:xfrm>
              <a:off x="8917227" y="162251"/>
              <a:ext cx="1657985" cy="866775"/>
            </a:xfrm>
            <a:custGeom>
              <a:avLst/>
              <a:gdLst/>
              <a:ahLst/>
              <a:cxnLst/>
              <a:rect l="l" t="t" r="r" b="b"/>
              <a:pathLst>
                <a:path w="1657984" h="866775">
                  <a:moveTo>
                    <a:pt x="1524908" y="866776"/>
                  </a:moveTo>
                  <a:lnTo>
                    <a:pt x="219392" y="866776"/>
                  </a:lnTo>
                  <a:lnTo>
                    <a:pt x="183503" y="861855"/>
                  </a:lnTo>
                  <a:lnTo>
                    <a:pt x="151358" y="847989"/>
                  </a:lnTo>
                  <a:lnTo>
                    <a:pt x="124296" y="826518"/>
                  </a:lnTo>
                  <a:lnTo>
                    <a:pt x="103655" y="798783"/>
                  </a:lnTo>
                  <a:lnTo>
                    <a:pt x="62341" y="780445"/>
                  </a:lnTo>
                  <a:lnTo>
                    <a:pt x="29501" y="750245"/>
                  </a:lnTo>
                  <a:lnTo>
                    <a:pt x="7823" y="710873"/>
                  </a:lnTo>
                  <a:lnTo>
                    <a:pt x="0" y="665020"/>
                  </a:lnTo>
                  <a:lnTo>
                    <a:pt x="0" y="138112"/>
                  </a:lnTo>
                  <a:lnTo>
                    <a:pt x="7052" y="94505"/>
                  </a:lnTo>
                  <a:lnTo>
                    <a:pt x="26683" y="56598"/>
                  </a:lnTo>
                  <a:lnTo>
                    <a:pt x="56598" y="26683"/>
                  </a:lnTo>
                  <a:lnTo>
                    <a:pt x="94505" y="7052"/>
                  </a:lnTo>
                  <a:lnTo>
                    <a:pt x="138112" y="0"/>
                  </a:lnTo>
                  <a:lnTo>
                    <a:pt x="1443630" y="0"/>
                  </a:lnTo>
                  <a:lnTo>
                    <a:pt x="1484251" y="6095"/>
                  </a:lnTo>
                  <a:lnTo>
                    <a:pt x="1520107" y="23161"/>
                  </a:lnTo>
                  <a:lnTo>
                    <a:pt x="1549367" y="49366"/>
                  </a:lnTo>
                  <a:lnTo>
                    <a:pt x="1570202" y="82877"/>
                  </a:lnTo>
                  <a:lnTo>
                    <a:pt x="1605279" y="102088"/>
                  </a:lnTo>
                  <a:lnTo>
                    <a:pt x="1632862" y="130606"/>
                  </a:lnTo>
                  <a:lnTo>
                    <a:pt x="1650909" y="166390"/>
                  </a:lnTo>
                  <a:lnTo>
                    <a:pt x="1657379" y="207397"/>
                  </a:lnTo>
                  <a:lnTo>
                    <a:pt x="1657379" y="734305"/>
                  </a:lnTo>
                  <a:lnTo>
                    <a:pt x="1650625" y="776176"/>
                  </a:lnTo>
                  <a:lnTo>
                    <a:pt x="1631819" y="812540"/>
                  </a:lnTo>
                  <a:lnTo>
                    <a:pt x="1603143" y="841216"/>
                  </a:lnTo>
                  <a:lnTo>
                    <a:pt x="1566779" y="860022"/>
                  </a:lnTo>
                  <a:lnTo>
                    <a:pt x="1524908" y="866776"/>
                  </a:lnTo>
                  <a:close/>
                </a:path>
              </a:pathLst>
            </a:custGeom>
            <a:solidFill>
              <a:srgbClr val="000000"/>
            </a:solidFill>
          </p:spPr>
          <p:txBody>
            <a:bodyPr wrap="square" lIns="0" tIns="0" rIns="0" bIns="0" rtlCol="0"/>
            <a:lstStyle/>
            <a:p>
              <a:endParaRPr sz="1632"/>
            </a:p>
          </p:txBody>
        </p:sp>
        <p:sp>
          <p:nvSpPr>
            <p:cNvPr id="11" name="object 11"/>
            <p:cNvSpPr/>
            <p:nvPr/>
          </p:nvSpPr>
          <p:spPr>
            <a:xfrm>
              <a:off x="8928512" y="173538"/>
              <a:ext cx="1559560" cy="781050"/>
            </a:xfrm>
            <a:custGeom>
              <a:avLst/>
              <a:gdLst/>
              <a:ahLst/>
              <a:cxnLst/>
              <a:rect l="l" t="t" r="r" b="b"/>
              <a:pathLst>
                <a:path w="1559559" h="781050">
                  <a:moveTo>
                    <a:pt x="1432345" y="780562"/>
                  </a:moveTo>
                  <a:lnTo>
                    <a:pt x="126827" y="780562"/>
                  </a:lnTo>
                  <a:lnTo>
                    <a:pt x="77480" y="770589"/>
                  </a:lnTo>
                  <a:lnTo>
                    <a:pt x="37164" y="743397"/>
                  </a:lnTo>
                  <a:lnTo>
                    <a:pt x="9973" y="703082"/>
                  </a:lnTo>
                  <a:lnTo>
                    <a:pt x="0" y="653734"/>
                  </a:lnTo>
                  <a:lnTo>
                    <a:pt x="0" y="126825"/>
                  </a:lnTo>
                  <a:lnTo>
                    <a:pt x="9974" y="77479"/>
                  </a:lnTo>
                  <a:lnTo>
                    <a:pt x="37165" y="37163"/>
                  </a:lnTo>
                  <a:lnTo>
                    <a:pt x="77480" y="9973"/>
                  </a:lnTo>
                  <a:lnTo>
                    <a:pt x="126827" y="0"/>
                  </a:lnTo>
                  <a:lnTo>
                    <a:pt x="1432345" y="0"/>
                  </a:lnTo>
                  <a:lnTo>
                    <a:pt x="1481692" y="9973"/>
                  </a:lnTo>
                  <a:lnTo>
                    <a:pt x="1522008" y="37164"/>
                  </a:lnTo>
                  <a:lnTo>
                    <a:pt x="1549199" y="77480"/>
                  </a:lnTo>
                  <a:lnTo>
                    <a:pt x="1559172" y="126827"/>
                  </a:lnTo>
                  <a:lnTo>
                    <a:pt x="1559172" y="653734"/>
                  </a:lnTo>
                  <a:lnTo>
                    <a:pt x="1549199" y="703082"/>
                  </a:lnTo>
                  <a:lnTo>
                    <a:pt x="1522008" y="743397"/>
                  </a:lnTo>
                  <a:lnTo>
                    <a:pt x="1481692" y="770589"/>
                  </a:lnTo>
                  <a:lnTo>
                    <a:pt x="1432345" y="780562"/>
                  </a:lnTo>
                  <a:close/>
                </a:path>
              </a:pathLst>
            </a:custGeom>
            <a:solidFill>
              <a:srgbClr val="FFFFFF"/>
            </a:solidFill>
          </p:spPr>
          <p:txBody>
            <a:bodyPr wrap="square" lIns="0" tIns="0" rIns="0" bIns="0" rtlCol="0"/>
            <a:lstStyle/>
            <a:p>
              <a:endParaRPr sz="1632"/>
            </a:p>
          </p:txBody>
        </p:sp>
      </p:grpSp>
      <p:sp>
        <p:nvSpPr>
          <p:cNvPr id="12" name="object 12"/>
          <p:cNvSpPr txBox="1"/>
          <p:nvPr/>
        </p:nvSpPr>
        <p:spPr>
          <a:xfrm>
            <a:off x="4005262" y="212582"/>
            <a:ext cx="1037625" cy="498296"/>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23" dirty="0">
                <a:latin typeface="Times New Roman"/>
                <a:cs typeface="Times New Roman"/>
              </a:rPr>
              <a:t> </a:t>
            </a:r>
            <a:r>
              <a:rPr sz="907" b="1" spc="-9" dirty="0">
                <a:latin typeface="Times New Roman"/>
                <a:cs typeface="Times New Roman"/>
              </a:rPr>
              <a:t>Filings</a:t>
            </a:r>
            <a:r>
              <a:rPr sz="907" b="1" spc="-14" dirty="0">
                <a:latin typeface="Times New Roman"/>
                <a:cs typeface="Times New Roman"/>
              </a:rPr>
              <a:t> </a:t>
            </a:r>
            <a:r>
              <a:rPr sz="907" dirty="0">
                <a:latin typeface="Times New Roman"/>
                <a:cs typeface="Times New Roman"/>
              </a:rPr>
              <a:t>tab</a:t>
            </a:r>
            <a:r>
              <a:rPr sz="907" spc="-18" dirty="0">
                <a:latin typeface="Times New Roman"/>
                <a:cs typeface="Times New Roman"/>
              </a:rPr>
              <a:t> shows </a:t>
            </a:r>
            <a:r>
              <a:rPr sz="907" spc="-9" dirty="0">
                <a:latin typeface="Times New Roman"/>
                <a:cs typeface="Times New Roman"/>
              </a:rPr>
              <a:t>researchers</a:t>
            </a:r>
            <a:r>
              <a:rPr sz="907" spc="-23" dirty="0">
                <a:latin typeface="Times New Roman"/>
                <a:cs typeface="Times New Roman"/>
              </a:rPr>
              <a:t> the </a:t>
            </a:r>
            <a:r>
              <a:rPr sz="907" dirty="0">
                <a:latin typeface="Times New Roman"/>
                <a:cs typeface="Times New Roman"/>
              </a:rPr>
              <a:t>documents</a:t>
            </a:r>
            <a:r>
              <a:rPr sz="907" spc="36" dirty="0">
                <a:latin typeface="Times New Roman"/>
                <a:cs typeface="Times New Roman"/>
              </a:rPr>
              <a:t> </a:t>
            </a:r>
            <a:r>
              <a:rPr sz="907" dirty="0">
                <a:latin typeface="Times New Roman"/>
                <a:cs typeface="Times New Roman"/>
              </a:rPr>
              <a:t>that</a:t>
            </a:r>
            <a:r>
              <a:rPr sz="907" spc="41" dirty="0">
                <a:latin typeface="Times New Roman"/>
                <a:cs typeface="Times New Roman"/>
              </a:rPr>
              <a:t> </a:t>
            </a:r>
            <a:r>
              <a:rPr sz="907" spc="-18" dirty="0">
                <a:latin typeface="Times New Roman"/>
                <a:cs typeface="Times New Roman"/>
              </a:rPr>
              <a:t>were filed</a:t>
            </a:r>
            <a:r>
              <a:rPr sz="907" spc="-23" dirty="0">
                <a:latin typeface="Times New Roman"/>
                <a:cs typeface="Times New Roman"/>
              </a:rPr>
              <a:t> </a:t>
            </a:r>
            <a:r>
              <a:rPr sz="907" dirty="0">
                <a:latin typeface="Times New Roman"/>
                <a:cs typeface="Times New Roman"/>
              </a:rPr>
              <a:t>in</a:t>
            </a:r>
            <a:r>
              <a:rPr sz="907" spc="-18"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sp>
        <p:nvSpPr>
          <p:cNvPr id="13" name="object 13"/>
          <p:cNvSpPr txBox="1"/>
          <p:nvPr/>
        </p:nvSpPr>
        <p:spPr>
          <a:xfrm>
            <a:off x="5138304" y="1034771"/>
            <a:ext cx="1247223" cy="671437"/>
          </a:xfrm>
          <a:prstGeom prst="rect">
            <a:avLst/>
          </a:prstGeom>
        </p:spPr>
        <p:txBody>
          <a:bodyPr vert="horz" wrap="square" lIns="0" tIns="29943" rIns="0" bIns="0" rtlCol="0">
            <a:spAutoFit/>
          </a:bodyPr>
          <a:lstStyle/>
          <a:p>
            <a:pPr marL="11516" marR="4607">
              <a:lnSpc>
                <a:spcPts val="952"/>
              </a:lnSpc>
              <a:spcBef>
                <a:spcPts val="236"/>
              </a:spcBef>
            </a:pPr>
            <a:r>
              <a:rPr sz="907" spc="-27" dirty="0">
                <a:latin typeface="Times New Roman"/>
                <a:cs typeface="Times New Roman"/>
              </a:rPr>
              <a:t>The</a:t>
            </a:r>
            <a:r>
              <a:rPr sz="907" spc="-41" dirty="0">
                <a:latin typeface="Times New Roman"/>
                <a:cs typeface="Times New Roman"/>
              </a:rPr>
              <a:t> </a:t>
            </a:r>
            <a:r>
              <a:rPr sz="907" b="1" spc="-9" dirty="0">
                <a:latin typeface="Times New Roman"/>
                <a:cs typeface="Times New Roman"/>
              </a:rPr>
              <a:t>Negative</a:t>
            </a:r>
            <a:r>
              <a:rPr sz="907" b="1" spc="-32" dirty="0">
                <a:latin typeface="Times New Roman"/>
                <a:cs typeface="Times New Roman"/>
              </a:rPr>
              <a:t> </a:t>
            </a:r>
            <a:r>
              <a:rPr sz="907" b="1" spc="-9" dirty="0">
                <a:latin typeface="Times New Roman"/>
                <a:cs typeface="Times New Roman"/>
              </a:rPr>
              <a:t>Treatment </a:t>
            </a:r>
            <a:r>
              <a:rPr sz="907" dirty="0">
                <a:latin typeface="Times New Roman"/>
                <a:cs typeface="Times New Roman"/>
              </a:rPr>
              <a:t>tab</a:t>
            </a:r>
            <a:r>
              <a:rPr sz="907" spc="-23" dirty="0">
                <a:latin typeface="Times New Roman"/>
                <a:cs typeface="Times New Roman"/>
              </a:rPr>
              <a:t> </a:t>
            </a:r>
            <a:r>
              <a:rPr sz="907" dirty="0">
                <a:latin typeface="Times New Roman"/>
                <a:cs typeface="Times New Roman"/>
              </a:rPr>
              <a:t>shows</a:t>
            </a:r>
            <a:r>
              <a:rPr sz="907" spc="-23" dirty="0">
                <a:latin typeface="Times New Roman"/>
                <a:cs typeface="Times New Roman"/>
              </a:rPr>
              <a:t> </a:t>
            </a:r>
            <a:r>
              <a:rPr sz="907" spc="-9" dirty="0">
                <a:latin typeface="Times New Roman"/>
                <a:cs typeface="Times New Roman"/>
              </a:rPr>
              <a:t>researchers</a:t>
            </a:r>
            <a:r>
              <a:rPr sz="907" spc="-23" dirty="0">
                <a:latin typeface="Times New Roman"/>
                <a:cs typeface="Times New Roman"/>
              </a:rPr>
              <a:t> the </a:t>
            </a:r>
            <a:r>
              <a:rPr sz="907" spc="-9" dirty="0">
                <a:latin typeface="Times New Roman"/>
                <a:cs typeface="Times New Roman"/>
              </a:rPr>
              <a:t>negative</a:t>
            </a:r>
            <a:r>
              <a:rPr sz="907" spc="-23" dirty="0">
                <a:latin typeface="Times New Roman"/>
                <a:cs typeface="Times New Roman"/>
              </a:rPr>
              <a:t> </a:t>
            </a:r>
            <a:r>
              <a:rPr sz="907" spc="-9" dirty="0">
                <a:latin typeface="Times New Roman"/>
                <a:cs typeface="Times New Roman"/>
              </a:rPr>
              <a:t>direct</a:t>
            </a:r>
            <a:r>
              <a:rPr sz="907" spc="-18" dirty="0">
                <a:latin typeface="Times New Roman"/>
                <a:cs typeface="Times New Roman"/>
              </a:rPr>
              <a:t> </a:t>
            </a:r>
            <a:r>
              <a:rPr sz="907" dirty="0">
                <a:latin typeface="Times New Roman"/>
                <a:cs typeface="Times New Roman"/>
              </a:rPr>
              <a:t>history</a:t>
            </a:r>
            <a:r>
              <a:rPr sz="907" spc="-23" dirty="0">
                <a:latin typeface="Times New Roman"/>
                <a:cs typeface="Times New Roman"/>
              </a:rPr>
              <a:t> and </a:t>
            </a:r>
            <a:r>
              <a:rPr sz="907" spc="-18" dirty="0">
                <a:latin typeface="Times New Roman"/>
                <a:cs typeface="Times New Roman"/>
              </a:rPr>
              <a:t>cases</a:t>
            </a:r>
            <a:r>
              <a:rPr sz="907" dirty="0">
                <a:latin typeface="Times New Roman"/>
                <a:cs typeface="Times New Roman"/>
              </a:rPr>
              <a:t> that</a:t>
            </a:r>
            <a:r>
              <a:rPr sz="907" spc="5" dirty="0">
                <a:latin typeface="Times New Roman"/>
                <a:cs typeface="Times New Roman"/>
              </a:rPr>
              <a:t> </a:t>
            </a:r>
            <a:r>
              <a:rPr sz="907" spc="-9" dirty="0">
                <a:latin typeface="Times New Roman"/>
                <a:cs typeface="Times New Roman"/>
              </a:rPr>
              <a:t>cite</a:t>
            </a:r>
            <a:r>
              <a:rPr sz="907" spc="5" dirty="0">
                <a:latin typeface="Times New Roman"/>
                <a:cs typeface="Times New Roman"/>
              </a:rPr>
              <a:t> </a:t>
            </a:r>
            <a:r>
              <a:rPr sz="907" dirty="0">
                <a:latin typeface="Times New Roman"/>
                <a:cs typeface="Times New Roman"/>
              </a:rPr>
              <a:t>the</a:t>
            </a:r>
            <a:r>
              <a:rPr sz="907" spc="5" dirty="0">
                <a:latin typeface="Times New Roman"/>
                <a:cs typeface="Times New Roman"/>
              </a:rPr>
              <a:t> </a:t>
            </a:r>
            <a:r>
              <a:rPr sz="907" spc="-18" dirty="0">
                <a:latin typeface="Times New Roman"/>
                <a:cs typeface="Times New Roman"/>
              </a:rPr>
              <a:t>case </a:t>
            </a:r>
            <a:r>
              <a:rPr sz="907" spc="-9" dirty="0">
                <a:latin typeface="Times New Roman"/>
                <a:cs typeface="Times New Roman"/>
              </a:rPr>
              <a:t>negatively.</a:t>
            </a:r>
            <a:endParaRPr sz="907">
              <a:latin typeface="Times New Roman"/>
              <a:cs typeface="Times New Roman"/>
            </a:endParaRPr>
          </a:p>
        </p:txBody>
      </p:sp>
      <p:sp>
        <p:nvSpPr>
          <p:cNvPr id="14" name="object 14"/>
          <p:cNvSpPr txBox="1"/>
          <p:nvPr/>
        </p:nvSpPr>
        <p:spPr>
          <a:xfrm>
            <a:off x="9425928" y="332162"/>
            <a:ext cx="1213250" cy="383461"/>
          </a:xfrm>
          <a:prstGeom prst="rect">
            <a:avLst/>
          </a:prstGeom>
        </p:spPr>
        <p:txBody>
          <a:bodyPr vert="horz" wrap="square" lIns="0" tIns="36852" rIns="0" bIns="0" rtlCol="0">
            <a:spAutoFit/>
          </a:bodyPr>
          <a:lstStyle/>
          <a:p>
            <a:pPr marL="11516" marR="4607">
              <a:lnSpc>
                <a:spcPts val="907"/>
              </a:lnSpc>
              <a:spcBef>
                <a:spcPts val="290"/>
              </a:spcBef>
            </a:pPr>
            <a:r>
              <a:rPr sz="907" spc="-18" dirty="0">
                <a:latin typeface="Times New Roman"/>
                <a:cs typeface="Times New Roman"/>
              </a:rPr>
              <a:t>The</a:t>
            </a:r>
            <a:r>
              <a:rPr sz="907" spc="-32" dirty="0">
                <a:latin typeface="Times New Roman"/>
                <a:cs typeface="Times New Roman"/>
              </a:rPr>
              <a:t> </a:t>
            </a:r>
            <a:r>
              <a:rPr sz="907" b="1" spc="-18" dirty="0">
                <a:latin typeface="Times New Roman"/>
                <a:cs typeface="Times New Roman"/>
              </a:rPr>
              <a:t>Table </a:t>
            </a:r>
            <a:r>
              <a:rPr sz="907" b="1" dirty="0">
                <a:latin typeface="Times New Roman"/>
                <a:cs typeface="Times New Roman"/>
              </a:rPr>
              <a:t>of</a:t>
            </a:r>
            <a:r>
              <a:rPr sz="907" b="1" spc="-23" dirty="0">
                <a:latin typeface="Times New Roman"/>
                <a:cs typeface="Times New Roman"/>
              </a:rPr>
              <a:t> </a:t>
            </a:r>
            <a:r>
              <a:rPr sz="907" b="1" spc="-9" dirty="0">
                <a:latin typeface="Times New Roman"/>
                <a:cs typeface="Times New Roman"/>
              </a:rPr>
              <a:t>Authorities </a:t>
            </a:r>
            <a:r>
              <a:rPr sz="907" dirty="0">
                <a:latin typeface="Times New Roman"/>
                <a:cs typeface="Times New Roman"/>
              </a:rPr>
              <a:t>is</a:t>
            </a:r>
            <a:r>
              <a:rPr sz="907" spc="-27" dirty="0">
                <a:latin typeface="Times New Roman"/>
                <a:cs typeface="Times New Roman"/>
              </a:rPr>
              <a:t> </a:t>
            </a:r>
            <a:r>
              <a:rPr sz="907" dirty="0">
                <a:latin typeface="Times New Roman"/>
                <a:cs typeface="Times New Roman"/>
              </a:rPr>
              <a:t>a</a:t>
            </a:r>
            <a:r>
              <a:rPr sz="907" spc="-27" dirty="0">
                <a:latin typeface="Times New Roman"/>
                <a:cs typeface="Times New Roman"/>
              </a:rPr>
              <a:t> </a:t>
            </a:r>
            <a:r>
              <a:rPr sz="907" dirty="0">
                <a:latin typeface="Times New Roman"/>
                <a:cs typeface="Times New Roman"/>
              </a:rPr>
              <a:t>list</a:t>
            </a:r>
            <a:r>
              <a:rPr sz="907" spc="-27" dirty="0">
                <a:latin typeface="Times New Roman"/>
                <a:cs typeface="Times New Roman"/>
              </a:rPr>
              <a:t> </a:t>
            </a:r>
            <a:r>
              <a:rPr sz="907" spc="-23" dirty="0">
                <a:latin typeface="Times New Roman"/>
                <a:cs typeface="Times New Roman"/>
              </a:rPr>
              <a:t>of</a:t>
            </a:r>
            <a:r>
              <a:rPr sz="907" spc="-27" dirty="0">
                <a:latin typeface="Times New Roman"/>
                <a:cs typeface="Times New Roman"/>
              </a:rPr>
              <a:t> </a:t>
            </a:r>
            <a:r>
              <a:rPr sz="907" dirty="0">
                <a:latin typeface="Times New Roman"/>
                <a:cs typeface="Times New Roman"/>
              </a:rPr>
              <a:t>all</a:t>
            </a:r>
            <a:r>
              <a:rPr sz="907" spc="-23" dirty="0">
                <a:latin typeface="Times New Roman"/>
                <a:cs typeface="Times New Roman"/>
              </a:rPr>
              <a:t> </a:t>
            </a:r>
            <a:r>
              <a:rPr sz="907" dirty="0">
                <a:latin typeface="Times New Roman"/>
                <a:cs typeface="Times New Roman"/>
              </a:rPr>
              <a:t>the</a:t>
            </a:r>
            <a:r>
              <a:rPr sz="907" spc="-27" dirty="0">
                <a:latin typeface="Times New Roman"/>
                <a:cs typeface="Times New Roman"/>
              </a:rPr>
              <a:t> </a:t>
            </a:r>
            <a:r>
              <a:rPr sz="907" spc="-9" dirty="0">
                <a:latin typeface="Times New Roman"/>
                <a:cs typeface="Times New Roman"/>
              </a:rPr>
              <a:t>sources </a:t>
            </a:r>
            <a:r>
              <a:rPr sz="907" dirty="0">
                <a:latin typeface="Times New Roman"/>
                <a:cs typeface="Times New Roman"/>
              </a:rPr>
              <a:t>cited</a:t>
            </a:r>
            <a:r>
              <a:rPr sz="907" spc="-5" dirty="0">
                <a:latin typeface="Times New Roman"/>
                <a:cs typeface="Times New Roman"/>
              </a:rPr>
              <a:t> </a:t>
            </a:r>
            <a:r>
              <a:rPr sz="907" dirty="0">
                <a:latin typeface="Times New Roman"/>
                <a:cs typeface="Times New Roman"/>
              </a:rPr>
              <a:t>in</a:t>
            </a:r>
            <a:r>
              <a:rPr sz="907" spc="-5" dirty="0">
                <a:latin typeface="Times New Roman"/>
                <a:cs typeface="Times New Roman"/>
              </a:rPr>
              <a:t> </a:t>
            </a:r>
            <a:r>
              <a:rPr sz="907" dirty="0">
                <a:latin typeface="Times New Roman"/>
                <a:cs typeface="Times New Roman"/>
              </a:rPr>
              <a:t>the</a:t>
            </a:r>
            <a:r>
              <a:rPr sz="907" spc="-5"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grpSp>
        <p:nvGrpSpPr>
          <p:cNvPr id="15" name="object 15"/>
          <p:cNvGrpSpPr/>
          <p:nvPr/>
        </p:nvGrpSpPr>
        <p:grpSpPr>
          <a:xfrm>
            <a:off x="1279145" y="48219"/>
            <a:ext cx="2734563" cy="2056248"/>
            <a:chOff x="34779" y="53174"/>
            <a:chExt cx="3015615" cy="2267585"/>
          </a:xfrm>
        </p:grpSpPr>
        <p:sp>
          <p:nvSpPr>
            <p:cNvPr id="16" name="object 16"/>
            <p:cNvSpPr/>
            <p:nvPr/>
          </p:nvSpPr>
          <p:spPr>
            <a:xfrm>
              <a:off x="151350" y="289299"/>
              <a:ext cx="2873375" cy="2031364"/>
            </a:xfrm>
            <a:custGeom>
              <a:avLst/>
              <a:gdLst/>
              <a:ahLst/>
              <a:cxnLst/>
              <a:rect l="l" t="t" r="r" b="b"/>
              <a:pathLst>
                <a:path w="2873375" h="2031364">
                  <a:moveTo>
                    <a:pt x="373382" y="2030913"/>
                  </a:moveTo>
                  <a:lnTo>
                    <a:pt x="0" y="870023"/>
                  </a:lnTo>
                  <a:lnTo>
                    <a:pt x="2497995" y="0"/>
                  </a:lnTo>
                  <a:lnTo>
                    <a:pt x="2873236" y="1019649"/>
                  </a:lnTo>
                  <a:lnTo>
                    <a:pt x="373382" y="2030913"/>
                  </a:lnTo>
                  <a:close/>
                </a:path>
              </a:pathLst>
            </a:custGeom>
            <a:solidFill>
              <a:srgbClr val="C70F2E">
                <a:alpha val="25000"/>
              </a:srgbClr>
            </a:solidFill>
          </p:spPr>
          <p:txBody>
            <a:bodyPr wrap="square" lIns="0" tIns="0" rIns="0" bIns="0" rtlCol="0"/>
            <a:lstStyle/>
            <a:p>
              <a:endParaRPr sz="1632"/>
            </a:p>
          </p:txBody>
        </p:sp>
        <p:sp>
          <p:nvSpPr>
            <p:cNvPr id="17" name="object 17"/>
            <p:cNvSpPr/>
            <p:nvPr/>
          </p:nvSpPr>
          <p:spPr>
            <a:xfrm>
              <a:off x="114607" y="137033"/>
              <a:ext cx="2935605" cy="2090420"/>
            </a:xfrm>
            <a:custGeom>
              <a:avLst/>
              <a:gdLst/>
              <a:ahLst/>
              <a:cxnLst/>
              <a:rect l="l" t="t" r="r" b="b"/>
              <a:pathLst>
                <a:path w="2935605" h="2090420">
                  <a:moveTo>
                    <a:pt x="2935171" y="1167967"/>
                  </a:moveTo>
                  <a:lnTo>
                    <a:pt x="429926" y="2090142"/>
                  </a:lnTo>
                  <a:lnTo>
                    <a:pt x="0" y="922174"/>
                  </a:lnTo>
                  <a:lnTo>
                    <a:pt x="2505245" y="0"/>
                  </a:lnTo>
                  <a:lnTo>
                    <a:pt x="2935171" y="1167967"/>
                  </a:lnTo>
                  <a:close/>
                </a:path>
              </a:pathLst>
            </a:custGeom>
            <a:solidFill>
              <a:srgbClr val="F0EBD4"/>
            </a:solidFill>
          </p:spPr>
          <p:txBody>
            <a:bodyPr wrap="square" lIns="0" tIns="0" rIns="0" bIns="0" rtlCol="0"/>
            <a:lstStyle/>
            <a:p>
              <a:endParaRPr sz="1632"/>
            </a:p>
          </p:txBody>
        </p:sp>
        <p:sp>
          <p:nvSpPr>
            <p:cNvPr id="18" name="object 18"/>
            <p:cNvSpPr/>
            <p:nvPr/>
          </p:nvSpPr>
          <p:spPr>
            <a:xfrm>
              <a:off x="34772" y="53173"/>
              <a:ext cx="2914015" cy="1513840"/>
            </a:xfrm>
            <a:custGeom>
              <a:avLst/>
              <a:gdLst/>
              <a:ahLst/>
              <a:cxnLst/>
              <a:rect l="l" t="t" r="r" b="b"/>
              <a:pathLst>
                <a:path w="2914015" h="1513840">
                  <a:moveTo>
                    <a:pt x="521830" y="771715"/>
                  </a:moveTo>
                  <a:lnTo>
                    <a:pt x="460895" y="817537"/>
                  </a:lnTo>
                  <a:lnTo>
                    <a:pt x="459689" y="744486"/>
                  </a:lnTo>
                  <a:lnTo>
                    <a:pt x="401332" y="814476"/>
                  </a:lnTo>
                  <a:lnTo>
                    <a:pt x="407797" y="721741"/>
                  </a:lnTo>
                  <a:lnTo>
                    <a:pt x="357974" y="802284"/>
                  </a:lnTo>
                  <a:lnTo>
                    <a:pt x="368338" y="704430"/>
                  </a:lnTo>
                  <a:lnTo>
                    <a:pt x="309321" y="764984"/>
                  </a:lnTo>
                  <a:lnTo>
                    <a:pt x="306285" y="685114"/>
                  </a:lnTo>
                  <a:lnTo>
                    <a:pt x="261200" y="776554"/>
                  </a:lnTo>
                  <a:lnTo>
                    <a:pt x="16827" y="1330248"/>
                  </a:lnTo>
                  <a:lnTo>
                    <a:pt x="0" y="1391031"/>
                  </a:lnTo>
                  <a:lnTo>
                    <a:pt x="58039" y="1351940"/>
                  </a:lnTo>
                  <a:lnTo>
                    <a:pt x="47193" y="1417675"/>
                  </a:lnTo>
                  <a:lnTo>
                    <a:pt x="127292" y="1363764"/>
                  </a:lnTo>
                  <a:lnTo>
                    <a:pt x="103212" y="1456029"/>
                  </a:lnTo>
                  <a:lnTo>
                    <a:pt x="149948" y="1422146"/>
                  </a:lnTo>
                  <a:lnTo>
                    <a:pt x="155384" y="1480693"/>
                  </a:lnTo>
                  <a:lnTo>
                    <a:pt x="205714" y="1448460"/>
                  </a:lnTo>
                  <a:lnTo>
                    <a:pt x="206375" y="1513801"/>
                  </a:lnTo>
                  <a:lnTo>
                    <a:pt x="257200" y="1438795"/>
                  </a:lnTo>
                  <a:lnTo>
                    <a:pt x="478231" y="878852"/>
                  </a:lnTo>
                  <a:lnTo>
                    <a:pt x="521830" y="771715"/>
                  </a:lnTo>
                  <a:close/>
                </a:path>
                <a:path w="2914015" h="1513840">
                  <a:moveTo>
                    <a:pt x="2913710" y="384517"/>
                  </a:moveTo>
                  <a:lnTo>
                    <a:pt x="2843936" y="326758"/>
                  </a:lnTo>
                  <a:lnTo>
                    <a:pt x="2307602" y="53454"/>
                  </a:lnTo>
                  <a:lnTo>
                    <a:pt x="2205520" y="0"/>
                  </a:lnTo>
                  <a:lnTo>
                    <a:pt x="2205266" y="38"/>
                  </a:lnTo>
                  <a:lnTo>
                    <a:pt x="2244928" y="64808"/>
                  </a:lnTo>
                  <a:lnTo>
                    <a:pt x="2172068" y="59042"/>
                  </a:lnTo>
                  <a:lnTo>
                    <a:pt x="2236178" y="123786"/>
                  </a:lnTo>
                  <a:lnTo>
                    <a:pt x="2144484" y="108546"/>
                  </a:lnTo>
                  <a:lnTo>
                    <a:pt x="2219871" y="165836"/>
                  </a:lnTo>
                  <a:lnTo>
                    <a:pt x="2123465" y="146151"/>
                  </a:lnTo>
                  <a:lnTo>
                    <a:pt x="2178151" y="210642"/>
                  </a:lnTo>
                  <a:lnTo>
                    <a:pt x="2098319" y="206095"/>
                  </a:lnTo>
                  <a:lnTo>
                    <a:pt x="2185085" y="259651"/>
                  </a:lnTo>
                  <a:lnTo>
                    <a:pt x="2712999" y="555777"/>
                  </a:lnTo>
                  <a:lnTo>
                    <a:pt x="2771864" y="578281"/>
                  </a:lnTo>
                  <a:lnTo>
                    <a:pt x="2738513" y="516750"/>
                  </a:lnTo>
                  <a:lnTo>
                    <a:pt x="2802902" y="533831"/>
                  </a:lnTo>
                  <a:lnTo>
                    <a:pt x="2756852" y="448945"/>
                  </a:lnTo>
                  <a:lnTo>
                    <a:pt x="2846374" y="481698"/>
                  </a:lnTo>
                  <a:lnTo>
                    <a:pt x="2817101" y="431914"/>
                  </a:lnTo>
                  <a:lnTo>
                    <a:pt x="2875902" y="432130"/>
                  </a:lnTo>
                  <a:lnTo>
                    <a:pt x="2848660" y="378891"/>
                  </a:lnTo>
                  <a:lnTo>
                    <a:pt x="2913710" y="384517"/>
                  </a:lnTo>
                  <a:close/>
                </a:path>
              </a:pathLst>
            </a:custGeom>
            <a:solidFill>
              <a:srgbClr val="C70F2E">
                <a:alpha val="29998"/>
              </a:srgbClr>
            </a:solidFill>
          </p:spPr>
          <p:txBody>
            <a:bodyPr wrap="square" lIns="0" tIns="0" rIns="0" bIns="0" rtlCol="0"/>
            <a:lstStyle/>
            <a:p>
              <a:endParaRPr sz="1632"/>
            </a:p>
          </p:txBody>
        </p:sp>
      </p:grpSp>
      <p:grpSp>
        <p:nvGrpSpPr>
          <p:cNvPr id="19" name="object 19"/>
          <p:cNvGrpSpPr/>
          <p:nvPr/>
        </p:nvGrpSpPr>
        <p:grpSpPr>
          <a:xfrm>
            <a:off x="4100655" y="147089"/>
            <a:ext cx="5741488" cy="6594851"/>
            <a:chOff x="3146278" y="162206"/>
            <a:chExt cx="6331585" cy="7272655"/>
          </a:xfrm>
        </p:grpSpPr>
        <p:sp>
          <p:nvSpPr>
            <p:cNvPr id="20" name="object 20"/>
            <p:cNvSpPr/>
            <p:nvPr/>
          </p:nvSpPr>
          <p:spPr>
            <a:xfrm>
              <a:off x="3165646" y="3391179"/>
              <a:ext cx="494665" cy="219710"/>
            </a:xfrm>
            <a:custGeom>
              <a:avLst/>
              <a:gdLst/>
              <a:ahLst/>
              <a:cxnLst/>
              <a:rect l="l" t="t" r="r" b="b"/>
              <a:pathLst>
                <a:path w="494664" h="219710">
                  <a:moveTo>
                    <a:pt x="0" y="219153"/>
                  </a:moveTo>
                  <a:lnTo>
                    <a:pt x="0" y="0"/>
                  </a:lnTo>
                  <a:lnTo>
                    <a:pt x="494444" y="0"/>
                  </a:lnTo>
                  <a:lnTo>
                    <a:pt x="494444" y="219153"/>
                  </a:lnTo>
                </a:path>
              </a:pathLst>
            </a:custGeom>
            <a:ln w="38114">
              <a:solidFill>
                <a:srgbClr val="C70F2E"/>
              </a:solidFill>
            </a:ln>
          </p:spPr>
          <p:txBody>
            <a:bodyPr wrap="square" lIns="0" tIns="0" rIns="0" bIns="0" rtlCol="0"/>
            <a:lstStyle/>
            <a:p>
              <a:endParaRPr sz="1632"/>
            </a:p>
          </p:txBody>
        </p:sp>
        <p:sp>
          <p:nvSpPr>
            <p:cNvPr id="21" name="object 21"/>
            <p:cNvSpPr/>
            <p:nvPr/>
          </p:nvSpPr>
          <p:spPr>
            <a:xfrm>
              <a:off x="4701725" y="3405598"/>
              <a:ext cx="528955" cy="208915"/>
            </a:xfrm>
            <a:custGeom>
              <a:avLst/>
              <a:gdLst/>
              <a:ahLst/>
              <a:cxnLst/>
              <a:rect l="l" t="t" r="r" b="b"/>
              <a:pathLst>
                <a:path w="528954" h="208914">
                  <a:moveTo>
                    <a:pt x="0" y="0"/>
                  </a:moveTo>
                  <a:lnTo>
                    <a:pt x="528836" y="0"/>
                  </a:lnTo>
                  <a:lnTo>
                    <a:pt x="528836" y="208723"/>
                  </a:lnTo>
                  <a:lnTo>
                    <a:pt x="0" y="208723"/>
                  </a:lnTo>
                  <a:lnTo>
                    <a:pt x="0" y="0"/>
                  </a:lnTo>
                  <a:close/>
                </a:path>
              </a:pathLst>
            </a:custGeom>
            <a:ln w="38114">
              <a:solidFill>
                <a:srgbClr val="C70F2E"/>
              </a:solidFill>
            </a:ln>
          </p:spPr>
          <p:txBody>
            <a:bodyPr wrap="square" lIns="0" tIns="0" rIns="0" bIns="0" rtlCol="0"/>
            <a:lstStyle/>
            <a:p>
              <a:endParaRPr sz="1632"/>
            </a:p>
          </p:txBody>
        </p:sp>
        <p:sp>
          <p:nvSpPr>
            <p:cNvPr id="22" name="object 22"/>
            <p:cNvSpPr/>
            <p:nvPr/>
          </p:nvSpPr>
          <p:spPr>
            <a:xfrm>
              <a:off x="5249748" y="3405593"/>
              <a:ext cx="926465" cy="208915"/>
            </a:xfrm>
            <a:custGeom>
              <a:avLst/>
              <a:gdLst/>
              <a:ahLst/>
              <a:cxnLst/>
              <a:rect l="l" t="t" r="r" b="b"/>
              <a:pathLst>
                <a:path w="926464" h="208914">
                  <a:moveTo>
                    <a:pt x="0" y="0"/>
                  </a:moveTo>
                  <a:lnTo>
                    <a:pt x="926020" y="0"/>
                  </a:lnTo>
                  <a:lnTo>
                    <a:pt x="926020" y="208735"/>
                  </a:lnTo>
                  <a:lnTo>
                    <a:pt x="0" y="208735"/>
                  </a:lnTo>
                  <a:lnTo>
                    <a:pt x="0" y="0"/>
                  </a:lnTo>
                  <a:close/>
                </a:path>
              </a:pathLst>
            </a:custGeom>
            <a:ln w="38114">
              <a:solidFill>
                <a:srgbClr val="C70F2E"/>
              </a:solidFill>
            </a:ln>
          </p:spPr>
          <p:txBody>
            <a:bodyPr wrap="square" lIns="0" tIns="0" rIns="0" bIns="0" rtlCol="0"/>
            <a:lstStyle/>
            <a:p>
              <a:endParaRPr sz="1632"/>
            </a:p>
          </p:txBody>
        </p:sp>
        <p:sp>
          <p:nvSpPr>
            <p:cNvPr id="23" name="object 23"/>
            <p:cNvSpPr/>
            <p:nvPr/>
          </p:nvSpPr>
          <p:spPr>
            <a:xfrm>
              <a:off x="3682610" y="3391175"/>
              <a:ext cx="922655" cy="219710"/>
            </a:xfrm>
            <a:custGeom>
              <a:avLst/>
              <a:gdLst/>
              <a:ahLst/>
              <a:cxnLst/>
              <a:rect l="l" t="t" r="r" b="b"/>
              <a:pathLst>
                <a:path w="922654" h="219710">
                  <a:moveTo>
                    <a:pt x="0" y="219157"/>
                  </a:moveTo>
                  <a:lnTo>
                    <a:pt x="0" y="0"/>
                  </a:lnTo>
                  <a:lnTo>
                    <a:pt x="922030" y="0"/>
                  </a:lnTo>
                  <a:lnTo>
                    <a:pt x="922030" y="219157"/>
                  </a:lnTo>
                </a:path>
              </a:pathLst>
            </a:custGeom>
            <a:ln w="38114">
              <a:solidFill>
                <a:srgbClr val="C70F2E"/>
              </a:solidFill>
            </a:ln>
          </p:spPr>
          <p:txBody>
            <a:bodyPr wrap="square" lIns="0" tIns="0" rIns="0" bIns="0" rtlCol="0"/>
            <a:lstStyle/>
            <a:p>
              <a:endParaRPr sz="1632"/>
            </a:p>
          </p:txBody>
        </p:sp>
        <p:sp>
          <p:nvSpPr>
            <p:cNvPr id="24" name="object 24"/>
            <p:cNvSpPr/>
            <p:nvPr/>
          </p:nvSpPr>
          <p:spPr>
            <a:xfrm>
              <a:off x="6644135" y="5407362"/>
              <a:ext cx="514984" cy="142875"/>
            </a:xfrm>
            <a:custGeom>
              <a:avLst/>
              <a:gdLst/>
              <a:ahLst/>
              <a:cxnLst/>
              <a:rect l="l" t="t" r="r" b="b"/>
              <a:pathLst>
                <a:path w="514984" h="142875">
                  <a:moveTo>
                    <a:pt x="514489" y="142631"/>
                  </a:moveTo>
                  <a:lnTo>
                    <a:pt x="0" y="142631"/>
                  </a:lnTo>
                  <a:lnTo>
                    <a:pt x="0" y="0"/>
                  </a:lnTo>
                  <a:lnTo>
                    <a:pt x="514489" y="0"/>
                  </a:lnTo>
                </a:path>
              </a:pathLst>
            </a:custGeom>
            <a:ln w="38114">
              <a:solidFill>
                <a:srgbClr val="C70F2E"/>
              </a:solidFill>
            </a:ln>
          </p:spPr>
          <p:txBody>
            <a:bodyPr wrap="square" lIns="0" tIns="0" rIns="0" bIns="0" rtlCol="0"/>
            <a:lstStyle/>
            <a:p>
              <a:endParaRPr sz="1632"/>
            </a:p>
          </p:txBody>
        </p:sp>
        <p:sp>
          <p:nvSpPr>
            <p:cNvPr id="25" name="object 25"/>
            <p:cNvSpPr/>
            <p:nvPr/>
          </p:nvSpPr>
          <p:spPr>
            <a:xfrm>
              <a:off x="6576825" y="4114433"/>
              <a:ext cx="704850" cy="149225"/>
            </a:xfrm>
            <a:custGeom>
              <a:avLst/>
              <a:gdLst/>
              <a:ahLst/>
              <a:cxnLst/>
              <a:rect l="l" t="t" r="r" b="b"/>
              <a:pathLst>
                <a:path w="704850" h="149225">
                  <a:moveTo>
                    <a:pt x="0" y="0"/>
                  </a:moveTo>
                  <a:lnTo>
                    <a:pt x="704853" y="0"/>
                  </a:lnTo>
                  <a:lnTo>
                    <a:pt x="704853" y="149181"/>
                  </a:lnTo>
                  <a:lnTo>
                    <a:pt x="0" y="149181"/>
                  </a:lnTo>
                  <a:lnTo>
                    <a:pt x="0" y="0"/>
                  </a:lnTo>
                  <a:close/>
                </a:path>
              </a:pathLst>
            </a:custGeom>
            <a:ln w="38114">
              <a:solidFill>
                <a:srgbClr val="C70F2E"/>
              </a:solidFill>
            </a:ln>
          </p:spPr>
          <p:txBody>
            <a:bodyPr wrap="square" lIns="0" tIns="0" rIns="0" bIns="0" rtlCol="0"/>
            <a:lstStyle/>
            <a:p>
              <a:endParaRPr sz="1632"/>
            </a:p>
          </p:txBody>
        </p:sp>
        <p:sp>
          <p:nvSpPr>
            <p:cNvPr id="26" name="object 26"/>
            <p:cNvSpPr/>
            <p:nvPr/>
          </p:nvSpPr>
          <p:spPr>
            <a:xfrm>
              <a:off x="6430977" y="5535621"/>
              <a:ext cx="935990" cy="134620"/>
            </a:xfrm>
            <a:custGeom>
              <a:avLst/>
              <a:gdLst/>
              <a:ahLst/>
              <a:cxnLst/>
              <a:rect l="l" t="t" r="r" b="b"/>
              <a:pathLst>
                <a:path w="935990" h="134620">
                  <a:moveTo>
                    <a:pt x="0" y="0"/>
                  </a:moveTo>
                  <a:lnTo>
                    <a:pt x="935381" y="0"/>
                  </a:lnTo>
                  <a:lnTo>
                    <a:pt x="935381" y="134293"/>
                  </a:lnTo>
                  <a:lnTo>
                    <a:pt x="0" y="134293"/>
                  </a:lnTo>
                  <a:lnTo>
                    <a:pt x="0" y="0"/>
                  </a:lnTo>
                  <a:close/>
                </a:path>
              </a:pathLst>
            </a:custGeom>
            <a:ln w="38114">
              <a:solidFill>
                <a:srgbClr val="C70F2E"/>
              </a:solidFill>
            </a:ln>
          </p:spPr>
          <p:txBody>
            <a:bodyPr wrap="square" lIns="0" tIns="0" rIns="0" bIns="0" rtlCol="0"/>
            <a:lstStyle/>
            <a:p>
              <a:endParaRPr sz="1632"/>
            </a:p>
          </p:txBody>
        </p:sp>
        <p:sp>
          <p:nvSpPr>
            <p:cNvPr id="27" name="object 27"/>
            <p:cNvSpPr/>
            <p:nvPr/>
          </p:nvSpPr>
          <p:spPr>
            <a:xfrm>
              <a:off x="6228387" y="5653461"/>
              <a:ext cx="1400810" cy="162560"/>
            </a:xfrm>
            <a:custGeom>
              <a:avLst/>
              <a:gdLst/>
              <a:ahLst/>
              <a:cxnLst/>
              <a:rect l="l" t="t" r="r" b="b"/>
              <a:pathLst>
                <a:path w="1400809" h="162560">
                  <a:moveTo>
                    <a:pt x="0" y="161986"/>
                  </a:moveTo>
                  <a:lnTo>
                    <a:pt x="0" y="0"/>
                  </a:lnTo>
                  <a:lnTo>
                    <a:pt x="1400384" y="0"/>
                  </a:lnTo>
                </a:path>
              </a:pathLst>
            </a:custGeom>
            <a:ln w="38114">
              <a:solidFill>
                <a:srgbClr val="C70F2E"/>
              </a:solidFill>
            </a:ln>
          </p:spPr>
          <p:txBody>
            <a:bodyPr wrap="square" lIns="0" tIns="0" rIns="0" bIns="0" rtlCol="0"/>
            <a:lstStyle/>
            <a:p>
              <a:endParaRPr sz="1632"/>
            </a:p>
          </p:txBody>
        </p:sp>
        <p:sp>
          <p:nvSpPr>
            <p:cNvPr id="28" name="object 28"/>
            <p:cNvSpPr/>
            <p:nvPr/>
          </p:nvSpPr>
          <p:spPr>
            <a:xfrm>
              <a:off x="4303380" y="5985976"/>
              <a:ext cx="5154930" cy="1429385"/>
            </a:xfrm>
            <a:custGeom>
              <a:avLst/>
              <a:gdLst/>
              <a:ahLst/>
              <a:cxnLst/>
              <a:rect l="l" t="t" r="r" b="b"/>
              <a:pathLst>
                <a:path w="5154930" h="1429384">
                  <a:moveTo>
                    <a:pt x="0" y="1429288"/>
                  </a:moveTo>
                  <a:lnTo>
                    <a:pt x="0" y="0"/>
                  </a:lnTo>
                  <a:lnTo>
                    <a:pt x="5154863" y="0"/>
                  </a:lnTo>
                </a:path>
              </a:pathLst>
            </a:custGeom>
            <a:ln w="38114">
              <a:solidFill>
                <a:srgbClr val="C70F2E"/>
              </a:solidFill>
            </a:ln>
          </p:spPr>
          <p:txBody>
            <a:bodyPr wrap="square" lIns="0" tIns="0" rIns="0" bIns="0" rtlCol="0"/>
            <a:lstStyle/>
            <a:p>
              <a:endParaRPr sz="1632"/>
            </a:p>
          </p:txBody>
        </p:sp>
        <p:sp>
          <p:nvSpPr>
            <p:cNvPr id="29" name="object 29"/>
            <p:cNvSpPr/>
            <p:nvPr/>
          </p:nvSpPr>
          <p:spPr>
            <a:xfrm>
              <a:off x="5157008" y="162206"/>
              <a:ext cx="1638935" cy="855980"/>
            </a:xfrm>
            <a:custGeom>
              <a:avLst/>
              <a:gdLst/>
              <a:ahLst/>
              <a:cxnLst/>
              <a:rect l="l" t="t" r="r" b="b"/>
              <a:pathLst>
                <a:path w="1638934" h="855980">
                  <a:moveTo>
                    <a:pt x="1524009" y="855983"/>
                  </a:moveTo>
                  <a:lnTo>
                    <a:pt x="197684" y="855983"/>
                  </a:lnTo>
                  <a:lnTo>
                    <a:pt x="181788" y="853804"/>
                  </a:lnTo>
                  <a:lnTo>
                    <a:pt x="149944" y="840067"/>
                  </a:lnTo>
                  <a:lnTo>
                    <a:pt x="123134" y="818796"/>
                  </a:lnTo>
                  <a:lnTo>
                    <a:pt x="102687" y="791321"/>
                  </a:lnTo>
                  <a:lnTo>
                    <a:pt x="61759" y="773154"/>
                  </a:lnTo>
                  <a:lnTo>
                    <a:pt x="29225" y="743236"/>
                  </a:lnTo>
                  <a:lnTo>
                    <a:pt x="7750" y="704232"/>
                  </a:lnTo>
                  <a:lnTo>
                    <a:pt x="0" y="658807"/>
                  </a:lnTo>
                  <a:lnTo>
                    <a:pt x="0" y="136822"/>
                  </a:lnTo>
                  <a:lnTo>
                    <a:pt x="6986" y="93622"/>
                  </a:lnTo>
                  <a:lnTo>
                    <a:pt x="26433" y="56069"/>
                  </a:lnTo>
                  <a:lnTo>
                    <a:pt x="56068" y="26433"/>
                  </a:lnTo>
                  <a:lnTo>
                    <a:pt x="93622" y="6986"/>
                  </a:lnTo>
                  <a:lnTo>
                    <a:pt x="136822" y="0"/>
                  </a:lnTo>
                  <a:lnTo>
                    <a:pt x="1430142" y="0"/>
                  </a:lnTo>
                  <a:lnTo>
                    <a:pt x="1470385" y="6038"/>
                  </a:lnTo>
                  <a:lnTo>
                    <a:pt x="1505905" y="22945"/>
                  </a:lnTo>
                  <a:lnTo>
                    <a:pt x="1534892" y="48904"/>
                  </a:lnTo>
                  <a:lnTo>
                    <a:pt x="1555532" y="82102"/>
                  </a:lnTo>
                  <a:lnTo>
                    <a:pt x="1590281" y="101134"/>
                  </a:lnTo>
                  <a:lnTo>
                    <a:pt x="1617606" y="129386"/>
                  </a:lnTo>
                  <a:lnTo>
                    <a:pt x="1635485" y="164835"/>
                  </a:lnTo>
                  <a:lnTo>
                    <a:pt x="1638917" y="186592"/>
                  </a:lnTo>
                  <a:lnTo>
                    <a:pt x="1638917" y="742189"/>
                  </a:lnTo>
                  <a:lnTo>
                    <a:pt x="1631581" y="778526"/>
                  </a:lnTo>
                  <a:lnTo>
                    <a:pt x="1603457" y="820240"/>
                  </a:lnTo>
                  <a:lnTo>
                    <a:pt x="1561743" y="848365"/>
                  </a:lnTo>
                  <a:lnTo>
                    <a:pt x="1524009" y="855983"/>
                  </a:lnTo>
                  <a:close/>
                </a:path>
              </a:pathLst>
            </a:custGeom>
            <a:solidFill>
              <a:srgbClr val="000000"/>
            </a:solidFill>
          </p:spPr>
          <p:txBody>
            <a:bodyPr wrap="square" lIns="0" tIns="0" rIns="0" bIns="0" rtlCol="0"/>
            <a:lstStyle/>
            <a:p>
              <a:endParaRPr sz="1632"/>
            </a:p>
          </p:txBody>
        </p:sp>
        <p:sp>
          <p:nvSpPr>
            <p:cNvPr id="30" name="object 30"/>
            <p:cNvSpPr/>
            <p:nvPr/>
          </p:nvSpPr>
          <p:spPr>
            <a:xfrm>
              <a:off x="5168187" y="173387"/>
              <a:ext cx="1544955" cy="773430"/>
            </a:xfrm>
            <a:custGeom>
              <a:avLst/>
              <a:gdLst/>
              <a:ahLst/>
              <a:cxnLst/>
              <a:rect l="l" t="t" r="r" b="b"/>
              <a:pathLst>
                <a:path w="1544954" h="773430">
                  <a:moveTo>
                    <a:pt x="1418963" y="773270"/>
                  </a:moveTo>
                  <a:lnTo>
                    <a:pt x="125642" y="773270"/>
                  </a:lnTo>
                  <a:lnTo>
                    <a:pt x="76756" y="763390"/>
                  </a:lnTo>
                  <a:lnTo>
                    <a:pt x="36817" y="736452"/>
                  </a:lnTo>
                  <a:lnTo>
                    <a:pt x="9880" y="696513"/>
                  </a:lnTo>
                  <a:lnTo>
                    <a:pt x="0" y="647627"/>
                  </a:lnTo>
                  <a:lnTo>
                    <a:pt x="0" y="125641"/>
                  </a:lnTo>
                  <a:lnTo>
                    <a:pt x="9880" y="76755"/>
                  </a:lnTo>
                  <a:lnTo>
                    <a:pt x="36818" y="36816"/>
                  </a:lnTo>
                  <a:lnTo>
                    <a:pt x="76756" y="9879"/>
                  </a:lnTo>
                  <a:lnTo>
                    <a:pt x="125642" y="0"/>
                  </a:lnTo>
                  <a:lnTo>
                    <a:pt x="1418963" y="0"/>
                  </a:lnTo>
                  <a:lnTo>
                    <a:pt x="1467849" y="9880"/>
                  </a:lnTo>
                  <a:lnTo>
                    <a:pt x="1507788" y="36817"/>
                  </a:lnTo>
                  <a:lnTo>
                    <a:pt x="1534726" y="76756"/>
                  </a:lnTo>
                  <a:lnTo>
                    <a:pt x="1544606" y="125642"/>
                  </a:lnTo>
                  <a:lnTo>
                    <a:pt x="1544606" y="647627"/>
                  </a:lnTo>
                  <a:lnTo>
                    <a:pt x="1534726" y="696513"/>
                  </a:lnTo>
                  <a:lnTo>
                    <a:pt x="1507788" y="736452"/>
                  </a:lnTo>
                  <a:lnTo>
                    <a:pt x="1467849" y="763390"/>
                  </a:lnTo>
                  <a:lnTo>
                    <a:pt x="1418963" y="773270"/>
                  </a:lnTo>
                  <a:close/>
                </a:path>
              </a:pathLst>
            </a:custGeom>
            <a:solidFill>
              <a:srgbClr val="FFFFFF"/>
            </a:solidFill>
          </p:spPr>
          <p:txBody>
            <a:bodyPr wrap="square" lIns="0" tIns="0" rIns="0" bIns="0" rtlCol="0"/>
            <a:lstStyle/>
            <a:p>
              <a:endParaRPr sz="1632"/>
            </a:p>
          </p:txBody>
        </p:sp>
        <p:sp>
          <p:nvSpPr>
            <p:cNvPr id="31" name="object 31"/>
            <p:cNvSpPr/>
            <p:nvPr/>
          </p:nvSpPr>
          <p:spPr>
            <a:xfrm>
              <a:off x="7031050" y="267885"/>
              <a:ext cx="1657985" cy="866775"/>
            </a:xfrm>
            <a:custGeom>
              <a:avLst/>
              <a:gdLst/>
              <a:ahLst/>
              <a:cxnLst/>
              <a:rect l="l" t="t" r="r" b="b"/>
              <a:pathLst>
                <a:path w="1657984" h="866775">
                  <a:moveTo>
                    <a:pt x="1524908" y="866776"/>
                  </a:moveTo>
                  <a:lnTo>
                    <a:pt x="219392" y="866776"/>
                  </a:lnTo>
                  <a:lnTo>
                    <a:pt x="183503" y="861855"/>
                  </a:lnTo>
                  <a:lnTo>
                    <a:pt x="151358" y="847989"/>
                  </a:lnTo>
                  <a:lnTo>
                    <a:pt x="124296" y="826518"/>
                  </a:lnTo>
                  <a:lnTo>
                    <a:pt x="103655" y="798783"/>
                  </a:lnTo>
                  <a:lnTo>
                    <a:pt x="62341" y="780445"/>
                  </a:lnTo>
                  <a:lnTo>
                    <a:pt x="29501" y="750245"/>
                  </a:lnTo>
                  <a:lnTo>
                    <a:pt x="7823" y="710873"/>
                  </a:lnTo>
                  <a:lnTo>
                    <a:pt x="0" y="665020"/>
                  </a:lnTo>
                  <a:lnTo>
                    <a:pt x="0" y="138112"/>
                  </a:lnTo>
                  <a:lnTo>
                    <a:pt x="7052" y="94505"/>
                  </a:lnTo>
                  <a:lnTo>
                    <a:pt x="26683" y="56598"/>
                  </a:lnTo>
                  <a:lnTo>
                    <a:pt x="56598" y="26683"/>
                  </a:lnTo>
                  <a:lnTo>
                    <a:pt x="94505" y="7052"/>
                  </a:lnTo>
                  <a:lnTo>
                    <a:pt x="138112" y="0"/>
                  </a:lnTo>
                  <a:lnTo>
                    <a:pt x="1443630" y="0"/>
                  </a:lnTo>
                  <a:lnTo>
                    <a:pt x="1484251" y="6095"/>
                  </a:lnTo>
                  <a:lnTo>
                    <a:pt x="1520107" y="23161"/>
                  </a:lnTo>
                  <a:lnTo>
                    <a:pt x="1549367" y="49366"/>
                  </a:lnTo>
                  <a:lnTo>
                    <a:pt x="1570202" y="82877"/>
                  </a:lnTo>
                  <a:lnTo>
                    <a:pt x="1605279" y="102088"/>
                  </a:lnTo>
                  <a:lnTo>
                    <a:pt x="1632862" y="130606"/>
                  </a:lnTo>
                  <a:lnTo>
                    <a:pt x="1650909" y="166390"/>
                  </a:lnTo>
                  <a:lnTo>
                    <a:pt x="1657379" y="207397"/>
                  </a:lnTo>
                  <a:lnTo>
                    <a:pt x="1657379" y="734305"/>
                  </a:lnTo>
                  <a:lnTo>
                    <a:pt x="1650625" y="776176"/>
                  </a:lnTo>
                  <a:lnTo>
                    <a:pt x="1631819" y="812540"/>
                  </a:lnTo>
                  <a:lnTo>
                    <a:pt x="1603143" y="841216"/>
                  </a:lnTo>
                  <a:lnTo>
                    <a:pt x="1566779" y="860022"/>
                  </a:lnTo>
                  <a:lnTo>
                    <a:pt x="1524908" y="866776"/>
                  </a:lnTo>
                  <a:close/>
                </a:path>
              </a:pathLst>
            </a:custGeom>
            <a:solidFill>
              <a:srgbClr val="000000"/>
            </a:solidFill>
          </p:spPr>
          <p:txBody>
            <a:bodyPr wrap="square" lIns="0" tIns="0" rIns="0" bIns="0" rtlCol="0"/>
            <a:lstStyle/>
            <a:p>
              <a:endParaRPr sz="1632"/>
            </a:p>
          </p:txBody>
        </p:sp>
        <p:sp>
          <p:nvSpPr>
            <p:cNvPr id="32" name="object 32"/>
            <p:cNvSpPr/>
            <p:nvPr/>
          </p:nvSpPr>
          <p:spPr>
            <a:xfrm>
              <a:off x="7042335" y="279172"/>
              <a:ext cx="1559560" cy="781050"/>
            </a:xfrm>
            <a:custGeom>
              <a:avLst/>
              <a:gdLst/>
              <a:ahLst/>
              <a:cxnLst/>
              <a:rect l="l" t="t" r="r" b="b"/>
              <a:pathLst>
                <a:path w="1559559" h="781050">
                  <a:moveTo>
                    <a:pt x="1432345" y="780562"/>
                  </a:moveTo>
                  <a:lnTo>
                    <a:pt x="126827" y="780562"/>
                  </a:lnTo>
                  <a:lnTo>
                    <a:pt x="77480" y="770589"/>
                  </a:lnTo>
                  <a:lnTo>
                    <a:pt x="37164" y="743397"/>
                  </a:lnTo>
                  <a:lnTo>
                    <a:pt x="9973" y="703082"/>
                  </a:lnTo>
                  <a:lnTo>
                    <a:pt x="0" y="653734"/>
                  </a:lnTo>
                  <a:lnTo>
                    <a:pt x="0" y="126825"/>
                  </a:lnTo>
                  <a:lnTo>
                    <a:pt x="9974" y="77479"/>
                  </a:lnTo>
                  <a:lnTo>
                    <a:pt x="37165" y="37163"/>
                  </a:lnTo>
                  <a:lnTo>
                    <a:pt x="77480" y="9973"/>
                  </a:lnTo>
                  <a:lnTo>
                    <a:pt x="126827" y="0"/>
                  </a:lnTo>
                  <a:lnTo>
                    <a:pt x="1432345" y="0"/>
                  </a:lnTo>
                  <a:lnTo>
                    <a:pt x="1481692" y="9973"/>
                  </a:lnTo>
                  <a:lnTo>
                    <a:pt x="1522008" y="37164"/>
                  </a:lnTo>
                  <a:lnTo>
                    <a:pt x="1549199" y="77480"/>
                  </a:lnTo>
                  <a:lnTo>
                    <a:pt x="1559172" y="126827"/>
                  </a:lnTo>
                  <a:lnTo>
                    <a:pt x="1559172" y="653734"/>
                  </a:lnTo>
                  <a:lnTo>
                    <a:pt x="1549199" y="703082"/>
                  </a:lnTo>
                  <a:lnTo>
                    <a:pt x="1522008" y="743397"/>
                  </a:lnTo>
                  <a:lnTo>
                    <a:pt x="1481692" y="770589"/>
                  </a:lnTo>
                  <a:lnTo>
                    <a:pt x="1432345" y="780562"/>
                  </a:lnTo>
                  <a:close/>
                </a:path>
              </a:pathLst>
            </a:custGeom>
            <a:solidFill>
              <a:srgbClr val="FFFFFF"/>
            </a:solidFill>
          </p:spPr>
          <p:txBody>
            <a:bodyPr wrap="square" lIns="0" tIns="0" rIns="0" bIns="0" rtlCol="0"/>
            <a:lstStyle/>
            <a:p>
              <a:endParaRPr sz="1632"/>
            </a:p>
          </p:txBody>
        </p:sp>
      </p:grpSp>
      <p:sp>
        <p:nvSpPr>
          <p:cNvPr id="33" name="object 33"/>
          <p:cNvSpPr txBox="1"/>
          <p:nvPr/>
        </p:nvSpPr>
        <p:spPr>
          <a:xfrm>
            <a:off x="7726614" y="338005"/>
            <a:ext cx="1273711" cy="498296"/>
          </a:xfrm>
          <a:prstGeom prst="rect">
            <a:avLst/>
          </a:prstGeom>
        </p:spPr>
        <p:txBody>
          <a:bodyPr vert="horz" wrap="square" lIns="0" tIns="36277" rIns="0" bIns="0" rtlCol="0">
            <a:spAutoFit/>
          </a:bodyPr>
          <a:lstStyle/>
          <a:p>
            <a:pPr marL="11516" marR="4607">
              <a:lnSpc>
                <a:spcPts val="889"/>
              </a:lnSpc>
              <a:spcBef>
                <a:spcPts val="286"/>
              </a:spcBef>
            </a:pPr>
            <a:r>
              <a:rPr sz="907" spc="-23" dirty="0">
                <a:latin typeface="Times New Roman"/>
                <a:cs typeface="Times New Roman"/>
              </a:rPr>
              <a:t>The</a:t>
            </a:r>
            <a:r>
              <a:rPr sz="907" spc="-14" dirty="0">
                <a:latin typeface="Times New Roman"/>
                <a:cs typeface="Times New Roman"/>
              </a:rPr>
              <a:t> </a:t>
            </a:r>
            <a:r>
              <a:rPr sz="907" b="1" spc="-18" dirty="0">
                <a:latin typeface="Times New Roman"/>
                <a:cs typeface="Times New Roman"/>
              </a:rPr>
              <a:t>Citing</a:t>
            </a:r>
            <a:r>
              <a:rPr sz="907" b="1" spc="-9" dirty="0">
                <a:latin typeface="Times New Roman"/>
                <a:cs typeface="Times New Roman"/>
              </a:rPr>
              <a:t> </a:t>
            </a:r>
            <a:r>
              <a:rPr sz="907" b="1" spc="-23" dirty="0">
                <a:latin typeface="Times New Roman"/>
                <a:cs typeface="Times New Roman"/>
              </a:rPr>
              <a:t>References</a:t>
            </a:r>
            <a:r>
              <a:rPr sz="907" b="1" spc="-18" dirty="0">
                <a:latin typeface="Times New Roman"/>
                <a:cs typeface="Times New Roman"/>
              </a:rPr>
              <a:t> </a:t>
            </a:r>
            <a:r>
              <a:rPr sz="907" spc="-23" dirty="0">
                <a:latin typeface="Times New Roman"/>
                <a:cs typeface="Times New Roman"/>
              </a:rPr>
              <a:t>tab </a:t>
            </a:r>
            <a:r>
              <a:rPr sz="907" dirty="0">
                <a:latin typeface="Times New Roman"/>
                <a:cs typeface="Times New Roman"/>
              </a:rPr>
              <a:t>lists</a:t>
            </a:r>
            <a:r>
              <a:rPr sz="907" spc="-23" dirty="0">
                <a:latin typeface="Times New Roman"/>
                <a:cs typeface="Times New Roman"/>
              </a:rPr>
              <a:t> </a:t>
            </a:r>
            <a:r>
              <a:rPr sz="907" spc="-9" dirty="0">
                <a:latin typeface="Times New Roman"/>
                <a:cs typeface="Times New Roman"/>
              </a:rPr>
              <a:t>all</a:t>
            </a:r>
            <a:r>
              <a:rPr sz="907" spc="-18" dirty="0">
                <a:latin typeface="Times New Roman"/>
                <a:cs typeface="Times New Roman"/>
              </a:rPr>
              <a:t> </a:t>
            </a:r>
            <a:r>
              <a:rPr sz="907" spc="-9" dirty="0">
                <a:latin typeface="Times New Roman"/>
                <a:cs typeface="Times New Roman"/>
              </a:rPr>
              <a:t>sources-</a:t>
            </a:r>
            <a:r>
              <a:rPr sz="907" dirty="0">
                <a:latin typeface="Times New Roman"/>
                <a:cs typeface="Times New Roman"/>
              </a:rPr>
              <a:t>-</a:t>
            </a:r>
            <a:r>
              <a:rPr sz="907" spc="-9" dirty="0">
                <a:latin typeface="Times New Roman"/>
                <a:cs typeface="Times New Roman"/>
              </a:rPr>
              <a:t>including </a:t>
            </a:r>
            <a:r>
              <a:rPr sz="907" spc="-18" dirty="0">
                <a:latin typeface="Times New Roman"/>
                <a:cs typeface="Times New Roman"/>
              </a:rPr>
              <a:t>cases</a:t>
            </a:r>
            <a:r>
              <a:rPr sz="907" spc="-14" dirty="0">
                <a:latin typeface="Times New Roman"/>
                <a:cs typeface="Times New Roman"/>
              </a:rPr>
              <a:t> </a:t>
            </a:r>
            <a:r>
              <a:rPr sz="907" dirty="0">
                <a:latin typeface="Times New Roman"/>
                <a:cs typeface="Times New Roman"/>
              </a:rPr>
              <a:t>and</a:t>
            </a:r>
            <a:r>
              <a:rPr sz="907" spc="-9" dirty="0">
                <a:latin typeface="Times New Roman"/>
                <a:cs typeface="Times New Roman"/>
              </a:rPr>
              <a:t> secondary sources-</a:t>
            </a:r>
            <a:r>
              <a:rPr sz="907" dirty="0">
                <a:latin typeface="Times New Roman"/>
                <a:cs typeface="Times New Roman"/>
              </a:rPr>
              <a:t>-that</a:t>
            </a:r>
            <a:r>
              <a:rPr sz="907" spc="27" dirty="0">
                <a:latin typeface="Times New Roman"/>
                <a:cs typeface="Times New Roman"/>
              </a:rPr>
              <a:t> </a:t>
            </a:r>
            <a:r>
              <a:rPr sz="907" spc="-9" dirty="0">
                <a:latin typeface="Times New Roman"/>
                <a:cs typeface="Times New Roman"/>
              </a:rPr>
              <a:t>cite</a:t>
            </a:r>
            <a:r>
              <a:rPr sz="907" spc="32" dirty="0">
                <a:latin typeface="Times New Roman"/>
                <a:cs typeface="Times New Roman"/>
              </a:rPr>
              <a:t> </a:t>
            </a:r>
            <a:r>
              <a:rPr sz="907" dirty="0">
                <a:latin typeface="Times New Roman"/>
                <a:cs typeface="Times New Roman"/>
              </a:rPr>
              <a:t>the</a:t>
            </a:r>
            <a:r>
              <a:rPr sz="907" spc="27"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grpSp>
        <p:nvGrpSpPr>
          <p:cNvPr id="34" name="object 34"/>
          <p:cNvGrpSpPr/>
          <p:nvPr/>
        </p:nvGrpSpPr>
        <p:grpSpPr>
          <a:xfrm>
            <a:off x="1325202" y="3174194"/>
            <a:ext cx="1789069" cy="2526116"/>
            <a:chOff x="85570" y="3500430"/>
            <a:chExt cx="1972945" cy="2785745"/>
          </a:xfrm>
        </p:grpSpPr>
        <p:sp>
          <p:nvSpPr>
            <p:cNvPr id="35" name="object 35"/>
            <p:cNvSpPr/>
            <p:nvPr/>
          </p:nvSpPr>
          <p:spPr>
            <a:xfrm>
              <a:off x="135130" y="4571851"/>
              <a:ext cx="1600835" cy="837565"/>
            </a:xfrm>
            <a:custGeom>
              <a:avLst/>
              <a:gdLst/>
              <a:ahLst/>
              <a:cxnLst/>
              <a:rect l="l" t="t" r="r" b="b"/>
              <a:pathLst>
                <a:path w="1600835" h="837564">
                  <a:moveTo>
                    <a:pt x="1472854" y="837187"/>
                  </a:moveTo>
                  <a:lnTo>
                    <a:pt x="211903" y="837187"/>
                  </a:lnTo>
                  <a:lnTo>
                    <a:pt x="177239" y="832435"/>
                  </a:lnTo>
                  <a:lnTo>
                    <a:pt x="146191" y="819042"/>
                  </a:lnTo>
                  <a:lnTo>
                    <a:pt x="120053" y="798304"/>
                  </a:lnTo>
                  <a:lnTo>
                    <a:pt x="100117" y="771516"/>
                  </a:lnTo>
                  <a:lnTo>
                    <a:pt x="60213" y="753804"/>
                  </a:lnTo>
                  <a:lnTo>
                    <a:pt x="28494" y="724635"/>
                  </a:lnTo>
                  <a:lnTo>
                    <a:pt x="7556" y="686607"/>
                  </a:lnTo>
                  <a:lnTo>
                    <a:pt x="0" y="642319"/>
                  </a:lnTo>
                  <a:lnTo>
                    <a:pt x="0" y="133398"/>
                  </a:lnTo>
                  <a:lnTo>
                    <a:pt x="6812" y="91279"/>
                  </a:lnTo>
                  <a:lnTo>
                    <a:pt x="25772" y="54666"/>
                  </a:lnTo>
                  <a:lnTo>
                    <a:pt x="54666" y="25772"/>
                  </a:lnTo>
                  <a:lnTo>
                    <a:pt x="91279" y="6812"/>
                  </a:lnTo>
                  <a:lnTo>
                    <a:pt x="133398" y="0"/>
                  </a:lnTo>
                  <a:lnTo>
                    <a:pt x="1394350" y="0"/>
                  </a:lnTo>
                  <a:lnTo>
                    <a:pt x="1433585" y="5887"/>
                  </a:lnTo>
                  <a:lnTo>
                    <a:pt x="1468217" y="22371"/>
                  </a:lnTo>
                  <a:lnTo>
                    <a:pt x="1496478" y="47680"/>
                  </a:lnTo>
                  <a:lnTo>
                    <a:pt x="1516602" y="80048"/>
                  </a:lnTo>
                  <a:lnTo>
                    <a:pt x="1550481" y="98603"/>
                  </a:lnTo>
                  <a:lnTo>
                    <a:pt x="1577122" y="126148"/>
                  </a:lnTo>
                  <a:lnTo>
                    <a:pt x="1594554" y="160710"/>
                  </a:lnTo>
                  <a:lnTo>
                    <a:pt x="1600803" y="200318"/>
                  </a:lnTo>
                  <a:lnTo>
                    <a:pt x="1600803" y="709238"/>
                  </a:lnTo>
                  <a:lnTo>
                    <a:pt x="1590748" y="759042"/>
                  </a:lnTo>
                  <a:lnTo>
                    <a:pt x="1563327" y="799712"/>
                  </a:lnTo>
                  <a:lnTo>
                    <a:pt x="1522657" y="827133"/>
                  </a:lnTo>
                  <a:lnTo>
                    <a:pt x="1472854" y="837187"/>
                  </a:lnTo>
                  <a:close/>
                </a:path>
              </a:pathLst>
            </a:custGeom>
            <a:solidFill>
              <a:srgbClr val="000000"/>
            </a:solidFill>
          </p:spPr>
          <p:txBody>
            <a:bodyPr wrap="square" lIns="0" tIns="0" rIns="0" bIns="0" rtlCol="0"/>
            <a:lstStyle/>
            <a:p>
              <a:endParaRPr sz="1632"/>
            </a:p>
          </p:txBody>
        </p:sp>
        <p:sp>
          <p:nvSpPr>
            <p:cNvPr id="36" name="object 36"/>
            <p:cNvSpPr/>
            <p:nvPr/>
          </p:nvSpPr>
          <p:spPr>
            <a:xfrm>
              <a:off x="146030" y="4582753"/>
              <a:ext cx="1506220" cy="754380"/>
            </a:xfrm>
            <a:custGeom>
              <a:avLst/>
              <a:gdLst/>
              <a:ahLst/>
              <a:cxnLst/>
              <a:rect l="l" t="t" r="r" b="b"/>
              <a:pathLst>
                <a:path w="1506220" h="754379">
                  <a:moveTo>
                    <a:pt x="1383450" y="753917"/>
                  </a:moveTo>
                  <a:lnTo>
                    <a:pt x="122498" y="753917"/>
                  </a:lnTo>
                  <a:lnTo>
                    <a:pt x="74835" y="744284"/>
                  </a:lnTo>
                  <a:lnTo>
                    <a:pt x="35896" y="718021"/>
                  </a:lnTo>
                  <a:lnTo>
                    <a:pt x="9632" y="679081"/>
                  </a:lnTo>
                  <a:lnTo>
                    <a:pt x="0" y="631419"/>
                  </a:lnTo>
                  <a:lnTo>
                    <a:pt x="0" y="122496"/>
                  </a:lnTo>
                  <a:lnTo>
                    <a:pt x="9633" y="74834"/>
                  </a:lnTo>
                  <a:lnTo>
                    <a:pt x="35896" y="35895"/>
                  </a:lnTo>
                  <a:lnTo>
                    <a:pt x="74835" y="9632"/>
                  </a:lnTo>
                  <a:lnTo>
                    <a:pt x="122498" y="0"/>
                  </a:lnTo>
                  <a:lnTo>
                    <a:pt x="1383450" y="0"/>
                  </a:lnTo>
                  <a:lnTo>
                    <a:pt x="1431113" y="9632"/>
                  </a:lnTo>
                  <a:lnTo>
                    <a:pt x="1470053" y="35896"/>
                  </a:lnTo>
                  <a:lnTo>
                    <a:pt x="1496316" y="74835"/>
                  </a:lnTo>
                  <a:lnTo>
                    <a:pt x="1505949" y="122498"/>
                  </a:lnTo>
                  <a:lnTo>
                    <a:pt x="1505949" y="631419"/>
                  </a:lnTo>
                  <a:lnTo>
                    <a:pt x="1496316" y="679081"/>
                  </a:lnTo>
                  <a:lnTo>
                    <a:pt x="1470053" y="718021"/>
                  </a:lnTo>
                  <a:lnTo>
                    <a:pt x="1431113" y="744284"/>
                  </a:lnTo>
                  <a:lnTo>
                    <a:pt x="1383450" y="753917"/>
                  </a:lnTo>
                  <a:close/>
                </a:path>
              </a:pathLst>
            </a:custGeom>
            <a:solidFill>
              <a:srgbClr val="FFFFFF"/>
            </a:solidFill>
          </p:spPr>
          <p:txBody>
            <a:bodyPr wrap="square" lIns="0" tIns="0" rIns="0" bIns="0" rtlCol="0"/>
            <a:lstStyle/>
            <a:p>
              <a:endParaRPr sz="1632"/>
            </a:p>
          </p:txBody>
        </p:sp>
        <p:sp>
          <p:nvSpPr>
            <p:cNvPr id="37" name="object 37"/>
            <p:cNvSpPr/>
            <p:nvPr/>
          </p:nvSpPr>
          <p:spPr>
            <a:xfrm>
              <a:off x="85570" y="3500430"/>
              <a:ext cx="1972945" cy="1031875"/>
            </a:xfrm>
            <a:custGeom>
              <a:avLst/>
              <a:gdLst/>
              <a:ahLst/>
              <a:cxnLst/>
              <a:rect l="l" t="t" r="r" b="b"/>
              <a:pathLst>
                <a:path w="1972945" h="1031875">
                  <a:moveTo>
                    <a:pt x="1815040" y="1031690"/>
                  </a:moveTo>
                  <a:lnTo>
                    <a:pt x="261134" y="1031690"/>
                  </a:lnTo>
                  <a:lnTo>
                    <a:pt x="218417" y="1025834"/>
                  </a:lnTo>
                  <a:lnTo>
                    <a:pt x="180156" y="1009330"/>
                  </a:lnTo>
                  <a:lnTo>
                    <a:pt x="147945" y="983773"/>
                  </a:lnTo>
                  <a:lnTo>
                    <a:pt x="123377" y="950762"/>
                  </a:lnTo>
                  <a:lnTo>
                    <a:pt x="83333" y="934532"/>
                  </a:lnTo>
                  <a:lnTo>
                    <a:pt x="49334" y="908856"/>
                  </a:lnTo>
                  <a:lnTo>
                    <a:pt x="23019" y="875374"/>
                  </a:lnTo>
                  <a:lnTo>
                    <a:pt x="6028" y="835725"/>
                  </a:lnTo>
                  <a:lnTo>
                    <a:pt x="0" y="791548"/>
                  </a:lnTo>
                  <a:lnTo>
                    <a:pt x="0" y="164390"/>
                  </a:lnTo>
                  <a:lnTo>
                    <a:pt x="5882" y="120739"/>
                  </a:lnTo>
                  <a:lnTo>
                    <a:pt x="22476" y="81484"/>
                  </a:lnTo>
                  <a:lnTo>
                    <a:pt x="48203" y="48203"/>
                  </a:lnTo>
                  <a:lnTo>
                    <a:pt x="81484" y="22476"/>
                  </a:lnTo>
                  <a:lnTo>
                    <a:pt x="120739" y="5882"/>
                  </a:lnTo>
                  <a:lnTo>
                    <a:pt x="164390" y="0"/>
                  </a:lnTo>
                  <a:lnTo>
                    <a:pt x="1718298" y="0"/>
                  </a:lnTo>
                  <a:lnTo>
                    <a:pt x="1766649" y="7255"/>
                  </a:lnTo>
                  <a:lnTo>
                    <a:pt x="1809326" y="27568"/>
                  </a:lnTo>
                  <a:lnTo>
                    <a:pt x="1844153" y="58758"/>
                  </a:lnTo>
                  <a:lnTo>
                    <a:pt x="1868953" y="98645"/>
                  </a:lnTo>
                  <a:lnTo>
                    <a:pt x="1910703" y="121511"/>
                  </a:lnTo>
                  <a:lnTo>
                    <a:pt x="1943534" y="155455"/>
                  </a:lnTo>
                  <a:lnTo>
                    <a:pt x="1965015" y="198047"/>
                  </a:lnTo>
                  <a:lnTo>
                    <a:pt x="1972715" y="246857"/>
                  </a:lnTo>
                  <a:lnTo>
                    <a:pt x="1972715" y="874015"/>
                  </a:lnTo>
                  <a:lnTo>
                    <a:pt x="1964677" y="923853"/>
                  </a:lnTo>
                  <a:lnTo>
                    <a:pt x="1942293" y="967136"/>
                  </a:lnTo>
                  <a:lnTo>
                    <a:pt x="1908161" y="1001268"/>
                  </a:lnTo>
                  <a:lnTo>
                    <a:pt x="1864878" y="1023652"/>
                  </a:lnTo>
                  <a:lnTo>
                    <a:pt x="1815040" y="1031690"/>
                  </a:lnTo>
                  <a:close/>
                </a:path>
              </a:pathLst>
            </a:custGeom>
            <a:solidFill>
              <a:srgbClr val="000000"/>
            </a:solidFill>
          </p:spPr>
          <p:txBody>
            <a:bodyPr wrap="square" lIns="0" tIns="0" rIns="0" bIns="0" rtlCol="0"/>
            <a:lstStyle/>
            <a:p>
              <a:endParaRPr sz="1632"/>
            </a:p>
          </p:txBody>
        </p:sp>
        <p:sp>
          <p:nvSpPr>
            <p:cNvPr id="38" name="object 38"/>
            <p:cNvSpPr/>
            <p:nvPr/>
          </p:nvSpPr>
          <p:spPr>
            <a:xfrm>
              <a:off x="99002" y="3513865"/>
              <a:ext cx="1856105" cy="929640"/>
            </a:xfrm>
            <a:custGeom>
              <a:avLst/>
              <a:gdLst/>
              <a:ahLst/>
              <a:cxnLst/>
              <a:rect l="l" t="t" r="r" b="b"/>
              <a:pathLst>
                <a:path w="1856105" h="929639">
                  <a:moveTo>
                    <a:pt x="1704866" y="929074"/>
                  </a:moveTo>
                  <a:lnTo>
                    <a:pt x="150958" y="929074"/>
                  </a:lnTo>
                  <a:lnTo>
                    <a:pt x="103265" y="921372"/>
                  </a:lnTo>
                  <a:lnTo>
                    <a:pt x="61828" y="899931"/>
                  </a:lnTo>
                  <a:lnTo>
                    <a:pt x="29142" y="867245"/>
                  </a:lnTo>
                  <a:lnTo>
                    <a:pt x="7701" y="825808"/>
                  </a:lnTo>
                  <a:lnTo>
                    <a:pt x="0" y="778116"/>
                  </a:lnTo>
                  <a:lnTo>
                    <a:pt x="0" y="150956"/>
                  </a:lnTo>
                  <a:lnTo>
                    <a:pt x="7702" y="103263"/>
                  </a:lnTo>
                  <a:lnTo>
                    <a:pt x="29143" y="61827"/>
                  </a:lnTo>
                  <a:lnTo>
                    <a:pt x="61829" y="29141"/>
                  </a:lnTo>
                  <a:lnTo>
                    <a:pt x="103265" y="7701"/>
                  </a:lnTo>
                  <a:lnTo>
                    <a:pt x="150958" y="0"/>
                  </a:lnTo>
                  <a:lnTo>
                    <a:pt x="1704866" y="0"/>
                  </a:lnTo>
                  <a:lnTo>
                    <a:pt x="1752559" y="7701"/>
                  </a:lnTo>
                  <a:lnTo>
                    <a:pt x="1793996" y="29142"/>
                  </a:lnTo>
                  <a:lnTo>
                    <a:pt x="1826682" y="61828"/>
                  </a:lnTo>
                  <a:lnTo>
                    <a:pt x="1848123" y="103265"/>
                  </a:lnTo>
                  <a:lnTo>
                    <a:pt x="1855824" y="150958"/>
                  </a:lnTo>
                  <a:lnTo>
                    <a:pt x="1855824" y="778116"/>
                  </a:lnTo>
                  <a:lnTo>
                    <a:pt x="1848123" y="825808"/>
                  </a:lnTo>
                  <a:lnTo>
                    <a:pt x="1826682" y="867245"/>
                  </a:lnTo>
                  <a:lnTo>
                    <a:pt x="1793996" y="899931"/>
                  </a:lnTo>
                  <a:lnTo>
                    <a:pt x="1752559" y="921372"/>
                  </a:lnTo>
                  <a:lnTo>
                    <a:pt x="1704866" y="929074"/>
                  </a:lnTo>
                  <a:close/>
                </a:path>
              </a:pathLst>
            </a:custGeom>
            <a:solidFill>
              <a:srgbClr val="FFFFFF"/>
            </a:solidFill>
          </p:spPr>
          <p:txBody>
            <a:bodyPr wrap="square" lIns="0" tIns="0" rIns="0" bIns="0" rtlCol="0"/>
            <a:lstStyle/>
            <a:p>
              <a:endParaRPr sz="1632"/>
            </a:p>
          </p:txBody>
        </p:sp>
        <p:sp>
          <p:nvSpPr>
            <p:cNvPr id="39" name="object 39"/>
            <p:cNvSpPr/>
            <p:nvPr/>
          </p:nvSpPr>
          <p:spPr>
            <a:xfrm>
              <a:off x="135130" y="5480240"/>
              <a:ext cx="1540510" cy="805815"/>
            </a:xfrm>
            <a:custGeom>
              <a:avLst/>
              <a:gdLst/>
              <a:ahLst/>
              <a:cxnLst/>
              <a:rect l="l" t="t" r="r" b="b"/>
              <a:pathLst>
                <a:path w="1540510" h="805814">
                  <a:moveTo>
                    <a:pt x="1417375" y="805653"/>
                  </a:moveTo>
                  <a:lnTo>
                    <a:pt x="203921" y="805653"/>
                  </a:lnTo>
                  <a:lnTo>
                    <a:pt x="170563" y="801080"/>
                  </a:lnTo>
                  <a:lnTo>
                    <a:pt x="140685" y="788191"/>
                  </a:lnTo>
                  <a:lnTo>
                    <a:pt x="115531" y="768234"/>
                  </a:lnTo>
                  <a:lnTo>
                    <a:pt x="96346" y="742455"/>
                  </a:lnTo>
                  <a:lnTo>
                    <a:pt x="57945" y="725410"/>
                  </a:lnTo>
                  <a:lnTo>
                    <a:pt x="27420" y="697340"/>
                  </a:lnTo>
                  <a:lnTo>
                    <a:pt x="7271" y="660744"/>
                  </a:lnTo>
                  <a:lnTo>
                    <a:pt x="0" y="618124"/>
                  </a:lnTo>
                  <a:lnTo>
                    <a:pt x="0" y="128373"/>
                  </a:lnTo>
                  <a:lnTo>
                    <a:pt x="10104" y="78452"/>
                  </a:lnTo>
                  <a:lnTo>
                    <a:pt x="37642" y="37642"/>
                  </a:lnTo>
                  <a:lnTo>
                    <a:pt x="78452" y="10104"/>
                  </a:lnTo>
                  <a:lnTo>
                    <a:pt x="128373" y="0"/>
                  </a:lnTo>
                  <a:lnTo>
                    <a:pt x="1341829" y="0"/>
                  </a:lnTo>
                  <a:lnTo>
                    <a:pt x="1379586" y="5665"/>
                  </a:lnTo>
                  <a:lnTo>
                    <a:pt x="1412913" y="21528"/>
                  </a:lnTo>
                  <a:lnTo>
                    <a:pt x="1440110" y="45884"/>
                  </a:lnTo>
                  <a:lnTo>
                    <a:pt x="1459476" y="77032"/>
                  </a:lnTo>
                  <a:lnTo>
                    <a:pt x="1492078" y="94889"/>
                  </a:lnTo>
                  <a:lnTo>
                    <a:pt x="1517716" y="121396"/>
                  </a:lnTo>
                  <a:lnTo>
                    <a:pt x="1534491" y="154656"/>
                  </a:lnTo>
                  <a:lnTo>
                    <a:pt x="1540505" y="192772"/>
                  </a:lnTo>
                  <a:lnTo>
                    <a:pt x="1540505" y="682523"/>
                  </a:lnTo>
                  <a:lnTo>
                    <a:pt x="1530828" y="730451"/>
                  </a:lnTo>
                  <a:lnTo>
                    <a:pt x="1504441" y="769589"/>
                  </a:lnTo>
                  <a:lnTo>
                    <a:pt x="1465303" y="795977"/>
                  </a:lnTo>
                  <a:lnTo>
                    <a:pt x="1417375" y="805653"/>
                  </a:lnTo>
                  <a:close/>
                </a:path>
              </a:pathLst>
            </a:custGeom>
            <a:solidFill>
              <a:srgbClr val="000000"/>
            </a:solidFill>
          </p:spPr>
          <p:txBody>
            <a:bodyPr wrap="square" lIns="0" tIns="0" rIns="0" bIns="0" rtlCol="0"/>
            <a:lstStyle/>
            <a:p>
              <a:endParaRPr sz="1632"/>
            </a:p>
          </p:txBody>
        </p:sp>
        <p:sp>
          <p:nvSpPr>
            <p:cNvPr id="40" name="object 40"/>
            <p:cNvSpPr/>
            <p:nvPr/>
          </p:nvSpPr>
          <p:spPr>
            <a:xfrm>
              <a:off x="145620" y="5490731"/>
              <a:ext cx="1449705" cy="725805"/>
            </a:xfrm>
            <a:custGeom>
              <a:avLst/>
              <a:gdLst/>
              <a:ahLst/>
              <a:cxnLst/>
              <a:rect l="l" t="t" r="r" b="b"/>
              <a:pathLst>
                <a:path w="1449705" h="725804">
                  <a:moveTo>
                    <a:pt x="1331339" y="725519"/>
                  </a:moveTo>
                  <a:lnTo>
                    <a:pt x="117884" y="725519"/>
                  </a:lnTo>
                  <a:lnTo>
                    <a:pt x="72016" y="716249"/>
                  </a:lnTo>
                  <a:lnTo>
                    <a:pt x="34543" y="690975"/>
                  </a:lnTo>
                  <a:lnTo>
                    <a:pt x="9270" y="653502"/>
                  </a:lnTo>
                  <a:lnTo>
                    <a:pt x="0" y="607635"/>
                  </a:lnTo>
                  <a:lnTo>
                    <a:pt x="0" y="117882"/>
                  </a:lnTo>
                  <a:lnTo>
                    <a:pt x="9270" y="72015"/>
                  </a:lnTo>
                  <a:lnTo>
                    <a:pt x="34544" y="34543"/>
                  </a:lnTo>
                  <a:lnTo>
                    <a:pt x="72017" y="9269"/>
                  </a:lnTo>
                  <a:lnTo>
                    <a:pt x="117884" y="0"/>
                  </a:lnTo>
                  <a:lnTo>
                    <a:pt x="1331339" y="0"/>
                  </a:lnTo>
                  <a:lnTo>
                    <a:pt x="1377207" y="9270"/>
                  </a:lnTo>
                  <a:lnTo>
                    <a:pt x="1414680" y="34543"/>
                  </a:lnTo>
                  <a:lnTo>
                    <a:pt x="1439953" y="72016"/>
                  </a:lnTo>
                  <a:lnTo>
                    <a:pt x="1449224" y="117884"/>
                  </a:lnTo>
                  <a:lnTo>
                    <a:pt x="1449224" y="607635"/>
                  </a:lnTo>
                  <a:lnTo>
                    <a:pt x="1439953" y="653502"/>
                  </a:lnTo>
                  <a:lnTo>
                    <a:pt x="1414680" y="690975"/>
                  </a:lnTo>
                  <a:lnTo>
                    <a:pt x="1377207" y="716249"/>
                  </a:lnTo>
                  <a:lnTo>
                    <a:pt x="1331339" y="725519"/>
                  </a:lnTo>
                  <a:close/>
                </a:path>
              </a:pathLst>
            </a:custGeom>
            <a:solidFill>
              <a:srgbClr val="FFFFFF"/>
            </a:solidFill>
          </p:spPr>
          <p:txBody>
            <a:bodyPr wrap="square" lIns="0" tIns="0" rIns="0" bIns="0" rtlCol="0"/>
            <a:lstStyle/>
            <a:p>
              <a:endParaRPr sz="1632"/>
            </a:p>
          </p:txBody>
        </p:sp>
      </p:grpSp>
      <p:sp>
        <p:nvSpPr>
          <p:cNvPr id="41" name="object 41"/>
          <p:cNvSpPr txBox="1"/>
          <p:nvPr/>
        </p:nvSpPr>
        <p:spPr>
          <a:xfrm>
            <a:off x="1469738" y="5057652"/>
            <a:ext cx="1151061" cy="498296"/>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23" dirty="0">
                <a:latin typeface="Times New Roman"/>
                <a:cs typeface="Times New Roman"/>
              </a:rPr>
              <a:t> </a:t>
            </a:r>
            <a:r>
              <a:rPr sz="907" b="1" spc="-9" dirty="0">
                <a:latin typeface="Times New Roman"/>
                <a:cs typeface="Times New Roman"/>
              </a:rPr>
              <a:t>Opinion</a:t>
            </a:r>
            <a:r>
              <a:rPr sz="907" b="1" spc="-18" dirty="0">
                <a:latin typeface="Times New Roman"/>
                <a:cs typeface="Times New Roman"/>
              </a:rPr>
              <a:t> </a:t>
            </a:r>
            <a:r>
              <a:rPr sz="907" b="1" spc="-9" dirty="0">
                <a:latin typeface="Times New Roman"/>
                <a:cs typeface="Times New Roman"/>
              </a:rPr>
              <a:t>Delivered </a:t>
            </a:r>
            <a:r>
              <a:rPr sz="907" b="1" spc="-18" dirty="0">
                <a:latin typeface="Times New Roman"/>
                <a:cs typeface="Times New Roman"/>
              </a:rPr>
              <a:t>Date</a:t>
            </a:r>
            <a:r>
              <a:rPr sz="907" b="1" spc="-23" dirty="0">
                <a:latin typeface="Times New Roman"/>
                <a:cs typeface="Times New Roman"/>
              </a:rPr>
              <a:t> </a:t>
            </a:r>
            <a:r>
              <a:rPr sz="907" spc="-9" dirty="0">
                <a:latin typeface="Times New Roman"/>
                <a:cs typeface="Times New Roman"/>
              </a:rPr>
              <a:t>is</a:t>
            </a:r>
            <a:r>
              <a:rPr sz="907" spc="-18" dirty="0">
                <a:latin typeface="Times New Roman"/>
                <a:cs typeface="Times New Roman"/>
              </a:rPr>
              <a:t> </a:t>
            </a:r>
            <a:r>
              <a:rPr sz="907" dirty="0">
                <a:latin typeface="Times New Roman"/>
                <a:cs typeface="Times New Roman"/>
              </a:rPr>
              <a:t>the</a:t>
            </a:r>
            <a:r>
              <a:rPr sz="907" spc="-18" dirty="0">
                <a:latin typeface="Times New Roman"/>
                <a:cs typeface="Times New Roman"/>
              </a:rPr>
              <a:t> </a:t>
            </a:r>
            <a:r>
              <a:rPr sz="907" dirty="0">
                <a:latin typeface="Times New Roman"/>
                <a:cs typeface="Times New Roman"/>
              </a:rPr>
              <a:t>date</a:t>
            </a:r>
            <a:r>
              <a:rPr sz="907" spc="-23" dirty="0">
                <a:latin typeface="Times New Roman"/>
                <a:cs typeface="Times New Roman"/>
              </a:rPr>
              <a:t> the </a:t>
            </a:r>
            <a:r>
              <a:rPr sz="907" dirty="0">
                <a:latin typeface="Times New Roman"/>
                <a:cs typeface="Times New Roman"/>
              </a:rPr>
              <a:t>opinion</a:t>
            </a:r>
            <a:r>
              <a:rPr sz="907" spc="-23" dirty="0">
                <a:latin typeface="Times New Roman"/>
                <a:cs typeface="Times New Roman"/>
              </a:rPr>
              <a:t> </a:t>
            </a:r>
            <a:r>
              <a:rPr sz="907" dirty="0">
                <a:latin typeface="Times New Roman"/>
                <a:cs typeface="Times New Roman"/>
              </a:rPr>
              <a:t>was</a:t>
            </a:r>
            <a:r>
              <a:rPr sz="907" spc="-23" dirty="0">
                <a:latin typeface="Times New Roman"/>
                <a:cs typeface="Times New Roman"/>
              </a:rPr>
              <a:t> </a:t>
            </a:r>
            <a:r>
              <a:rPr sz="907" spc="-18" dirty="0">
                <a:latin typeface="Times New Roman"/>
                <a:cs typeface="Times New Roman"/>
              </a:rPr>
              <a:t>delivered</a:t>
            </a:r>
            <a:r>
              <a:rPr sz="907" spc="-23" dirty="0">
                <a:latin typeface="Times New Roman"/>
                <a:cs typeface="Times New Roman"/>
              </a:rPr>
              <a:t> or </a:t>
            </a:r>
            <a:r>
              <a:rPr sz="907" spc="-9" dirty="0">
                <a:latin typeface="Times New Roman"/>
                <a:cs typeface="Times New Roman"/>
              </a:rPr>
              <a:t>published.</a:t>
            </a:r>
            <a:endParaRPr sz="907">
              <a:latin typeface="Times New Roman"/>
              <a:cs typeface="Times New Roman"/>
            </a:endParaRPr>
          </a:p>
        </p:txBody>
      </p:sp>
      <p:grpSp>
        <p:nvGrpSpPr>
          <p:cNvPr id="42" name="object 42"/>
          <p:cNvGrpSpPr/>
          <p:nvPr/>
        </p:nvGrpSpPr>
        <p:grpSpPr>
          <a:xfrm>
            <a:off x="8690298" y="1114287"/>
            <a:ext cx="1570833" cy="821692"/>
            <a:chOff x="8207634" y="1228811"/>
            <a:chExt cx="1732280" cy="906144"/>
          </a:xfrm>
        </p:grpSpPr>
        <p:sp>
          <p:nvSpPr>
            <p:cNvPr id="43" name="object 43"/>
            <p:cNvSpPr/>
            <p:nvPr/>
          </p:nvSpPr>
          <p:spPr>
            <a:xfrm>
              <a:off x="8207634" y="1228811"/>
              <a:ext cx="1732280" cy="906144"/>
            </a:xfrm>
            <a:custGeom>
              <a:avLst/>
              <a:gdLst/>
              <a:ahLst/>
              <a:cxnLst/>
              <a:rect l="l" t="t" r="r" b="b"/>
              <a:pathLst>
                <a:path w="1732279" h="906144">
                  <a:moveTo>
                    <a:pt x="1593537" y="905785"/>
                  </a:moveTo>
                  <a:lnTo>
                    <a:pt x="229266" y="905785"/>
                  </a:lnTo>
                  <a:lnTo>
                    <a:pt x="191762" y="900644"/>
                  </a:lnTo>
                  <a:lnTo>
                    <a:pt x="158170" y="886153"/>
                  </a:lnTo>
                  <a:lnTo>
                    <a:pt x="129890" y="863716"/>
                  </a:lnTo>
                  <a:lnTo>
                    <a:pt x="108320" y="834733"/>
                  </a:lnTo>
                  <a:lnTo>
                    <a:pt x="65147" y="815569"/>
                  </a:lnTo>
                  <a:lnTo>
                    <a:pt x="30828" y="784010"/>
                  </a:lnTo>
                  <a:lnTo>
                    <a:pt x="8175" y="742866"/>
                  </a:lnTo>
                  <a:lnTo>
                    <a:pt x="0" y="694949"/>
                  </a:lnTo>
                  <a:lnTo>
                    <a:pt x="0" y="144328"/>
                  </a:lnTo>
                  <a:lnTo>
                    <a:pt x="7370" y="98758"/>
                  </a:lnTo>
                  <a:lnTo>
                    <a:pt x="27883" y="59145"/>
                  </a:lnTo>
                  <a:lnTo>
                    <a:pt x="59145" y="27883"/>
                  </a:lnTo>
                  <a:lnTo>
                    <a:pt x="98758" y="7370"/>
                  </a:lnTo>
                  <a:lnTo>
                    <a:pt x="144328" y="0"/>
                  </a:lnTo>
                  <a:lnTo>
                    <a:pt x="1508601" y="0"/>
                  </a:lnTo>
                  <a:lnTo>
                    <a:pt x="1551051" y="6370"/>
                  </a:lnTo>
                  <a:lnTo>
                    <a:pt x="1588520" y="24204"/>
                  </a:lnTo>
                  <a:lnTo>
                    <a:pt x="1619097" y="51587"/>
                  </a:lnTo>
                  <a:lnTo>
                    <a:pt x="1640870" y="86607"/>
                  </a:lnTo>
                  <a:lnTo>
                    <a:pt x="1677525" y="106682"/>
                  </a:lnTo>
                  <a:lnTo>
                    <a:pt x="1706349" y="136484"/>
                  </a:lnTo>
                  <a:lnTo>
                    <a:pt x="1725209" y="173878"/>
                  </a:lnTo>
                  <a:lnTo>
                    <a:pt x="1731970" y="216731"/>
                  </a:lnTo>
                  <a:lnTo>
                    <a:pt x="1731970" y="767352"/>
                  </a:lnTo>
                  <a:lnTo>
                    <a:pt x="1724912" y="811108"/>
                  </a:lnTo>
                  <a:lnTo>
                    <a:pt x="1705260" y="849109"/>
                  </a:lnTo>
                  <a:lnTo>
                    <a:pt x="1675293" y="879076"/>
                  </a:lnTo>
                  <a:lnTo>
                    <a:pt x="1637292" y="898728"/>
                  </a:lnTo>
                  <a:lnTo>
                    <a:pt x="1593537" y="905785"/>
                  </a:lnTo>
                  <a:close/>
                </a:path>
              </a:pathLst>
            </a:custGeom>
            <a:solidFill>
              <a:srgbClr val="000000"/>
            </a:solidFill>
          </p:spPr>
          <p:txBody>
            <a:bodyPr wrap="square" lIns="0" tIns="0" rIns="0" bIns="0" rtlCol="0"/>
            <a:lstStyle/>
            <a:p>
              <a:endParaRPr sz="1632"/>
            </a:p>
          </p:txBody>
        </p:sp>
        <p:sp>
          <p:nvSpPr>
            <p:cNvPr id="44" name="object 44"/>
            <p:cNvSpPr/>
            <p:nvPr/>
          </p:nvSpPr>
          <p:spPr>
            <a:xfrm>
              <a:off x="8219427" y="1240606"/>
              <a:ext cx="1629410" cy="815975"/>
            </a:xfrm>
            <a:custGeom>
              <a:avLst/>
              <a:gdLst/>
              <a:ahLst/>
              <a:cxnLst/>
              <a:rect l="l" t="t" r="r" b="b"/>
              <a:pathLst>
                <a:path w="1629409" h="815975">
                  <a:moveTo>
                    <a:pt x="1496808" y="815692"/>
                  </a:moveTo>
                  <a:lnTo>
                    <a:pt x="132535" y="815692"/>
                  </a:lnTo>
                  <a:lnTo>
                    <a:pt x="90663" y="808930"/>
                  </a:lnTo>
                  <a:lnTo>
                    <a:pt x="54283" y="790106"/>
                  </a:lnTo>
                  <a:lnTo>
                    <a:pt x="25585" y="761409"/>
                  </a:lnTo>
                  <a:lnTo>
                    <a:pt x="6761" y="725029"/>
                  </a:lnTo>
                  <a:lnTo>
                    <a:pt x="0" y="683156"/>
                  </a:lnTo>
                  <a:lnTo>
                    <a:pt x="0" y="132533"/>
                  </a:lnTo>
                  <a:lnTo>
                    <a:pt x="6762" y="90661"/>
                  </a:lnTo>
                  <a:lnTo>
                    <a:pt x="25586" y="54281"/>
                  </a:lnTo>
                  <a:lnTo>
                    <a:pt x="54283" y="25585"/>
                  </a:lnTo>
                  <a:lnTo>
                    <a:pt x="90663" y="6761"/>
                  </a:lnTo>
                  <a:lnTo>
                    <a:pt x="132535" y="0"/>
                  </a:lnTo>
                  <a:lnTo>
                    <a:pt x="1496808" y="0"/>
                  </a:lnTo>
                  <a:lnTo>
                    <a:pt x="1538680" y="6761"/>
                  </a:lnTo>
                  <a:lnTo>
                    <a:pt x="1575060" y="25585"/>
                  </a:lnTo>
                  <a:lnTo>
                    <a:pt x="1603758" y="54283"/>
                  </a:lnTo>
                  <a:lnTo>
                    <a:pt x="1622582" y="90663"/>
                  </a:lnTo>
                  <a:lnTo>
                    <a:pt x="1629344" y="132535"/>
                  </a:lnTo>
                  <a:lnTo>
                    <a:pt x="1629344" y="683156"/>
                  </a:lnTo>
                  <a:lnTo>
                    <a:pt x="1622582" y="725029"/>
                  </a:lnTo>
                  <a:lnTo>
                    <a:pt x="1603758" y="761409"/>
                  </a:lnTo>
                  <a:lnTo>
                    <a:pt x="1575060" y="790106"/>
                  </a:lnTo>
                  <a:lnTo>
                    <a:pt x="1538680" y="808930"/>
                  </a:lnTo>
                  <a:lnTo>
                    <a:pt x="1496808" y="815692"/>
                  </a:lnTo>
                  <a:close/>
                </a:path>
              </a:pathLst>
            </a:custGeom>
            <a:solidFill>
              <a:srgbClr val="FFFFFF"/>
            </a:solidFill>
          </p:spPr>
          <p:txBody>
            <a:bodyPr wrap="square" lIns="0" tIns="0" rIns="0" bIns="0" rtlCol="0"/>
            <a:lstStyle/>
            <a:p>
              <a:endParaRPr sz="1632"/>
            </a:p>
          </p:txBody>
        </p:sp>
      </p:grpSp>
      <p:sp>
        <p:nvSpPr>
          <p:cNvPr id="45" name="object 45"/>
          <p:cNvSpPr txBox="1"/>
          <p:nvPr/>
        </p:nvSpPr>
        <p:spPr>
          <a:xfrm>
            <a:off x="8823298" y="1295502"/>
            <a:ext cx="1195399" cy="382880"/>
          </a:xfrm>
          <a:prstGeom prst="rect">
            <a:avLst/>
          </a:prstGeom>
        </p:spPr>
        <p:txBody>
          <a:bodyPr vert="horz" wrap="square" lIns="0" tIns="36277" rIns="0" bIns="0" rtlCol="0">
            <a:spAutoFit/>
          </a:bodyPr>
          <a:lstStyle/>
          <a:p>
            <a:pPr marL="11516" marR="4607">
              <a:lnSpc>
                <a:spcPts val="889"/>
              </a:lnSpc>
              <a:spcBef>
                <a:spcPts val="286"/>
              </a:spcBef>
            </a:pPr>
            <a:r>
              <a:rPr sz="907" spc="-41" dirty="0">
                <a:latin typeface="Times New Roman"/>
                <a:cs typeface="Times New Roman"/>
              </a:rPr>
              <a:t>TThe</a:t>
            </a:r>
            <a:r>
              <a:rPr sz="907" spc="-23" dirty="0">
                <a:latin typeface="Times New Roman"/>
                <a:cs typeface="Times New Roman"/>
              </a:rPr>
              <a:t> </a:t>
            </a:r>
            <a:r>
              <a:rPr sz="907" b="1" spc="-27" dirty="0">
                <a:latin typeface="Times New Roman"/>
                <a:cs typeface="Times New Roman"/>
              </a:rPr>
              <a:t>Cited</a:t>
            </a:r>
            <a:r>
              <a:rPr sz="907" b="1" spc="-18" dirty="0">
                <a:latin typeface="Times New Roman"/>
                <a:cs typeface="Times New Roman"/>
              </a:rPr>
              <a:t> </a:t>
            </a:r>
            <a:r>
              <a:rPr sz="907" b="1" spc="-9" dirty="0">
                <a:latin typeface="Times New Roman"/>
                <a:cs typeface="Times New Roman"/>
              </a:rPr>
              <a:t>With</a:t>
            </a:r>
            <a:r>
              <a:rPr sz="907" b="1" spc="-18" dirty="0">
                <a:latin typeface="Times New Roman"/>
                <a:cs typeface="Times New Roman"/>
              </a:rPr>
              <a:t> </a:t>
            </a:r>
            <a:r>
              <a:rPr sz="907" dirty="0">
                <a:latin typeface="Times New Roman"/>
                <a:cs typeface="Times New Roman"/>
              </a:rPr>
              <a:t>tab</a:t>
            </a:r>
            <a:r>
              <a:rPr sz="907" spc="-23" dirty="0">
                <a:latin typeface="Times New Roman"/>
                <a:cs typeface="Times New Roman"/>
              </a:rPr>
              <a:t> </a:t>
            </a:r>
            <a:r>
              <a:rPr sz="907" spc="-18" dirty="0">
                <a:latin typeface="Times New Roman"/>
                <a:cs typeface="Times New Roman"/>
              </a:rPr>
              <a:t>lists cases</a:t>
            </a:r>
            <a:r>
              <a:rPr sz="907" spc="-14" dirty="0">
                <a:latin typeface="Times New Roman"/>
                <a:cs typeface="Times New Roman"/>
              </a:rPr>
              <a:t> </a:t>
            </a:r>
            <a:r>
              <a:rPr sz="907" dirty="0">
                <a:latin typeface="Times New Roman"/>
                <a:cs typeface="Times New Roman"/>
              </a:rPr>
              <a:t>that</a:t>
            </a:r>
            <a:r>
              <a:rPr sz="907" spc="-9" dirty="0">
                <a:latin typeface="Times New Roman"/>
                <a:cs typeface="Times New Roman"/>
              </a:rPr>
              <a:t> are</a:t>
            </a:r>
            <a:r>
              <a:rPr sz="907" spc="-14" dirty="0">
                <a:latin typeface="Times New Roman"/>
                <a:cs typeface="Times New Roman"/>
              </a:rPr>
              <a:t> </a:t>
            </a:r>
            <a:r>
              <a:rPr sz="907" dirty="0">
                <a:latin typeface="Times New Roman"/>
                <a:cs typeface="Times New Roman"/>
              </a:rPr>
              <a:t>often</a:t>
            </a:r>
            <a:r>
              <a:rPr sz="907" spc="-9" dirty="0">
                <a:latin typeface="Times New Roman"/>
                <a:cs typeface="Times New Roman"/>
              </a:rPr>
              <a:t> </a:t>
            </a:r>
            <a:r>
              <a:rPr sz="907" spc="-18" dirty="0">
                <a:latin typeface="Times New Roman"/>
                <a:cs typeface="Times New Roman"/>
              </a:rPr>
              <a:t>cited </a:t>
            </a:r>
            <a:r>
              <a:rPr sz="907" spc="-9" dirty="0">
                <a:latin typeface="Times New Roman"/>
                <a:cs typeface="Times New Roman"/>
              </a:rPr>
              <a:t>alongside</a:t>
            </a:r>
            <a:r>
              <a:rPr sz="907" dirty="0">
                <a:latin typeface="Times New Roman"/>
                <a:cs typeface="Times New Roman"/>
              </a:rPr>
              <a:t> the</a:t>
            </a:r>
            <a:r>
              <a:rPr sz="907" spc="5"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grpSp>
        <p:nvGrpSpPr>
          <p:cNvPr id="46" name="object 46"/>
          <p:cNvGrpSpPr/>
          <p:nvPr/>
        </p:nvGrpSpPr>
        <p:grpSpPr>
          <a:xfrm>
            <a:off x="1301243" y="2191816"/>
            <a:ext cx="1789069" cy="935705"/>
            <a:chOff x="59148" y="2417085"/>
            <a:chExt cx="1972945" cy="1031875"/>
          </a:xfrm>
        </p:grpSpPr>
        <p:sp>
          <p:nvSpPr>
            <p:cNvPr id="47" name="object 47"/>
            <p:cNvSpPr/>
            <p:nvPr/>
          </p:nvSpPr>
          <p:spPr>
            <a:xfrm>
              <a:off x="59148" y="2417085"/>
              <a:ext cx="1972945" cy="1031875"/>
            </a:xfrm>
            <a:custGeom>
              <a:avLst/>
              <a:gdLst/>
              <a:ahLst/>
              <a:cxnLst/>
              <a:rect l="l" t="t" r="r" b="b"/>
              <a:pathLst>
                <a:path w="1972945" h="1031875">
                  <a:moveTo>
                    <a:pt x="1815040" y="1031690"/>
                  </a:moveTo>
                  <a:lnTo>
                    <a:pt x="261134" y="1031690"/>
                  </a:lnTo>
                  <a:lnTo>
                    <a:pt x="218417" y="1025834"/>
                  </a:lnTo>
                  <a:lnTo>
                    <a:pt x="180156" y="1009330"/>
                  </a:lnTo>
                  <a:lnTo>
                    <a:pt x="147945" y="983773"/>
                  </a:lnTo>
                  <a:lnTo>
                    <a:pt x="123377" y="950762"/>
                  </a:lnTo>
                  <a:lnTo>
                    <a:pt x="83333" y="934532"/>
                  </a:lnTo>
                  <a:lnTo>
                    <a:pt x="49334" y="908856"/>
                  </a:lnTo>
                  <a:lnTo>
                    <a:pt x="23019" y="875374"/>
                  </a:lnTo>
                  <a:lnTo>
                    <a:pt x="6028" y="835725"/>
                  </a:lnTo>
                  <a:lnTo>
                    <a:pt x="0" y="791548"/>
                  </a:lnTo>
                  <a:lnTo>
                    <a:pt x="0" y="164390"/>
                  </a:lnTo>
                  <a:lnTo>
                    <a:pt x="5882" y="120739"/>
                  </a:lnTo>
                  <a:lnTo>
                    <a:pt x="22476" y="81484"/>
                  </a:lnTo>
                  <a:lnTo>
                    <a:pt x="48203" y="48203"/>
                  </a:lnTo>
                  <a:lnTo>
                    <a:pt x="81484" y="22476"/>
                  </a:lnTo>
                  <a:lnTo>
                    <a:pt x="120739" y="5882"/>
                  </a:lnTo>
                  <a:lnTo>
                    <a:pt x="164390" y="0"/>
                  </a:lnTo>
                  <a:lnTo>
                    <a:pt x="1718298" y="0"/>
                  </a:lnTo>
                  <a:lnTo>
                    <a:pt x="1766649" y="7255"/>
                  </a:lnTo>
                  <a:lnTo>
                    <a:pt x="1809326" y="27568"/>
                  </a:lnTo>
                  <a:lnTo>
                    <a:pt x="1844153" y="58758"/>
                  </a:lnTo>
                  <a:lnTo>
                    <a:pt x="1868953" y="98645"/>
                  </a:lnTo>
                  <a:lnTo>
                    <a:pt x="1910703" y="121511"/>
                  </a:lnTo>
                  <a:lnTo>
                    <a:pt x="1943534" y="155455"/>
                  </a:lnTo>
                  <a:lnTo>
                    <a:pt x="1965015" y="198047"/>
                  </a:lnTo>
                  <a:lnTo>
                    <a:pt x="1972715" y="246857"/>
                  </a:lnTo>
                  <a:lnTo>
                    <a:pt x="1972715" y="874015"/>
                  </a:lnTo>
                  <a:lnTo>
                    <a:pt x="1964677" y="923853"/>
                  </a:lnTo>
                  <a:lnTo>
                    <a:pt x="1942293" y="967136"/>
                  </a:lnTo>
                  <a:lnTo>
                    <a:pt x="1908161" y="1001268"/>
                  </a:lnTo>
                  <a:lnTo>
                    <a:pt x="1864878" y="1023652"/>
                  </a:lnTo>
                  <a:lnTo>
                    <a:pt x="1815040" y="1031690"/>
                  </a:lnTo>
                  <a:close/>
                </a:path>
              </a:pathLst>
            </a:custGeom>
            <a:solidFill>
              <a:srgbClr val="000000"/>
            </a:solidFill>
          </p:spPr>
          <p:txBody>
            <a:bodyPr wrap="square" lIns="0" tIns="0" rIns="0" bIns="0" rtlCol="0"/>
            <a:lstStyle/>
            <a:p>
              <a:endParaRPr sz="1632"/>
            </a:p>
          </p:txBody>
        </p:sp>
        <p:sp>
          <p:nvSpPr>
            <p:cNvPr id="48" name="object 48"/>
            <p:cNvSpPr/>
            <p:nvPr/>
          </p:nvSpPr>
          <p:spPr>
            <a:xfrm>
              <a:off x="72581" y="2430520"/>
              <a:ext cx="1856105" cy="929640"/>
            </a:xfrm>
            <a:custGeom>
              <a:avLst/>
              <a:gdLst/>
              <a:ahLst/>
              <a:cxnLst/>
              <a:rect l="l" t="t" r="r" b="b"/>
              <a:pathLst>
                <a:path w="1856105" h="929639">
                  <a:moveTo>
                    <a:pt x="1704866" y="929074"/>
                  </a:moveTo>
                  <a:lnTo>
                    <a:pt x="150958" y="929074"/>
                  </a:lnTo>
                  <a:lnTo>
                    <a:pt x="103265" y="921372"/>
                  </a:lnTo>
                  <a:lnTo>
                    <a:pt x="61828" y="899931"/>
                  </a:lnTo>
                  <a:lnTo>
                    <a:pt x="29142" y="867245"/>
                  </a:lnTo>
                  <a:lnTo>
                    <a:pt x="7701" y="825808"/>
                  </a:lnTo>
                  <a:lnTo>
                    <a:pt x="0" y="778116"/>
                  </a:lnTo>
                  <a:lnTo>
                    <a:pt x="0" y="150956"/>
                  </a:lnTo>
                  <a:lnTo>
                    <a:pt x="7702" y="103263"/>
                  </a:lnTo>
                  <a:lnTo>
                    <a:pt x="29143" y="61827"/>
                  </a:lnTo>
                  <a:lnTo>
                    <a:pt x="61829" y="29141"/>
                  </a:lnTo>
                  <a:lnTo>
                    <a:pt x="103265" y="7701"/>
                  </a:lnTo>
                  <a:lnTo>
                    <a:pt x="150958" y="0"/>
                  </a:lnTo>
                  <a:lnTo>
                    <a:pt x="1704866" y="0"/>
                  </a:lnTo>
                  <a:lnTo>
                    <a:pt x="1752559" y="7701"/>
                  </a:lnTo>
                  <a:lnTo>
                    <a:pt x="1793996" y="29142"/>
                  </a:lnTo>
                  <a:lnTo>
                    <a:pt x="1826682" y="61828"/>
                  </a:lnTo>
                  <a:lnTo>
                    <a:pt x="1848123" y="103265"/>
                  </a:lnTo>
                  <a:lnTo>
                    <a:pt x="1855824" y="150958"/>
                  </a:lnTo>
                  <a:lnTo>
                    <a:pt x="1855824" y="778116"/>
                  </a:lnTo>
                  <a:lnTo>
                    <a:pt x="1848123" y="825808"/>
                  </a:lnTo>
                  <a:lnTo>
                    <a:pt x="1826682" y="867245"/>
                  </a:lnTo>
                  <a:lnTo>
                    <a:pt x="1793996" y="899931"/>
                  </a:lnTo>
                  <a:lnTo>
                    <a:pt x="1752559" y="921372"/>
                  </a:lnTo>
                  <a:lnTo>
                    <a:pt x="1704866" y="929074"/>
                  </a:lnTo>
                  <a:close/>
                </a:path>
              </a:pathLst>
            </a:custGeom>
            <a:solidFill>
              <a:srgbClr val="FFFFFF"/>
            </a:solidFill>
          </p:spPr>
          <p:txBody>
            <a:bodyPr wrap="square" lIns="0" tIns="0" rIns="0" bIns="0" rtlCol="0"/>
            <a:lstStyle/>
            <a:p>
              <a:endParaRPr sz="1632"/>
            </a:p>
          </p:txBody>
        </p:sp>
      </p:grpSp>
      <p:sp>
        <p:nvSpPr>
          <p:cNvPr id="49" name="object 49"/>
          <p:cNvSpPr txBox="1"/>
          <p:nvPr/>
        </p:nvSpPr>
        <p:spPr>
          <a:xfrm>
            <a:off x="1358627" y="2267023"/>
            <a:ext cx="1630143" cy="1726453"/>
          </a:xfrm>
          <a:prstGeom prst="rect">
            <a:avLst/>
          </a:prstGeom>
        </p:spPr>
        <p:txBody>
          <a:bodyPr vert="horz" wrap="square" lIns="0" tIns="36277" rIns="0" bIns="0" rtlCol="0">
            <a:spAutoFit/>
          </a:bodyPr>
          <a:lstStyle/>
          <a:p>
            <a:pPr marL="11516" marR="4607">
              <a:lnSpc>
                <a:spcPts val="889"/>
              </a:lnSpc>
              <a:spcBef>
                <a:spcPts val="286"/>
              </a:spcBef>
            </a:pPr>
            <a:r>
              <a:rPr sz="907" spc="-23" dirty="0">
                <a:latin typeface="Times New Roman"/>
                <a:cs typeface="Times New Roman"/>
              </a:rPr>
              <a:t>The</a:t>
            </a:r>
            <a:r>
              <a:rPr sz="907" spc="-41" dirty="0">
                <a:latin typeface="Times New Roman"/>
                <a:cs typeface="Times New Roman"/>
              </a:rPr>
              <a:t> </a:t>
            </a:r>
            <a:r>
              <a:rPr sz="907" b="1" spc="-32" dirty="0">
                <a:latin typeface="Times New Roman"/>
                <a:cs typeface="Times New Roman"/>
              </a:rPr>
              <a:t>Case</a:t>
            </a:r>
            <a:r>
              <a:rPr sz="907" b="1" spc="-41" dirty="0">
                <a:latin typeface="Times New Roman"/>
                <a:cs typeface="Times New Roman"/>
              </a:rPr>
              <a:t> </a:t>
            </a:r>
            <a:r>
              <a:rPr sz="907" b="1" spc="-9" dirty="0">
                <a:latin typeface="Times New Roman"/>
                <a:cs typeface="Times New Roman"/>
              </a:rPr>
              <a:t>Citation</a:t>
            </a:r>
            <a:r>
              <a:rPr sz="907" b="1" spc="-41" dirty="0">
                <a:latin typeface="Times New Roman"/>
                <a:cs typeface="Times New Roman"/>
              </a:rPr>
              <a:t> </a:t>
            </a:r>
            <a:r>
              <a:rPr sz="907" dirty="0">
                <a:latin typeface="Times New Roman"/>
                <a:cs typeface="Times New Roman"/>
              </a:rPr>
              <a:t>tells</a:t>
            </a:r>
            <a:r>
              <a:rPr sz="907" spc="-45" dirty="0">
                <a:latin typeface="Times New Roman"/>
                <a:cs typeface="Times New Roman"/>
              </a:rPr>
              <a:t> </a:t>
            </a:r>
            <a:r>
              <a:rPr sz="907" spc="-9" dirty="0">
                <a:latin typeface="Times New Roman"/>
                <a:cs typeface="Times New Roman"/>
              </a:rPr>
              <a:t>researchers </a:t>
            </a:r>
            <a:r>
              <a:rPr sz="907" dirty="0">
                <a:latin typeface="Times New Roman"/>
                <a:cs typeface="Times New Roman"/>
              </a:rPr>
              <a:t>how</a:t>
            </a:r>
            <a:r>
              <a:rPr sz="907" spc="-27" dirty="0">
                <a:latin typeface="Times New Roman"/>
                <a:cs typeface="Times New Roman"/>
              </a:rPr>
              <a:t> </a:t>
            </a:r>
            <a:r>
              <a:rPr sz="907" dirty="0">
                <a:latin typeface="Times New Roman"/>
                <a:cs typeface="Times New Roman"/>
              </a:rPr>
              <a:t>to</a:t>
            </a:r>
            <a:r>
              <a:rPr sz="907" spc="-27" dirty="0">
                <a:latin typeface="Times New Roman"/>
                <a:cs typeface="Times New Roman"/>
              </a:rPr>
              <a:t> </a:t>
            </a:r>
            <a:r>
              <a:rPr sz="907" spc="-18" dirty="0">
                <a:latin typeface="Times New Roman"/>
                <a:cs typeface="Times New Roman"/>
              </a:rPr>
              <a:t>look</a:t>
            </a:r>
            <a:r>
              <a:rPr sz="907" spc="-27" dirty="0">
                <a:latin typeface="Times New Roman"/>
                <a:cs typeface="Times New Roman"/>
              </a:rPr>
              <a:t> </a:t>
            </a:r>
            <a:r>
              <a:rPr sz="907" dirty="0">
                <a:latin typeface="Times New Roman"/>
                <a:cs typeface="Times New Roman"/>
              </a:rPr>
              <a:t>up</a:t>
            </a:r>
            <a:r>
              <a:rPr sz="907" spc="-27" dirty="0">
                <a:latin typeface="Times New Roman"/>
                <a:cs typeface="Times New Roman"/>
              </a:rPr>
              <a:t> </a:t>
            </a:r>
            <a:r>
              <a:rPr sz="907" dirty="0">
                <a:latin typeface="Times New Roman"/>
                <a:cs typeface="Times New Roman"/>
              </a:rPr>
              <a:t>the</a:t>
            </a:r>
            <a:r>
              <a:rPr sz="907" spc="-27" dirty="0">
                <a:latin typeface="Times New Roman"/>
                <a:cs typeface="Times New Roman"/>
              </a:rPr>
              <a:t> </a:t>
            </a:r>
            <a:r>
              <a:rPr sz="907" spc="-18" dirty="0">
                <a:latin typeface="Times New Roman"/>
                <a:cs typeface="Times New Roman"/>
              </a:rPr>
              <a:t>case</a:t>
            </a:r>
            <a:r>
              <a:rPr sz="907" spc="-27" dirty="0">
                <a:latin typeface="Times New Roman"/>
                <a:cs typeface="Times New Roman"/>
              </a:rPr>
              <a:t> </a:t>
            </a:r>
            <a:r>
              <a:rPr sz="907" dirty="0">
                <a:latin typeface="Times New Roman"/>
                <a:cs typeface="Times New Roman"/>
              </a:rPr>
              <a:t>or</a:t>
            </a:r>
            <a:r>
              <a:rPr sz="907" spc="-27" dirty="0">
                <a:latin typeface="Times New Roman"/>
                <a:cs typeface="Times New Roman"/>
              </a:rPr>
              <a:t> </a:t>
            </a:r>
            <a:r>
              <a:rPr sz="907" spc="-9" dirty="0">
                <a:latin typeface="Times New Roman"/>
                <a:cs typeface="Times New Roman"/>
              </a:rPr>
              <a:t>find</a:t>
            </a:r>
            <a:r>
              <a:rPr sz="907" spc="-27" dirty="0">
                <a:latin typeface="Times New Roman"/>
                <a:cs typeface="Times New Roman"/>
              </a:rPr>
              <a:t> </a:t>
            </a:r>
            <a:r>
              <a:rPr sz="907" dirty="0">
                <a:latin typeface="Times New Roman"/>
                <a:cs typeface="Times New Roman"/>
              </a:rPr>
              <a:t>it</a:t>
            </a:r>
            <a:r>
              <a:rPr sz="907" spc="-27" dirty="0">
                <a:latin typeface="Times New Roman"/>
                <a:cs typeface="Times New Roman"/>
              </a:rPr>
              <a:t> </a:t>
            </a:r>
            <a:r>
              <a:rPr sz="907" spc="-23" dirty="0">
                <a:latin typeface="Times New Roman"/>
                <a:cs typeface="Times New Roman"/>
              </a:rPr>
              <a:t>in </a:t>
            </a:r>
            <a:r>
              <a:rPr sz="907" dirty="0">
                <a:latin typeface="Times New Roman"/>
                <a:cs typeface="Times New Roman"/>
              </a:rPr>
              <a:t>a</a:t>
            </a:r>
            <a:r>
              <a:rPr sz="907" spc="-18" dirty="0">
                <a:latin typeface="Times New Roman"/>
                <a:cs typeface="Times New Roman"/>
              </a:rPr>
              <a:t> </a:t>
            </a:r>
            <a:r>
              <a:rPr sz="907" dirty="0">
                <a:latin typeface="Times New Roman"/>
                <a:cs typeface="Times New Roman"/>
              </a:rPr>
              <a:t>print</a:t>
            </a:r>
            <a:r>
              <a:rPr sz="907" spc="-14" dirty="0">
                <a:latin typeface="Times New Roman"/>
                <a:cs typeface="Times New Roman"/>
              </a:rPr>
              <a:t> </a:t>
            </a:r>
            <a:r>
              <a:rPr sz="907" spc="-9" dirty="0">
                <a:latin typeface="Times New Roman"/>
                <a:cs typeface="Times New Roman"/>
              </a:rPr>
              <a:t>reporter.</a:t>
            </a:r>
            <a:r>
              <a:rPr sz="907" spc="-14" dirty="0">
                <a:latin typeface="Times New Roman"/>
                <a:cs typeface="Times New Roman"/>
              </a:rPr>
              <a:t> </a:t>
            </a:r>
            <a:r>
              <a:rPr sz="907" spc="-32" dirty="0">
                <a:latin typeface="Times New Roman"/>
                <a:cs typeface="Times New Roman"/>
              </a:rPr>
              <a:t>Here</a:t>
            </a:r>
            <a:r>
              <a:rPr sz="907" spc="-14" dirty="0">
                <a:latin typeface="Times New Roman"/>
                <a:cs typeface="Times New Roman"/>
              </a:rPr>
              <a:t> </a:t>
            </a:r>
            <a:r>
              <a:rPr sz="907" spc="-23" dirty="0">
                <a:latin typeface="Times New Roman"/>
                <a:cs typeface="Times New Roman"/>
              </a:rPr>
              <a:t>it’s</a:t>
            </a:r>
            <a:r>
              <a:rPr sz="907" spc="-18" dirty="0">
                <a:latin typeface="Times New Roman"/>
                <a:cs typeface="Times New Roman"/>
              </a:rPr>
              <a:t> </a:t>
            </a:r>
            <a:r>
              <a:rPr sz="907" spc="-23" dirty="0">
                <a:latin typeface="Times New Roman"/>
                <a:cs typeface="Times New Roman"/>
              </a:rPr>
              <a:t>646 </a:t>
            </a:r>
            <a:r>
              <a:rPr sz="907" spc="-41" dirty="0">
                <a:latin typeface="Times New Roman"/>
                <a:cs typeface="Times New Roman"/>
              </a:rPr>
              <a:t>S.W.3d</a:t>
            </a:r>
            <a:r>
              <a:rPr sz="907" spc="-27" dirty="0">
                <a:latin typeface="Times New Roman"/>
                <a:cs typeface="Times New Roman"/>
              </a:rPr>
              <a:t> </a:t>
            </a:r>
            <a:r>
              <a:rPr sz="907" dirty="0">
                <a:latin typeface="Times New Roman"/>
                <a:cs typeface="Times New Roman"/>
              </a:rPr>
              <a:t>498,</a:t>
            </a:r>
            <a:r>
              <a:rPr sz="907" spc="-27" dirty="0">
                <a:latin typeface="Times New Roman"/>
                <a:cs typeface="Times New Roman"/>
              </a:rPr>
              <a:t> </a:t>
            </a:r>
            <a:r>
              <a:rPr sz="907" dirty="0">
                <a:latin typeface="Times New Roman"/>
                <a:cs typeface="Times New Roman"/>
              </a:rPr>
              <a:t>which</a:t>
            </a:r>
            <a:r>
              <a:rPr sz="907" spc="-27" dirty="0">
                <a:latin typeface="Times New Roman"/>
                <a:cs typeface="Times New Roman"/>
              </a:rPr>
              <a:t> </a:t>
            </a:r>
            <a:r>
              <a:rPr sz="907" dirty="0">
                <a:latin typeface="Times New Roman"/>
                <a:cs typeface="Times New Roman"/>
              </a:rPr>
              <a:t>stands</a:t>
            </a:r>
            <a:r>
              <a:rPr sz="907" spc="-27" dirty="0">
                <a:latin typeface="Times New Roman"/>
                <a:cs typeface="Times New Roman"/>
              </a:rPr>
              <a:t> </a:t>
            </a:r>
            <a:r>
              <a:rPr sz="907" spc="-18" dirty="0">
                <a:latin typeface="Times New Roman"/>
                <a:cs typeface="Times New Roman"/>
              </a:rPr>
              <a:t>for</a:t>
            </a:r>
            <a:r>
              <a:rPr sz="907" spc="-27" dirty="0">
                <a:latin typeface="Times New Roman"/>
                <a:cs typeface="Times New Roman"/>
              </a:rPr>
              <a:t> </a:t>
            </a:r>
            <a:r>
              <a:rPr sz="907" spc="-18" dirty="0">
                <a:latin typeface="Times New Roman"/>
                <a:cs typeface="Times New Roman"/>
              </a:rPr>
              <a:t>page </a:t>
            </a:r>
            <a:r>
              <a:rPr sz="907" dirty="0">
                <a:latin typeface="Times New Roman"/>
                <a:cs typeface="Times New Roman"/>
              </a:rPr>
              <a:t>498</a:t>
            </a:r>
            <a:r>
              <a:rPr sz="907" spc="-23" dirty="0">
                <a:latin typeface="Times New Roman"/>
                <a:cs typeface="Times New Roman"/>
              </a:rPr>
              <a:t> </a:t>
            </a:r>
            <a:r>
              <a:rPr sz="907" spc="-32" dirty="0">
                <a:latin typeface="Times New Roman"/>
                <a:cs typeface="Times New Roman"/>
              </a:rPr>
              <a:t>of</a:t>
            </a:r>
            <a:r>
              <a:rPr sz="907" spc="-23"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dirty="0">
                <a:latin typeface="Times New Roman"/>
                <a:cs typeface="Times New Roman"/>
              </a:rPr>
              <a:t>646th</a:t>
            </a:r>
            <a:r>
              <a:rPr sz="907" spc="-18" dirty="0">
                <a:latin typeface="Times New Roman"/>
                <a:cs typeface="Times New Roman"/>
              </a:rPr>
              <a:t> </a:t>
            </a:r>
            <a:r>
              <a:rPr sz="907" spc="-9" dirty="0">
                <a:latin typeface="Times New Roman"/>
                <a:cs typeface="Times New Roman"/>
              </a:rPr>
              <a:t>volume</a:t>
            </a:r>
            <a:r>
              <a:rPr sz="907" spc="-23" dirty="0">
                <a:latin typeface="Times New Roman"/>
                <a:cs typeface="Times New Roman"/>
              </a:rPr>
              <a:t> </a:t>
            </a:r>
            <a:r>
              <a:rPr sz="907" spc="-32" dirty="0">
                <a:latin typeface="Times New Roman"/>
                <a:cs typeface="Times New Roman"/>
              </a:rPr>
              <a:t>of</a:t>
            </a:r>
            <a:r>
              <a:rPr sz="907" spc="-23" dirty="0">
                <a:latin typeface="Times New Roman"/>
                <a:cs typeface="Times New Roman"/>
              </a:rPr>
              <a:t> the </a:t>
            </a:r>
            <a:r>
              <a:rPr sz="907" dirty="0">
                <a:latin typeface="Times New Roman"/>
                <a:cs typeface="Times New Roman"/>
              </a:rPr>
              <a:t>Southwestern </a:t>
            </a:r>
            <a:r>
              <a:rPr sz="907" spc="-18" dirty="0">
                <a:latin typeface="Times New Roman"/>
                <a:cs typeface="Times New Roman"/>
              </a:rPr>
              <a:t>Reporter</a:t>
            </a:r>
            <a:r>
              <a:rPr sz="907" spc="5" dirty="0">
                <a:latin typeface="Times New Roman"/>
                <a:cs typeface="Times New Roman"/>
              </a:rPr>
              <a:t> </a:t>
            </a:r>
            <a:r>
              <a:rPr sz="907" spc="-9" dirty="0">
                <a:latin typeface="Times New Roman"/>
                <a:cs typeface="Times New Roman"/>
              </a:rPr>
              <a:t>Third.</a:t>
            </a:r>
            <a:endParaRPr sz="907">
              <a:latin typeface="Times New Roman"/>
              <a:cs typeface="Times New Roman"/>
            </a:endParaRPr>
          </a:p>
          <a:p>
            <a:pPr>
              <a:lnSpc>
                <a:spcPct val="100000"/>
              </a:lnSpc>
            </a:pPr>
            <a:endParaRPr sz="907">
              <a:latin typeface="Times New Roman"/>
              <a:cs typeface="Times New Roman"/>
            </a:endParaRPr>
          </a:p>
          <a:p>
            <a:pPr>
              <a:spcBef>
                <a:spcPts val="154"/>
              </a:spcBef>
            </a:pPr>
            <a:endParaRPr sz="907">
              <a:latin typeface="Times New Roman"/>
              <a:cs typeface="Times New Roman"/>
            </a:endParaRPr>
          </a:p>
          <a:p>
            <a:pPr marL="33973" marR="41459">
              <a:lnSpc>
                <a:spcPts val="889"/>
              </a:lnSpc>
            </a:pPr>
            <a:r>
              <a:rPr sz="907" b="1" dirty="0">
                <a:latin typeface="Times New Roman"/>
                <a:cs typeface="Times New Roman"/>
              </a:rPr>
              <a:t>A</a:t>
            </a:r>
            <a:r>
              <a:rPr sz="907" b="1" spc="63" dirty="0">
                <a:latin typeface="Times New Roman"/>
                <a:cs typeface="Times New Roman"/>
              </a:rPr>
              <a:t> </a:t>
            </a:r>
            <a:r>
              <a:rPr sz="907" b="1" spc="-9" dirty="0">
                <a:latin typeface="Times New Roman"/>
                <a:cs typeface="Times New Roman"/>
              </a:rPr>
              <a:t>Docket</a:t>
            </a:r>
            <a:r>
              <a:rPr sz="907" b="1" spc="-54" dirty="0">
                <a:latin typeface="Times New Roman"/>
                <a:cs typeface="Times New Roman"/>
              </a:rPr>
              <a:t> </a:t>
            </a:r>
            <a:r>
              <a:rPr sz="907" b="1" spc="-18" dirty="0">
                <a:latin typeface="Times New Roman"/>
                <a:cs typeface="Times New Roman"/>
              </a:rPr>
              <a:t>Number</a:t>
            </a:r>
            <a:r>
              <a:rPr sz="907" b="1" spc="-54" dirty="0">
                <a:latin typeface="Times New Roman"/>
                <a:cs typeface="Times New Roman"/>
              </a:rPr>
              <a:t> </a:t>
            </a:r>
            <a:r>
              <a:rPr sz="907" spc="-9" dirty="0">
                <a:latin typeface="Times New Roman"/>
                <a:cs typeface="Times New Roman"/>
              </a:rPr>
              <a:t>is</a:t>
            </a:r>
            <a:r>
              <a:rPr sz="907" spc="-59" dirty="0">
                <a:latin typeface="Times New Roman"/>
                <a:cs typeface="Times New Roman"/>
              </a:rPr>
              <a:t> </a:t>
            </a:r>
            <a:r>
              <a:rPr sz="907" spc="-23" dirty="0">
                <a:latin typeface="Times New Roman"/>
                <a:cs typeface="Times New Roman"/>
              </a:rPr>
              <a:t>an </a:t>
            </a:r>
            <a:r>
              <a:rPr sz="907" dirty="0">
                <a:latin typeface="Times New Roman"/>
                <a:cs typeface="Times New Roman"/>
              </a:rPr>
              <a:t>independent</a:t>
            </a:r>
            <a:r>
              <a:rPr sz="907" spc="27" dirty="0">
                <a:latin typeface="Times New Roman"/>
                <a:cs typeface="Times New Roman"/>
              </a:rPr>
              <a:t> </a:t>
            </a:r>
            <a:r>
              <a:rPr sz="907" dirty="0">
                <a:latin typeface="Times New Roman"/>
                <a:cs typeface="Times New Roman"/>
              </a:rPr>
              <a:t>number</a:t>
            </a:r>
            <a:r>
              <a:rPr sz="907" spc="27" dirty="0">
                <a:latin typeface="Times New Roman"/>
                <a:cs typeface="Times New Roman"/>
              </a:rPr>
              <a:t> </a:t>
            </a:r>
            <a:r>
              <a:rPr sz="907" spc="-9" dirty="0">
                <a:latin typeface="Times New Roman"/>
                <a:cs typeface="Times New Roman"/>
              </a:rPr>
              <a:t>assigned</a:t>
            </a:r>
            <a:r>
              <a:rPr sz="907" spc="27" dirty="0">
                <a:latin typeface="Times New Roman"/>
                <a:cs typeface="Times New Roman"/>
              </a:rPr>
              <a:t> </a:t>
            </a:r>
            <a:r>
              <a:rPr sz="907" spc="-23" dirty="0">
                <a:latin typeface="Times New Roman"/>
                <a:cs typeface="Times New Roman"/>
              </a:rPr>
              <a:t>to </a:t>
            </a:r>
            <a:r>
              <a:rPr sz="907" spc="-9" dirty="0">
                <a:latin typeface="Times New Roman"/>
                <a:cs typeface="Times New Roman"/>
              </a:rPr>
              <a:t>each</a:t>
            </a:r>
            <a:r>
              <a:rPr sz="907" spc="-32" dirty="0">
                <a:latin typeface="Times New Roman"/>
                <a:cs typeface="Times New Roman"/>
              </a:rPr>
              <a:t> </a:t>
            </a:r>
            <a:r>
              <a:rPr sz="907" spc="-18" dirty="0">
                <a:latin typeface="Times New Roman"/>
                <a:cs typeface="Times New Roman"/>
              </a:rPr>
              <a:t>case</a:t>
            </a:r>
            <a:r>
              <a:rPr sz="907" spc="-27" dirty="0">
                <a:latin typeface="Times New Roman"/>
                <a:cs typeface="Times New Roman"/>
              </a:rPr>
              <a:t> </a:t>
            </a:r>
            <a:r>
              <a:rPr sz="907" dirty="0">
                <a:latin typeface="Times New Roman"/>
                <a:cs typeface="Times New Roman"/>
              </a:rPr>
              <a:t>when</a:t>
            </a:r>
            <a:r>
              <a:rPr sz="907" spc="-32" dirty="0">
                <a:latin typeface="Times New Roman"/>
                <a:cs typeface="Times New Roman"/>
              </a:rPr>
              <a:t> </a:t>
            </a:r>
            <a:r>
              <a:rPr sz="907" spc="-23" dirty="0">
                <a:latin typeface="Times New Roman"/>
                <a:cs typeface="Times New Roman"/>
              </a:rPr>
              <a:t>it’s</a:t>
            </a:r>
            <a:r>
              <a:rPr sz="907" spc="-27" dirty="0">
                <a:latin typeface="Times New Roman"/>
                <a:cs typeface="Times New Roman"/>
              </a:rPr>
              <a:t> </a:t>
            </a:r>
            <a:r>
              <a:rPr sz="907" spc="-23" dirty="0">
                <a:latin typeface="Times New Roman"/>
                <a:cs typeface="Times New Roman"/>
              </a:rPr>
              <a:t>filed;</a:t>
            </a:r>
            <a:r>
              <a:rPr sz="907" spc="-32" dirty="0">
                <a:latin typeface="Times New Roman"/>
                <a:cs typeface="Times New Roman"/>
              </a:rPr>
              <a:t> </a:t>
            </a:r>
            <a:r>
              <a:rPr sz="907" spc="-18" dirty="0">
                <a:latin typeface="Times New Roman"/>
                <a:cs typeface="Times New Roman"/>
              </a:rPr>
              <a:t>this </a:t>
            </a:r>
            <a:r>
              <a:rPr sz="907" dirty="0">
                <a:latin typeface="Times New Roman"/>
                <a:cs typeface="Times New Roman"/>
              </a:rPr>
              <a:t>number</a:t>
            </a:r>
            <a:r>
              <a:rPr sz="907" spc="-14" dirty="0">
                <a:latin typeface="Times New Roman"/>
                <a:cs typeface="Times New Roman"/>
              </a:rPr>
              <a:t> </a:t>
            </a:r>
            <a:r>
              <a:rPr sz="907" dirty="0">
                <a:latin typeface="Times New Roman"/>
                <a:cs typeface="Times New Roman"/>
              </a:rPr>
              <a:t>attaches</a:t>
            </a:r>
            <a:r>
              <a:rPr sz="907" spc="-9" dirty="0">
                <a:latin typeface="Times New Roman"/>
                <a:cs typeface="Times New Roman"/>
              </a:rPr>
              <a:t> </a:t>
            </a:r>
            <a:r>
              <a:rPr sz="907" dirty="0">
                <a:latin typeface="Times New Roman"/>
                <a:cs typeface="Times New Roman"/>
              </a:rPr>
              <a:t>to</a:t>
            </a:r>
            <a:r>
              <a:rPr sz="907" spc="-9" dirty="0">
                <a:latin typeface="Times New Roman"/>
                <a:cs typeface="Times New Roman"/>
              </a:rPr>
              <a:t> all </a:t>
            </a:r>
            <a:r>
              <a:rPr sz="907" spc="-18" dirty="0">
                <a:latin typeface="Times New Roman"/>
                <a:cs typeface="Times New Roman"/>
              </a:rPr>
              <a:t>filings</a:t>
            </a:r>
            <a:r>
              <a:rPr sz="907" spc="-9" dirty="0">
                <a:latin typeface="Times New Roman"/>
                <a:cs typeface="Times New Roman"/>
              </a:rPr>
              <a:t> </a:t>
            </a:r>
            <a:r>
              <a:rPr sz="907" spc="-23" dirty="0">
                <a:latin typeface="Times New Roman"/>
                <a:cs typeface="Times New Roman"/>
              </a:rPr>
              <a:t>and </a:t>
            </a:r>
            <a:r>
              <a:rPr sz="907" dirty="0">
                <a:latin typeface="Times New Roman"/>
                <a:cs typeface="Times New Roman"/>
              </a:rPr>
              <a:t>court</a:t>
            </a:r>
            <a:r>
              <a:rPr sz="907" spc="-14" dirty="0">
                <a:latin typeface="Times New Roman"/>
                <a:cs typeface="Times New Roman"/>
              </a:rPr>
              <a:t> </a:t>
            </a:r>
            <a:r>
              <a:rPr sz="907" dirty="0">
                <a:latin typeface="Times New Roman"/>
                <a:cs typeface="Times New Roman"/>
              </a:rPr>
              <a:t>documents</a:t>
            </a:r>
            <a:r>
              <a:rPr sz="907" spc="-14" dirty="0">
                <a:latin typeface="Times New Roman"/>
                <a:cs typeface="Times New Roman"/>
              </a:rPr>
              <a:t> </a:t>
            </a:r>
            <a:r>
              <a:rPr sz="907" spc="-9" dirty="0">
                <a:latin typeface="Times New Roman"/>
                <a:cs typeface="Times New Roman"/>
              </a:rPr>
              <a:t>while</a:t>
            </a:r>
            <a:r>
              <a:rPr sz="907" spc="-14"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18" dirty="0">
                <a:latin typeface="Times New Roman"/>
                <a:cs typeface="Times New Roman"/>
              </a:rPr>
              <a:t>case</a:t>
            </a:r>
            <a:r>
              <a:rPr sz="907" spc="-14" dirty="0">
                <a:latin typeface="Times New Roman"/>
                <a:cs typeface="Times New Roman"/>
              </a:rPr>
              <a:t> </a:t>
            </a:r>
            <a:r>
              <a:rPr sz="907" spc="-23" dirty="0">
                <a:latin typeface="Times New Roman"/>
                <a:cs typeface="Times New Roman"/>
              </a:rPr>
              <a:t>is before</a:t>
            </a:r>
            <a:r>
              <a:rPr sz="907" spc="-5" dirty="0">
                <a:latin typeface="Times New Roman"/>
                <a:cs typeface="Times New Roman"/>
              </a:rPr>
              <a:t> </a:t>
            </a:r>
            <a:r>
              <a:rPr sz="907" dirty="0">
                <a:latin typeface="Times New Roman"/>
                <a:cs typeface="Times New Roman"/>
              </a:rPr>
              <a:t>the </a:t>
            </a:r>
            <a:r>
              <a:rPr sz="907" spc="-9" dirty="0">
                <a:latin typeface="Times New Roman"/>
                <a:cs typeface="Times New Roman"/>
              </a:rPr>
              <a:t>court.</a:t>
            </a:r>
            <a:endParaRPr sz="907">
              <a:latin typeface="Times New Roman"/>
              <a:cs typeface="Times New Roman"/>
            </a:endParaRPr>
          </a:p>
        </p:txBody>
      </p:sp>
      <p:grpSp>
        <p:nvGrpSpPr>
          <p:cNvPr id="50" name="object 50"/>
          <p:cNvGrpSpPr/>
          <p:nvPr/>
        </p:nvGrpSpPr>
        <p:grpSpPr>
          <a:xfrm>
            <a:off x="2415195" y="701824"/>
            <a:ext cx="8116740" cy="4877184"/>
            <a:chOff x="1287590" y="773956"/>
            <a:chExt cx="8950960" cy="5378450"/>
          </a:xfrm>
        </p:grpSpPr>
        <p:sp>
          <p:nvSpPr>
            <p:cNvPr id="51" name="object 51"/>
            <p:cNvSpPr/>
            <p:nvPr/>
          </p:nvSpPr>
          <p:spPr>
            <a:xfrm>
              <a:off x="3228302" y="826566"/>
              <a:ext cx="184785" cy="2564765"/>
            </a:xfrm>
            <a:custGeom>
              <a:avLst/>
              <a:gdLst/>
              <a:ahLst/>
              <a:cxnLst/>
              <a:rect l="l" t="t" r="r" b="b"/>
              <a:pathLst>
                <a:path w="184785" h="2564765">
                  <a:moveTo>
                    <a:pt x="184526" y="2564556"/>
                  </a:moveTo>
                  <a:lnTo>
                    <a:pt x="0" y="0"/>
                  </a:lnTo>
                </a:path>
              </a:pathLst>
            </a:custGeom>
            <a:ln w="19057">
              <a:solidFill>
                <a:srgbClr val="C70F2E"/>
              </a:solidFill>
            </a:ln>
          </p:spPr>
          <p:txBody>
            <a:bodyPr wrap="square" lIns="0" tIns="0" rIns="0" bIns="0" rtlCol="0"/>
            <a:lstStyle/>
            <a:p>
              <a:endParaRPr sz="1632"/>
            </a:p>
          </p:txBody>
        </p:sp>
        <p:sp>
          <p:nvSpPr>
            <p:cNvPr id="52" name="object 52"/>
            <p:cNvSpPr/>
            <p:nvPr/>
          </p:nvSpPr>
          <p:spPr>
            <a:xfrm>
              <a:off x="3199448" y="783798"/>
              <a:ext cx="57150" cy="40640"/>
            </a:xfrm>
            <a:custGeom>
              <a:avLst/>
              <a:gdLst/>
              <a:ahLst/>
              <a:cxnLst/>
              <a:rect l="l" t="t" r="r" b="b"/>
              <a:pathLst>
                <a:path w="57150" h="40640">
                  <a:moveTo>
                    <a:pt x="57024" y="35964"/>
                  </a:moveTo>
                  <a:lnTo>
                    <a:pt x="0" y="40067"/>
                  </a:lnTo>
                  <a:lnTo>
                    <a:pt x="25776" y="0"/>
                  </a:lnTo>
                  <a:lnTo>
                    <a:pt x="57024" y="35964"/>
                  </a:lnTo>
                  <a:close/>
                </a:path>
              </a:pathLst>
            </a:custGeom>
            <a:solidFill>
              <a:srgbClr val="C70F2E"/>
            </a:solidFill>
          </p:spPr>
          <p:txBody>
            <a:bodyPr wrap="square" lIns="0" tIns="0" rIns="0" bIns="0" rtlCol="0"/>
            <a:lstStyle/>
            <a:p>
              <a:endParaRPr sz="1632"/>
            </a:p>
          </p:txBody>
        </p:sp>
        <p:sp>
          <p:nvSpPr>
            <p:cNvPr id="53" name="object 53"/>
            <p:cNvSpPr/>
            <p:nvPr/>
          </p:nvSpPr>
          <p:spPr>
            <a:xfrm>
              <a:off x="3199448" y="783798"/>
              <a:ext cx="57150" cy="40640"/>
            </a:xfrm>
            <a:custGeom>
              <a:avLst/>
              <a:gdLst/>
              <a:ahLst/>
              <a:cxnLst/>
              <a:rect l="l" t="t" r="r" b="b"/>
              <a:pathLst>
                <a:path w="57150" h="40640">
                  <a:moveTo>
                    <a:pt x="0" y="40067"/>
                  </a:moveTo>
                  <a:lnTo>
                    <a:pt x="25776" y="0"/>
                  </a:lnTo>
                  <a:lnTo>
                    <a:pt x="57024" y="35964"/>
                  </a:lnTo>
                  <a:lnTo>
                    <a:pt x="0" y="40067"/>
                  </a:lnTo>
                  <a:close/>
                </a:path>
              </a:pathLst>
            </a:custGeom>
            <a:ln w="19057">
              <a:solidFill>
                <a:srgbClr val="C70F2E"/>
              </a:solidFill>
            </a:ln>
          </p:spPr>
          <p:txBody>
            <a:bodyPr wrap="square" lIns="0" tIns="0" rIns="0" bIns="0" rtlCol="0"/>
            <a:lstStyle/>
            <a:p>
              <a:endParaRPr sz="1632"/>
            </a:p>
          </p:txBody>
        </p:sp>
        <p:sp>
          <p:nvSpPr>
            <p:cNvPr id="54" name="object 54"/>
            <p:cNvSpPr/>
            <p:nvPr/>
          </p:nvSpPr>
          <p:spPr>
            <a:xfrm>
              <a:off x="4368461" y="1903532"/>
              <a:ext cx="349885" cy="1487805"/>
            </a:xfrm>
            <a:custGeom>
              <a:avLst/>
              <a:gdLst/>
              <a:ahLst/>
              <a:cxnLst/>
              <a:rect l="l" t="t" r="r" b="b"/>
              <a:pathLst>
                <a:path w="349885" h="1487804">
                  <a:moveTo>
                    <a:pt x="0" y="1487602"/>
                  </a:moveTo>
                  <a:lnTo>
                    <a:pt x="349396" y="0"/>
                  </a:lnTo>
                </a:path>
              </a:pathLst>
            </a:custGeom>
            <a:ln w="19057">
              <a:solidFill>
                <a:srgbClr val="C70F2E"/>
              </a:solidFill>
            </a:ln>
          </p:spPr>
          <p:txBody>
            <a:bodyPr wrap="square" lIns="0" tIns="0" rIns="0" bIns="0" rtlCol="0"/>
            <a:lstStyle/>
            <a:p>
              <a:endParaRPr sz="1632"/>
            </a:p>
          </p:txBody>
        </p:sp>
        <p:sp>
          <p:nvSpPr>
            <p:cNvPr id="55" name="object 55"/>
            <p:cNvSpPr/>
            <p:nvPr/>
          </p:nvSpPr>
          <p:spPr>
            <a:xfrm>
              <a:off x="4691118" y="1861789"/>
              <a:ext cx="55880" cy="43815"/>
            </a:xfrm>
            <a:custGeom>
              <a:avLst/>
              <a:gdLst/>
              <a:ahLst/>
              <a:cxnLst/>
              <a:rect l="l" t="t" r="r" b="b"/>
              <a:pathLst>
                <a:path w="55879" h="43814">
                  <a:moveTo>
                    <a:pt x="55656" y="43640"/>
                  </a:moveTo>
                  <a:lnTo>
                    <a:pt x="0" y="30568"/>
                  </a:lnTo>
                  <a:lnTo>
                    <a:pt x="36543" y="0"/>
                  </a:lnTo>
                  <a:lnTo>
                    <a:pt x="55656" y="43640"/>
                  </a:lnTo>
                  <a:close/>
                </a:path>
              </a:pathLst>
            </a:custGeom>
            <a:solidFill>
              <a:srgbClr val="C70F2E"/>
            </a:solidFill>
          </p:spPr>
          <p:txBody>
            <a:bodyPr wrap="square" lIns="0" tIns="0" rIns="0" bIns="0" rtlCol="0"/>
            <a:lstStyle/>
            <a:p>
              <a:endParaRPr sz="1632"/>
            </a:p>
          </p:txBody>
        </p:sp>
        <p:sp>
          <p:nvSpPr>
            <p:cNvPr id="56" name="object 56"/>
            <p:cNvSpPr/>
            <p:nvPr/>
          </p:nvSpPr>
          <p:spPr>
            <a:xfrm>
              <a:off x="4691118" y="1861789"/>
              <a:ext cx="55880" cy="43815"/>
            </a:xfrm>
            <a:custGeom>
              <a:avLst/>
              <a:gdLst/>
              <a:ahLst/>
              <a:cxnLst/>
              <a:rect l="l" t="t" r="r" b="b"/>
              <a:pathLst>
                <a:path w="55879" h="43814">
                  <a:moveTo>
                    <a:pt x="0" y="30568"/>
                  </a:moveTo>
                  <a:lnTo>
                    <a:pt x="36543" y="0"/>
                  </a:lnTo>
                  <a:lnTo>
                    <a:pt x="55656" y="43640"/>
                  </a:lnTo>
                  <a:lnTo>
                    <a:pt x="0" y="30568"/>
                  </a:lnTo>
                  <a:close/>
                </a:path>
              </a:pathLst>
            </a:custGeom>
            <a:ln w="19057">
              <a:solidFill>
                <a:srgbClr val="C70F2E"/>
              </a:solidFill>
            </a:ln>
          </p:spPr>
          <p:txBody>
            <a:bodyPr wrap="square" lIns="0" tIns="0" rIns="0" bIns="0" rtlCol="0"/>
            <a:lstStyle/>
            <a:p>
              <a:endParaRPr sz="1632"/>
            </a:p>
          </p:txBody>
        </p:sp>
        <p:sp>
          <p:nvSpPr>
            <p:cNvPr id="57" name="object 57"/>
            <p:cNvSpPr/>
            <p:nvPr/>
          </p:nvSpPr>
          <p:spPr>
            <a:xfrm>
              <a:off x="5070367" y="893573"/>
              <a:ext cx="1287780" cy="2512060"/>
            </a:xfrm>
            <a:custGeom>
              <a:avLst/>
              <a:gdLst/>
              <a:ahLst/>
              <a:cxnLst/>
              <a:rect l="l" t="t" r="r" b="b"/>
              <a:pathLst>
                <a:path w="1287779" h="2512060">
                  <a:moveTo>
                    <a:pt x="0" y="2512019"/>
                  </a:moveTo>
                  <a:lnTo>
                    <a:pt x="0" y="1531179"/>
                  </a:lnTo>
                  <a:lnTo>
                    <a:pt x="4646" y="1485090"/>
                  </a:lnTo>
                  <a:lnTo>
                    <a:pt x="17971" y="1442164"/>
                  </a:lnTo>
                  <a:lnTo>
                    <a:pt x="39056" y="1403318"/>
                  </a:lnTo>
                  <a:lnTo>
                    <a:pt x="66980" y="1369473"/>
                  </a:lnTo>
                  <a:lnTo>
                    <a:pt x="100825" y="1341548"/>
                  </a:lnTo>
                  <a:lnTo>
                    <a:pt x="139671" y="1320464"/>
                  </a:lnTo>
                  <a:lnTo>
                    <a:pt x="182597" y="1307139"/>
                  </a:lnTo>
                  <a:lnTo>
                    <a:pt x="228686" y="1302492"/>
                  </a:lnTo>
                  <a:lnTo>
                    <a:pt x="1058908" y="1302492"/>
                  </a:lnTo>
                  <a:lnTo>
                    <a:pt x="1104996" y="1297846"/>
                  </a:lnTo>
                  <a:lnTo>
                    <a:pt x="1147923" y="1284521"/>
                  </a:lnTo>
                  <a:lnTo>
                    <a:pt x="1186769" y="1263436"/>
                  </a:lnTo>
                  <a:lnTo>
                    <a:pt x="1220614" y="1235512"/>
                  </a:lnTo>
                  <a:lnTo>
                    <a:pt x="1248538" y="1201667"/>
                  </a:lnTo>
                  <a:lnTo>
                    <a:pt x="1269623" y="1162821"/>
                  </a:lnTo>
                  <a:lnTo>
                    <a:pt x="1282948" y="1119895"/>
                  </a:lnTo>
                  <a:lnTo>
                    <a:pt x="1287594" y="1073806"/>
                  </a:lnTo>
                  <a:lnTo>
                    <a:pt x="1287594" y="0"/>
                  </a:lnTo>
                </a:path>
              </a:pathLst>
            </a:custGeom>
            <a:ln w="19057">
              <a:solidFill>
                <a:srgbClr val="C70F2E"/>
              </a:solidFill>
            </a:ln>
          </p:spPr>
          <p:txBody>
            <a:bodyPr wrap="square" lIns="0" tIns="0" rIns="0" bIns="0" rtlCol="0"/>
            <a:lstStyle/>
            <a:p>
              <a:endParaRPr sz="1632"/>
            </a:p>
          </p:txBody>
        </p:sp>
        <p:sp>
          <p:nvSpPr>
            <p:cNvPr id="58" name="object 58"/>
            <p:cNvSpPr/>
            <p:nvPr/>
          </p:nvSpPr>
          <p:spPr>
            <a:xfrm>
              <a:off x="6329376" y="850695"/>
              <a:ext cx="57785" cy="38735"/>
            </a:xfrm>
            <a:custGeom>
              <a:avLst/>
              <a:gdLst/>
              <a:ahLst/>
              <a:cxnLst/>
              <a:rect l="l" t="t" r="r" b="b"/>
              <a:pathLst>
                <a:path w="57785" h="38734">
                  <a:moveTo>
                    <a:pt x="57171" y="38114"/>
                  </a:moveTo>
                  <a:lnTo>
                    <a:pt x="0" y="38114"/>
                  </a:lnTo>
                  <a:lnTo>
                    <a:pt x="28585" y="0"/>
                  </a:lnTo>
                  <a:lnTo>
                    <a:pt x="57171" y="38114"/>
                  </a:lnTo>
                  <a:close/>
                </a:path>
              </a:pathLst>
            </a:custGeom>
            <a:solidFill>
              <a:srgbClr val="C70F2E"/>
            </a:solidFill>
          </p:spPr>
          <p:txBody>
            <a:bodyPr wrap="square" lIns="0" tIns="0" rIns="0" bIns="0" rtlCol="0"/>
            <a:lstStyle/>
            <a:p>
              <a:endParaRPr sz="1632"/>
            </a:p>
          </p:txBody>
        </p:sp>
        <p:sp>
          <p:nvSpPr>
            <p:cNvPr id="59" name="object 59"/>
            <p:cNvSpPr/>
            <p:nvPr/>
          </p:nvSpPr>
          <p:spPr>
            <a:xfrm>
              <a:off x="6329376" y="850695"/>
              <a:ext cx="57785" cy="38735"/>
            </a:xfrm>
            <a:custGeom>
              <a:avLst/>
              <a:gdLst/>
              <a:ahLst/>
              <a:cxnLst/>
              <a:rect l="l" t="t" r="r" b="b"/>
              <a:pathLst>
                <a:path w="57785" h="38734">
                  <a:moveTo>
                    <a:pt x="0" y="38114"/>
                  </a:moveTo>
                  <a:lnTo>
                    <a:pt x="28585" y="0"/>
                  </a:lnTo>
                  <a:lnTo>
                    <a:pt x="57171" y="38114"/>
                  </a:lnTo>
                  <a:lnTo>
                    <a:pt x="0" y="38114"/>
                  </a:lnTo>
                  <a:close/>
                </a:path>
              </a:pathLst>
            </a:custGeom>
            <a:ln w="19057">
              <a:solidFill>
                <a:srgbClr val="C70F2E"/>
              </a:solidFill>
            </a:ln>
          </p:spPr>
          <p:txBody>
            <a:bodyPr wrap="square" lIns="0" tIns="0" rIns="0" bIns="0" rtlCol="0"/>
            <a:lstStyle/>
            <a:p>
              <a:endParaRPr sz="1632"/>
            </a:p>
          </p:txBody>
        </p:sp>
        <p:sp>
          <p:nvSpPr>
            <p:cNvPr id="60" name="object 60"/>
            <p:cNvSpPr/>
            <p:nvPr/>
          </p:nvSpPr>
          <p:spPr>
            <a:xfrm>
              <a:off x="6044972" y="958022"/>
              <a:ext cx="1414780" cy="2447925"/>
            </a:xfrm>
            <a:custGeom>
              <a:avLst/>
              <a:gdLst/>
              <a:ahLst/>
              <a:cxnLst/>
              <a:rect l="l" t="t" r="r" b="b"/>
              <a:pathLst>
                <a:path w="1414779" h="2447925">
                  <a:moveTo>
                    <a:pt x="0" y="2447559"/>
                  </a:moveTo>
                  <a:lnTo>
                    <a:pt x="1414780" y="0"/>
                  </a:lnTo>
                </a:path>
              </a:pathLst>
            </a:custGeom>
            <a:ln w="19057">
              <a:solidFill>
                <a:srgbClr val="C70F2E"/>
              </a:solidFill>
            </a:ln>
          </p:spPr>
          <p:txBody>
            <a:bodyPr wrap="square" lIns="0" tIns="0" rIns="0" bIns="0" rtlCol="0"/>
            <a:lstStyle/>
            <a:p>
              <a:endParaRPr sz="1632"/>
            </a:p>
          </p:txBody>
        </p:sp>
        <p:pic>
          <p:nvPicPr>
            <p:cNvPr id="61" name="object 61"/>
            <p:cNvPicPr/>
            <p:nvPr/>
          </p:nvPicPr>
          <p:blipFill>
            <a:blip r:embed="rId3" cstate="print"/>
            <a:stretch>
              <a:fillRect/>
            </a:stretch>
          </p:blipFill>
          <p:spPr>
            <a:xfrm>
              <a:off x="7427859" y="911370"/>
              <a:ext cx="68554" cy="66360"/>
            </a:xfrm>
            <a:prstGeom prst="rect">
              <a:avLst/>
            </a:prstGeom>
          </p:spPr>
        </p:pic>
        <p:sp>
          <p:nvSpPr>
            <p:cNvPr id="62" name="object 62"/>
            <p:cNvSpPr/>
            <p:nvPr/>
          </p:nvSpPr>
          <p:spPr>
            <a:xfrm>
              <a:off x="6774206" y="2024598"/>
              <a:ext cx="1553845" cy="1367155"/>
            </a:xfrm>
            <a:custGeom>
              <a:avLst/>
              <a:gdLst/>
              <a:ahLst/>
              <a:cxnLst/>
              <a:rect l="l" t="t" r="r" b="b"/>
              <a:pathLst>
                <a:path w="1553845" h="1367154">
                  <a:moveTo>
                    <a:pt x="0" y="1366552"/>
                  </a:moveTo>
                  <a:lnTo>
                    <a:pt x="1553437" y="0"/>
                  </a:lnTo>
                </a:path>
              </a:pathLst>
            </a:custGeom>
            <a:ln w="19057">
              <a:solidFill>
                <a:srgbClr val="C70F2E"/>
              </a:solidFill>
            </a:ln>
          </p:spPr>
          <p:txBody>
            <a:bodyPr wrap="square" lIns="0" tIns="0" rIns="0" bIns="0" rtlCol="0"/>
            <a:lstStyle/>
            <a:p>
              <a:endParaRPr sz="1632"/>
            </a:p>
          </p:txBody>
        </p:sp>
        <p:pic>
          <p:nvPicPr>
            <p:cNvPr id="63" name="object 63"/>
            <p:cNvPicPr/>
            <p:nvPr/>
          </p:nvPicPr>
          <p:blipFill>
            <a:blip r:embed="rId4" cstate="print"/>
            <a:stretch>
              <a:fillRect/>
            </a:stretch>
          </p:blipFill>
          <p:spPr>
            <a:xfrm>
              <a:off x="8302812" y="1986749"/>
              <a:ext cx="66555" cy="65694"/>
            </a:xfrm>
            <a:prstGeom prst="rect">
              <a:avLst/>
            </a:prstGeom>
          </p:spPr>
        </p:pic>
        <p:sp>
          <p:nvSpPr>
            <p:cNvPr id="64" name="object 64"/>
            <p:cNvSpPr/>
            <p:nvPr/>
          </p:nvSpPr>
          <p:spPr>
            <a:xfrm>
              <a:off x="1340184" y="5736362"/>
              <a:ext cx="4888230" cy="377190"/>
            </a:xfrm>
            <a:custGeom>
              <a:avLst/>
              <a:gdLst/>
              <a:ahLst/>
              <a:cxnLst/>
              <a:rect l="l" t="t" r="r" b="b"/>
              <a:pathLst>
                <a:path w="4888230" h="377189">
                  <a:moveTo>
                    <a:pt x="4887839" y="0"/>
                  </a:moveTo>
                  <a:lnTo>
                    <a:pt x="0" y="376992"/>
                  </a:lnTo>
                </a:path>
              </a:pathLst>
            </a:custGeom>
            <a:ln w="19057">
              <a:solidFill>
                <a:srgbClr val="C70F2E"/>
              </a:solidFill>
            </a:ln>
          </p:spPr>
          <p:txBody>
            <a:bodyPr wrap="square" lIns="0" tIns="0" rIns="0" bIns="0" rtlCol="0"/>
            <a:lstStyle/>
            <a:p>
              <a:endParaRPr sz="1632"/>
            </a:p>
          </p:txBody>
        </p:sp>
        <p:sp>
          <p:nvSpPr>
            <p:cNvPr id="65" name="object 65"/>
            <p:cNvSpPr/>
            <p:nvPr/>
          </p:nvSpPr>
          <p:spPr>
            <a:xfrm>
              <a:off x="1297432" y="6085220"/>
              <a:ext cx="40640" cy="57150"/>
            </a:xfrm>
            <a:custGeom>
              <a:avLst/>
              <a:gdLst/>
              <a:ahLst/>
              <a:cxnLst/>
              <a:rect l="l" t="t" r="r" b="b"/>
              <a:pathLst>
                <a:path w="40640" h="57150">
                  <a:moveTo>
                    <a:pt x="35803" y="0"/>
                  </a:moveTo>
                  <a:lnTo>
                    <a:pt x="40199" y="57002"/>
                  </a:lnTo>
                  <a:lnTo>
                    <a:pt x="0" y="31432"/>
                  </a:lnTo>
                  <a:lnTo>
                    <a:pt x="35803" y="0"/>
                  </a:lnTo>
                  <a:close/>
                </a:path>
              </a:pathLst>
            </a:custGeom>
            <a:solidFill>
              <a:srgbClr val="C70F2E"/>
            </a:solidFill>
          </p:spPr>
          <p:txBody>
            <a:bodyPr wrap="square" lIns="0" tIns="0" rIns="0" bIns="0" rtlCol="0"/>
            <a:lstStyle/>
            <a:p>
              <a:endParaRPr sz="1632"/>
            </a:p>
          </p:txBody>
        </p:sp>
        <p:sp>
          <p:nvSpPr>
            <p:cNvPr id="66" name="object 66"/>
            <p:cNvSpPr/>
            <p:nvPr/>
          </p:nvSpPr>
          <p:spPr>
            <a:xfrm>
              <a:off x="1297432" y="6085220"/>
              <a:ext cx="40640" cy="57150"/>
            </a:xfrm>
            <a:custGeom>
              <a:avLst/>
              <a:gdLst/>
              <a:ahLst/>
              <a:cxnLst/>
              <a:rect l="l" t="t" r="r" b="b"/>
              <a:pathLst>
                <a:path w="40640" h="57150">
                  <a:moveTo>
                    <a:pt x="40199" y="57002"/>
                  </a:moveTo>
                  <a:lnTo>
                    <a:pt x="0" y="31432"/>
                  </a:lnTo>
                  <a:lnTo>
                    <a:pt x="35803" y="0"/>
                  </a:lnTo>
                  <a:lnTo>
                    <a:pt x="40199" y="57002"/>
                  </a:lnTo>
                  <a:close/>
                </a:path>
              </a:pathLst>
            </a:custGeom>
            <a:ln w="19057">
              <a:solidFill>
                <a:srgbClr val="C70F2E"/>
              </a:solidFill>
            </a:ln>
          </p:spPr>
          <p:txBody>
            <a:bodyPr wrap="square" lIns="0" tIns="0" rIns="0" bIns="0" rtlCol="0"/>
            <a:lstStyle/>
            <a:p>
              <a:endParaRPr sz="1632"/>
            </a:p>
          </p:txBody>
        </p:sp>
        <p:sp>
          <p:nvSpPr>
            <p:cNvPr id="67" name="object 67"/>
            <p:cNvSpPr/>
            <p:nvPr/>
          </p:nvSpPr>
          <p:spPr>
            <a:xfrm>
              <a:off x="1809054" y="4359620"/>
              <a:ext cx="4835525" cy="1066800"/>
            </a:xfrm>
            <a:custGeom>
              <a:avLst/>
              <a:gdLst/>
              <a:ahLst/>
              <a:cxnLst/>
              <a:rect l="l" t="t" r="r" b="b"/>
              <a:pathLst>
                <a:path w="4835525" h="1066800">
                  <a:moveTo>
                    <a:pt x="4834927" y="1066216"/>
                  </a:moveTo>
                  <a:lnTo>
                    <a:pt x="0" y="0"/>
                  </a:lnTo>
                </a:path>
              </a:pathLst>
            </a:custGeom>
            <a:ln w="19057">
              <a:solidFill>
                <a:srgbClr val="C70F2E"/>
              </a:solidFill>
            </a:ln>
          </p:spPr>
          <p:txBody>
            <a:bodyPr wrap="square" lIns="0" tIns="0" rIns="0" bIns="0" rtlCol="0"/>
            <a:lstStyle/>
            <a:p>
              <a:endParaRPr sz="1632"/>
            </a:p>
          </p:txBody>
        </p:sp>
        <p:sp>
          <p:nvSpPr>
            <p:cNvPr id="68" name="object 68"/>
            <p:cNvSpPr/>
            <p:nvPr/>
          </p:nvSpPr>
          <p:spPr>
            <a:xfrm>
              <a:off x="1767181" y="4330679"/>
              <a:ext cx="43815" cy="55880"/>
            </a:xfrm>
            <a:custGeom>
              <a:avLst/>
              <a:gdLst/>
              <a:ahLst/>
              <a:cxnLst/>
              <a:rect l="l" t="t" r="r" b="b"/>
              <a:pathLst>
                <a:path w="43814" h="55879">
                  <a:moveTo>
                    <a:pt x="43376" y="0"/>
                  </a:moveTo>
                  <a:lnTo>
                    <a:pt x="31064" y="55830"/>
                  </a:lnTo>
                  <a:lnTo>
                    <a:pt x="0" y="19707"/>
                  </a:lnTo>
                  <a:lnTo>
                    <a:pt x="43376" y="0"/>
                  </a:lnTo>
                  <a:close/>
                </a:path>
              </a:pathLst>
            </a:custGeom>
            <a:solidFill>
              <a:srgbClr val="C70F2E"/>
            </a:solidFill>
          </p:spPr>
          <p:txBody>
            <a:bodyPr wrap="square" lIns="0" tIns="0" rIns="0" bIns="0" rtlCol="0"/>
            <a:lstStyle/>
            <a:p>
              <a:endParaRPr sz="1632"/>
            </a:p>
          </p:txBody>
        </p:sp>
        <p:sp>
          <p:nvSpPr>
            <p:cNvPr id="69" name="object 69"/>
            <p:cNvSpPr/>
            <p:nvPr/>
          </p:nvSpPr>
          <p:spPr>
            <a:xfrm>
              <a:off x="1767181" y="4330679"/>
              <a:ext cx="43815" cy="55880"/>
            </a:xfrm>
            <a:custGeom>
              <a:avLst/>
              <a:gdLst/>
              <a:ahLst/>
              <a:cxnLst/>
              <a:rect l="l" t="t" r="r" b="b"/>
              <a:pathLst>
                <a:path w="43814" h="55879">
                  <a:moveTo>
                    <a:pt x="31064" y="55830"/>
                  </a:moveTo>
                  <a:lnTo>
                    <a:pt x="0" y="19707"/>
                  </a:lnTo>
                  <a:lnTo>
                    <a:pt x="43376" y="0"/>
                  </a:lnTo>
                  <a:lnTo>
                    <a:pt x="31064" y="55830"/>
                  </a:lnTo>
                  <a:close/>
                </a:path>
              </a:pathLst>
            </a:custGeom>
            <a:ln w="19057">
              <a:solidFill>
                <a:srgbClr val="C70F2E"/>
              </a:solidFill>
            </a:ln>
          </p:spPr>
          <p:txBody>
            <a:bodyPr wrap="square" lIns="0" tIns="0" rIns="0" bIns="0" rtlCol="0"/>
            <a:lstStyle/>
            <a:p>
              <a:endParaRPr sz="1632"/>
            </a:p>
          </p:txBody>
        </p:sp>
        <p:sp>
          <p:nvSpPr>
            <p:cNvPr id="70" name="object 70"/>
            <p:cNvSpPr/>
            <p:nvPr/>
          </p:nvSpPr>
          <p:spPr>
            <a:xfrm>
              <a:off x="1575958" y="5190233"/>
              <a:ext cx="4854575" cy="412750"/>
            </a:xfrm>
            <a:custGeom>
              <a:avLst/>
              <a:gdLst/>
              <a:ahLst/>
              <a:cxnLst/>
              <a:rect l="l" t="t" r="r" b="b"/>
              <a:pathLst>
                <a:path w="4854575" h="412750">
                  <a:moveTo>
                    <a:pt x="4854414" y="412600"/>
                  </a:moveTo>
                  <a:lnTo>
                    <a:pt x="0" y="0"/>
                  </a:lnTo>
                </a:path>
              </a:pathLst>
            </a:custGeom>
            <a:ln w="19057">
              <a:solidFill>
                <a:srgbClr val="C70F2E"/>
              </a:solidFill>
            </a:ln>
          </p:spPr>
          <p:txBody>
            <a:bodyPr wrap="square" lIns="0" tIns="0" rIns="0" bIns="0" rtlCol="0"/>
            <a:lstStyle/>
            <a:p>
              <a:endParaRPr sz="1632"/>
            </a:p>
          </p:txBody>
        </p:sp>
        <p:sp>
          <p:nvSpPr>
            <p:cNvPr id="71" name="object 71"/>
            <p:cNvSpPr/>
            <p:nvPr/>
          </p:nvSpPr>
          <p:spPr>
            <a:xfrm>
              <a:off x="1533234" y="5161346"/>
              <a:ext cx="40640" cy="57150"/>
            </a:xfrm>
            <a:custGeom>
              <a:avLst/>
              <a:gdLst/>
              <a:ahLst/>
              <a:cxnLst/>
              <a:rect l="l" t="t" r="r" b="b"/>
              <a:pathLst>
                <a:path w="40640" h="57150">
                  <a:moveTo>
                    <a:pt x="40398" y="0"/>
                  </a:moveTo>
                  <a:lnTo>
                    <a:pt x="35556" y="56966"/>
                  </a:lnTo>
                  <a:lnTo>
                    <a:pt x="0" y="25255"/>
                  </a:lnTo>
                  <a:lnTo>
                    <a:pt x="40398" y="0"/>
                  </a:lnTo>
                  <a:close/>
                </a:path>
              </a:pathLst>
            </a:custGeom>
            <a:solidFill>
              <a:srgbClr val="C70F2E"/>
            </a:solidFill>
          </p:spPr>
          <p:txBody>
            <a:bodyPr wrap="square" lIns="0" tIns="0" rIns="0" bIns="0" rtlCol="0"/>
            <a:lstStyle/>
            <a:p>
              <a:endParaRPr sz="1632"/>
            </a:p>
          </p:txBody>
        </p:sp>
        <p:sp>
          <p:nvSpPr>
            <p:cNvPr id="72" name="object 72"/>
            <p:cNvSpPr/>
            <p:nvPr/>
          </p:nvSpPr>
          <p:spPr>
            <a:xfrm>
              <a:off x="1533234" y="5161346"/>
              <a:ext cx="40640" cy="57150"/>
            </a:xfrm>
            <a:custGeom>
              <a:avLst/>
              <a:gdLst/>
              <a:ahLst/>
              <a:cxnLst/>
              <a:rect l="l" t="t" r="r" b="b"/>
              <a:pathLst>
                <a:path w="40640" h="57150">
                  <a:moveTo>
                    <a:pt x="35556" y="56966"/>
                  </a:moveTo>
                  <a:lnTo>
                    <a:pt x="0" y="25255"/>
                  </a:lnTo>
                  <a:lnTo>
                    <a:pt x="40398" y="0"/>
                  </a:lnTo>
                  <a:lnTo>
                    <a:pt x="35556" y="56966"/>
                  </a:lnTo>
                  <a:close/>
                </a:path>
              </a:pathLst>
            </a:custGeom>
            <a:ln w="19057">
              <a:solidFill>
                <a:srgbClr val="C70F2E"/>
              </a:solidFill>
            </a:ln>
          </p:spPr>
          <p:txBody>
            <a:bodyPr wrap="square" lIns="0" tIns="0" rIns="0" bIns="0" rtlCol="0"/>
            <a:lstStyle/>
            <a:p>
              <a:endParaRPr sz="1632"/>
            </a:p>
          </p:txBody>
        </p:sp>
        <p:sp>
          <p:nvSpPr>
            <p:cNvPr id="73" name="object 73"/>
            <p:cNvSpPr/>
            <p:nvPr/>
          </p:nvSpPr>
          <p:spPr>
            <a:xfrm>
              <a:off x="8367003" y="922067"/>
              <a:ext cx="1833245" cy="2469515"/>
            </a:xfrm>
            <a:custGeom>
              <a:avLst/>
              <a:gdLst/>
              <a:ahLst/>
              <a:cxnLst/>
              <a:rect l="l" t="t" r="r" b="b"/>
              <a:pathLst>
                <a:path w="1833245" h="2469515">
                  <a:moveTo>
                    <a:pt x="0" y="2469108"/>
                  </a:moveTo>
                  <a:lnTo>
                    <a:pt x="1604158" y="2469108"/>
                  </a:lnTo>
                  <a:lnTo>
                    <a:pt x="1650246" y="2464462"/>
                  </a:lnTo>
                  <a:lnTo>
                    <a:pt x="1693173" y="2451137"/>
                  </a:lnTo>
                  <a:lnTo>
                    <a:pt x="1732019" y="2430052"/>
                  </a:lnTo>
                  <a:lnTo>
                    <a:pt x="1765864" y="2402127"/>
                  </a:lnTo>
                  <a:lnTo>
                    <a:pt x="1793788" y="2368283"/>
                  </a:lnTo>
                  <a:lnTo>
                    <a:pt x="1814873" y="2329437"/>
                  </a:lnTo>
                  <a:lnTo>
                    <a:pt x="1828198" y="2286510"/>
                  </a:lnTo>
                  <a:lnTo>
                    <a:pt x="1832844" y="2240422"/>
                  </a:lnTo>
                  <a:lnTo>
                    <a:pt x="1832844" y="0"/>
                  </a:lnTo>
                </a:path>
              </a:pathLst>
            </a:custGeom>
            <a:ln w="19057">
              <a:solidFill>
                <a:srgbClr val="C70F2E"/>
              </a:solidFill>
            </a:ln>
          </p:spPr>
          <p:txBody>
            <a:bodyPr wrap="square" lIns="0" tIns="0" rIns="0" bIns="0" rtlCol="0"/>
            <a:lstStyle/>
            <a:p>
              <a:endParaRPr sz="1632"/>
            </a:p>
          </p:txBody>
        </p:sp>
        <p:sp>
          <p:nvSpPr>
            <p:cNvPr id="74" name="object 74"/>
            <p:cNvSpPr/>
            <p:nvPr/>
          </p:nvSpPr>
          <p:spPr>
            <a:xfrm>
              <a:off x="10171261" y="879188"/>
              <a:ext cx="57785" cy="38735"/>
            </a:xfrm>
            <a:custGeom>
              <a:avLst/>
              <a:gdLst/>
              <a:ahLst/>
              <a:cxnLst/>
              <a:rect l="l" t="t" r="r" b="b"/>
              <a:pathLst>
                <a:path w="57784" h="38734">
                  <a:moveTo>
                    <a:pt x="57171" y="38114"/>
                  </a:moveTo>
                  <a:lnTo>
                    <a:pt x="0" y="38114"/>
                  </a:lnTo>
                  <a:lnTo>
                    <a:pt x="28585" y="0"/>
                  </a:lnTo>
                  <a:lnTo>
                    <a:pt x="57171" y="38114"/>
                  </a:lnTo>
                  <a:close/>
                </a:path>
              </a:pathLst>
            </a:custGeom>
            <a:solidFill>
              <a:srgbClr val="C70F2E"/>
            </a:solidFill>
          </p:spPr>
          <p:txBody>
            <a:bodyPr wrap="square" lIns="0" tIns="0" rIns="0" bIns="0" rtlCol="0"/>
            <a:lstStyle/>
            <a:p>
              <a:endParaRPr sz="1632"/>
            </a:p>
          </p:txBody>
        </p:sp>
        <p:sp>
          <p:nvSpPr>
            <p:cNvPr id="75" name="object 75"/>
            <p:cNvSpPr/>
            <p:nvPr/>
          </p:nvSpPr>
          <p:spPr>
            <a:xfrm>
              <a:off x="10171261" y="879188"/>
              <a:ext cx="57785" cy="38735"/>
            </a:xfrm>
            <a:custGeom>
              <a:avLst/>
              <a:gdLst/>
              <a:ahLst/>
              <a:cxnLst/>
              <a:rect l="l" t="t" r="r" b="b"/>
              <a:pathLst>
                <a:path w="57784" h="38734">
                  <a:moveTo>
                    <a:pt x="0" y="38114"/>
                  </a:moveTo>
                  <a:lnTo>
                    <a:pt x="28585" y="0"/>
                  </a:lnTo>
                  <a:lnTo>
                    <a:pt x="57171" y="38114"/>
                  </a:lnTo>
                  <a:lnTo>
                    <a:pt x="0" y="38114"/>
                  </a:lnTo>
                  <a:close/>
                </a:path>
              </a:pathLst>
            </a:custGeom>
            <a:ln w="19057">
              <a:solidFill>
                <a:srgbClr val="C70F2E"/>
              </a:solidFill>
            </a:ln>
          </p:spPr>
          <p:txBody>
            <a:bodyPr wrap="square" lIns="0" tIns="0" rIns="0" bIns="0" rtlCol="0"/>
            <a:lstStyle/>
            <a:p>
              <a:endParaRPr sz="1632"/>
            </a:p>
          </p:txBody>
        </p:sp>
      </p:grpSp>
      <p:sp>
        <p:nvSpPr>
          <p:cNvPr id="76" name="object 76"/>
          <p:cNvSpPr txBox="1"/>
          <p:nvPr/>
        </p:nvSpPr>
        <p:spPr>
          <a:xfrm rot="20280000">
            <a:off x="1519499" y="763474"/>
            <a:ext cx="2141279" cy="397545"/>
          </a:xfrm>
          <a:prstGeom prst="rect">
            <a:avLst/>
          </a:prstGeom>
        </p:spPr>
        <p:txBody>
          <a:bodyPr vert="horz" wrap="square" lIns="0" tIns="0" rIns="0" bIns="0" rtlCol="0">
            <a:spAutoFit/>
          </a:bodyPr>
          <a:lstStyle/>
          <a:p>
            <a:pPr>
              <a:lnSpc>
                <a:spcPts val="3092"/>
              </a:lnSpc>
            </a:pPr>
            <a:r>
              <a:rPr sz="4761" spc="-659" baseline="-1587" dirty="0">
                <a:latin typeface="Arial Narrow"/>
                <a:cs typeface="Arial Narrow"/>
              </a:rPr>
              <a:t>An</a:t>
            </a:r>
            <a:r>
              <a:rPr sz="3174" spc="-439" dirty="0">
                <a:latin typeface="Arial Narrow"/>
                <a:cs typeface="Arial Narrow"/>
              </a:rPr>
              <a:t>atomy</a:t>
            </a:r>
            <a:r>
              <a:rPr sz="3174" spc="-281" dirty="0">
                <a:latin typeface="Arial Narrow"/>
                <a:cs typeface="Arial Narrow"/>
              </a:rPr>
              <a:t> </a:t>
            </a:r>
            <a:r>
              <a:rPr sz="3174" spc="-254" dirty="0">
                <a:latin typeface="Arial Narrow"/>
                <a:cs typeface="Arial Narrow"/>
              </a:rPr>
              <a:t>of</a:t>
            </a:r>
            <a:r>
              <a:rPr sz="3174" spc="-281" dirty="0">
                <a:latin typeface="Arial Narrow"/>
                <a:cs typeface="Arial Narrow"/>
              </a:rPr>
              <a:t> </a:t>
            </a:r>
            <a:r>
              <a:rPr sz="3174" spc="-435" dirty="0">
                <a:latin typeface="Arial Narrow"/>
                <a:cs typeface="Arial Narrow"/>
              </a:rPr>
              <a:t>a</a:t>
            </a:r>
            <a:r>
              <a:rPr sz="3174" spc="-277" dirty="0">
                <a:latin typeface="Arial Narrow"/>
                <a:cs typeface="Arial Narrow"/>
              </a:rPr>
              <a:t> </a:t>
            </a:r>
            <a:r>
              <a:rPr sz="4761" spc="-748" baseline="1587" dirty="0">
                <a:latin typeface="Arial Narrow"/>
                <a:cs typeface="Arial Narrow"/>
              </a:rPr>
              <a:t>Cas</a:t>
            </a:r>
            <a:r>
              <a:rPr sz="4761" spc="-748" baseline="2380" dirty="0">
                <a:latin typeface="Arial Narrow"/>
                <a:cs typeface="Arial Narrow"/>
              </a:rPr>
              <a:t>e:</a:t>
            </a:r>
            <a:endParaRPr sz="4761" baseline="2380">
              <a:latin typeface="Arial Narrow"/>
              <a:cs typeface="Arial Narrow"/>
            </a:endParaRPr>
          </a:p>
        </p:txBody>
      </p:sp>
      <p:sp>
        <p:nvSpPr>
          <p:cNvPr id="77" name="object 77"/>
          <p:cNvSpPr txBox="1"/>
          <p:nvPr/>
        </p:nvSpPr>
        <p:spPr>
          <a:xfrm rot="20280000">
            <a:off x="2260582" y="1107660"/>
            <a:ext cx="1021171" cy="410369"/>
          </a:xfrm>
          <a:prstGeom prst="rect">
            <a:avLst/>
          </a:prstGeom>
        </p:spPr>
        <p:txBody>
          <a:bodyPr vert="horz" wrap="square" lIns="0" tIns="0" rIns="0" bIns="0" rtlCol="0">
            <a:spAutoFit/>
          </a:bodyPr>
          <a:lstStyle/>
          <a:p>
            <a:pPr>
              <a:lnSpc>
                <a:spcPts val="3151"/>
              </a:lnSpc>
            </a:pPr>
            <a:r>
              <a:rPr sz="3174" spc="-426" dirty="0">
                <a:latin typeface="Arial Narrow"/>
                <a:cs typeface="Arial Narrow"/>
              </a:rPr>
              <a:t>Westl</a:t>
            </a:r>
            <a:r>
              <a:rPr sz="4761" spc="-639" baseline="1587" dirty="0">
                <a:latin typeface="Arial Narrow"/>
                <a:cs typeface="Arial Narrow"/>
              </a:rPr>
              <a:t>aw</a:t>
            </a:r>
            <a:endParaRPr sz="4761" baseline="1587">
              <a:latin typeface="Arial Narrow"/>
              <a:cs typeface="Arial Narrow"/>
            </a:endParaRPr>
          </a:p>
        </p:txBody>
      </p:sp>
      <p:sp>
        <p:nvSpPr>
          <p:cNvPr id="78" name="object 78"/>
          <p:cNvSpPr txBox="1"/>
          <p:nvPr/>
        </p:nvSpPr>
        <p:spPr>
          <a:xfrm>
            <a:off x="1443639" y="4325219"/>
            <a:ext cx="1189065" cy="382880"/>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32" dirty="0">
                <a:latin typeface="Times New Roman"/>
                <a:cs typeface="Times New Roman"/>
              </a:rPr>
              <a:t> </a:t>
            </a:r>
            <a:r>
              <a:rPr sz="907" b="1" spc="-36" dirty="0">
                <a:latin typeface="Times New Roman"/>
                <a:cs typeface="Times New Roman"/>
              </a:rPr>
              <a:t>Argued</a:t>
            </a:r>
            <a:r>
              <a:rPr sz="907" b="1" spc="-27" dirty="0">
                <a:latin typeface="Times New Roman"/>
                <a:cs typeface="Times New Roman"/>
              </a:rPr>
              <a:t> </a:t>
            </a:r>
            <a:r>
              <a:rPr sz="907" b="1" spc="-18" dirty="0">
                <a:latin typeface="Times New Roman"/>
                <a:cs typeface="Times New Roman"/>
              </a:rPr>
              <a:t>Date</a:t>
            </a:r>
            <a:r>
              <a:rPr sz="907" b="1" spc="-32" dirty="0">
                <a:latin typeface="Times New Roman"/>
                <a:cs typeface="Times New Roman"/>
              </a:rPr>
              <a:t> </a:t>
            </a:r>
            <a:r>
              <a:rPr sz="907" spc="-9" dirty="0">
                <a:latin typeface="Times New Roman"/>
                <a:cs typeface="Times New Roman"/>
              </a:rPr>
              <a:t>is</a:t>
            </a:r>
            <a:r>
              <a:rPr sz="907" spc="-27" dirty="0">
                <a:latin typeface="Times New Roman"/>
                <a:cs typeface="Times New Roman"/>
              </a:rPr>
              <a:t> </a:t>
            </a:r>
            <a:r>
              <a:rPr sz="907" spc="-23" dirty="0">
                <a:latin typeface="Times New Roman"/>
                <a:cs typeface="Times New Roman"/>
              </a:rPr>
              <a:t>the </a:t>
            </a:r>
            <a:r>
              <a:rPr sz="907" dirty="0">
                <a:latin typeface="Times New Roman"/>
                <a:cs typeface="Times New Roman"/>
              </a:rPr>
              <a:t>date</a:t>
            </a:r>
            <a:r>
              <a:rPr sz="907" spc="-14" dirty="0">
                <a:latin typeface="Times New Roman"/>
                <a:cs typeface="Times New Roman"/>
              </a:rPr>
              <a:t> </a:t>
            </a:r>
            <a:r>
              <a:rPr sz="907" spc="-9" dirty="0">
                <a:latin typeface="Times New Roman"/>
                <a:cs typeface="Times New Roman"/>
              </a:rPr>
              <a:t>oral</a:t>
            </a:r>
            <a:r>
              <a:rPr sz="907" spc="-14" dirty="0">
                <a:latin typeface="Times New Roman"/>
                <a:cs typeface="Times New Roman"/>
              </a:rPr>
              <a:t> </a:t>
            </a:r>
            <a:r>
              <a:rPr sz="907" dirty="0">
                <a:latin typeface="Times New Roman"/>
                <a:cs typeface="Times New Roman"/>
              </a:rPr>
              <a:t>arguments</a:t>
            </a:r>
            <a:r>
              <a:rPr sz="907" spc="-14" dirty="0">
                <a:latin typeface="Times New Roman"/>
                <a:cs typeface="Times New Roman"/>
              </a:rPr>
              <a:t> </a:t>
            </a:r>
            <a:r>
              <a:rPr sz="907" spc="-18" dirty="0">
                <a:latin typeface="Times New Roman"/>
                <a:cs typeface="Times New Roman"/>
              </a:rPr>
              <a:t>were </a:t>
            </a:r>
            <a:r>
              <a:rPr sz="907" dirty="0">
                <a:latin typeface="Times New Roman"/>
                <a:cs typeface="Times New Roman"/>
              </a:rPr>
              <a:t>heard</a:t>
            </a:r>
            <a:r>
              <a:rPr sz="907" spc="-14" dirty="0">
                <a:latin typeface="Times New Roman"/>
                <a:cs typeface="Times New Roman"/>
              </a:rPr>
              <a:t> </a:t>
            </a:r>
            <a:r>
              <a:rPr sz="907" spc="-23" dirty="0">
                <a:latin typeface="Times New Roman"/>
                <a:cs typeface="Times New Roman"/>
              </a:rPr>
              <a:t>before</a:t>
            </a:r>
            <a:r>
              <a:rPr sz="907" spc="-9"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9" dirty="0">
                <a:latin typeface="Times New Roman"/>
                <a:cs typeface="Times New Roman"/>
              </a:rPr>
              <a:t>court.</a:t>
            </a:r>
            <a:endParaRPr sz="907">
              <a:latin typeface="Times New Roman"/>
              <a:cs typeface="Times New Roman"/>
            </a:endParaRPr>
          </a:p>
        </p:txBody>
      </p:sp>
      <p:grpSp>
        <p:nvGrpSpPr>
          <p:cNvPr id="79" name="object 79"/>
          <p:cNvGrpSpPr/>
          <p:nvPr/>
        </p:nvGrpSpPr>
        <p:grpSpPr>
          <a:xfrm>
            <a:off x="1357353" y="2946427"/>
            <a:ext cx="7492552" cy="3771036"/>
            <a:chOff x="121025" y="3249254"/>
            <a:chExt cx="8262620" cy="4158615"/>
          </a:xfrm>
        </p:grpSpPr>
        <p:sp>
          <p:nvSpPr>
            <p:cNvPr id="80" name="object 80"/>
            <p:cNvSpPr/>
            <p:nvPr/>
          </p:nvSpPr>
          <p:spPr>
            <a:xfrm>
              <a:off x="6228070" y="3391175"/>
              <a:ext cx="675640" cy="208915"/>
            </a:xfrm>
            <a:custGeom>
              <a:avLst/>
              <a:gdLst/>
              <a:ahLst/>
              <a:cxnLst/>
              <a:rect l="l" t="t" r="r" b="b"/>
              <a:pathLst>
                <a:path w="675640" h="208914">
                  <a:moveTo>
                    <a:pt x="0" y="0"/>
                  </a:moveTo>
                  <a:lnTo>
                    <a:pt x="675039" y="0"/>
                  </a:lnTo>
                  <a:lnTo>
                    <a:pt x="675039" y="208735"/>
                  </a:lnTo>
                  <a:lnTo>
                    <a:pt x="0" y="208735"/>
                  </a:lnTo>
                  <a:lnTo>
                    <a:pt x="0" y="0"/>
                  </a:lnTo>
                  <a:close/>
                </a:path>
              </a:pathLst>
            </a:custGeom>
            <a:ln w="38114">
              <a:solidFill>
                <a:srgbClr val="C70F2E"/>
              </a:solidFill>
            </a:ln>
          </p:spPr>
          <p:txBody>
            <a:bodyPr wrap="square" lIns="0" tIns="0" rIns="0" bIns="0" rtlCol="0"/>
            <a:lstStyle/>
            <a:p>
              <a:endParaRPr sz="1632"/>
            </a:p>
          </p:txBody>
        </p:sp>
        <p:sp>
          <p:nvSpPr>
            <p:cNvPr id="81" name="object 81"/>
            <p:cNvSpPr/>
            <p:nvPr/>
          </p:nvSpPr>
          <p:spPr>
            <a:xfrm>
              <a:off x="7630545" y="3391175"/>
              <a:ext cx="734060" cy="208915"/>
            </a:xfrm>
            <a:custGeom>
              <a:avLst/>
              <a:gdLst/>
              <a:ahLst/>
              <a:cxnLst/>
              <a:rect l="l" t="t" r="r" b="b"/>
              <a:pathLst>
                <a:path w="734059" h="208914">
                  <a:moveTo>
                    <a:pt x="733689" y="208735"/>
                  </a:moveTo>
                  <a:lnTo>
                    <a:pt x="0" y="208735"/>
                  </a:lnTo>
                  <a:lnTo>
                    <a:pt x="0" y="0"/>
                  </a:lnTo>
                  <a:lnTo>
                    <a:pt x="733689" y="0"/>
                  </a:lnTo>
                </a:path>
              </a:pathLst>
            </a:custGeom>
            <a:ln w="38114">
              <a:solidFill>
                <a:srgbClr val="C70F2E"/>
              </a:solidFill>
            </a:ln>
          </p:spPr>
          <p:txBody>
            <a:bodyPr wrap="square" lIns="0" tIns="0" rIns="0" bIns="0" rtlCol="0"/>
            <a:lstStyle/>
            <a:p>
              <a:endParaRPr sz="1632"/>
            </a:p>
          </p:txBody>
        </p:sp>
        <p:sp>
          <p:nvSpPr>
            <p:cNvPr id="82" name="object 82"/>
            <p:cNvSpPr/>
            <p:nvPr/>
          </p:nvSpPr>
          <p:spPr>
            <a:xfrm>
              <a:off x="1844828" y="3287682"/>
              <a:ext cx="5085080" cy="826769"/>
            </a:xfrm>
            <a:custGeom>
              <a:avLst/>
              <a:gdLst/>
              <a:ahLst/>
              <a:cxnLst/>
              <a:rect l="l" t="t" r="r" b="b"/>
              <a:pathLst>
                <a:path w="5085080" h="826770">
                  <a:moveTo>
                    <a:pt x="5084473" y="826751"/>
                  </a:moveTo>
                  <a:lnTo>
                    <a:pt x="5084473" y="667288"/>
                  </a:lnTo>
                  <a:lnTo>
                    <a:pt x="5081380" y="636034"/>
                  </a:lnTo>
                  <a:lnTo>
                    <a:pt x="5057681" y="578819"/>
                  </a:lnTo>
                  <a:lnTo>
                    <a:pt x="5013480" y="534617"/>
                  </a:lnTo>
                  <a:lnTo>
                    <a:pt x="4956265" y="510918"/>
                  </a:lnTo>
                  <a:lnTo>
                    <a:pt x="4925011" y="507826"/>
                  </a:lnTo>
                  <a:lnTo>
                    <a:pt x="729381" y="507826"/>
                  </a:lnTo>
                  <a:lnTo>
                    <a:pt x="683293" y="503180"/>
                  </a:lnTo>
                  <a:lnTo>
                    <a:pt x="640367" y="489855"/>
                  </a:lnTo>
                  <a:lnTo>
                    <a:pt x="601521" y="468770"/>
                  </a:lnTo>
                  <a:lnTo>
                    <a:pt x="567676" y="440845"/>
                  </a:lnTo>
                  <a:lnTo>
                    <a:pt x="539751" y="407000"/>
                  </a:lnTo>
                  <a:lnTo>
                    <a:pt x="518667" y="368155"/>
                  </a:lnTo>
                  <a:lnTo>
                    <a:pt x="505341" y="325228"/>
                  </a:lnTo>
                  <a:lnTo>
                    <a:pt x="500695" y="279140"/>
                  </a:lnTo>
                  <a:lnTo>
                    <a:pt x="500695" y="228686"/>
                  </a:lnTo>
                  <a:lnTo>
                    <a:pt x="496049" y="182597"/>
                  </a:lnTo>
                  <a:lnTo>
                    <a:pt x="482724" y="139671"/>
                  </a:lnTo>
                  <a:lnTo>
                    <a:pt x="461639" y="100825"/>
                  </a:lnTo>
                  <a:lnTo>
                    <a:pt x="433715" y="66980"/>
                  </a:lnTo>
                  <a:lnTo>
                    <a:pt x="399870" y="39056"/>
                  </a:lnTo>
                  <a:lnTo>
                    <a:pt x="361024" y="17971"/>
                  </a:lnTo>
                  <a:lnTo>
                    <a:pt x="318097" y="4646"/>
                  </a:lnTo>
                  <a:lnTo>
                    <a:pt x="272009" y="0"/>
                  </a:lnTo>
                  <a:lnTo>
                    <a:pt x="0" y="0"/>
                  </a:lnTo>
                </a:path>
              </a:pathLst>
            </a:custGeom>
            <a:ln w="19057">
              <a:solidFill>
                <a:srgbClr val="C70F2E"/>
              </a:solidFill>
            </a:ln>
          </p:spPr>
          <p:txBody>
            <a:bodyPr wrap="square" lIns="0" tIns="0" rIns="0" bIns="0" rtlCol="0"/>
            <a:lstStyle/>
            <a:p>
              <a:endParaRPr sz="1632"/>
            </a:p>
          </p:txBody>
        </p:sp>
        <p:sp>
          <p:nvSpPr>
            <p:cNvPr id="83" name="object 83"/>
            <p:cNvSpPr/>
            <p:nvPr/>
          </p:nvSpPr>
          <p:spPr>
            <a:xfrm>
              <a:off x="1801949" y="3259096"/>
              <a:ext cx="38735" cy="57785"/>
            </a:xfrm>
            <a:custGeom>
              <a:avLst/>
              <a:gdLst/>
              <a:ahLst/>
              <a:cxnLst/>
              <a:rect l="l" t="t" r="r" b="b"/>
              <a:pathLst>
                <a:path w="38735" h="57785">
                  <a:moveTo>
                    <a:pt x="38114" y="57171"/>
                  </a:moveTo>
                  <a:lnTo>
                    <a:pt x="0" y="28585"/>
                  </a:lnTo>
                  <a:lnTo>
                    <a:pt x="38114" y="0"/>
                  </a:lnTo>
                  <a:lnTo>
                    <a:pt x="38114" y="57171"/>
                  </a:lnTo>
                  <a:close/>
                </a:path>
              </a:pathLst>
            </a:custGeom>
            <a:solidFill>
              <a:srgbClr val="C70F2E"/>
            </a:solidFill>
          </p:spPr>
          <p:txBody>
            <a:bodyPr wrap="square" lIns="0" tIns="0" rIns="0" bIns="0" rtlCol="0"/>
            <a:lstStyle/>
            <a:p>
              <a:endParaRPr sz="1632"/>
            </a:p>
          </p:txBody>
        </p:sp>
        <p:sp>
          <p:nvSpPr>
            <p:cNvPr id="84" name="object 84"/>
            <p:cNvSpPr/>
            <p:nvPr/>
          </p:nvSpPr>
          <p:spPr>
            <a:xfrm>
              <a:off x="1801949" y="3259096"/>
              <a:ext cx="38735" cy="57785"/>
            </a:xfrm>
            <a:custGeom>
              <a:avLst/>
              <a:gdLst/>
              <a:ahLst/>
              <a:cxnLst/>
              <a:rect l="l" t="t" r="r" b="b"/>
              <a:pathLst>
                <a:path w="38735" h="57785">
                  <a:moveTo>
                    <a:pt x="38114" y="57171"/>
                  </a:moveTo>
                  <a:lnTo>
                    <a:pt x="0" y="28585"/>
                  </a:lnTo>
                  <a:lnTo>
                    <a:pt x="38114" y="0"/>
                  </a:lnTo>
                  <a:lnTo>
                    <a:pt x="38114" y="57171"/>
                  </a:lnTo>
                  <a:close/>
                </a:path>
              </a:pathLst>
            </a:custGeom>
            <a:ln w="19057">
              <a:solidFill>
                <a:srgbClr val="C70F2E"/>
              </a:solidFill>
            </a:ln>
          </p:spPr>
          <p:txBody>
            <a:bodyPr wrap="square" lIns="0" tIns="0" rIns="0" bIns="0" rtlCol="0"/>
            <a:lstStyle/>
            <a:p>
              <a:endParaRPr sz="1632"/>
            </a:p>
          </p:txBody>
        </p:sp>
        <p:sp>
          <p:nvSpPr>
            <p:cNvPr id="85" name="object 85"/>
            <p:cNvSpPr/>
            <p:nvPr/>
          </p:nvSpPr>
          <p:spPr>
            <a:xfrm>
              <a:off x="121025" y="6375857"/>
              <a:ext cx="1972945" cy="1031875"/>
            </a:xfrm>
            <a:custGeom>
              <a:avLst/>
              <a:gdLst/>
              <a:ahLst/>
              <a:cxnLst/>
              <a:rect l="l" t="t" r="r" b="b"/>
              <a:pathLst>
                <a:path w="1972945" h="1031875">
                  <a:moveTo>
                    <a:pt x="1815040" y="1031690"/>
                  </a:moveTo>
                  <a:lnTo>
                    <a:pt x="261134" y="1031690"/>
                  </a:lnTo>
                  <a:lnTo>
                    <a:pt x="218417" y="1025834"/>
                  </a:lnTo>
                  <a:lnTo>
                    <a:pt x="180156" y="1009330"/>
                  </a:lnTo>
                  <a:lnTo>
                    <a:pt x="147945" y="983773"/>
                  </a:lnTo>
                  <a:lnTo>
                    <a:pt x="123377" y="950762"/>
                  </a:lnTo>
                  <a:lnTo>
                    <a:pt x="83333" y="934532"/>
                  </a:lnTo>
                  <a:lnTo>
                    <a:pt x="49334" y="908856"/>
                  </a:lnTo>
                  <a:lnTo>
                    <a:pt x="23019" y="875374"/>
                  </a:lnTo>
                  <a:lnTo>
                    <a:pt x="6028" y="835725"/>
                  </a:lnTo>
                  <a:lnTo>
                    <a:pt x="0" y="791548"/>
                  </a:lnTo>
                  <a:lnTo>
                    <a:pt x="0" y="164390"/>
                  </a:lnTo>
                  <a:lnTo>
                    <a:pt x="5882" y="120739"/>
                  </a:lnTo>
                  <a:lnTo>
                    <a:pt x="22476" y="81484"/>
                  </a:lnTo>
                  <a:lnTo>
                    <a:pt x="48203" y="48203"/>
                  </a:lnTo>
                  <a:lnTo>
                    <a:pt x="81484" y="22476"/>
                  </a:lnTo>
                  <a:lnTo>
                    <a:pt x="120739" y="5882"/>
                  </a:lnTo>
                  <a:lnTo>
                    <a:pt x="164390" y="0"/>
                  </a:lnTo>
                  <a:lnTo>
                    <a:pt x="1718298" y="0"/>
                  </a:lnTo>
                  <a:lnTo>
                    <a:pt x="1766649" y="7255"/>
                  </a:lnTo>
                  <a:lnTo>
                    <a:pt x="1809326" y="27568"/>
                  </a:lnTo>
                  <a:lnTo>
                    <a:pt x="1844153" y="58758"/>
                  </a:lnTo>
                  <a:lnTo>
                    <a:pt x="1868953" y="98645"/>
                  </a:lnTo>
                  <a:lnTo>
                    <a:pt x="1910703" y="121511"/>
                  </a:lnTo>
                  <a:lnTo>
                    <a:pt x="1943534" y="155455"/>
                  </a:lnTo>
                  <a:lnTo>
                    <a:pt x="1965015" y="198047"/>
                  </a:lnTo>
                  <a:lnTo>
                    <a:pt x="1972715" y="246857"/>
                  </a:lnTo>
                  <a:lnTo>
                    <a:pt x="1972715" y="874015"/>
                  </a:lnTo>
                  <a:lnTo>
                    <a:pt x="1964677" y="923853"/>
                  </a:lnTo>
                  <a:lnTo>
                    <a:pt x="1942293" y="967136"/>
                  </a:lnTo>
                  <a:lnTo>
                    <a:pt x="1908161" y="1001268"/>
                  </a:lnTo>
                  <a:lnTo>
                    <a:pt x="1864878" y="1023652"/>
                  </a:lnTo>
                  <a:lnTo>
                    <a:pt x="1815040" y="1031690"/>
                  </a:lnTo>
                  <a:close/>
                </a:path>
              </a:pathLst>
            </a:custGeom>
            <a:solidFill>
              <a:srgbClr val="000000"/>
            </a:solidFill>
          </p:spPr>
          <p:txBody>
            <a:bodyPr wrap="square" lIns="0" tIns="0" rIns="0" bIns="0" rtlCol="0"/>
            <a:lstStyle/>
            <a:p>
              <a:endParaRPr sz="1632"/>
            </a:p>
          </p:txBody>
        </p:sp>
        <p:sp>
          <p:nvSpPr>
            <p:cNvPr id="86" name="object 86"/>
            <p:cNvSpPr/>
            <p:nvPr/>
          </p:nvSpPr>
          <p:spPr>
            <a:xfrm>
              <a:off x="134457" y="6389291"/>
              <a:ext cx="1856105" cy="929640"/>
            </a:xfrm>
            <a:custGeom>
              <a:avLst/>
              <a:gdLst/>
              <a:ahLst/>
              <a:cxnLst/>
              <a:rect l="l" t="t" r="r" b="b"/>
              <a:pathLst>
                <a:path w="1856105" h="929640">
                  <a:moveTo>
                    <a:pt x="1704866" y="929074"/>
                  </a:moveTo>
                  <a:lnTo>
                    <a:pt x="150958" y="929074"/>
                  </a:lnTo>
                  <a:lnTo>
                    <a:pt x="103265" y="921372"/>
                  </a:lnTo>
                  <a:lnTo>
                    <a:pt x="61828" y="899931"/>
                  </a:lnTo>
                  <a:lnTo>
                    <a:pt x="29142" y="867245"/>
                  </a:lnTo>
                  <a:lnTo>
                    <a:pt x="7701" y="825808"/>
                  </a:lnTo>
                  <a:lnTo>
                    <a:pt x="0" y="778116"/>
                  </a:lnTo>
                  <a:lnTo>
                    <a:pt x="0" y="150956"/>
                  </a:lnTo>
                  <a:lnTo>
                    <a:pt x="7702" y="103263"/>
                  </a:lnTo>
                  <a:lnTo>
                    <a:pt x="29143" y="61827"/>
                  </a:lnTo>
                  <a:lnTo>
                    <a:pt x="61829" y="29141"/>
                  </a:lnTo>
                  <a:lnTo>
                    <a:pt x="103265" y="7701"/>
                  </a:lnTo>
                  <a:lnTo>
                    <a:pt x="150958" y="0"/>
                  </a:lnTo>
                  <a:lnTo>
                    <a:pt x="1704866" y="0"/>
                  </a:lnTo>
                  <a:lnTo>
                    <a:pt x="1752559" y="7701"/>
                  </a:lnTo>
                  <a:lnTo>
                    <a:pt x="1793996" y="29142"/>
                  </a:lnTo>
                  <a:lnTo>
                    <a:pt x="1826682" y="61828"/>
                  </a:lnTo>
                  <a:lnTo>
                    <a:pt x="1848123" y="103265"/>
                  </a:lnTo>
                  <a:lnTo>
                    <a:pt x="1855824" y="150958"/>
                  </a:lnTo>
                  <a:lnTo>
                    <a:pt x="1855824" y="778116"/>
                  </a:lnTo>
                  <a:lnTo>
                    <a:pt x="1848123" y="825808"/>
                  </a:lnTo>
                  <a:lnTo>
                    <a:pt x="1826682" y="867245"/>
                  </a:lnTo>
                  <a:lnTo>
                    <a:pt x="1793996" y="899931"/>
                  </a:lnTo>
                  <a:lnTo>
                    <a:pt x="1752559" y="921372"/>
                  </a:lnTo>
                  <a:lnTo>
                    <a:pt x="1704866" y="929074"/>
                  </a:lnTo>
                  <a:close/>
                </a:path>
              </a:pathLst>
            </a:custGeom>
            <a:solidFill>
              <a:srgbClr val="FFFFFF"/>
            </a:solidFill>
          </p:spPr>
          <p:txBody>
            <a:bodyPr wrap="square" lIns="0" tIns="0" rIns="0" bIns="0" rtlCol="0"/>
            <a:lstStyle/>
            <a:p>
              <a:endParaRPr sz="1632"/>
            </a:p>
          </p:txBody>
        </p:sp>
      </p:grpSp>
      <p:sp>
        <p:nvSpPr>
          <p:cNvPr id="87" name="object 87"/>
          <p:cNvSpPr txBox="1"/>
          <p:nvPr/>
        </p:nvSpPr>
        <p:spPr>
          <a:xfrm>
            <a:off x="1412846" y="5936983"/>
            <a:ext cx="1588108" cy="613712"/>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32" dirty="0">
                <a:latin typeface="Times New Roman"/>
                <a:cs typeface="Times New Roman"/>
              </a:rPr>
              <a:t> </a:t>
            </a:r>
            <a:r>
              <a:rPr sz="907" b="1" spc="-9" dirty="0">
                <a:latin typeface="Times New Roman"/>
                <a:cs typeface="Times New Roman"/>
              </a:rPr>
              <a:t>Synopsis</a:t>
            </a:r>
            <a:r>
              <a:rPr sz="907" b="1" spc="-18" dirty="0">
                <a:latin typeface="Times New Roman"/>
                <a:cs typeface="Times New Roman"/>
              </a:rPr>
              <a:t> </a:t>
            </a:r>
            <a:r>
              <a:rPr sz="907" spc="-9" dirty="0">
                <a:latin typeface="Times New Roman"/>
                <a:cs typeface="Times New Roman"/>
              </a:rPr>
              <a:t>provides</a:t>
            </a:r>
            <a:r>
              <a:rPr sz="907" spc="-27" dirty="0">
                <a:latin typeface="Times New Roman"/>
                <a:cs typeface="Times New Roman"/>
              </a:rPr>
              <a:t> </a:t>
            </a:r>
            <a:r>
              <a:rPr sz="907" dirty="0">
                <a:latin typeface="Times New Roman"/>
                <a:cs typeface="Times New Roman"/>
              </a:rPr>
              <a:t>a</a:t>
            </a:r>
            <a:r>
              <a:rPr sz="907" spc="-27" dirty="0">
                <a:latin typeface="Times New Roman"/>
                <a:cs typeface="Times New Roman"/>
              </a:rPr>
              <a:t> </a:t>
            </a:r>
            <a:r>
              <a:rPr sz="907" spc="-18" dirty="0">
                <a:latin typeface="Times New Roman"/>
                <a:cs typeface="Times New Roman"/>
              </a:rPr>
              <a:t>brief </a:t>
            </a:r>
            <a:r>
              <a:rPr sz="907" dirty="0">
                <a:latin typeface="Times New Roman"/>
                <a:cs typeface="Times New Roman"/>
              </a:rPr>
              <a:t>summary</a:t>
            </a:r>
            <a:r>
              <a:rPr sz="907" spc="-23" dirty="0">
                <a:latin typeface="Times New Roman"/>
                <a:cs typeface="Times New Roman"/>
              </a:rPr>
              <a:t> </a:t>
            </a:r>
            <a:r>
              <a:rPr sz="907" spc="-32" dirty="0">
                <a:latin typeface="Times New Roman"/>
                <a:cs typeface="Times New Roman"/>
              </a:rPr>
              <a:t>of</a:t>
            </a:r>
            <a:r>
              <a:rPr sz="907" spc="-23"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spc="-9" dirty="0">
                <a:latin typeface="Times New Roman"/>
                <a:cs typeface="Times New Roman"/>
              </a:rPr>
              <a:t>facts,</a:t>
            </a:r>
            <a:r>
              <a:rPr sz="907" spc="-23"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spc="-9" dirty="0">
                <a:latin typeface="Times New Roman"/>
                <a:cs typeface="Times New Roman"/>
              </a:rPr>
              <a:t>nature</a:t>
            </a:r>
            <a:r>
              <a:rPr sz="907" spc="453" dirty="0">
                <a:latin typeface="Times New Roman"/>
                <a:cs typeface="Times New Roman"/>
              </a:rPr>
              <a:t> </a:t>
            </a:r>
            <a:r>
              <a:rPr sz="907" spc="-32" dirty="0">
                <a:latin typeface="Times New Roman"/>
                <a:cs typeface="Times New Roman"/>
              </a:rPr>
              <a:t>of</a:t>
            </a:r>
            <a:r>
              <a:rPr sz="907" spc="-9" dirty="0">
                <a:latin typeface="Times New Roman"/>
                <a:cs typeface="Times New Roman"/>
              </a:rPr>
              <a:t> </a:t>
            </a:r>
            <a:r>
              <a:rPr sz="907" dirty="0">
                <a:latin typeface="Times New Roman"/>
                <a:cs typeface="Times New Roman"/>
              </a:rPr>
              <a:t>the</a:t>
            </a:r>
            <a:r>
              <a:rPr sz="907" spc="-9" dirty="0">
                <a:latin typeface="Times New Roman"/>
                <a:cs typeface="Times New Roman"/>
              </a:rPr>
              <a:t> </a:t>
            </a:r>
            <a:r>
              <a:rPr sz="907" spc="-18" dirty="0">
                <a:latin typeface="Times New Roman"/>
                <a:cs typeface="Times New Roman"/>
              </a:rPr>
              <a:t>claim,</a:t>
            </a:r>
            <a:r>
              <a:rPr sz="907" spc="-9" dirty="0">
                <a:latin typeface="Times New Roman"/>
                <a:cs typeface="Times New Roman"/>
              </a:rPr>
              <a:t> </a:t>
            </a:r>
            <a:r>
              <a:rPr sz="907" dirty="0">
                <a:latin typeface="Times New Roman"/>
                <a:cs typeface="Times New Roman"/>
              </a:rPr>
              <a:t>the</a:t>
            </a:r>
            <a:r>
              <a:rPr sz="907" spc="-9" dirty="0">
                <a:latin typeface="Times New Roman"/>
                <a:cs typeface="Times New Roman"/>
              </a:rPr>
              <a:t> procedural stages </a:t>
            </a:r>
            <a:r>
              <a:rPr sz="907" dirty="0">
                <a:latin typeface="Times New Roman"/>
                <a:cs typeface="Times New Roman"/>
              </a:rPr>
              <a:t>in</a:t>
            </a:r>
            <a:r>
              <a:rPr sz="907" spc="-23" dirty="0">
                <a:latin typeface="Times New Roman"/>
                <a:cs typeface="Times New Roman"/>
              </a:rPr>
              <a:t> </a:t>
            </a:r>
            <a:r>
              <a:rPr sz="907" dirty="0">
                <a:latin typeface="Times New Roman"/>
                <a:cs typeface="Times New Roman"/>
              </a:rPr>
              <a:t>the</a:t>
            </a:r>
            <a:r>
              <a:rPr sz="907" spc="-18" dirty="0">
                <a:latin typeface="Times New Roman"/>
                <a:cs typeface="Times New Roman"/>
              </a:rPr>
              <a:t> </a:t>
            </a:r>
            <a:r>
              <a:rPr sz="907" dirty="0">
                <a:latin typeface="Times New Roman"/>
                <a:cs typeface="Times New Roman"/>
              </a:rPr>
              <a:t>history</a:t>
            </a:r>
            <a:r>
              <a:rPr sz="907" spc="-18" dirty="0">
                <a:latin typeface="Times New Roman"/>
                <a:cs typeface="Times New Roman"/>
              </a:rPr>
              <a:t> </a:t>
            </a:r>
            <a:r>
              <a:rPr sz="907" spc="-32" dirty="0">
                <a:latin typeface="Times New Roman"/>
                <a:cs typeface="Times New Roman"/>
              </a:rPr>
              <a:t>of</a:t>
            </a:r>
            <a:r>
              <a:rPr sz="907" spc="-18" dirty="0">
                <a:latin typeface="Times New Roman"/>
                <a:cs typeface="Times New Roman"/>
              </a:rPr>
              <a:t> </a:t>
            </a:r>
            <a:r>
              <a:rPr sz="907" dirty="0">
                <a:latin typeface="Times New Roman"/>
                <a:cs typeface="Times New Roman"/>
              </a:rPr>
              <a:t>the</a:t>
            </a:r>
            <a:r>
              <a:rPr sz="907" spc="-18" dirty="0">
                <a:latin typeface="Times New Roman"/>
                <a:cs typeface="Times New Roman"/>
              </a:rPr>
              <a:t> </a:t>
            </a:r>
            <a:r>
              <a:rPr sz="907" spc="-23" dirty="0">
                <a:latin typeface="Times New Roman"/>
                <a:cs typeface="Times New Roman"/>
              </a:rPr>
              <a:t>case,</a:t>
            </a:r>
            <a:r>
              <a:rPr sz="907" spc="-18" dirty="0">
                <a:latin typeface="Times New Roman"/>
                <a:cs typeface="Times New Roman"/>
              </a:rPr>
              <a:t> </a:t>
            </a:r>
            <a:r>
              <a:rPr sz="907" dirty="0">
                <a:latin typeface="Times New Roman"/>
                <a:cs typeface="Times New Roman"/>
              </a:rPr>
              <a:t>and</a:t>
            </a:r>
            <a:r>
              <a:rPr sz="907" spc="-18" dirty="0">
                <a:latin typeface="Times New Roman"/>
                <a:cs typeface="Times New Roman"/>
              </a:rPr>
              <a:t> </a:t>
            </a:r>
            <a:r>
              <a:rPr sz="907" spc="-23" dirty="0">
                <a:latin typeface="Times New Roman"/>
                <a:cs typeface="Times New Roman"/>
              </a:rPr>
              <a:t>the </a:t>
            </a:r>
            <a:r>
              <a:rPr sz="907" spc="-9" dirty="0">
                <a:latin typeface="Times New Roman"/>
                <a:cs typeface="Times New Roman"/>
              </a:rPr>
              <a:t>decision</a:t>
            </a:r>
            <a:r>
              <a:rPr sz="907" spc="-23" dirty="0">
                <a:latin typeface="Times New Roman"/>
                <a:cs typeface="Times New Roman"/>
              </a:rPr>
              <a:t> by </a:t>
            </a:r>
            <a:r>
              <a:rPr sz="907" dirty="0">
                <a:latin typeface="Times New Roman"/>
                <a:cs typeface="Times New Roman"/>
              </a:rPr>
              <a:t>the</a:t>
            </a:r>
            <a:r>
              <a:rPr sz="907" spc="-23" dirty="0">
                <a:latin typeface="Times New Roman"/>
                <a:cs typeface="Times New Roman"/>
              </a:rPr>
              <a:t> </a:t>
            </a:r>
            <a:r>
              <a:rPr sz="907" spc="-9" dirty="0">
                <a:latin typeface="Times New Roman"/>
                <a:cs typeface="Times New Roman"/>
              </a:rPr>
              <a:t>court.</a:t>
            </a:r>
            <a:endParaRPr sz="907">
              <a:latin typeface="Times New Roman"/>
              <a:cs typeface="Times New Roman"/>
            </a:endParaRPr>
          </a:p>
        </p:txBody>
      </p:sp>
      <p:grpSp>
        <p:nvGrpSpPr>
          <p:cNvPr id="88" name="object 88"/>
          <p:cNvGrpSpPr/>
          <p:nvPr/>
        </p:nvGrpSpPr>
        <p:grpSpPr>
          <a:xfrm>
            <a:off x="2899176" y="5927728"/>
            <a:ext cx="2259512" cy="159502"/>
            <a:chOff x="1821313" y="6536966"/>
            <a:chExt cx="2491740" cy="175895"/>
          </a:xfrm>
        </p:grpSpPr>
        <p:sp>
          <p:nvSpPr>
            <p:cNvPr id="89" name="object 89"/>
            <p:cNvSpPr/>
            <p:nvPr/>
          </p:nvSpPr>
          <p:spPr>
            <a:xfrm>
              <a:off x="1873661" y="6575291"/>
              <a:ext cx="2430145" cy="127635"/>
            </a:xfrm>
            <a:custGeom>
              <a:avLst/>
              <a:gdLst/>
              <a:ahLst/>
              <a:cxnLst/>
              <a:rect l="l" t="t" r="r" b="b"/>
              <a:pathLst>
                <a:path w="2430145" h="127634">
                  <a:moveTo>
                    <a:pt x="2429594" y="127455"/>
                  </a:moveTo>
                  <a:lnTo>
                    <a:pt x="0" y="0"/>
                  </a:lnTo>
                </a:path>
              </a:pathLst>
            </a:custGeom>
            <a:ln w="19057">
              <a:solidFill>
                <a:srgbClr val="C70F2E"/>
              </a:solidFill>
            </a:ln>
          </p:spPr>
          <p:txBody>
            <a:bodyPr wrap="square" lIns="0" tIns="0" rIns="0" bIns="0" rtlCol="0"/>
            <a:lstStyle/>
            <a:p>
              <a:endParaRPr sz="1632"/>
            </a:p>
          </p:txBody>
        </p:sp>
        <p:sp>
          <p:nvSpPr>
            <p:cNvPr id="90" name="object 90"/>
            <p:cNvSpPr/>
            <p:nvPr/>
          </p:nvSpPr>
          <p:spPr>
            <a:xfrm>
              <a:off x="1830841" y="6546495"/>
              <a:ext cx="40005" cy="57150"/>
            </a:xfrm>
            <a:custGeom>
              <a:avLst/>
              <a:gdLst/>
              <a:ahLst/>
              <a:cxnLst/>
              <a:rect l="l" t="t" r="r" b="b"/>
              <a:pathLst>
                <a:path w="40005" h="57150">
                  <a:moveTo>
                    <a:pt x="39559" y="0"/>
                  </a:moveTo>
                  <a:lnTo>
                    <a:pt x="36564" y="57093"/>
                  </a:lnTo>
                  <a:lnTo>
                    <a:pt x="0" y="26549"/>
                  </a:lnTo>
                  <a:lnTo>
                    <a:pt x="39559" y="0"/>
                  </a:lnTo>
                  <a:close/>
                </a:path>
              </a:pathLst>
            </a:custGeom>
            <a:solidFill>
              <a:srgbClr val="C70F2E"/>
            </a:solidFill>
          </p:spPr>
          <p:txBody>
            <a:bodyPr wrap="square" lIns="0" tIns="0" rIns="0" bIns="0" rtlCol="0"/>
            <a:lstStyle/>
            <a:p>
              <a:endParaRPr sz="1632"/>
            </a:p>
          </p:txBody>
        </p:sp>
        <p:sp>
          <p:nvSpPr>
            <p:cNvPr id="91" name="object 91"/>
            <p:cNvSpPr/>
            <p:nvPr/>
          </p:nvSpPr>
          <p:spPr>
            <a:xfrm>
              <a:off x="1830841" y="6546495"/>
              <a:ext cx="40005" cy="57150"/>
            </a:xfrm>
            <a:custGeom>
              <a:avLst/>
              <a:gdLst/>
              <a:ahLst/>
              <a:cxnLst/>
              <a:rect l="l" t="t" r="r" b="b"/>
              <a:pathLst>
                <a:path w="40005" h="57150">
                  <a:moveTo>
                    <a:pt x="36564" y="57093"/>
                  </a:moveTo>
                  <a:lnTo>
                    <a:pt x="0" y="26549"/>
                  </a:lnTo>
                  <a:lnTo>
                    <a:pt x="39559" y="0"/>
                  </a:lnTo>
                  <a:lnTo>
                    <a:pt x="36564" y="57093"/>
                  </a:lnTo>
                  <a:close/>
                </a:path>
              </a:pathLst>
            </a:custGeom>
            <a:ln w="19057">
              <a:solidFill>
                <a:srgbClr val="C70F2E"/>
              </a:solidFill>
            </a:ln>
          </p:spPr>
          <p:txBody>
            <a:bodyPr wrap="square" lIns="0" tIns="0" rIns="0" bIns="0" rtlCol="0"/>
            <a:lstStyle/>
            <a:p>
              <a:endParaRPr sz="1632"/>
            </a:p>
          </p:txBody>
        </p:sp>
      </p:grpSp>
      <p:sp>
        <p:nvSpPr>
          <p:cNvPr id="92" name="object 92"/>
          <p:cNvSpPr txBox="1"/>
          <p:nvPr/>
        </p:nvSpPr>
        <p:spPr>
          <a:xfrm>
            <a:off x="5996549" y="238612"/>
            <a:ext cx="1165457" cy="543196"/>
          </a:xfrm>
          <a:prstGeom prst="rect">
            <a:avLst/>
          </a:prstGeom>
        </p:spPr>
        <p:txBody>
          <a:bodyPr vert="horz" wrap="square" lIns="0" tIns="29943" rIns="0" bIns="0" rtlCol="0">
            <a:spAutoFit/>
          </a:bodyPr>
          <a:lstStyle/>
          <a:p>
            <a:pPr marL="11516" marR="4607">
              <a:lnSpc>
                <a:spcPts val="952"/>
              </a:lnSpc>
              <a:spcBef>
                <a:spcPts val="236"/>
              </a:spcBef>
            </a:pPr>
            <a:r>
              <a:rPr sz="907" spc="-27" dirty="0">
                <a:latin typeface="Times New Roman"/>
                <a:cs typeface="Times New Roman"/>
              </a:rPr>
              <a:t>The</a:t>
            </a:r>
            <a:r>
              <a:rPr sz="907" spc="-14" dirty="0">
                <a:latin typeface="Times New Roman"/>
                <a:cs typeface="Times New Roman"/>
              </a:rPr>
              <a:t> </a:t>
            </a:r>
            <a:r>
              <a:rPr sz="907" b="1" spc="-23" dirty="0">
                <a:latin typeface="Times New Roman"/>
                <a:cs typeface="Times New Roman"/>
              </a:rPr>
              <a:t>History</a:t>
            </a:r>
            <a:r>
              <a:rPr sz="907" b="1" spc="-5" dirty="0">
                <a:latin typeface="Times New Roman"/>
                <a:cs typeface="Times New Roman"/>
              </a:rPr>
              <a:t> </a:t>
            </a:r>
            <a:r>
              <a:rPr sz="907" dirty="0">
                <a:latin typeface="Times New Roman"/>
                <a:cs typeface="Times New Roman"/>
              </a:rPr>
              <a:t>tab</a:t>
            </a:r>
            <a:r>
              <a:rPr sz="907" spc="-14" dirty="0">
                <a:latin typeface="Times New Roman"/>
                <a:cs typeface="Times New Roman"/>
              </a:rPr>
              <a:t> </a:t>
            </a:r>
            <a:r>
              <a:rPr sz="907" spc="-18" dirty="0">
                <a:latin typeface="Times New Roman"/>
                <a:cs typeface="Times New Roman"/>
              </a:rPr>
              <a:t>shows </a:t>
            </a:r>
            <a:r>
              <a:rPr sz="907" spc="-9" dirty="0">
                <a:latin typeface="Times New Roman"/>
                <a:cs typeface="Times New Roman"/>
              </a:rPr>
              <a:t>researchers</a:t>
            </a:r>
            <a:r>
              <a:rPr sz="907" spc="-23" dirty="0">
                <a:latin typeface="Times New Roman"/>
                <a:cs typeface="Times New Roman"/>
              </a:rPr>
              <a:t> </a:t>
            </a:r>
            <a:r>
              <a:rPr sz="907" dirty="0">
                <a:latin typeface="Times New Roman"/>
                <a:cs typeface="Times New Roman"/>
              </a:rPr>
              <a:t>the</a:t>
            </a:r>
            <a:r>
              <a:rPr sz="907" spc="-18" dirty="0">
                <a:latin typeface="Times New Roman"/>
                <a:cs typeface="Times New Roman"/>
              </a:rPr>
              <a:t> </a:t>
            </a:r>
            <a:r>
              <a:rPr sz="907" dirty="0">
                <a:latin typeface="Times New Roman"/>
                <a:cs typeface="Times New Roman"/>
              </a:rPr>
              <a:t>prior</a:t>
            </a:r>
            <a:r>
              <a:rPr sz="907" spc="-18" dirty="0">
                <a:latin typeface="Times New Roman"/>
                <a:cs typeface="Times New Roman"/>
              </a:rPr>
              <a:t> </a:t>
            </a:r>
            <a:r>
              <a:rPr sz="907" spc="-23" dirty="0">
                <a:latin typeface="Times New Roman"/>
                <a:cs typeface="Times New Roman"/>
              </a:rPr>
              <a:t>and </a:t>
            </a:r>
            <a:r>
              <a:rPr sz="907" dirty="0">
                <a:latin typeface="Times New Roman"/>
                <a:cs typeface="Times New Roman"/>
              </a:rPr>
              <a:t>subsequent</a:t>
            </a:r>
            <a:r>
              <a:rPr sz="907" spc="-18" dirty="0">
                <a:latin typeface="Times New Roman"/>
                <a:cs typeface="Times New Roman"/>
              </a:rPr>
              <a:t> </a:t>
            </a:r>
            <a:r>
              <a:rPr sz="907" dirty="0">
                <a:latin typeface="Times New Roman"/>
                <a:cs typeface="Times New Roman"/>
              </a:rPr>
              <a:t>history</a:t>
            </a:r>
            <a:r>
              <a:rPr sz="907" spc="-14" dirty="0">
                <a:latin typeface="Times New Roman"/>
                <a:cs typeface="Times New Roman"/>
              </a:rPr>
              <a:t> </a:t>
            </a:r>
            <a:r>
              <a:rPr sz="907" spc="-32" dirty="0">
                <a:latin typeface="Times New Roman"/>
                <a:cs typeface="Times New Roman"/>
              </a:rPr>
              <a:t>of</a:t>
            </a:r>
            <a:r>
              <a:rPr sz="907" spc="-14" dirty="0">
                <a:latin typeface="Times New Roman"/>
                <a:cs typeface="Times New Roman"/>
              </a:rPr>
              <a:t> </a:t>
            </a:r>
            <a:r>
              <a:rPr sz="907" spc="-45" dirty="0">
                <a:latin typeface="Times New Roman"/>
                <a:cs typeface="Times New Roman"/>
              </a:rPr>
              <a:t>a</a:t>
            </a:r>
            <a:r>
              <a:rPr sz="907" spc="-9" dirty="0">
                <a:latin typeface="Times New Roman"/>
                <a:cs typeface="Times New Roman"/>
              </a:rPr>
              <a:t> case.</a:t>
            </a:r>
            <a:endParaRPr sz="907">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303607" y="-251"/>
            <a:ext cx="9305229" cy="6761262"/>
            <a:chOff x="61755" y="-277"/>
            <a:chExt cx="10261600" cy="7456170"/>
          </a:xfrm>
        </p:grpSpPr>
        <p:pic>
          <p:nvPicPr>
            <p:cNvPr id="3" name="object 3"/>
            <p:cNvPicPr/>
            <p:nvPr/>
          </p:nvPicPr>
          <p:blipFill>
            <a:blip r:embed="rId2" cstate="print"/>
            <a:stretch>
              <a:fillRect/>
            </a:stretch>
          </p:blipFill>
          <p:spPr>
            <a:xfrm>
              <a:off x="1070957" y="1938288"/>
              <a:ext cx="9252260" cy="5517053"/>
            </a:xfrm>
            <a:prstGeom prst="rect">
              <a:avLst/>
            </a:prstGeom>
          </p:spPr>
        </p:pic>
        <p:sp>
          <p:nvSpPr>
            <p:cNvPr id="4" name="object 4"/>
            <p:cNvSpPr/>
            <p:nvPr/>
          </p:nvSpPr>
          <p:spPr>
            <a:xfrm>
              <a:off x="217805" y="292107"/>
              <a:ext cx="2822575" cy="1706880"/>
            </a:xfrm>
            <a:custGeom>
              <a:avLst/>
              <a:gdLst/>
              <a:ahLst/>
              <a:cxnLst/>
              <a:rect l="l" t="t" r="r" b="b"/>
              <a:pathLst>
                <a:path w="2822575" h="1706880">
                  <a:moveTo>
                    <a:pt x="203809" y="1706762"/>
                  </a:moveTo>
                  <a:lnTo>
                    <a:pt x="0" y="504455"/>
                  </a:lnTo>
                  <a:lnTo>
                    <a:pt x="2596622" y="0"/>
                  </a:lnTo>
                  <a:lnTo>
                    <a:pt x="2822436" y="1062778"/>
                  </a:lnTo>
                  <a:lnTo>
                    <a:pt x="203809" y="1706762"/>
                  </a:lnTo>
                  <a:close/>
                </a:path>
              </a:pathLst>
            </a:custGeom>
            <a:solidFill>
              <a:srgbClr val="C70F2E">
                <a:alpha val="25000"/>
              </a:srgbClr>
            </a:solidFill>
          </p:spPr>
          <p:txBody>
            <a:bodyPr wrap="square" lIns="0" tIns="0" rIns="0" bIns="0" rtlCol="0"/>
            <a:lstStyle/>
            <a:p>
              <a:endParaRPr sz="1632"/>
            </a:p>
          </p:txBody>
        </p:sp>
        <p:sp>
          <p:nvSpPr>
            <p:cNvPr id="5" name="object 5"/>
            <p:cNvSpPr/>
            <p:nvPr/>
          </p:nvSpPr>
          <p:spPr>
            <a:xfrm>
              <a:off x="195732" y="137191"/>
              <a:ext cx="2870200" cy="1772920"/>
            </a:xfrm>
            <a:custGeom>
              <a:avLst/>
              <a:gdLst/>
              <a:ahLst/>
              <a:cxnLst/>
              <a:rect l="l" t="t" r="r" b="b"/>
              <a:pathLst>
                <a:path w="2870200" h="1772920">
                  <a:moveTo>
                    <a:pt x="2870006" y="1217385"/>
                  </a:moveTo>
                  <a:lnTo>
                    <a:pt x="258763" y="1772422"/>
                  </a:lnTo>
                  <a:lnTo>
                    <a:pt x="0" y="555036"/>
                  </a:lnTo>
                  <a:lnTo>
                    <a:pt x="2611243" y="0"/>
                  </a:lnTo>
                  <a:lnTo>
                    <a:pt x="2870006" y="1217385"/>
                  </a:lnTo>
                  <a:close/>
                </a:path>
              </a:pathLst>
            </a:custGeom>
            <a:solidFill>
              <a:srgbClr val="F0EBD4"/>
            </a:solidFill>
          </p:spPr>
          <p:txBody>
            <a:bodyPr wrap="square" lIns="0" tIns="0" rIns="0" bIns="0" rtlCol="0"/>
            <a:lstStyle/>
            <a:p>
              <a:endParaRPr sz="1632"/>
            </a:p>
          </p:txBody>
        </p:sp>
        <p:sp>
          <p:nvSpPr>
            <p:cNvPr id="6" name="object 6"/>
            <p:cNvSpPr/>
            <p:nvPr/>
          </p:nvSpPr>
          <p:spPr>
            <a:xfrm>
              <a:off x="61747" y="-267"/>
              <a:ext cx="3027680" cy="1213485"/>
            </a:xfrm>
            <a:custGeom>
              <a:avLst/>
              <a:gdLst/>
              <a:ahLst/>
              <a:cxnLst/>
              <a:rect l="l" t="t" r="r" b="b"/>
              <a:pathLst>
                <a:path w="3027680" h="1213485">
                  <a:moveTo>
                    <a:pt x="604901" y="523684"/>
                  </a:moveTo>
                  <a:lnTo>
                    <a:pt x="538060" y="560336"/>
                  </a:lnTo>
                  <a:lnTo>
                    <a:pt x="547281" y="487857"/>
                  </a:lnTo>
                  <a:lnTo>
                    <a:pt x="479539" y="548805"/>
                  </a:lnTo>
                  <a:lnTo>
                    <a:pt x="499186" y="457936"/>
                  </a:lnTo>
                  <a:lnTo>
                    <a:pt x="438365" y="530555"/>
                  </a:lnTo>
                  <a:lnTo>
                    <a:pt x="462597" y="435178"/>
                  </a:lnTo>
                  <a:lnTo>
                    <a:pt x="395541" y="486676"/>
                  </a:lnTo>
                  <a:lnTo>
                    <a:pt x="403936" y="407200"/>
                  </a:lnTo>
                  <a:lnTo>
                    <a:pt x="346252" y="491261"/>
                  </a:lnTo>
                  <a:lnTo>
                    <a:pt x="25336" y="1004392"/>
                  </a:lnTo>
                  <a:lnTo>
                    <a:pt x="0" y="1062151"/>
                  </a:lnTo>
                  <a:lnTo>
                    <a:pt x="63030" y="1031748"/>
                  </a:lnTo>
                  <a:lnTo>
                    <a:pt x="42900" y="1095260"/>
                  </a:lnTo>
                  <a:lnTo>
                    <a:pt x="129882" y="1053338"/>
                  </a:lnTo>
                  <a:lnTo>
                    <a:pt x="92887" y="1141222"/>
                  </a:lnTo>
                  <a:lnTo>
                    <a:pt x="143967" y="1114348"/>
                  </a:lnTo>
                  <a:lnTo>
                    <a:pt x="140982" y="1173073"/>
                  </a:lnTo>
                  <a:lnTo>
                    <a:pt x="195414" y="1148359"/>
                  </a:lnTo>
                  <a:lnTo>
                    <a:pt x="186728" y="1213129"/>
                  </a:lnTo>
                  <a:lnTo>
                    <a:pt x="247751" y="1146149"/>
                  </a:lnTo>
                  <a:lnTo>
                    <a:pt x="546455" y="623506"/>
                  </a:lnTo>
                  <a:lnTo>
                    <a:pt x="604901" y="523684"/>
                  </a:lnTo>
                  <a:close/>
                </a:path>
                <a:path w="3027680" h="1213485">
                  <a:moveTo>
                    <a:pt x="3027565" y="481965"/>
                  </a:moveTo>
                  <a:lnTo>
                    <a:pt x="2966758" y="414832"/>
                  </a:lnTo>
                  <a:lnTo>
                    <a:pt x="2474938" y="67741"/>
                  </a:lnTo>
                  <a:lnTo>
                    <a:pt x="2381148" y="0"/>
                  </a:lnTo>
                  <a:lnTo>
                    <a:pt x="2411285" y="70040"/>
                  </a:lnTo>
                  <a:lnTo>
                    <a:pt x="2339987" y="53936"/>
                  </a:lnTo>
                  <a:lnTo>
                    <a:pt x="2394204" y="127165"/>
                  </a:lnTo>
                  <a:lnTo>
                    <a:pt x="2305621" y="98983"/>
                  </a:lnTo>
                  <a:lnTo>
                    <a:pt x="2372055" y="166458"/>
                  </a:lnTo>
                  <a:lnTo>
                    <a:pt x="2279459" y="133210"/>
                  </a:lnTo>
                  <a:lnTo>
                    <a:pt x="2324366" y="204851"/>
                  </a:lnTo>
                  <a:lnTo>
                    <a:pt x="2245995" y="188950"/>
                  </a:lnTo>
                  <a:lnTo>
                    <a:pt x="2324227" y="254342"/>
                  </a:lnTo>
                  <a:lnTo>
                    <a:pt x="2804464" y="622808"/>
                  </a:lnTo>
                  <a:lnTo>
                    <a:pt x="2859506" y="653491"/>
                  </a:lnTo>
                  <a:lnTo>
                    <a:pt x="2835275" y="587819"/>
                  </a:lnTo>
                  <a:lnTo>
                    <a:pt x="2896578" y="613918"/>
                  </a:lnTo>
                  <a:lnTo>
                    <a:pt x="2863113" y="523328"/>
                  </a:lnTo>
                  <a:lnTo>
                    <a:pt x="2947047" y="568528"/>
                  </a:lnTo>
                  <a:lnTo>
                    <a:pt x="2925178" y="515073"/>
                  </a:lnTo>
                  <a:lnTo>
                    <a:pt x="2983344" y="523684"/>
                  </a:lnTo>
                  <a:lnTo>
                    <a:pt x="2963976" y="467106"/>
                  </a:lnTo>
                  <a:lnTo>
                    <a:pt x="3027565" y="481965"/>
                  </a:lnTo>
                  <a:close/>
                </a:path>
              </a:pathLst>
            </a:custGeom>
            <a:solidFill>
              <a:srgbClr val="C70F2E">
                <a:alpha val="29998"/>
              </a:srgbClr>
            </a:solidFill>
          </p:spPr>
          <p:txBody>
            <a:bodyPr wrap="square" lIns="0" tIns="0" rIns="0" bIns="0" rtlCol="0"/>
            <a:lstStyle/>
            <a:p>
              <a:endParaRPr sz="1632"/>
            </a:p>
          </p:txBody>
        </p:sp>
        <p:sp>
          <p:nvSpPr>
            <p:cNvPr id="7" name="object 7"/>
            <p:cNvSpPr/>
            <p:nvPr/>
          </p:nvSpPr>
          <p:spPr>
            <a:xfrm>
              <a:off x="3457154" y="3316343"/>
              <a:ext cx="5780405" cy="2113280"/>
            </a:xfrm>
            <a:custGeom>
              <a:avLst/>
              <a:gdLst/>
              <a:ahLst/>
              <a:cxnLst/>
              <a:rect l="l" t="t" r="r" b="b"/>
              <a:pathLst>
                <a:path w="5780405" h="2113279">
                  <a:moveTo>
                    <a:pt x="0" y="0"/>
                  </a:moveTo>
                  <a:lnTo>
                    <a:pt x="5780104" y="0"/>
                  </a:lnTo>
                  <a:lnTo>
                    <a:pt x="5780104" y="2112667"/>
                  </a:lnTo>
                  <a:lnTo>
                    <a:pt x="0" y="2112667"/>
                  </a:lnTo>
                  <a:lnTo>
                    <a:pt x="0" y="0"/>
                  </a:lnTo>
                  <a:close/>
                </a:path>
              </a:pathLst>
            </a:custGeom>
            <a:ln w="38114">
              <a:solidFill>
                <a:srgbClr val="C70F2E"/>
              </a:solidFill>
            </a:ln>
          </p:spPr>
          <p:txBody>
            <a:bodyPr wrap="square" lIns="0" tIns="0" rIns="0" bIns="0" rtlCol="0"/>
            <a:lstStyle/>
            <a:p>
              <a:endParaRPr sz="1632"/>
            </a:p>
          </p:txBody>
        </p:sp>
        <p:sp>
          <p:nvSpPr>
            <p:cNvPr id="8" name="object 8"/>
            <p:cNvSpPr/>
            <p:nvPr/>
          </p:nvSpPr>
          <p:spPr>
            <a:xfrm>
              <a:off x="7051430" y="516736"/>
              <a:ext cx="1982470" cy="1036955"/>
            </a:xfrm>
            <a:custGeom>
              <a:avLst/>
              <a:gdLst/>
              <a:ahLst/>
              <a:cxnLst/>
              <a:rect l="l" t="t" r="r" b="b"/>
              <a:pathLst>
                <a:path w="1982470" h="1036955">
                  <a:moveTo>
                    <a:pt x="1823670" y="1036596"/>
                  </a:moveTo>
                  <a:lnTo>
                    <a:pt x="262375" y="1036596"/>
                  </a:lnTo>
                  <a:lnTo>
                    <a:pt x="219455" y="1030712"/>
                  </a:lnTo>
                  <a:lnTo>
                    <a:pt x="181012" y="1014129"/>
                  </a:lnTo>
                  <a:lnTo>
                    <a:pt x="148648" y="988451"/>
                  </a:lnTo>
                  <a:lnTo>
                    <a:pt x="123964" y="955282"/>
                  </a:lnTo>
                  <a:lnTo>
                    <a:pt x="83730" y="938975"/>
                  </a:lnTo>
                  <a:lnTo>
                    <a:pt x="49569" y="913177"/>
                  </a:lnTo>
                  <a:lnTo>
                    <a:pt x="23128" y="879536"/>
                  </a:lnTo>
                  <a:lnTo>
                    <a:pt x="6056" y="839698"/>
                  </a:lnTo>
                  <a:lnTo>
                    <a:pt x="0" y="795311"/>
                  </a:lnTo>
                  <a:lnTo>
                    <a:pt x="0" y="165172"/>
                  </a:lnTo>
                  <a:lnTo>
                    <a:pt x="5910" y="121313"/>
                  </a:lnTo>
                  <a:lnTo>
                    <a:pt x="22583" y="81871"/>
                  </a:lnTo>
                  <a:lnTo>
                    <a:pt x="48432" y="48432"/>
                  </a:lnTo>
                  <a:lnTo>
                    <a:pt x="81871" y="22583"/>
                  </a:lnTo>
                  <a:lnTo>
                    <a:pt x="121313" y="5910"/>
                  </a:lnTo>
                  <a:lnTo>
                    <a:pt x="165172" y="0"/>
                  </a:lnTo>
                  <a:lnTo>
                    <a:pt x="1726468" y="0"/>
                  </a:lnTo>
                  <a:lnTo>
                    <a:pt x="1775049" y="7289"/>
                  </a:lnTo>
                  <a:lnTo>
                    <a:pt x="1817929" y="27699"/>
                  </a:lnTo>
                  <a:lnTo>
                    <a:pt x="1852922" y="59037"/>
                  </a:lnTo>
                  <a:lnTo>
                    <a:pt x="1877839" y="99114"/>
                  </a:lnTo>
                  <a:lnTo>
                    <a:pt x="1919788" y="122089"/>
                  </a:lnTo>
                  <a:lnTo>
                    <a:pt x="1952775" y="156195"/>
                  </a:lnTo>
                  <a:lnTo>
                    <a:pt x="1974358" y="198989"/>
                  </a:lnTo>
                  <a:lnTo>
                    <a:pt x="1982095" y="248031"/>
                  </a:lnTo>
                  <a:lnTo>
                    <a:pt x="1982095" y="878171"/>
                  </a:lnTo>
                  <a:lnTo>
                    <a:pt x="1974019" y="928245"/>
                  </a:lnTo>
                  <a:lnTo>
                    <a:pt x="1951528" y="971735"/>
                  </a:lnTo>
                  <a:lnTo>
                    <a:pt x="1917234" y="1006029"/>
                  </a:lnTo>
                  <a:lnTo>
                    <a:pt x="1873745" y="1028519"/>
                  </a:lnTo>
                  <a:lnTo>
                    <a:pt x="1823670" y="1036596"/>
                  </a:lnTo>
                  <a:close/>
                </a:path>
              </a:pathLst>
            </a:custGeom>
            <a:solidFill>
              <a:srgbClr val="000000"/>
            </a:solidFill>
          </p:spPr>
          <p:txBody>
            <a:bodyPr wrap="square" lIns="0" tIns="0" rIns="0" bIns="0" rtlCol="0"/>
            <a:lstStyle/>
            <a:p>
              <a:endParaRPr sz="1632"/>
            </a:p>
          </p:txBody>
        </p:sp>
        <p:sp>
          <p:nvSpPr>
            <p:cNvPr id="9" name="object 9"/>
            <p:cNvSpPr/>
            <p:nvPr/>
          </p:nvSpPr>
          <p:spPr>
            <a:xfrm>
              <a:off x="7064926" y="530234"/>
              <a:ext cx="1864995" cy="934085"/>
            </a:xfrm>
            <a:custGeom>
              <a:avLst/>
              <a:gdLst/>
              <a:ahLst/>
              <a:cxnLst/>
              <a:rect l="l" t="t" r="r" b="b"/>
              <a:pathLst>
                <a:path w="1864995" h="934085">
                  <a:moveTo>
                    <a:pt x="1712972" y="933491"/>
                  </a:moveTo>
                  <a:lnTo>
                    <a:pt x="151675" y="933491"/>
                  </a:lnTo>
                  <a:lnTo>
                    <a:pt x="103756" y="925753"/>
                  </a:lnTo>
                  <a:lnTo>
                    <a:pt x="62122" y="904210"/>
                  </a:lnTo>
                  <a:lnTo>
                    <a:pt x="29280" y="871369"/>
                  </a:lnTo>
                  <a:lnTo>
                    <a:pt x="7737" y="829735"/>
                  </a:lnTo>
                  <a:lnTo>
                    <a:pt x="0" y="781815"/>
                  </a:lnTo>
                  <a:lnTo>
                    <a:pt x="0" y="151673"/>
                  </a:lnTo>
                  <a:lnTo>
                    <a:pt x="7738" y="103754"/>
                  </a:lnTo>
                  <a:lnTo>
                    <a:pt x="29281" y="62121"/>
                  </a:lnTo>
                  <a:lnTo>
                    <a:pt x="62123" y="29280"/>
                  </a:lnTo>
                  <a:lnTo>
                    <a:pt x="103756" y="7737"/>
                  </a:lnTo>
                  <a:lnTo>
                    <a:pt x="151675" y="0"/>
                  </a:lnTo>
                  <a:lnTo>
                    <a:pt x="1712972" y="0"/>
                  </a:lnTo>
                  <a:lnTo>
                    <a:pt x="1760892" y="7737"/>
                  </a:lnTo>
                  <a:lnTo>
                    <a:pt x="1802526" y="29280"/>
                  </a:lnTo>
                  <a:lnTo>
                    <a:pt x="1835367" y="62122"/>
                  </a:lnTo>
                  <a:lnTo>
                    <a:pt x="1856910" y="103756"/>
                  </a:lnTo>
                  <a:lnTo>
                    <a:pt x="1864648" y="151675"/>
                  </a:lnTo>
                  <a:lnTo>
                    <a:pt x="1864648" y="781815"/>
                  </a:lnTo>
                  <a:lnTo>
                    <a:pt x="1856910" y="829735"/>
                  </a:lnTo>
                  <a:lnTo>
                    <a:pt x="1835367" y="871369"/>
                  </a:lnTo>
                  <a:lnTo>
                    <a:pt x="1802526" y="904210"/>
                  </a:lnTo>
                  <a:lnTo>
                    <a:pt x="1760892" y="925753"/>
                  </a:lnTo>
                  <a:lnTo>
                    <a:pt x="1712972" y="933491"/>
                  </a:lnTo>
                  <a:close/>
                </a:path>
              </a:pathLst>
            </a:custGeom>
            <a:solidFill>
              <a:srgbClr val="FFFFFF"/>
            </a:solidFill>
          </p:spPr>
          <p:txBody>
            <a:bodyPr wrap="square" lIns="0" tIns="0" rIns="0" bIns="0" rtlCol="0"/>
            <a:lstStyle/>
            <a:p>
              <a:endParaRPr sz="1632"/>
            </a:p>
          </p:txBody>
        </p:sp>
      </p:grpSp>
      <p:sp>
        <p:nvSpPr>
          <p:cNvPr id="10" name="object 10"/>
          <p:cNvSpPr txBox="1"/>
          <p:nvPr/>
        </p:nvSpPr>
        <p:spPr>
          <a:xfrm>
            <a:off x="7746773" y="532210"/>
            <a:ext cx="1548375" cy="729129"/>
          </a:xfrm>
          <a:prstGeom prst="rect">
            <a:avLst/>
          </a:prstGeom>
        </p:spPr>
        <p:txBody>
          <a:bodyPr vert="horz" wrap="square" lIns="0" tIns="36277" rIns="0" bIns="0" rtlCol="0">
            <a:spAutoFit/>
          </a:bodyPr>
          <a:lstStyle/>
          <a:p>
            <a:pPr marL="11516" marR="4607">
              <a:lnSpc>
                <a:spcPts val="889"/>
              </a:lnSpc>
              <a:spcBef>
                <a:spcPts val="286"/>
              </a:spcBef>
            </a:pPr>
            <a:r>
              <a:rPr sz="907" b="1" spc="-9" dirty="0">
                <a:latin typeface="Times New Roman"/>
                <a:cs typeface="Times New Roman"/>
              </a:rPr>
              <a:t>Headnotes</a:t>
            </a:r>
            <a:r>
              <a:rPr sz="907" b="1" spc="-18" dirty="0">
                <a:latin typeface="Times New Roman"/>
                <a:cs typeface="Times New Roman"/>
              </a:rPr>
              <a:t> </a:t>
            </a:r>
            <a:r>
              <a:rPr sz="907" spc="-32" dirty="0">
                <a:latin typeface="Times New Roman"/>
                <a:cs typeface="Times New Roman"/>
              </a:rPr>
              <a:t>give</a:t>
            </a:r>
            <a:r>
              <a:rPr sz="907" spc="-23" dirty="0">
                <a:latin typeface="Times New Roman"/>
                <a:cs typeface="Times New Roman"/>
              </a:rPr>
              <a:t> </a:t>
            </a:r>
            <a:r>
              <a:rPr sz="907" dirty="0">
                <a:latin typeface="Times New Roman"/>
                <a:cs typeface="Times New Roman"/>
              </a:rPr>
              <a:t>summaries</a:t>
            </a:r>
            <a:r>
              <a:rPr sz="907" spc="-23" dirty="0">
                <a:latin typeface="Times New Roman"/>
                <a:cs typeface="Times New Roman"/>
              </a:rPr>
              <a:t> of </a:t>
            </a:r>
            <a:r>
              <a:rPr sz="907" dirty="0">
                <a:latin typeface="Times New Roman"/>
                <a:cs typeface="Times New Roman"/>
              </a:rPr>
              <a:t>sub-</a:t>
            </a:r>
            <a:r>
              <a:rPr sz="907" spc="-9" dirty="0">
                <a:latin typeface="Times New Roman"/>
                <a:cs typeface="Times New Roman"/>
              </a:rPr>
              <a:t>issues discussed</a:t>
            </a:r>
            <a:r>
              <a:rPr sz="907" spc="-5" dirty="0">
                <a:latin typeface="Times New Roman"/>
                <a:cs typeface="Times New Roman"/>
              </a:rPr>
              <a:t> </a:t>
            </a:r>
            <a:r>
              <a:rPr sz="907" dirty="0">
                <a:latin typeface="Times New Roman"/>
                <a:cs typeface="Times New Roman"/>
              </a:rPr>
              <a:t>in</a:t>
            </a:r>
            <a:r>
              <a:rPr sz="907" spc="-9" dirty="0">
                <a:latin typeface="Times New Roman"/>
                <a:cs typeface="Times New Roman"/>
              </a:rPr>
              <a:t> </a:t>
            </a:r>
            <a:r>
              <a:rPr sz="907" dirty="0">
                <a:latin typeface="Times New Roman"/>
                <a:cs typeface="Times New Roman"/>
              </a:rPr>
              <a:t>a</a:t>
            </a:r>
            <a:r>
              <a:rPr sz="907" spc="-5" dirty="0">
                <a:latin typeface="Times New Roman"/>
                <a:cs typeface="Times New Roman"/>
              </a:rPr>
              <a:t> </a:t>
            </a:r>
            <a:r>
              <a:rPr sz="907" spc="-18" dirty="0">
                <a:latin typeface="Times New Roman"/>
                <a:cs typeface="Times New Roman"/>
              </a:rPr>
              <a:t>case. </a:t>
            </a:r>
            <a:r>
              <a:rPr sz="907" spc="-23" dirty="0">
                <a:latin typeface="Times New Roman"/>
                <a:cs typeface="Times New Roman"/>
              </a:rPr>
              <a:t>Researchers</a:t>
            </a:r>
            <a:r>
              <a:rPr sz="907" spc="-14" dirty="0">
                <a:latin typeface="Times New Roman"/>
                <a:cs typeface="Times New Roman"/>
              </a:rPr>
              <a:t> </a:t>
            </a:r>
            <a:r>
              <a:rPr sz="907" spc="-9" dirty="0">
                <a:latin typeface="Times New Roman"/>
                <a:cs typeface="Times New Roman"/>
              </a:rPr>
              <a:t>can </a:t>
            </a:r>
            <a:r>
              <a:rPr sz="907" dirty="0">
                <a:latin typeface="Times New Roman"/>
                <a:cs typeface="Times New Roman"/>
              </a:rPr>
              <a:t>use</a:t>
            </a:r>
            <a:r>
              <a:rPr sz="907" spc="-14" dirty="0">
                <a:latin typeface="Times New Roman"/>
                <a:cs typeface="Times New Roman"/>
              </a:rPr>
              <a:t> </a:t>
            </a:r>
            <a:r>
              <a:rPr sz="907" dirty="0">
                <a:latin typeface="Times New Roman"/>
                <a:cs typeface="Times New Roman"/>
              </a:rPr>
              <a:t>headnotes</a:t>
            </a:r>
            <a:r>
              <a:rPr sz="907" spc="-9" dirty="0">
                <a:latin typeface="Times New Roman"/>
                <a:cs typeface="Times New Roman"/>
              </a:rPr>
              <a:t> </a:t>
            </a:r>
            <a:r>
              <a:rPr sz="907" spc="-23" dirty="0">
                <a:latin typeface="Times New Roman"/>
                <a:cs typeface="Times New Roman"/>
              </a:rPr>
              <a:t>to </a:t>
            </a:r>
            <a:r>
              <a:rPr sz="907" spc="-9" dirty="0">
                <a:latin typeface="Times New Roman"/>
                <a:cs typeface="Times New Roman"/>
              </a:rPr>
              <a:t>find</a:t>
            </a:r>
            <a:r>
              <a:rPr sz="907" dirty="0">
                <a:latin typeface="Times New Roman"/>
                <a:cs typeface="Times New Roman"/>
              </a:rPr>
              <a:t> </a:t>
            </a:r>
            <a:r>
              <a:rPr sz="907" spc="-9" dirty="0">
                <a:latin typeface="Times New Roman"/>
                <a:cs typeface="Times New Roman"/>
              </a:rPr>
              <a:t>where</a:t>
            </a:r>
            <a:r>
              <a:rPr sz="907" dirty="0">
                <a:latin typeface="Times New Roman"/>
                <a:cs typeface="Times New Roman"/>
              </a:rPr>
              <a:t> that</a:t>
            </a:r>
            <a:r>
              <a:rPr sz="907" spc="5" dirty="0">
                <a:latin typeface="Times New Roman"/>
                <a:cs typeface="Times New Roman"/>
              </a:rPr>
              <a:t> </a:t>
            </a:r>
            <a:r>
              <a:rPr sz="907" spc="-9" dirty="0">
                <a:latin typeface="Times New Roman"/>
                <a:cs typeface="Times New Roman"/>
              </a:rPr>
              <a:t>issue</a:t>
            </a:r>
            <a:r>
              <a:rPr sz="907" dirty="0">
                <a:latin typeface="Times New Roman"/>
                <a:cs typeface="Times New Roman"/>
              </a:rPr>
              <a:t> </a:t>
            </a:r>
            <a:r>
              <a:rPr sz="907" spc="-23" dirty="0">
                <a:latin typeface="Times New Roman"/>
                <a:cs typeface="Times New Roman"/>
              </a:rPr>
              <a:t>was </a:t>
            </a:r>
            <a:r>
              <a:rPr sz="907" spc="-9" dirty="0">
                <a:latin typeface="Times New Roman"/>
                <a:cs typeface="Times New Roman"/>
              </a:rPr>
              <a:t>discussed</a:t>
            </a:r>
            <a:r>
              <a:rPr sz="907" spc="-14" dirty="0">
                <a:latin typeface="Times New Roman"/>
                <a:cs typeface="Times New Roman"/>
              </a:rPr>
              <a:t> </a:t>
            </a:r>
            <a:r>
              <a:rPr sz="907" dirty="0">
                <a:latin typeface="Times New Roman"/>
                <a:cs typeface="Times New Roman"/>
              </a:rPr>
              <a:t>in</a:t>
            </a:r>
            <a:r>
              <a:rPr sz="907" spc="-14"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18" dirty="0">
                <a:latin typeface="Times New Roman"/>
                <a:cs typeface="Times New Roman"/>
              </a:rPr>
              <a:t>case</a:t>
            </a:r>
            <a:r>
              <a:rPr sz="907" spc="-14" dirty="0">
                <a:latin typeface="Times New Roman"/>
                <a:cs typeface="Times New Roman"/>
              </a:rPr>
              <a:t> </a:t>
            </a:r>
            <a:r>
              <a:rPr sz="907" dirty="0">
                <a:latin typeface="Times New Roman"/>
                <a:cs typeface="Times New Roman"/>
              </a:rPr>
              <a:t>and</a:t>
            </a:r>
            <a:r>
              <a:rPr sz="907" spc="-14" dirty="0">
                <a:latin typeface="Times New Roman"/>
                <a:cs typeface="Times New Roman"/>
              </a:rPr>
              <a:t> </a:t>
            </a:r>
            <a:r>
              <a:rPr sz="907" dirty="0">
                <a:latin typeface="Times New Roman"/>
                <a:cs typeface="Times New Roman"/>
              </a:rPr>
              <a:t>to</a:t>
            </a:r>
            <a:r>
              <a:rPr sz="907" spc="-14" dirty="0">
                <a:latin typeface="Times New Roman"/>
                <a:cs typeface="Times New Roman"/>
              </a:rPr>
              <a:t> </a:t>
            </a:r>
            <a:r>
              <a:rPr sz="907" spc="-18" dirty="0">
                <a:latin typeface="Times New Roman"/>
                <a:cs typeface="Times New Roman"/>
              </a:rPr>
              <a:t>find </a:t>
            </a:r>
            <a:r>
              <a:rPr sz="907" spc="-9" dirty="0">
                <a:latin typeface="Times New Roman"/>
                <a:cs typeface="Times New Roman"/>
              </a:rPr>
              <a:t>more</a:t>
            </a:r>
            <a:r>
              <a:rPr sz="907" spc="-5" dirty="0">
                <a:latin typeface="Times New Roman"/>
                <a:cs typeface="Times New Roman"/>
              </a:rPr>
              <a:t> </a:t>
            </a:r>
            <a:r>
              <a:rPr sz="907" spc="-18" dirty="0">
                <a:latin typeface="Times New Roman"/>
                <a:cs typeface="Times New Roman"/>
              </a:rPr>
              <a:t>cases</a:t>
            </a:r>
            <a:r>
              <a:rPr sz="907" spc="-5" dirty="0">
                <a:latin typeface="Times New Roman"/>
                <a:cs typeface="Times New Roman"/>
              </a:rPr>
              <a:t> </a:t>
            </a:r>
            <a:r>
              <a:rPr sz="907" dirty="0">
                <a:latin typeface="Times New Roman"/>
                <a:cs typeface="Times New Roman"/>
              </a:rPr>
              <a:t>on</a:t>
            </a:r>
            <a:r>
              <a:rPr sz="907" spc="-5" dirty="0">
                <a:latin typeface="Times New Roman"/>
                <a:cs typeface="Times New Roman"/>
              </a:rPr>
              <a:t> </a:t>
            </a:r>
            <a:r>
              <a:rPr sz="907" dirty="0">
                <a:latin typeface="Times New Roman"/>
                <a:cs typeface="Times New Roman"/>
              </a:rPr>
              <a:t>that</a:t>
            </a:r>
            <a:r>
              <a:rPr sz="907" spc="-5" dirty="0">
                <a:latin typeface="Times New Roman"/>
                <a:cs typeface="Times New Roman"/>
              </a:rPr>
              <a:t> </a:t>
            </a:r>
            <a:r>
              <a:rPr sz="907" spc="-9" dirty="0">
                <a:latin typeface="Times New Roman"/>
                <a:cs typeface="Times New Roman"/>
              </a:rPr>
              <a:t>issue.</a:t>
            </a:r>
            <a:endParaRPr sz="907">
              <a:latin typeface="Times New Roman"/>
              <a:cs typeface="Times New Roman"/>
            </a:endParaRPr>
          </a:p>
        </p:txBody>
      </p:sp>
      <p:grpSp>
        <p:nvGrpSpPr>
          <p:cNvPr id="11" name="object 11"/>
          <p:cNvGrpSpPr/>
          <p:nvPr/>
        </p:nvGrpSpPr>
        <p:grpSpPr>
          <a:xfrm>
            <a:off x="4369530" y="904051"/>
            <a:ext cx="5960875" cy="5971239"/>
            <a:chOff x="3442788" y="996967"/>
            <a:chExt cx="6573520" cy="6584950"/>
          </a:xfrm>
        </p:grpSpPr>
        <p:sp>
          <p:nvSpPr>
            <p:cNvPr id="12" name="object 12"/>
            <p:cNvSpPr/>
            <p:nvPr/>
          </p:nvSpPr>
          <p:spPr>
            <a:xfrm>
              <a:off x="9085942" y="1035081"/>
              <a:ext cx="920750" cy="3662045"/>
            </a:xfrm>
            <a:custGeom>
              <a:avLst/>
              <a:gdLst/>
              <a:ahLst/>
              <a:cxnLst/>
              <a:rect l="l" t="t" r="r" b="b"/>
              <a:pathLst>
                <a:path w="920750" h="3662045">
                  <a:moveTo>
                    <a:pt x="151395" y="3661722"/>
                  </a:moveTo>
                  <a:lnTo>
                    <a:pt x="692003" y="3661722"/>
                  </a:lnTo>
                  <a:lnTo>
                    <a:pt x="738091" y="3657076"/>
                  </a:lnTo>
                  <a:lnTo>
                    <a:pt x="781018" y="3643751"/>
                  </a:lnTo>
                  <a:lnTo>
                    <a:pt x="819863" y="3622666"/>
                  </a:lnTo>
                  <a:lnTo>
                    <a:pt x="853708" y="3594741"/>
                  </a:lnTo>
                  <a:lnTo>
                    <a:pt x="881633" y="3560896"/>
                  </a:lnTo>
                  <a:lnTo>
                    <a:pt x="902718" y="3522051"/>
                  </a:lnTo>
                  <a:lnTo>
                    <a:pt x="916043" y="3479124"/>
                  </a:lnTo>
                  <a:lnTo>
                    <a:pt x="920689" y="3433036"/>
                  </a:lnTo>
                  <a:lnTo>
                    <a:pt x="920689" y="228686"/>
                  </a:lnTo>
                  <a:lnTo>
                    <a:pt x="916043" y="182597"/>
                  </a:lnTo>
                  <a:lnTo>
                    <a:pt x="902718" y="139671"/>
                  </a:lnTo>
                  <a:lnTo>
                    <a:pt x="881633" y="100825"/>
                  </a:lnTo>
                  <a:lnTo>
                    <a:pt x="853708" y="66980"/>
                  </a:lnTo>
                  <a:lnTo>
                    <a:pt x="819863" y="39056"/>
                  </a:lnTo>
                  <a:lnTo>
                    <a:pt x="781018" y="17971"/>
                  </a:lnTo>
                  <a:lnTo>
                    <a:pt x="738091" y="4646"/>
                  </a:lnTo>
                  <a:lnTo>
                    <a:pt x="692003" y="0"/>
                  </a:lnTo>
                  <a:lnTo>
                    <a:pt x="0" y="0"/>
                  </a:lnTo>
                </a:path>
              </a:pathLst>
            </a:custGeom>
            <a:ln w="19057">
              <a:solidFill>
                <a:srgbClr val="C70F2E"/>
              </a:solidFill>
            </a:ln>
          </p:spPr>
          <p:txBody>
            <a:bodyPr wrap="square" lIns="0" tIns="0" rIns="0" bIns="0" rtlCol="0"/>
            <a:lstStyle/>
            <a:p>
              <a:endParaRPr sz="1632"/>
            </a:p>
          </p:txBody>
        </p:sp>
        <p:sp>
          <p:nvSpPr>
            <p:cNvPr id="13" name="object 13"/>
            <p:cNvSpPr/>
            <p:nvPr/>
          </p:nvSpPr>
          <p:spPr>
            <a:xfrm>
              <a:off x="9043063" y="1006495"/>
              <a:ext cx="38735" cy="57785"/>
            </a:xfrm>
            <a:custGeom>
              <a:avLst/>
              <a:gdLst/>
              <a:ahLst/>
              <a:cxnLst/>
              <a:rect l="l" t="t" r="r" b="b"/>
              <a:pathLst>
                <a:path w="38734" h="57784">
                  <a:moveTo>
                    <a:pt x="38114" y="57171"/>
                  </a:moveTo>
                  <a:lnTo>
                    <a:pt x="0" y="28585"/>
                  </a:lnTo>
                  <a:lnTo>
                    <a:pt x="38114" y="0"/>
                  </a:lnTo>
                  <a:lnTo>
                    <a:pt x="38114" y="57171"/>
                  </a:lnTo>
                  <a:close/>
                </a:path>
              </a:pathLst>
            </a:custGeom>
            <a:solidFill>
              <a:srgbClr val="C70F2E"/>
            </a:solidFill>
          </p:spPr>
          <p:txBody>
            <a:bodyPr wrap="square" lIns="0" tIns="0" rIns="0" bIns="0" rtlCol="0"/>
            <a:lstStyle/>
            <a:p>
              <a:endParaRPr sz="1632"/>
            </a:p>
          </p:txBody>
        </p:sp>
        <p:sp>
          <p:nvSpPr>
            <p:cNvPr id="14" name="object 14"/>
            <p:cNvSpPr/>
            <p:nvPr/>
          </p:nvSpPr>
          <p:spPr>
            <a:xfrm>
              <a:off x="9043063" y="1006495"/>
              <a:ext cx="38735" cy="57785"/>
            </a:xfrm>
            <a:custGeom>
              <a:avLst/>
              <a:gdLst/>
              <a:ahLst/>
              <a:cxnLst/>
              <a:rect l="l" t="t" r="r" b="b"/>
              <a:pathLst>
                <a:path w="38734" h="57784">
                  <a:moveTo>
                    <a:pt x="38114" y="57171"/>
                  </a:moveTo>
                  <a:lnTo>
                    <a:pt x="0" y="28585"/>
                  </a:lnTo>
                  <a:lnTo>
                    <a:pt x="38114" y="0"/>
                  </a:lnTo>
                  <a:lnTo>
                    <a:pt x="38114" y="57171"/>
                  </a:lnTo>
                  <a:close/>
                </a:path>
              </a:pathLst>
            </a:custGeom>
            <a:ln w="19057">
              <a:solidFill>
                <a:srgbClr val="C70F2E"/>
              </a:solidFill>
            </a:ln>
          </p:spPr>
          <p:txBody>
            <a:bodyPr wrap="square" lIns="0" tIns="0" rIns="0" bIns="0" rtlCol="0"/>
            <a:lstStyle/>
            <a:p>
              <a:endParaRPr sz="1632"/>
            </a:p>
          </p:txBody>
        </p:sp>
        <p:sp>
          <p:nvSpPr>
            <p:cNvPr id="15" name="object 15"/>
            <p:cNvSpPr/>
            <p:nvPr/>
          </p:nvSpPr>
          <p:spPr>
            <a:xfrm>
              <a:off x="3461978" y="5520914"/>
              <a:ext cx="5780405" cy="1120775"/>
            </a:xfrm>
            <a:custGeom>
              <a:avLst/>
              <a:gdLst/>
              <a:ahLst/>
              <a:cxnLst/>
              <a:rect l="l" t="t" r="r" b="b"/>
              <a:pathLst>
                <a:path w="5780405" h="1120775">
                  <a:moveTo>
                    <a:pt x="0" y="0"/>
                  </a:moveTo>
                  <a:lnTo>
                    <a:pt x="5779867" y="0"/>
                  </a:lnTo>
                  <a:lnTo>
                    <a:pt x="5779867" y="1120353"/>
                  </a:lnTo>
                  <a:lnTo>
                    <a:pt x="0" y="1120353"/>
                  </a:lnTo>
                  <a:lnTo>
                    <a:pt x="0" y="0"/>
                  </a:lnTo>
                  <a:close/>
                </a:path>
              </a:pathLst>
            </a:custGeom>
            <a:ln w="38114">
              <a:solidFill>
                <a:srgbClr val="C70F2E"/>
              </a:solidFill>
            </a:ln>
          </p:spPr>
          <p:txBody>
            <a:bodyPr wrap="square" lIns="0" tIns="0" rIns="0" bIns="0" rtlCol="0"/>
            <a:lstStyle/>
            <a:p>
              <a:endParaRPr sz="1632"/>
            </a:p>
          </p:txBody>
        </p:sp>
        <p:sp>
          <p:nvSpPr>
            <p:cNvPr id="16" name="object 16"/>
            <p:cNvSpPr/>
            <p:nvPr/>
          </p:nvSpPr>
          <p:spPr>
            <a:xfrm>
              <a:off x="3461845" y="6736618"/>
              <a:ext cx="5774690" cy="826769"/>
            </a:xfrm>
            <a:custGeom>
              <a:avLst/>
              <a:gdLst/>
              <a:ahLst/>
              <a:cxnLst/>
              <a:rect l="l" t="t" r="r" b="b"/>
              <a:pathLst>
                <a:path w="5774690" h="826770">
                  <a:moveTo>
                    <a:pt x="0" y="826231"/>
                  </a:moveTo>
                  <a:lnTo>
                    <a:pt x="0" y="0"/>
                  </a:lnTo>
                  <a:lnTo>
                    <a:pt x="5774326" y="0"/>
                  </a:lnTo>
                </a:path>
              </a:pathLst>
            </a:custGeom>
            <a:ln w="38114">
              <a:solidFill>
                <a:srgbClr val="C70F2E"/>
              </a:solidFill>
            </a:ln>
          </p:spPr>
          <p:txBody>
            <a:bodyPr wrap="square" lIns="0" tIns="0" rIns="0" bIns="0" rtlCol="0"/>
            <a:lstStyle/>
            <a:p>
              <a:endParaRPr sz="1632"/>
            </a:p>
          </p:txBody>
        </p:sp>
        <p:sp>
          <p:nvSpPr>
            <p:cNvPr id="17" name="object 17"/>
            <p:cNvSpPr/>
            <p:nvPr/>
          </p:nvSpPr>
          <p:spPr>
            <a:xfrm>
              <a:off x="9085942" y="1035081"/>
              <a:ext cx="920750" cy="4941570"/>
            </a:xfrm>
            <a:custGeom>
              <a:avLst/>
              <a:gdLst/>
              <a:ahLst/>
              <a:cxnLst/>
              <a:rect l="l" t="t" r="r" b="b"/>
              <a:pathLst>
                <a:path w="920750" h="4941570">
                  <a:moveTo>
                    <a:pt x="156100" y="4941302"/>
                  </a:moveTo>
                  <a:lnTo>
                    <a:pt x="692003" y="4941302"/>
                  </a:lnTo>
                  <a:lnTo>
                    <a:pt x="738091" y="4936656"/>
                  </a:lnTo>
                  <a:lnTo>
                    <a:pt x="781018" y="4923331"/>
                  </a:lnTo>
                  <a:lnTo>
                    <a:pt x="819863" y="4902246"/>
                  </a:lnTo>
                  <a:lnTo>
                    <a:pt x="853708" y="4874322"/>
                  </a:lnTo>
                  <a:lnTo>
                    <a:pt x="881633" y="4840477"/>
                  </a:lnTo>
                  <a:lnTo>
                    <a:pt x="902718" y="4801631"/>
                  </a:lnTo>
                  <a:lnTo>
                    <a:pt x="916043" y="4758704"/>
                  </a:lnTo>
                  <a:lnTo>
                    <a:pt x="920689" y="4712616"/>
                  </a:lnTo>
                  <a:lnTo>
                    <a:pt x="920689" y="228686"/>
                  </a:lnTo>
                  <a:lnTo>
                    <a:pt x="916043" y="182597"/>
                  </a:lnTo>
                  <a:lnTo>
                    <a:pt x="902718" y="139671"/>
                  </a:lnTo>
                  <a:lnTo>
                    <a:pt x="881633" y="100825"/>
                  </a:lnTo>
                  <a:lnTo>
                    <a:pt x="853708" y="66980"/>
                  </a:lnTo>
                  <a:lnTo>
                    <a:pt x="819863" y="39056"/>
                  </a:lnTo>
                  <a:lnTo>
                    <a:pt x="781018" y="17971"/>
                  </a:lnTo>
                  <a:lnTo>
                    <a:pt x="738091" y="4646"/>
                  </a:lnTo>
                  <a:lnTo>
                    <a:pt x="692003" y="0"/>
                  </a:lnTo>
                  <a:lnTo>
                    <a:pt x="0" y="0"/>
                  </a:lnTo>
                </a:path>
              </a:pathLst>
            </a:custGeom>
            <a:ln w="19057">
              <a:solidFill>
                <a:srgbClr val="C70F2E"/>
              </a:solidFill>
            </a:ln>
          </p:spPr>
          <p:txBody>
            <a:bodyPr wrap="square" lIns="0" tIns="0" rIns="0" bIns="0" rtlCol="0"/>
            <a:lstStyle/>
            <a:p>
              <a:endParaRPr sz="1632"/>
            </a:p>
          </p:txBody>
        </p:sp>
        <p:sp>
          <p:nvSpPr>
            <p:cNvPr id="18" name="object 18"/>
            <p:cNvSpPr/>
            <p:nvPr/>
          </p:nvSpPr>
          <p:spPr>
            <a:xfrm>
              <a:off x="9043063" y="1006495"/>
              <a:ext cx="38735" cy="57785"/>
            </a:xfrm>
            <a:custGeom>
              <a:avLst/>
              <a:gdLst/>
              <a:ahLst/>
              <a:cxnLst/>
              <a:rect l="l" t="t" r="r" b="b"/>
              <a:pathLst>
                <a:path w="38734" h="57784">
                  <a:moveTo>
                    <a:pt x="38114" y="57171"/>
                  </a:moveTo>
                  <a:lnTo>
                    <a:pt x="0" y="28585"/>
                  </a:lnTo>
                  <a:lnTo>
                    <a:pt x="38114" y="0"/>
                  </a:lnTo>
                  <a:lnTo>
                    <a:pt x="38114" y="57171"/>
                  </a:lnTo>
                  <a:close/>
                </a:path>
              </a:pathLst>
            </a:custGeom>
            <a:solidFill>
              <a:srgbClr val="C70F2E"/>
            </a:solidFill>
          </p:spPr>
          <p:txBody>
            <a:bodyPr wrap="square" lIns="0" tIns="0" rIns="0" bIns="0" rtlCol="0"/>
            <a:lstStyle/>
            <a:p>
              <a:endParaRPr sz="1632"/>
            </a:p>
          </p:txBody>
        </p:sp>
        <p:sp>
          <p:nvSpPr>
            <p:cNvPr id="19" name="object 19"/>
            <p:cNvSpPr/>
            <p:nvPr/>
          </p:nvSpPr>
          <p:spPr>
            <a:xfrm>
              <a:off x="9043063" y="1006495"/>
              <a:ext cx="38735" cy="57785"/>
            </a:xfrm>
            <a:custGeom>
              <a:avLst/>
              <a:gdLst/>
              <a:ahLst/>
              <a:cxnLst/>
              <a:rect l="l" t="t" r="r" b="b"/>
              <a:pathLst>
                <a:path w="38734" h="57784">
                  <a:moveTo>
                    <a:pt x="38114" y="57171"/>
                  </a:moveTo>
                  <a:lnTo>
                    <a:pt x="0" y="28585"/>
                  </a:lnTo>
                  <a:lnTo>
                    <a:pt x="38114" y="0"/>
                  </a:lnTo>
                  <a:lnTo>
                    <a:pt x="38114" y="57171"/>
                  </a:lnTo>
                  <a:close/>
                </a:path>
              </a:pathLst>
            </a:custGeom>
            <a:ln w="19057">
              <a:solidFill>
                <a:srgbClr val="C70F2E"/>
              </a:solidFill>
            </a:ln>
          </p:spPr>
          <p:txBody>
            <a:bodyPr wrap="square" lIns="0" tIns="0" rIns="0" bIns="0" rtlCol="0"/>
            <a:lstStyle/>
            <a:p>
              <a:endParaRPr sz="1632"/>
            </a:p>
          </p:txBody>
        </p:sp>
        <p:sp>
          <p:nvSpPr>
            <p:cNvPr id="20" name="object 20"/>
            <p:cNvSpPr/>
            <p:nvPr/>
          </p:nvSpPr>
          <p:spPr>
            <a:xfrm>
              <a:off x="9085942" y="1035081"/>
              <a:ext cx="920750" cy="6094095"/>
            </a:xfrm>
            <a:custGeom>
              <a:avLst/>
              <a:gdLst/>
              <a:ahLst/>
              <a:cxnLst/>
              <a:rect l="l" t="t" r="r" b="b"/>
              <a:pathLst>
                <a:path w="920750" h="6094095">
                  <a:moveTo>
                    <a:pt x="151395" y="6093674"/>
                  </a:moveTo>
                  <a:lnTo>
                    <a:pt x="692003" y="6093674"/>
                  </a:lnTo>
                  <a:lnTo>
                    <a:pt x="738091" y="6089028"/>
                  </a:lnTo>
                  <a:lnTo>
                    <a:pt x="781018" y="6075702"/>
                  </a:lnTo>
                  <a:lnTo>
                    <a:pt x="819863" y="6054618"/>
                  </a:lnTo>
                  <a:lnTo>
                    <a:pt x="853708" y="6026693"/>
                  </a:lnTo>
                  <a:lnTo>
                    <a:pt x="881633" y="5992848"/>
                  </a:lnTo>
                  <a:lnTo>
                    <a:pt x="902718" y="5954003"/>
                  </a:lnTo>
                  <a:lnTo>
                    <a:pt x="916043" y="5911076"/>
                  </a:lnTo>
                  <a:lnTo>
                    <a:pt x="920689" y="5864988"/>
                  </a:lnTo>
                  <a:lnTo>
                    <a:pt x="920689" y="228686"/>
                  </a:lnTo>
                  <a:lnTo>
                    <a:pt x="916254" y="183863"/>
                  </a:lnTo>
                  <a:lnTo>
                    <a:pt x="903281" y="141171"/>
                  </a:lnTo>
                  <a:lnTo>
                    <a:pt x="882267" y="101810"/>
                  </a:lnTo>
                  <a:lnTo>
                    <a:pt x="853708" y="66980"/>
                  </a:lnTo>
                  <a:lnTo>
                    <a:pt x="818878" y="38421"/>
                  </a:lnTo>
                  <a:lnTo>
                    <a:pt x="779517" y="17407"/>
                  </a:lnTo>
                  <a:lnTo>
                    <a:pt x="736826" y="4434"/>
                  </a:lnTo>
                  <a:lnTo>
                    <a:pt x="692003" y="0"/>
                  </a:lnTo>
                  <a:lnTo>
                    <a:pt x="0" y="0"/>
                  </a:lnTo>
                </a:path>
              </a:pathLst>
            </a:custGeom>
            <a:ln w="19057">
              <a:solidFill>
                <a:srgbClr val="C70F2E"/>
              </a:solidFill>
            </a:ln>
          </p:spPr>
          <p:txBody>
            <a:bodyPr wrap="square" lIns="0" tIns="0" rIns="0" bIns="0" rtlCol="0"/>
            <a:lstStyle/>
            <a:p>
              <a:endParaRPr sz="1632"/>
            </a:p>
          </p:txBody>
        </p:sp>
        <p:sp>
          <p:nvSpPr>
            <p:cNvPr id="21" name="object 21"/>
            <p:cNvSpPr/>
            <p:nvPr/>
          </p:nvSpPr>
          <p:spPr>
            <a:xfrm>
              <a:off x="9043063" y="1006495"/>
              <a:ext cx="38735" cy="57785"/>
            </a:xfrm>
            <a:custGeom>
              <a:avLst/>
              <a:gdLst/>
              <a:ahLst/>
              <a:cxnLst/>
              <a:rect l="l" t="t" r="r" b="b"/>
              <a:pathLst>
                <a:path w="38734" h="57784">
                  <a:moveTo>
                    <a:pt x="38114" y="57171"/>
                  </a:moveTo>
                  <a:lnTo>
                    <a:pt x="0" y="28585"/>
                  </a:lnTo>
                  <a:lnTo>
                    <a:pt x="38114" y="0"/>
                  </a:lnTo>
                  <a:lnTo>
                    <a:pt x="38114" y="57171"/>
                  </a:lnTo>
                  <a:close/>
                </a:path>
              </a:pathLst>
            </a:custGeom>
            <a:solidFill>
              <a:srgbClr val="C70F2E"/>
            </a:solidFill>
          </p:spPr>
          <p:txBody>
            <a:bodyPr wrap="square" lIns="0" tIns="0" rIns="0" bIns="0" rtlCol="0"/>
            <a:lstStyle/>
            <a:p>
              <a:endParaRPr sz="1632"/>
            </a:p>
          </p:txBody>
        </p:sp>
        <p:sp>
          <p:nvSpPr>
            <p:cNvPr id="22" name="object 22"/>
            <p:cNvSpPr/>
            <p:nvPr/>
          </p:nvSpPr>
          <p:spPr>
            <a:xfrm>
              <a:off x="9043063" y="1006495"/>
              <a:ext cx="38735" cy="57785"/>
            </a:xfrm>
            <a:custGeom>
              <a:avLst/>
              <a:gdLst/>
              <a:ahLst/>
              <a:cxnLst/>
              <a:rect l="l" t="t" r="r" b="b"/>
              <a:pathLst>
                <a:path w="38734" h="57784">
                  <a:moveTo>
                    <a:pt x="38114" y="57171"/>
                  </a:moveTo>
                  <a:lnTo>
                    <a:pt x="0" y="28585"/>
                  </a:lnTo>
                  <a:lnTo>
                    <a:pt x="38114" y="0"/>
                  </a:lnTo>
                  <a:lnTo>
                    <a:pt x="38114" y="57171"/>
                  </a:lnTo>
                  <a:close/>
                </a:path>
              </a:pathLst>
            </a:custGeom>
            <a:ln w="19057">
              <a:solidFill>
                <a:srgbClr val="C70F2E"/>
              </a:solidFill>
            </a:ln>
          </p:spPr>
          <p:txBody>
            <a:bodyPr wrap="square" lIns="0" tIns="0" rIns="0" bIns="0" rtlCol="0"/>
            <a:lstStyle/>
            <a:p>
              <a:endParaRPr sz="1632"/>
            </a:p>
          </p:txBody>
        </p:sp>
      </p:grpSp>
      <p:sp>
        <p:nvSpPr>
          <p:cNvPr id="23" name="object 23"/>
          <p:cNvSpPr txBox="1"/>
          <p:nvPr/>
        </p:nvSpPr>
        <p:spPr>
          <a:xfrm rot="20820000">
            <a:off x="1568585" y="569931"/>
            <a:ext cx="2136190" cy="397545"/>
          </a:xfrm>
          <a:prstGeom prst="rect">
            <a:avLst/>
          </a:prstGeom>
        </p:spPr>
        <p:txBody>
          <a:bodyPr vert="horz" wrap="square" lIns="0" tIns="0" rIns="0" bIns="0" rtlCol="0">
            <a:spAutoFit/>
          </a:bodyPr>
          <a:lstStyle/>
          <a:p>
            <a:pPr>
              <a:lnSpc>
                <a:spcPts val="3142"/>
              </a:lnSpc>
            </a:pPr>
            <a:r>
              <a:rPr sz="3174" spc="-408" dirty="0">
                <a:latin typeface="Arial Narrow"/>
                <a:cs typeface="Arial Narrow"/>
              </a:rPr>
              <a:t>Anatomy</a:t>
            </a:r>
            <a:r>
              <a:rPr sz="3174" spc="-240" dirty="0">
                <a:latin typeface="Arial Narrow"/>
                <a:cs typeface="Arial Narrow"/>
              </a:rPr>
              <a:t> </a:t>
            </a:r>
            <a:r>
              <a:rPr sz="3174" spc="-230" dirty="0">
                <a:latin typeface="Arial Narrow"/>
                <a:cs typeface="Arial Narrow"/>
              </a:rPr>
              <a:t>of</a:t>
            </a:r>
            <a:r>
              <a:rPr sz="3174" spc="-240" dirty="0">
                <a:latin typeface="Arial Narrow"/>
                <a:cs typeface="Arial Narrow"/>
              </a:rPr>
              <a:t> </a:t>
            </a:r>
            <a:r>
              <a:rPr sz="3174" spc="-435" dirty="0">
                <a:latin typeface="Arial Narrow"/>
                <a:cs typeface="Arial Narrow"/>
              </a:rPr>
              <a:t>a</a:t>
            </a:r>
            <a:r>
              <a:rPr sz="3174" spc="-236" dirty="0">
                <a:latin typeface="Arial Narrow"/>
                <a:cs typeface="Arial Narrow"/>
              </a:rPr>
              <a:t> </a:t>
            </a:r>
            <a:r>
              <a:rPr sz="3174" spc="-472" dirty="0">
                <a:latin typeface="Arial Narrow"/>
                <a:cs typeface="Arial Narrow"/>
              </a:rPr>
              <a:t>Case:</a:t>
            </a:r>
            <a:endParaRPr sz="3174">
              <a:latin typeface="Arial Narrow"/>
              <a:cs typeface="Arial Narrow"/>
            </a:endParaRPr>
          </a:p>
        </p:txBody>
      </p:sp>
      <p:sp>
        <p:nvSpPr>
          <p:cNvPr id="24" name="object 24"/>
          <p:cNvSpPr txBox="1"/>
          <p:nvPr/>
        </p:nvSpPr>
        <p:spPr>
          <a:xfrm rot="20820000">
            <a:off x="2249293" y="948721"/>
            <a:ext cx="1016942" cy="397545"/>
          </a:xfrm>
          <a:prstGeom prst="rect">
            <a:avLst/>
          </a:prstGeom>
        </p:spPr>
        <p:txBody>
          <a:bodyPr vert="horz" wrap="square" lIns="0" tIns="0" rIns="0" bIns="0" rtlCol="0">
            <a:spAutoFit/>
          </a:bodyPr>
          <a:lstStyle/>
          <a:p>
            <a:pPr>
              <a:lnSpc>
                <a:spcPts val="3132"/>
              </a:lnSpc>
            </a:pPr>
            <a:r>
              <a:rPr sz="3174" spc="-394" dirty="0">
                <a:latin typeface="Arial Narrow"/>
                <a:cs typeface="Arial Narrow"/>
              </a:rPr>
              <a:t>Westlaw</a:t>
            </a:r>
            <a:endParaRPr sz="3174">
              <a:latin typeface="Arial Narrow"/>
              <a:cs typeface="Arial Narrow"/>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4135654" y="185504"/>
            <a:ext cx="1356629" cy="709409"/>
            <a:chOff x="3184874" y="204570"/>
            <a:chExt cx="1496060" cy="782320"/>
          </a:xfrm>
        </p:grpSpPr>
        <p:sp>
          <p:nvSpPr>
            <p:cNvPr id="3" name="object 3"/>
            <p:cNvSpPr/>
            <p:nvPr/>
          </p:nvSpPr>
          <p:spPr>
            <a:xfrm>
              <a:off x="3184874" y="204570"/>
              <a:ext cx="1496060" cy="782320"/>
            </a:xfrm>
            <a:custGeom>
              <a:avLst/>
              <a:gdLst/>
              <a:ahLst/>
              <a:cxnLst/>
              <a:rect l="l" t="t" r="r" b="b"/>
              <a:pathLst>
                <a:path w="1496060" h="782319">
                  <a:moveTo>
                    <a:pt x="1376143" y="782216"/>
                  </a:moveTo>
                  <a:lnTo>
                    <a:pt x="197989" y="782216"/>
                  </a:lnTo>
                  <a:lnTo>
                    <a:pt x="165601" y="777776"/>
                  </a:lnTo>
                  <a:lnTo>
                    <a:pt x="136592" y="765262"/>
                  </a:lnTo>
                  <a:lnTo>
                    <a:pt x="112170" y="745886"/>
                  </a:lnTo>
                  <a:lnTo>
                    <a:pt x="93543" y="720857"/>
                  </a:lnTo>
                  <a:lnTo>
                    <a:pt x="56260" y="704307"/>
                  </a:lnTo>
                  <a:lnTo>
                    <a:pt x="26623" y="677053"/>
                  </a:lnTo>
                  <a:lnTo>
                    <a:pt x="7060" y="641523"/>
                  </a:lnTo>
                  <a:lnTo>
                    <a:pt x="0" y="600142"/>
                  </a:lnTo>
                  <a:lnTo>
                    <a:pt x="0" y="124638"/>
                  </a:lnTo>
                  <a:lnTo>
                    <a:pt x="9810" y="76170"/>
                  </a:lnTo>
                  <a:lnTo>
                    <a:pt x="36547" y="36547"/>
                  </a:lnTo>
                  <a:lnTo>
                    <a:pt x="76170" y="9810"/>
                  </a:lnTo>
                  <a:lnTo>
                    <a:pt x="124638" y="0"/>
                  </a:lnTo>
                  <a:lnTo>
                    <a:pt x="1302794" y="0"/>
                  </a:lnTo>
                  <a:lnTo>
                    <a:pt x="1339453" y="5501"/>
                  </a:lnTo>
                  <a:lnTo>
                    <a:pt x="1371810" y="20902"/>
                  </a:lnTo>
                  <a:lnTo>
                    <a:pt x="1398216" y="44550"/>
                  </a:lnTo>
                  <a:lnTo>
                    <a:pt x="1417019" y="74792"/>
                  </a:lnTo>
                  <a:lnTo>
                    <a:pt x="1448673" y="92128"/>
                  </a:lnTo>
                  <a:lnTo>
                    <a:pt x="1473565" y="117864"/>
                  </a:lnTo>
                  <a:lnTo>
                    <a:pt x="1489852" y="150157"/>
                  </a:lnTo>
                  <a:lnTo>
                    <a:pt x="1495690" y="187164"/>
                  </a:lnTo>
                  <a:lnTo>
                    <a:pt x="1495690" y="662668"/>
                  </a:lnTo>
                  <a:lnTo>
                    <a:pt x="1486296" y="709202"/>
                  </a:lnTo>
                  <a:lnTo>
                    <a:pt x="1460676" y="747201"/>
                  </a:lnTo>
                  <a:lnTo>
                    <a:pt x="1422676" y="772821"/>
                  </a:lnTo>
                  <a:lnTo>
                    <a:pt x="1376143" y="782216"/>
                  </a:lnTo>
                  <a:close/>
                </a:path>
              </a:pathLst>
            </a:custGeom>
            <a:solidFill>
              <a:srgbClr val="000000"/>
            </a:solidFill>
          </p:spPr>
          <p:txBody>
            <a:bodyPr wrap="square" lIns="0" tIns="0" rIns="0" bIns="0" rtlCol="0"/>
            <a:lstStyle/>
            <a:p>
              <a:endParaRPr sz="1632"/>
            </a:p>
          </p:txBody>
        </p:sp>
        <p:sp>
          <p:nvSpPr>
            <p:cNvPr id="4" name="object 4"/>
            <p:cNvSpPr/>
            <p:nvPr/>
          </p:nvSpPr>
          <p:spPr>
            <a:xfrm>
              <a:off x="3195058" y="214755"/>
              <a:ext cx="1407160" cy="704850"/>
            </a:xfrm>
            <a:custGeom>
              <a:avLst/>
              <a:gdLst/>
              <a:ahLst/>
              <a:cxnLst/>
              <a:rect l="l" t="t" r="r" b="b"/>
              <a:pathLst>
                <a:path w="1407160" h="704850">
                  <a:moveTo>
                    <a:pt x="1292610" y="704413"/>
                  </a:moveTo>
                  <a:lnTo>
                    <a:pt x="114454" y="704413"/>
                  </a:lnTo>
                  <a:lnTo>
                    <a:pt x="69921" y="695413"/>
                  </a:lnTo>
                  <a:lnTo>
                    <a:pt x="33538" y="670874"/>
                  </a:lnTo>
                  <a:lnTo>
                    <a:pt x="9000" y="634491"/>
                  </a:lnTo>
                  <a:lnTo>
                    <a:pt x="0" y="589958"/>
                  </a:lnTo>
                  <a:lnTo>
                    <a:pt x="0" y="114453"/>
                  </a:lnTo>
                  <a:lnTo>
                    <a:pt x="9001" y="69920"/>
                  </a:lnTo>
                  <a:lnTo>
                    <a:pt x="33539" y="33538"/>
                  </a:lnTo>
                  <a:lnTo>
                    <a:pt x="69921" y="9000"/>
                  </a:lnTo>
                  <a:lnTo>
                    <a:pt x="114454" y="0"/>
                  </a:lnTo>
                  <a:lnTo>
                    <a:pt x="1292610" y="0"/>
                  </a:lnTo>
                  <a:lnTo>
                    <a:pt x="1337143" y="9000"/>
                  </a:lnTo>
                  <a:lnTo>
                    <a:pt x="1373526" y="33538"/>
                  </a:lnTo>
                  <a:lnTo>
                    <a:pt x="1398064" y="69921"/>
                  </a:lnTo>
                  <a:lnTo>
                    <a:pt x="1407065" y="114454"/>
                  </a:lnTo>
                  <a:lnTo>
                    <a:pt x="1407065" y="589958"/>
                  </a:lnTo>
                  <a:lnTo>
                    <a:pt x="1398064" y="634491"/>
                  </a:lnTo>
                  <a:lnTo>
                    <a:pt x="1373526" y="670874"/>
                  </a:lnTo>
                  <a:lnTo>
                    <a:pt x="1337143" y="695413"/>
                  </a:lnTo>
                  <a:lnTo>
                    <a:pt x="1292610" y="704413"/>
                  </a:lnTo>
                  <a:close/>
                </a:path>
              </a:pathLst>
            </a:custGeom>
            <a:solidFill>
              <a:srgbClr val="FFFFFF"/>
            </a:solidFill>
          </p:spPr>
          <p:txBody>
            <a:bodyPr wrap="square" lIns="0" tIns="0" rIns="0" bIns="0" rtlCol="0"/>
            <a:lstStyle/>
            <a:p>
              <a:endParaRPr sz="1632"/>
            </a:p>
          </p:txBody>
        </p:sp>
      </p:grpSp>
      <p:pic>
        <p:nvPicPr>
          <p:cNvPr id="5" name="object 5"/>
          <p:cNvPicPr/>
          <p:nvPr/>
        </p:nvPicPr>
        <p:blipFill>
          <a:blip r:embed="rId2" cstate="print"/>
          <a:stretch>
            <a:fillRect/>
          </a:stretch>
        </p:blipFill>
        <p:spPr>
          <a:xfrm>
            <a:off x="3226416" y="2096598"/>
            <a:ext cx="7612311" cy="4648607"/>
          </a:xfrm>
          <a:prstGeom prst="rect">
            <a:avLst/>
          </a:prstGeom>
        </p:spPr>
      </p:pic>
      <p:grpSp>
        <p:nvGrpSpPr>
          <p:cNvPr id="6" name="object 6"/>
          <p:cNvGrpSpPr/>
          <p:nvPr/>
        </p:nvGrpSpPr>
        <p:grpSpPr>
          <a:xfrm>
            <a:off x="5055487" y="1031994"/>
            <a:ext cx="1474672" cy="771021"/>
            <a:chOff x="4199245" y="1138059"/>
            <a:chExt cx="1626235" cy="850265"/>
          </a:xfrm>
        </p:grpSpPr>
        <p:sp>
          <p:nvSpPr>
            <p:cNvPr id="7" name="object 7"/>
            <p:cNvSpPr/>
            <p:nvPr/>
          </p:nvSpPr>
          <p:spPr>
            <a:xfrm>
              <a:off x="4199245" y="1138059"/>
              <a:ext cx="1626235" cy="850265"/>
            </a:xfrm>
            <a:custGeom>
              <a:avLst/>
              <a:gdLst/>
              <a:ahLst/>
              <a:cxnLst/>
              <a:rect l="l" t="t" r="r" b="b"/>
              <a:pathLst>
                <a:path w="1626235" h="850264">
                  <a:moveTo>
                    <a:pt x="1495867" y="850269"/>
                  </a:moveTo>
                  <a:lnTo>
                    <a:pt x="215214" y="850269"/>
                  </a:lnTo>
                  <a:lnTo>
                    <a:pt x="180008" y="845442"/>
                  </a:lnTo>
                  <a:lnTo>
                    <a:pt x="148475" y="831840"/>
                  </a:lnTo>
                  <a:lnTo>
                    <a:pt x="121929" y="810778"/>
                  </a:lnTo>
                  <a:lnTo>
                    <a:pt x="101681" y="783571"/>
                  </a:lnTo>
                  <a:lnTo>
                    <a:pt x="61154" y="765582"/>
                  </a:lnTo>
                  <a:lnTo>
                    <a:pt x="28939" y="735957"/>
                  </a:lnTo>
                  <a:lnTo>
                    <a:pt x="7674" y="697335"/>
                  </a:lnTo>
                  <a:lnTo>
                    <a:pt x="0" y="652355"/>
                  </a:lnTo>
                  <a:lnTo>
                    <a:pt x="0" y="135482"/>
                  </a:lnTo>
                  <a:lnTo>
                    <a:pt x="6918" y="92705"/>
                  </a:lnTo>
                  <a:lnTo>
                    <a:pt x="26174" y="55520"/>
                  </a:lnTo>
                  <a:lnTo>
                    <a:pt x="55520" y="26174"/>
                  </a:lnTo>
                  <a:lnTo>
                    <a:pt x="92705" y="6918"/>
                  </a:lnTo>
                  <a:lnTo>
                    <a:pt x="135482" y="0"/>
                  </a:lnTo>
                  <a:lnTo>
                    <a:pt x="1416137" y="0"/>
                  </a:lnTo>
                  <a:lnTo>
                    <a:pt x="1455985" y="5979"/>
                  </a:lnTo>
                  <a:lnTo>
                    <a:pt x="1491158" y="22720"/>
                  </a:lnTo>
                  <a:lnTo>
                    <a:pt x="1519861" y="48425"/>
                  </a:lnTo>
                  <a:lnTo>
                    <a:pt x="1540299" y="81298"/>
                  </a:lnTo>
                  <a:lnTo>
                    <a:pt x="1574707" y="100144"/>
                  </a:lnTo>
                  <a:lnTo>
                    <a:pt x="1601765" y="128119"/>
                  </a:lnTo>
                  <a:lnTo>
                    <a:pt x="1619469" y="163221"/>
                  </a:lnTo>
                  <a:lnTo>
                    <a:pt x="1625815" y="203448"/>
                  </a:lnTo>
                  <a:lnTo>
                    <a:pt x="1625815" y="720320"/>
                  </a:lnTo>
                  <a:lnTo>
                    <a:pt x="1615603" y="770902"/>
                  </a:lnTo>
                  <a:lnTo>
                    <a:pt x="1587754" y="812208"/>
                  </a:lnTo>
                  <a:lnTo>
                    <a:pt x="1546449" y="840057"/>
                  </a:lnTo>
                  <a:lnTo>
                    <a:pt x="1495867" y="850269"/>
                  </a:lnTo>
                  <a:close/>
                </a:path>
              </a:pathLst>
            </a:custGeom>
            <a:solidFill>
              <a:srgbClr val="000000"/>
            </a:solidFill>
          </p:spPr>
          <p:txBody>
            <a:bodyPr wrap="square" lIns="0" tIns="0" rIns="0" bIns="0" rtlCol="0"/>
            <a:lstStyle/>
            <a:p>
              <a:endParaRPr sz="1632"/>
            </a:p>
          </p:txBody>
        </p:sp>
        <p:sp>
          <p:nvSpPr>
            <p:cNvPr id="8" name="object 8"/>
            <p:cNvSpPr/>
            <p:nvPr/>
          </p:nvSpPr>
          <p:spPr>
            <a:xfrm>
              <a:off x="4210315" y="1149130"/>
              <a:ext cx="1529715" cy="765810"/>
            </a:xfrm>
            <a:custGeom>
              <a:avLst/>
              <a:gdLst/>
              <a:ahLst/>
              <a:cxnLst/>
              <a:rect l="l" t="t" r="r" b="b"/>
              <a:pathLst>
                <a:path w="1529714" h="765810">
                  <a:moveTo>
                    <a:pt x="1405067" y="765697"/>
                  </a:moveTo>
                  <a:lnTo>
                    <a:pt x="124412" y="765697"/>
                  </a:lnTo>
                  <a:lnTo>
                    <a:pt x="76004" y="755913"/>
                  </a:lnTo>
                  <a:lnTo>
                    <a:pt x="36456" y="729240"/>
                  </a:lnTo>
                  <a:lnTo>
                    <a:pt x="9783" y="689692"/>
                  </a:lnTo>
                  <a:lnTo>
                    <a:pt x="0" y="641285"/>
                  </a:lnTo>
                  <a:lnTo>
                    <a:pt x="0" y="124410"/>
                  </a:lnTo>
                  <a:lnTo>
                    <a:pt x="9784" y="76003"/>
                  </a:lnTo>
                  <a:lnTo>
                    <a:pt x="36457" y="36456"/>
                  </a:lnTo>
                  <a:lnTo>
                    <a:pt x="76005" y="9783"/>
                  </a:lnTo>
                  <a:lnTo>
                    <a:pt x="124412" y="0"/>
                  </a:lnTo>
                  <a:lnTo>
                    <a:pt x="1405067" y="0"/>
                  </a:lnTo>
                  <a:lnTo>
                    <a:pt x="1453474" y="9783"/>
                  </a:lnTo>
                  <a:lnTo>
                    <a:pt x="1493022" y="36456"/>
                  </a:lnTo>
                  <a:lnTo>
                    <a:pt x="1519696" y="76004"/>
                  </a:lnTo>
                  <a:lnTo>
                    <a:pt x="1529479" y="124412"/>
                  </a:lnTo>
                  <a:lnTo>
                    <a:pt x="1529479" y="641285"/>
                  </a:lnTo>
                  <a:lnTo>
                    <a:pt x="1519696" y="689692"/>
                  </a:lnTo>
                  <a:lnTo>
                    <a:pt x="1493022" y="729240"/>
                  </a:lnTo>
                  <a:lnTo>
                    <a:pt x="1453474" y="755913"/>
                  </a:lnTo>
                  <a:lnTo>
                    <a:pt x="1405067" y="765697"/>
                  </a:lnTo>
                  <a:close/>
                </a:path>
              </a:pathLst>
            </a:custGeom>
            <a:solidFill>
              <a:srgbClr val="FFFFFF"/>
            </a:solidFill>
          </p:spPr>
          <p:txBody>
            <a:bodyPr wrap="square" lIns="0" tIns="0" rIns="0" bIns="0" rtlCol="0"/>
            <a:lstStyle/>
            <a:p>
              <a:endParaRPr sz="1632"/>
            </a:p>
          </p:txBody>
        </p:sp>
      </p:grpSp>
      <p:grpSp>
        <p:nvGrpSpPr>
          <p:cNvPr id="9" name="object 9"/>
          <p:cNvGrpSpPr/>
          <p:nvPr/>
        </p:nvGrpSpPr>
        <p:grpSpPr>
          <a:xfrm>
            <a:off x="9333758" y="147130"/>
            <a:ext cx="1503462" cy="785992"/>
            <a:chOff x="8917227" y="162251"/>
            <a:chExt cx="1657985" cy="866775"/>
          </a:xfrm>
        </p:grpSpPr>
        <p:sp>
          <p:nvSpPr>
            <p:cNvPr id="10" name="object 10"/>
            <p:cNvSpPr/>
            <p:nvPr/>
          </p:nvSpPr>
          <p:spPr>
            <a:xfrm>
              <a:off x="8917227" y="162251"/>
              <a:ext cx="1657985" cy="866775"/>
            </a:xfrm>
            <a:custGeom>
              <a:avLst/>
              <a:gdLst/>
              <a:ahLst/>
              <a:cxnLst/>
              <a:rect l="l" t="t" r="r" b="b"/>
              <a:pathLst>
                <a:path w="1657984" h="866775">
                  <a:moveTo>
                    <a:pt x="1524908" y="866776"/>
                  </a:moveTo>
                  <a:lnTo>
                    <a:pt x="219392" y="866776"/>
                  </a:lnTo>
                  <a:lnTo>
                    <a:pt x="183503" y="861855"/>
                  </a:lnTo>
                  <a:lnTo>
                    <a:pt x="151358" y="847989"/>
                  </a:lnTo>
                  <a:lnTo>
                    <a:pt x="124296" y="826518"/>
                  </a:lnTo>
                  <a:lnTo>
                    <a:pt x="103655" y="798783"/>
                  </a:lnTo>
                  <a:lnTo>
                    <a:pt x="62341" y="780445"/>
                  </a:lnTo>
                  <a:lnTo>
                    <a:pt x="29501" y="750245"/>
                  </a:lnTo>
                  <a:lnTo>
                    <a:pt x="7823" y="710873"/>
                  </a:lnTo>
                  <a:lnTo>
                    <a:pt x="0" y="665020"/>
                  </a:lnTo>
                  <a:lnTo>
                    <a:pt x="0" y="138112"/>
                  </a:lnTo>
                  <a:lnTo>
                    <a:pt x="7052" y="94505"/>
                  </a:lnTo>
                  <a:lnTo>
                    <a:pt x="26683" y="56598"/>
                  </a:lnTo>
                  <a:lnTo>
                    <a:pt x="56598" y="26683"/>
                  </a:lnTo>
                  <a:lnTo>
                    <a:pt x="94505" y="7052"/>
                  </a:lnTo>
                  <a:lnTo>
                    <a:pt x="138112" y="0"/>
                  </a:lnTo>
                  <a:lnTo>
                    <a:pt x="1443630" y="0"/>
                  </a:lnTo>
                  <a:lnTo>
                    <a:pt x="1484251" y="6095"/>
                  </a:lnTo>
                  <a:lnTo>
                    <a:pt x="1520107" y="23161"/>
                  </a:lnTo>
                  <a:lnTo>
                    <a:pt x="1549367" y="49366"/>
                  </a:lnTo>
                  <a:lnTo>
                    <a:pt x="1570202" y="82877"/>
                  </a:lnTo>
                  <a:lnTo>
                    <a:pt x="1605279" y="102088"/>
                  </a:lnTo>
                  <a:lnTo>
                    <a:pt x="1632862" y="130606"/>
                  </a:lnTo>
                  <a:lnTo>
                    <a:pt x="1650909" y="166390"/>
                  </a:lnTo>
                  <a:lnTo>
                    <a:pt x="1657379" y="207397"/>
                  </a:lnTo>
                  <a:lnTo>
                    <a:pt x="1657379" y="734305"/>
                  </a:lnTo>
                  <a:lnTo>
                    <a:pt x="1650625" y="776176"/>
                  </a:lnTo>
                  <a:lnTo>
                    <a:pt x="1631819" y="812540"/>
                  </a:lnTo>
                  <a:lnTo>
                    <a:pt x="1603143" y="841216"/>
                  </a:lnTo>
                  <a:lnTo>
                    <a:pt x="1566779" y="860022"/>
                  </a:lnTo>
                  <a:lnTo>
                    <a:pt x="1524908" y="866776"/>
                  </a:lnTo>
                  <a:close/>
                </a:path>
              </a:pathLst>
            </a:custGeom>
            <a:solidFill>
              <a:srgbClr val="000000"/>
            </a:solidFill>
          </p:spPr>
          <p:txBody>
            <a:bodyPr wrap="square" lIns="0" tIns="0" rIns="0" bIns="0" rtlCol="0"/>
            <a:lstStyle/>
            <a:p>
              <a:endParaRPr sz="1632"/>
            </a:p>
          </p:txBody>
        </p:sp>
        <p:sp>
          <p:nvSpPr>
            <p:cNvPr id="11" name="object 11"/>
            <p:cNvSpPr/>
            <p:nvPr/>
          </p:nvSpPr>
          <p:spPr>
            <a:xfrm>
              <a:off x="8928512" y="173538"/>
              <a:ext cx="1559560" cy="781050"/>
            </a:xfrm>
            <a:custGeom>
              <a:avLst/>
              <a:gdLst/>
              <a:ahLst/>
              <a:cxnLst/>
              <a:rect l="l" t="t" r="r" b="b"/>
              <a:pathLst>
                <a:path w="1559559" h="781050">
                  <a:moveTo>
                    <a:pt x="1432345" y="780562"/>
                  </a:moveTo>
                  <a:lnTo>
                    <a:pt x="126827" y="780562"/>
                  </a:lnTo>
                  <a:lnTo>
                    <a:pt x="77480" y="770589"/>
                  </a:lnTo>
                  <a:lnTo>
                    <a:pt x="37164" y="743397"/>
                  </a:lnTo>
                  <a:lnTo>
                    <a:pt x="9973" y="703082"/>
                  </a:lnTo>
                  <a:lnTo>
                    <a:pt x="0" y="653734"/>
                  </a:lnTo>
                  <a:lnTo>
                    <a:pt x="0" y="126825"/>
                  </a:lnTo>
                  <a:lnTo>
                    <a:pt x="9974" y="77479"/>
                  </a:lnTo>
                  <a:lnTo>
                    <a:pt x="37165" y="37163"/>
                  </a:lnTo>
                  <a:lnTo>
                    <a:pt x="77480" y="9973"/>
                  </a:lnTo>
                  <a:lnTo>
                    <a:pt x="126827" y="0"/>
                  </a:lnTo>
                  <a:lnTo>
                    <a:pt x="1432345" y="0"/>
                  </a:lnTo>
                  <a:lnTo>
                    <a:pt x="1481692" y="9973"/>
                  </a:lnTo>
                  <a:lnTo>
                    <a:pt x="1522008" y="37164"/>
                  </a:lnTo>
                  <a:lnTo>
                    <a:pt x="1549199" y="77480"/>
                  </a:lnTo>
                  <a:lnTo>
                    <a:pt x="1559172" y="126827"/>
                  </a:lnTo>
                  <a:lnTo>
                    <a:pt x="1559172" y="653734"/>
                  </a:lnTo>
                  <a:lnTo>
                    <a:pt x="1549199" y="703082"/>
                  </a:lnTo>
                  <a:lnTo>
                    <a:pt x="1522008" y="743397"/>
                  </a:lnTo>
                  <a:lnTo>
                    <a:pt x="1481692" y="770589"/>
                  </a:lnTo>
                  <a:lnTo>
                    <a:pt x="1432345" y="780562"/>
                  </a:lnTo>
                  <a:close/>
                </a:path>
              </a:pathLst>
            </a:custGeom>
            <a:solidFill>
              <a:srgbClr val="FFFFFF"/>
            </a:solidFill>
          </p:spPr>
          <p:txBody>
            <a:bodyPr wrap="square" lIns="0" tIns="0" rIns="0" bIns="0" rtlCol="0"/>
            <a:lstStyle/>
            <a:p>
              <a:endParaRPr sz="1632"/>
            </a:p>
          </p:txBody>
        </p:sp>
      </p:grpSp>
      <p:sp>
        <p:nvSpPr>
          <p:cNvPr id="12" name="object 12"/>
          <p:cNvSpPr txBox="1"/>
          <p:nvPr/>
        </p:nvSpPr>
        <p:spPr>
          <a:xfrm>
            <a:off x="4252457" y="305126"/>
            <a:ext cx="1016896" cy="382880"/>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23" dirty="0">
                <a:latin typeface="Times New Roman"/>
                <a:cs typeface="Times New Roman"/>
              </a:rPr>
              <a:t> </a:t>
            </a:r>
            <a:r>
              <a:rPr sz="907" b="1" spc="-18" dirty="0">
                <a:latin typeface="Times New Roman"/>
                <a:cs typeface="Times New Roman"/>
              </a:rPr>
              <a:t>Citing </a:t>
            </a:r>
            <a:r>
              <a:rPr sz="907" b="1" spc="-9" dirty="0">
                <a:latin typeface="Times New Roman"/>
                <a:cs typeface="Times New Roman"/>
              </a:rPr>
              <a:t>Decisions </a:t>
            </a:r>
            <a:r>
              <a:rPr sz="907" dirty="0">
                <a:latin typeface="Times New Roman"/>
                <a:cs typeface="Times New Roman"/>
              </a:rPr>
              <a:t>tab</a:t>
            </a:r>
            <a:r>
              <a:rPr sz="907" spc="-23" dirty="0">
                <a:latin typeface="Times New Roman"/>
                <a:cs typeface="Times New Roman"/>
              </a:rPr>
              <a:t> </a:t>
            </a:r>
            <a:r>
              <a:rPr sz="907" dirty="0">
                <a:latin typeface="Times New Roman"/>
                <a:cs typeface="Times New Roman"/>
              </a:rPr>
              <a:t>lists</a:t>
            </a:r>
            <a:r>
              <a:rPr sz="907" spc="-23" dirty="0">
                <a:latin typeface="Times New Roman"/>
                <a:cs typeface="Times New Roman"/>
              </a:rPr>
              <a:t> </a:t>
            </a:r>
            <a:r>
              <a:rPr sz="907" spc="-9" dirty="0">
                <a:latin typeface="Times New Roman"/>
                <a:cs typeface="Times New Roman"/>
              </a:rPr>
              <a:t>all</a:t>
            </a:r>
            <a:r>
              <a:rPr sz="907" spc="-23"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spc="-18" dirty="0">
                <a:latin typeface="Times New Roman"/>
                <a:cs typeface="Times New Roman"/>
              </a:rPr>
              <a:t>cases </a:t>
            </a:r>
            <a:r>
              <a:rPr sz="907" dirty="0">
                <a:latin typeface="Times New Roman"/>
                <a:cs typeface="Times New Roman"/>
              </a:rPr>
              <a:t>that</a:t>
            </a:r>
            <a:r>
              <a:rPr sz="907" spc="9" dirty="0">
                <a:latin typeface="Times New Roman"/>
                <a:cs typeface="Times New Roman"/>
              </a:rPr>
              <a:t> </a:t>
            </a:r>
            <a:r>
              <a:rPr sz="907" spc="-9" dirty="0">
                <a:latin typeface="Times New Roman"/>
                <a:cs typeface="Times New Roman"/>
              </a:rPr>
              <a:t>cite</a:t>
            </a:r>
            <a:r>
              <a:rPr sz="907" spc="9"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sp>
        <p:nvSpPr>
          <p:cNvPr id="13" name="object 13"/>
          <p:cNvSpPr txBox="1"/>
          <p:nvPr/>
        </p:nvSpPr>
        <p:spPr>
          <a:xfrm>
            <a:off x="5197445" y="1137712"/>
            <a:ext cx="1165457" cy="543196"/>
          </a:xfrm>
          <a:prstGeom prst="rect">
            <a:avLst/>
          </a:prstGeom>
        </p:spPr>
        <p:txBody>
          <a:bodyPr vert="horz" wrap="square" lIns="0" tIns="29943" rIns="0" bIns="0" rtlCol="0">
            <a:spAutoFit/>
          </a:bodyPr>
          <a:lstStyle/>
          <a:p>
            <a:pPr marL="11516" marR="4607">
              <a:lnSpc>
                <a:spcPts val="952"/>
              </a:lnSpc>
              <a:spcBef>
                <a:spcPts val="236"/>
              </a:spcBef>
            </a:pPr>
            <a:r>
              <a:rPr sz="907" spc="-27" dirty="0">
                <a:latin typeface="Times New Roman"/>
                <a:cs typeface="Times New Roman"/>
              </a:rPr>
              <a:t>The</a:t>
            </a:r>
            <a:r>
              <a:rPr sz="907" spc="-14" dirty="0">
                <a:latin typeface="Times New Roman"/>
                <a:cs typeface="Times New Roman"/>
              </a:rPr>
              <a:t> </a:t>
            </a:r>
            <a:r>
              <a:rPr sz="907" b="1" spc="-23" dirty="0">
                <a:latin typeface="Times New Roman"/>
                <a:cs typeface="Times New Roman"/>
              </a:rPr>
              <a:t>History</a:t>
            </a:r>
            <a:r>
              <a:rPr sz="907" b="1" spc="-5" dirty="0">
                <a:latin typeface="Times New Roman"/>
                <a:cs typeface="Times New Roman"/>
              </a:rPr>
              <a:t> </a:t>
            </a:r>
            <a:r>
              <a:rPr sz="907" dirty="0">
                <a:latin typeface="Times New Roman"/>
                <a:cs typeface="Times New Roman"/>
              </a:rPr>
              <a:t>tab</a:t>
            </a:r>
            <a:r>
              <a:rPr sz="907" spc="-14" dirty="0">
                <a:latin typeface="Times New Roman"/>
                <a:cs typeface="Times New Roman"/>
              </a:rPr>
              <a:t> </a:t>
            </a:r>
            <a:r>
              <a:rPr sz="907" spc="-18" dirty="0">
                <a:latin typeface="Times New Roman"/>
                <a:cs typeface="Times New Roman"/>
              </a:rPr>
              <a:t>shows </a:t>
            </a:r>
            <a:r>
              <a:rPr sz="907" spc="-9" dirty="0">
                <a:latin typeface="Times New Roman"/>
                <a:cs typeface="Times New Roman"/>
              </a:rPr>
              <a:t>researchers</a:t>
            </a:r>
            <a:r>
              <a:rPr sz="907" spc="-23" dirty="0">
                <a:latin typeface="Times New Roman"/>
                <a:cs typeface="Times New Roman"/>
              </a:rPr>
              <a:t> </a:t>
            </a:r>
            <a:r>
              <a:rPr sz="907" dirty="0">
                <a:latin typeface="Times New Roman"/>
                <a:cs typeface="Times New Roman"/>
              </a:rPr>
              <a:t>the</a:t>
            </a:r>
            <a:r>
              <a:rPr sz="907" spc="-18" dirty="0">
                <a:latin typeface="Times New Roman"/>
                <a:cs typeface="Times New Roman"/>
              </a:rPr>
              <a:t> </a:t>
            </a:r>
            <a:r>
              <a:rPr sz="907" dirty="0">
                <a:latin typeface="Times New Roman"/>
                <a:cs typeface="Times New Roman"/>
              </a:rPr>
              <a:t>prior</a:t>
            </a:r>
            <a:r>
              <a:rPr sz="907" spc="-18" dirty="0">
                <a:latin typeface="Times New Roman"/>
                <a:cs typeface="Times New Roman"/>
              </a:rPr>
              <a:t> </a:t>
            </a:r>
            <a:r>
              <a:rPr sz="907" spc="-23" dirty="0">
                <a:latin typeface="Times New Roman"/>
                <a:cs typeface="Times New Roman"/>
              </a:rPr>
              <a:t>and </a:t>
            </a:r>
            <a:r>
              <a:rPr sz="907" dirty="0">
                <a:latin typeface="Times New Roman"/>
                <a:cs typeface="Times New Roman"/>
              </a:rPr>
              <a:t>subsequent</a:t>
            </a:r>
            <a:r>
              <a:rPr sz="907" spc="-18" dirty="0">
                <a:latin typeface="Times New Roman"/>
                <a:cs typeface="Times New Roman"/>
              </a:rPr>
              <a:t> </a:t>
            </a:r>
            <a:r>
              <a:rPr sz="907" dirty="0">
                <a:latin typeface="Times New Roman"/>
                <a:cs typeface="Times New Roman"/>
              </a:rPr>
              <a:t>history</a:t>
            </a:r>
            <a:r>
              <a:rPr sz="907" spc="-14" dirty="0">
                <a:latin typeface="Times New Roman"/>
                <a:cs typeface="Times New Roman"/>
              </a:rPr>
              <a:t> </a:t>
            </a:r>
            <a:r>
              <a:rPr sz="907" spc="-32" dirty="0">
                <a:latin typeface="Times New Roman"/>
                <a:cs typeface="Times New Roman"/>
              </a:rPr>
              <a:t>of</a:t>
            </a:r>
            <a:r>
              <a:rPr sz="907" spc="-14" dirty="0">
                <a:latin typeface="Times New Roman"/>
                <a:cs typeface="Times New Roman"/>
              </a:rPr>
              <a:t> </a:t>
            </a:r>
            <a:r>
              <a:rPr sz="907" spc="-45" dirty="0">
                <a:latin typeface="Times New Roman"/>
                <a:cs typeface="Times New Roman"/>
              </a:rPr>
              <a:t>a</a:t>
            </a:r>
            <a:r>
              <a:rPr sz="907" spc="-9" dirty="0">
                <a:latin typeface="Times New Roman"/>
                <a:cs typeface="Times New Roman"/>
              </a:rPr>
              <a:t> case.</a:t>
            </a:r>
            <a:endParaRPr sz="907">
              <a:latin typeface="Times New Roman"/>
              <a:cs typeface="Times New Roman"/>
            </a:endParaRPr>
          </a:p>
        </p:txBody>
      </p:sp>
      <p:sp>
        <p:nvSpPr>
          <p:cNvPr id="14" name="object 14"/>
          <p:cNvSpPr txBox="1"/>
          <p:nvPr/>
        </p:nvSpPr>
        <p:spPr>
          <a:xfrm>
            <a:off x="9486412" y="283887"/>
            <a:ext cx="1157395" cy="498296"/>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 </a:t>
            </a:r>
            <a:r>
              <a:rPr sz="907" b="1" spc="-23" dirty="0">
                <a:latin typeface="Times New Roman"/>
                <a:cs typeface="Times New Roman"/>
              </a:rPr>
              <a:t>Shepard’s </a:t>
            </a:r>
            <a:r>
              <a:rPr sz="907" b="1" spc="-9" dirty="0">
                <a:latin typeface="Times New Roman"/>
                <a:cs typeface="Times New Roman"/>
              </a:rPr>
              <a:t>Report </a:t>
            </a:r>
            <a:r>
              <a:rPr sz="907" dirty="0">
                <a:latin typeface="Times New Roman"/>
                <a:cs typeface="Times New Roman"/>
              </a:rPr>
              <a:t>tells</a:t>
            </a:r>
            <a:r>
              <a:rPr sz="907" spc="-41" dirty="0">
                <a:latin typeface="Times New Roman"/>
                <a:cs typeface="Times New Roman"/>
              </a:rPr>
              <a:t> </a:t>
            </a:r>
            <a:r>
              <a:rPr sz="907" spc="-9" dirty="0">
                <a:latin typeface="Times New Roman"/>
                <a:cs typeface="Times New Roman"/>
              </a:rPr>
              <a:t>researchers</a:t>
            </a:r>
            <a:r>
              <a:rPr sz="907" spc="-36" dirty="0">
                <a:latin typeface="Times New Roman"/>
                <a:cs typeface="Times New Roman"/>
              </a:rPr>
              <a:t> </a:t>
            </a:r>
            <a:r>
              <a:rPr sz="907" dirty="0">
                <a:latin typeface="Times New Roman"/>
                <a:cs typeface="Times New Roman"/>
              </a:rPr>
              <a:t>how</a:t>
            </a:r>
            <a:r>
              <a:rPr sz="907" spc="-36" dirty="0">
                <a:latin typeface="Times New Roman"/>
                <a:cs typeface="Times New Roman"/>
              </a:rPr>
              <a:t> </a:t>
            </a:r>
            <a:r>
              <a:rPr sz="907" spc="-23" dirty="0">
                <a:latin typeface="Times New Roman"/>
                <a:cs typeface="Times New Roman"/>
              </a:rPr>
              <a:t>the </a:t>
            </a:r>
            <a:r>
              <a:rPr sz="907" spc="-18" dirty="0">
                <a:latin typeface="Times New Roman"/>
                <a:cs typeface="Times New Roman"/>
              </a:rPr>
              <a:t>case</a:t>
            </a:r>
            <a:r>
              <a:rPr sz="907" spc="-27" dirty="0">
                <a:latin typeface="Times New Roman"/>
                <a:cs typeface="Times New Roman"/>
              </a:rPr>
              <a:t> </a:t>
            </a:r>
            <a:r>
              <a:rPr sz="907" dirty="0">
                <a:latin typeface="Times New Roman"/>
                <a:cs typeface="Times New Roman"/>
              </a:rPr>
              <a:t>was</a:t>
            </a:r>
            <a:r>
              <a:rPr sz="907" spc="-23" dirty="0">
                <a:latin typeface="Times New Roman"/>
                <a:cs typeface="Times New Roman"/>
              </a:rPr>
              <a:t> </a:t>
            </a:r>
            <a:r>
              <a:rPr sz="907" dirty="0">
                <a:latin typeface="Times New Roman"/>
                <a:cs typeface="Times New Roman"/>
              </a:rPr>
              <a:t>treated</a:t>
            </a:r>
            <a:r>
              <a:rPr sz="907" spc="-23" dirty="0">
                <a:latin typeface="Times New Roman"/>
                <a:cs typeface="Times New Roman"/>
              </a:rPr>
              <a:t> by </a:t>
            </a:r>
            <a:r>
              <a:rPr sz="907" dirty="0">
                <a:latin typeface="Times New Roman"/>
                <a:cs typeface="Times New Roman"/>
              </a:rPr>
              <a:t>subsequent</a:t>
            </a:r>
            <a:r>
              <a:rPr sz="907" spc="36" dirty="0">
                <a:latin typeface="Times New Roman"/>
                <a:cs typeface="Times New Roman"/>
              </a:rPr>
              <a:t> </a:t>
            </a:r>
            <a:r>
              <a:rPr sz="907" spc="-9" dirty="0">
                <a:latin typeface="Times New Roman"/>
                <a:cs typeface="Times New Roman"/>
              </a:rPr>
              <a:t>cases.</a:t>
            </a:r>
            <a:endParaRPr sz="907">
              <a:latin typeface="Times New Roman"/>
              <a:cs typeface="Times New Roman"/>
            </a:endParaRPr>
          </a:p>
        </p:txBody>
      </p:sp>
      <p:grpSp>
        <p:nvGrpSpPr>
          <p:cNvPr id="15" name="object 15"/>
          <p:cNvGrpSpPr/>
          <p:nvPr/>
        </p:nvGrpSpPr>
        <p:grpSpPr>
          <a:xfrm>
            <a:off x="1279145" y="48219"/>
            <a:ext cx="2734563" cy="2056248"/>
            <a:chOff x="34779" y="53174"/>
            <a:chExt cx="3015615" cy="2267585"/>
          </a:xfrm>
        </p:grpSpPr>
        <p:sp>
          <p:nvSpPr>
            <p:cNvPr id="16" name="object 16"/>
            <p:cNvSpPr/>
            <p:nvPr/>
          </p:nvSpPr>
          <p:spPr>
            <a:xfrm>
              <a:off x="151350" y="289299"/>
              <a:ext cx="2873375" cy="2031364"/>
            </a:xfrm>
            <a:custGeom>
              <a:avLst/>
              <a:gdLst/>
              <a:ahLst/>
              <a:cxnLst/>
              <a:rect l="l" t="t" r="r" b="b"/>
              <a:pathLst>
                <a:path w="2873375" h="2031364">
                  <a:moveTo>
                    <a:pt x="373382" y="2030913"/>
                  </a:moveTo>
                  <a:lnTo>
                    <a:pt x="0" y="870023"/>
                  </a:lnTo>
                  <a:lnTo>
                    <a:pt x="2497995" y="0"/>
                  </a:lnTo>
                  <a:lnTo>
                    <a:pt x="2873236" y="1019649"/>
                  </a:lnTo>
                  <a:lnTo>
                    <a:pt x="373382" y="2030913"/>
                  </a:lnTo>
                  <a:close/>
                </a:path>
              </a:pathLst>
            </a:custGeom>
            <a:solidFill>
              <a:srgbClr val="C70F2E">
                <a:alpha val="25000"/>
              </a:srgbClr>
            </a:solidFill>
          </p:spPr>
          <p:txBody>
            <a:bodyPr wrap="square" lIns="0" tIns="0" rIns="0" bIns="0" rtlCol="0"/>
            <a:lstStyle/>
            <a:p>
              <a:endParaRPr sz="1632"/>
            </a:p>
          </p:txBody>
        </p:sp>
        <p:sp>
          <p:nvSpPr>
            <p:cNvPr id="17" name="object 17"/>
            <p:cNvSpPr/>
            <p:nvPr/>
          </p:nvSpPr>
          <p:spPr>
            <a:xfrm>
              <a:off x="114607" y="137033"/>
              <a:ext cx="2935605" cy="2090420"/>
            </a:xfrm>
            <a:custGeom>
              <a:avLst/>
              <a:gdLst/>
              <a:ahLst/>
              <a:cxnLst/>
              <a:rect l="l" t="t" r="r" b="b"/>
              <a:pathLst>
                <a:path w="2935605" h="2090420">
                  <a:moveTo>
                    <a:pt x="2935171" y="1167967"/>
                  </a:moveTo>
                  <a:lnTo>
                    <a:pt x="429926" y="2090142"/>
                  </a:lnTo>
                  <a:lnTo>
                    <a:pt x="0" y="922174"/>
                  </a:lnTo>
                  <a:lnTo>
                    <a:pt x="2505245" y="0"/>
                  </a:lnTo>
                  <a:lnTo>
                    <a:pt x="2935171" y="1167967"/>
                  </a:lnTo>
                  <a:close/>
                </a:path>
              </a:pathLst>
            </a:custGeom>
            <a:solidFill>
              <a:srgbClr val="F0EBD4"/>
            </a:solidFill>
          </p:spPr>
          <p:txBody>
            <a:bodyPr wrap="square" lIns="0" tIns="0" rIns="0" bIns="0" rtlCol="0"/>
            <a:lstStyle/>
            <a:p>
              <a:endParaRPr sz="1632"/>
            </a:p>
          </p:txBody>
        </p:sp>
        <p:sp>
          <p:nvSpPr>
            <p:cNvPr id="18" name="object 18"/>
            <p:cNvSpPr/>
            <p:nvPr/>
          </p:nvSpPr>
          <p:spPr>
            <a:xfrm>
              <a:off x="34772" y="53173"/>
              <a:ext cx="2914015" cy="1513840"/>
            </a:xfrm>
            <a:custGeom>
              <a:avLst/>
              <a:gdLst/>
              <a:ahLst/>
              <a:cxnLst/>
              <a:rect l="l" t="t" r="r" b="b"/>
              <a:pathLst>
                <a:path w="2914015" h="1513840">
                  <a:moveTo>
                    <a:pt x="521830" y="771715"/>
                  </a:moveTo>
                  <a:lnTo>
                    <a:pt x="460895" y="817537"/>
                  </a:lnTo>
                  <a:lnTo>
                    <a:pt x="459689" y="744486"/>
                  </a:lnTo>
                  <a:lnTo>
                    <a:pt x="401332" y="814476"/>
                  </a:lnTo>
                  <a:lnTo>
                    <a:pt x="407797" y="721741"/>
                  </a:lnTo>
                  <a:lnTo>
                    <a:pt x="357974" y="802284"/>
                  </a:lnTo>
                  <a:lnTo>
                    <a:pt x="368338" y="704430"/>
                  </a:lnTo>
                  <a:lnTo>
                    <a:pt x="309321" y="764984"/>
                  </a:lnTo>
                  <a:lnTo>
                    <a:pt x="306285" y="685114"/>
                  </a:lnTo>
                  <a:lnTo>
                    <a:pt x="261200" y="776554"/>
                  </a:lnTo>
                  <a:lnTo>
                    <a:pt x="16827" y="1330248"/>
                  </a:lnTo>
                  <a:lnTo>
                    <a:pt x="0" y="1391031"/>
                  </a:lnTo>
                  <a:lnTo>
                    <a:pt x="58039" y="1351940"/>
                  </a:lnTo>
                  <a:lnTo>
                    <a:pt x="47193" y="1417675"/>
                  </a:lnTo>
                  <a:lnTo>
                    <a:pt x="127292" y="1363764"/>
                  </a:lnTo>
                  <a:lnTo>
                    <a:pt x="103212" y="1456029"/>
                  </a:lnTo>
                  <a:lnTo>
                    <a:pt x="149948" y="1422146"/>
                  </a:lnTo>
                  <a:lnTo>
                    <a:pt x="155384" y="1480693"/>
                  </a:lnTo>
                  <a:lnTo>
                    <a:pt x="205714" y="1448460"/>
                  </a:lnTo>
                  <a:lnTo>
                    <a:pt x="206375" y="1513801"/>
                  </a:lnTo>
                  <a:lnTo>
                    <a:pt x="257200" y="1438795"/>
                  </a:lnTo>
                  <a:lnTo>
                    <a:pt x="478231" y="878852"/>
                  </a:lnTo>
                  <a:lnTo>
                    <a:pt x="521830" y="771715"/>
                  </a:lnTo>
                  <a:close/>
                </a:path>
                <a:path w="2914015" h="1513840">
                  <a:moveTo>
                    <a:pt x="2913710" y="384517"/>
                  </a:moveTo>
                  <a:lnTo>
                    <a:pt x="2843936" y="326758"/>
                  </a:lnTo>
                  <a:lnTo>
                    <a:pt x="2307602" y="53454"/>
                  </a:lnTo>
                  <a:lnTo>
                    <a:pt x="2205520" y="0"/>
                  </a:lnTo>
                  <a:lnTo>
                    <a:pt x="2205266" y="38"/>
                  </a:lnTo>
                  <a:lnTo>
                    <a:pt x="2244928" y="64808"/>
                  </a:lnTo>
                  <a:lnTo>
                    <a:pt x="2172068" y="59042"/>
                  </a:lnTo>
                  <a:lnTo>
                    <a:pt x="2236178" y="123786"/>
                  </a:lnTo>
                  <a:lnTo>
                    <a:pt x="2144484" y="108546"/>
                  </a:lnTo>
                  <a:lnTo>
                    <a:pt x="2219871" y="165836"/>
                  </a:lnTo>
                  <a:lnTo>
                    <a:pt x="2123465" y="146151"/>
                  </a:lnTo>
                  <a:lnTo>
                    <a:pt x="2178151" y="210642"/>
                  </a:lnTo>
                  <a:lnTo>
                    <a:pt x="2098319" y="206095"/>
                  </a:lnTo>
                  <a:lnTo>
                    <a:pt x="2185085" y="259651"/>
                  </a:lnTo>
                  <a:lnTo>
                    <a:pt x="2712999" y="555777"/>
                  </a:lnTo>
                  <a:lnTo>
                    <a:pt x="2771864" y="578281"/>
                  </a:lnTo>
                  <a:lnTo>
                    <a:pt x="2738513" y="516750"/>
                  </a:lnTo>
                  <a:lnTo>
                    <a:pt x="2802902" y="533831"/>
                  </a:lnTo>
                  <a:lnTo>
                    <a:pt x="2756852" y="448945"/>
                  </a:lnTo>
                  <a:lnTo>
                    <a:pt x="2846374" y="481698"/>
                  </a:lnTo>
                  <a:lnTo>
                    <a:pt x="2817101" y="431914"/>
                  </a:lnTo>
                  <a:lnTo>
                    <a:pt x="2875902" y="432130"/>
                  </a:lnTo>
                  <a:lnTo>
                    <a:pt x="2848660" y="378891"/>
                  </a:lnTo>
                  <a:lnTo>
                    <a:pt x="2913710" y="384517"/>
                  </a:lnTo>
                  <a:close/>
                </a:path>
              </a:pathLst>
            </a:custGeom>
            <a:solidFill>
              <a:srgbClr val="C70F2E">
                <a:alpha val="29998"/>
              </a:srgbClr>
            </a:solidFill>
          </p:spPr>
          <p:txBody>
            <a:bodyPr wrap="square" lIns="0" tIns="0" rIns="0" bIns="0" rtlCol="0"/>
            <a:lstStyle/>
            <a:p>
              <a:endParaRPr sz="1632"/>
            </a:p>
          </p:txBody>
        </p:sp>
      </p:grpSp>
      <p:grpSp>
        <p:nvGrpSpPr>
          <p:cNvPr id="19" name="object 19"/>
          <p:cNvGrpSpPr/>
          <p:nvPr/>
        </p:nvGrpSpPr>
        <p:grpSpPr>
          <a:xfrm>
            <a:off x="5724709" y="147089"/>
            <a:ext cx="2231873" cy="2875062"/>
            <a:chOff x="4937249" y="162206"/>
            <a:chExt cx="2461260" cy="3170555"/>
          </a:xfrm>
        </p:grpSpPr>
        <p:sp>
          <p:nvSpPr>
            <p:cNvPr id="20" name="object 20"/>
            <p:cNvSpPr/>
            <p:nvPr/>
          </p:nvSpPr>
          <p:spPr>
            <a:xfrm>
              <a:off x="4956617" y="3103301"/>
              <a:ext cx="762635" cy="210185"/>
            </a:xfrm>
            <a:custGeom>
              <a:avLst/>
              <a:gdLst/>
              <a:ahLst/>
              <a:cxnLst/>
              <a:rect l="l" t="t" r="r" b="b"/>
              <a:pathLst>
                <a:path w="762635" h="210185">
                  <a:moveTo>
                    <a:pt x="0" y="209628"/>
                  </a:moveTo>
                  <a:lnTo>
                    <a:pt x="0" y="0"/>
                  </a:lnTo>
                  <a:lnTo>
                    <a:pt x="762123" y="0"/>
                  </a:lnTo>
                </a:path>
              </a:pathLst>
            </a:custGeom>
            <a:ln w="38114">
              <a:solidFill>
                <a:srgbClr val="C70F2E"/>
              </a:solidFill>
            </a:ln>
          </p:spPr>
          <p:txBody>
            <a:bodyPr wrap="square" lIns="0" tIns="0" rIns="0" bIns="0" rtlCol="0"/>
            <a:lstStyle/>
            <a:p>
              <a:endParaRPr sz="1632"/>
            </a:p>
          </p:txBody>
        </p:sp>
        <p:sp>
          <p:nvSpPr>
            <p:cNvPr id="21" name="object 21"/>
            <p:cNvSpPr/>
            <p:nvPr/>
          </p:nvSpPr>
          <p:spPr>
            <a:xfrm>
              <a:off x="6436965" y="3103301"/>
              <a:ext cx="942340" cy="210185"/>
            </a:xfrm>
            <a:custGeom>
              <a:avLst/>
              <a:gdLst/>
              <a:ahLst/>
              <a:cxnLst/>
              <a:rect l="l" t="t" r="r" b="b"/>
              <a:pathLst>
                <a:path w="942340" h="210185">
                  <a:moveTo>
                    <a:pt x="0" y="209628"/>
                  </a:moveTo>
                  <a:lnTo>
                    <a:pt x="0" y="0"/>
                  </a:lnTo>
                  <a:lnTo>
                    <a:pt x="941738" y="0"/>
                  </a:lnTo>
                  <a:lnTo>
                    <a:pt x="941738" y="209628"/>
                  </a:lnTo>
                </a:path>
              </a:pathLst>
            </a:custGeom>
            <a:ln w="38114">
              <a:solidFill>
                <a:srgbClr val="C70F2E"/>
              </a:solidFill>
            </a:ln>
          </p:spPr>
          <p:txBody>
            <a:bodyPr wrap="square" lIns="0" tIns="0" rIns="0" bIns="0" rtlCol="0"/>
            <a:lstStyle/>
            <a:p>
              <a:endParaRPr sz="1632"/>
            </a:p>
          </p:txBody>
        </p:sp>
        <p:sp>
          <p:nvSpPr>
            <p:cNvPr id="22" name="object 22"/>
            <p:cNvSpPr/>
            <p:nvPr/>
          </p:nvSpPr>
          <p:spPr>
            <a:xfrm>
              <a:off x="5846983" y="3103301"/>
              <a:ext cx="467359" cy="210185"/>
            </a:xfrm>
            <a:custGeom>
              <a:avLst/>
              <a:gdLst/>
              <a:ahLst/>
              <a:cxnLst/>
              <a:rect l="l" t="t" r="r" b="b"/>
              <a:pathLst>
                <a:path w="467360" h="210185">
                  <a:moveTo>
                    <a:pt x="0" y="209628"/>
                  </a:moveTo>
                  <a:lnTo>
                    <a:pt x="0" y="0"/>
                  </a:lnTo>
                  <a:lnTo>
                    <a:pt x="466776" y="0"/>
                  </a:lnTo>
                </a:path>
              </a:pathLst>
            </a:custGeom>
            <a:ln w="38114">
              <a:solidFill>
                <a:srgbClr val="C70F2E"/>
              </a:solidFill>
            </a:ln>
          </p:spPr>
          <p:txBody>
            <a:bodyPr wrap="square" lIns="0" tIns="0" rIns="0" bIns="0" rtlCol="0"/>
            <a:lstStyle/>
            <a:p>
              <a:endParaRPr sz="1632"/>
            </a:p>
          </p:txBody>
        </p:sp>
        <p:sp>
          <p:nvSpPr>
            <p:cNvPr id="23" name="object 23"/>
            <p:cNvSpPr/>
            <p:nvPr/>
          </p:nvSpPr>
          <p:spPr>
            <a:xfrm>
              <a:off x="5157008" y="162206"/>
              <a:ext cx="1638935" cy="855980"/>
            </a:xfrm>
            <a:custGeom>
              <a:avLst/>
              <a:gdLst/>
              <a:ahLst/>
              <a:cxnLst/>
              <a:rect l="l" t="t" r="r" b="b"/>
              <a:pathLst>
                <a:path w="1638934" h="855980">
                  <a:moveTo>
                    <a:pt x="1524009" y="855983"/>
                  </a:moveTo>
                  <a:lnTo>
                    <a:pt x="197684" y="855983"/>
                  </a:lnTo>
                  <a:lnTo>
                    <a:pt x="181788" y="853804"/>
                  </a:lnTo>
                  <a:lnTo>
                    <a:pt x="149944" y="840067"/>
                  </a:lnTo>
                  <a:lnTo>
                    <a:pt x="123134" y="818796"/>
                  </a:lnTo>
                  <a:lnTo>
                    <a:pt x="102687" y="791321"/>
                  </a:lnTo>
                  <a:lnTo>
                    <a:pt x="61759" y="773154"/>
                  </a:lnTo>
                  <a:lnTo>
                    <a:pt x="29225" y="743236"/>
                  </a:lnTo>
                  <a:lnTo>
                    <a:pt x="7750" y="704232"/>
                  </a:lnTo>
                  <a:lnTo>
                    <a:pt x="0" y="658807"/>
                  </a:lnTo>
                  <a:lnTo>
                    <a:pt x="0" y="136822"/>
                  </a:lnTo>
                  <a:lnTo>
                    <a:pt x="6986" y="93622"/>
                  </a:lnTo>
                  <a:lnTo>
                    <a:pt x="26433" y="56069"/>
                  </a:lnTo>
                  <a:lnTo>
                    <a:pt x="56068" y="26433"/>
                  </a:lnTo>
                  <a:lnTo>
                    <a:pt x="93622" y="6986"/>
                  </a:lnTo>
                  <a:lnTo>
                    <a:pt x="136822" y="0"/>
                  </a:lnTo>
                  <a:lnTo>
                    <a:pt x="1430142" y="0"/>
                  </a:lnTo>
                  <a:lnTo>
                    <a:pt x="1470385" y="6038"/>
                  </a:lnTo>
                  <a:lnTo>
                    <a:pt x="1505905" y="22945"/>
                  </a:lnTo>
                  <a:lnTo>
                    <a:pt x="1534892" y="48904"/>
                  </a:lnTo>
                  <a:lnTo>
                    <a:pt x="1555532" y="82102"/>
                  </a:lnTo>
                  <a:lnTo>
                    <a:pt x="1590281" y="101134"/>
                  </a:lnTo>
                  <a:lnTo>
                    <a:pt x="1617606" y="129386"/>
                  </a:lnTo>
                  <a:lnTo>
                    <a:pt x="1635485" y="164835"/>
                  </a:lnTo>
                  <a:lnTo>
                    <a:pt x="1638917" y="186592"/>
                  </a:lnTo>
                  <a:lnTo>
                    <a:pt x="1638917" y="742189"/>
                  </a:lnTo>
                  <a:lnTo>
                    <a:pt x="1631581" y="778526"/>
                  </a:lnTo>
                  <a:lnTo>
                    <a:pt x="1603457" y="820240"/>
                  </a:lnTo>
                  <a:lnTo>
                    <a:pt x="1561743" y="848365"/>
                  </a:lnTo>
                  <a:lnTo>
                    <a:pt x="1524009" y="855983"/>
                  </a:lnTo>
                  <a:close/>
                </a:path>
              </a:pathLst>
            </a:custGeom>
            <a:solidFill>
              <a:srgbClr val="000000"/>
            </a:solidFill>
          </p:spPr>
          <p:txBody>
            <a:bodyPr wrap="square" lIns="0" tIns="0" rIns="0" bIns="0" rtlCol="0"/>
            <a:lstStyle/>
            <a:p>
              <a:endParaRPr sz="1632"/>
            </a:p>
          </p:txBody>
        </p:sp>
        <p:sp>
          <p:nvSpPr>
            <p:cNvPr id="24" name="object 24"/>
            <p:cNvSpPr/>
            <p:nvPr/>
          </p:nvSpPr>
          <p:spPr>
            <a:xfrm>
              <a:off x="5168187" y="173387"/>
              <a:ext cx="1544955" cy="773430"/>
            </a:xfrm>
            <a:custGeom>
              <a:avLst/>
              <a:gdLst/>
              <a:ahLst/>
              <a:cxnLst/>
              <a:rect l="l" t="t" r="r" b="b"/>
              <a:pathLst>
                <a:path w="1544954" h="773430">
                  <a:moveTo>
                    <a:pt x="1418963" y="773270"/>
                  </a:moveTo>
                  <a:lnTo>
                    <a:pt x="125642" y="773270"/>
                  </a:lnTo>
                  <a:lnTo>
                    <a:pt x="76756" y="763390"/>
                  </a:lnTo>
                  <a:lnTo>
                    <a:pt x="36817" y="736452"/>
                  </a:lnTo>
                  <a:lnTo>
                    <a:pt x="9880" y="696513"/>
                  </a:lnTo>
                  <a:lnTo>
                    <a:pt x="0" y="647627"/>
                  </a:lnTo>
                  <a:lnTo>
                    <a:pt x="0" y="125641"/>
                  </a:lnTo>
                  <a:lnTo>
                    <a:pt x="9880" y="76755"/>
                  </a:lnTo>
                  <a:lnTo>
                    <a:pt x="36818" y="36816"/>
                  </a:lnTo>
                  <a:lnTo>
                    <a:pt x="76756" y="9879"/>
                  </a:lnTo>
                  <a:lnTo>
                    <a:pt x="125642" y="0"/>
                  </a:lnTo>
                  <a:lnTo>
                    <a:pt x="1418963" y="0"/>
                  </a:lnTo>
                  <a:lnTo>
                    <a:pt x="1467849" y="9880"/>
                  </a:lnTo>
                  <a:lnTo>
                    <a:pt x="1507788" y="36817"/>
                  </a:lnTo>
                  <a:lnTo>
                    <a:pt x="1534726" y="76756"/>
                  </a:lnTo>
                  <a:lnTo>
                    <a:pt x="1544606" y="125642"/>
                  </a:lnTo>
                  <a:lnTo>
                    <a:pt x="1544606" y="647627"/>
                  </a:lnTo>
                  <a:lnTo>
                    <a:pt x="1534726" y="696513"/>
                  </a:lnTo>
                  <a:lnTo>
                    <a:pt x="1507788" y="736452"/>
                  </a:lnTo>
                  <a:lnTo>
                    <a:pt x="1467849" y="763390"/>
                  </a:lnTo>
                  <a:lnTo>
                    <a:pt x="1418963" y="773270"/>
                  </a:lnTo>
                  <a:close/>
                </a:path>
              </a:pathLst>
            </a:custGeom>
            <a:solidFill>
              <a:srgbClr val="FFFFFF"/>
            </a:solidFill>
          </p:spPr>
          <p:txBody>
            <a:bodyPr wrap="square" lIns="0" tIns="0" rIns="0" bIns="0" rtlCol="0"/>
            <a:lstStyle/>
            <a:p>
              <a:endParaRPr sz="1632"/>
            </a:p>
          </p:txBody>
        </p:sp>
      </p:grpSp>
      <p:grpSp>
        <p:nvGrpSpPr>
          <p:cNvPr id="25" name="object 25"/>
          <p:cNvGrpSpPr/>
          <p:nvPr/>
        </p:nvGrpSpPr>
        <p:grpSpPr>
          <a:xfrm>
            <a:off x="5859857" y="242919"/>
            <a:ext cx="3266618" cy="4024396"/>
            <a:chOff x="5086287" y="267885"/>
            <a:chExt cx="3602354" cy="4438015"/>
          </a:xfrm>
        </p:grpSpPr>
        <p:sp>
          <p:nvSpPr>
            <p:cNvPr id="26" name="object 26"/>
            <p:cNvSpPr/>
            <p:nvPr/>
          </p:nvSpPr>
          <p:spPr>
            <a:xfrm>
              <a:off x="7513085" y="3103301"/>
              <a:ext cx="905510" cy="210185"/>
            </a:xfrm>
            <a:custGeom>
              <a:avLst/>
              <a:gdLst/>
              <a:ahLst/>
              <a:cxnLst/>
              <a:rect l="l" t="t" r="r" b="b"/>
              <a:pathLst>
                <a:path w="905509" h="210185">
                  <a:moveTo>
                    <a:pt x="0" y="209628"/>
                  </a:moveTo>
                  <a:lnTo>
                    <a:pt x="0" y="0"/>
                  </a:lnTo>
                  <a:lnTo>
                    <a:pt x="904919" y="0"/>
                  </a:lnTo>
                  <a:lnTo>
                    <a:pt x="904919" y="209628"/>
                  </a:lnTo>
                </a:path>
              </a:pathLst>
            </a:custGeom>
            <a:ln w="38114">
              <a:solidFill>
                <a:srgbClr val="C70F2E"/>
              </a:solidFill>
            </a:ln>
          </p:spPr>
          <p:txBody>
            <a:bodyPr wrap="square" lIns="0" tIns="0" rIns="0" bIns="0" rtlCol="0"/>
            <a:lstStyle/>
            <a:p>
              <a:endParaRPr sz="1632"/>
            </a:p>
          </p:txBody>
        </p:sp>
        <p:sp>
          <p:nvSpPr>
            <p:cNvPr id="27" name="object 27"/>
            <p:cNvSpPr/>
            <p:nvPr/>
          </p:nvSpPr>
          <p:spPr>
            <a:xfrm>
              <a:off x="5105655" y="4330718"/>
              <a:ext cx="1067435" cy="188595"/>
            </a:xfrm>
            <a:custGeom>
              <a:avLst/>
              <a:gdLst/>
              <a:ahLst/>
              <a:cxnLst/>
              <a:rect l="l" t="t" r="r" b="b"/>
              <a:pathLst>
                <a:path w="1067435" h="188595">
                  <a:moveTo>
                    <a:pt x="1066850" y="188189"/>
                  </a:moveTo>
                  <a:lnTo>
                    <a:pt x="0" y="188189"/>
                  </a:lnTo>
                  <a:lnTo>
                    <a:pt x="0" y="0"/>
                  </a:lnTo>
                  <a:lnTo>
                    <a:pt x="1066850" y="0"/>
                  </a:lnTo>
                </a:path>
              </a:pathLst>
            </a:custGeom>
            <a:ln w="38114">
              <a:solidFill>
                <a:srgbClr val="C70F2E"/>
              </a:solidFill>
            </a:ln>
          </p:spPr>
          <p:txBody>
            <a:bodyPr wrap="square" lIns="0" tIns="0" rIns="0" bIns="0" rtlCol="0"/>
            <a:lstStyle/>
            <a:p>
              <a:endParaRPr sz="1632"/>
            </a:p>
          </p:txBody>
        </p:sp>
        <p:sp>
          <p:nvSpPr>
            <p:cNvPr id="28" name="object 28"/>
            <p:cNvSpPr/>
            <p:nvPr/>
          </p:nvSpPr>
          <p:spPr>
            <a:xfrm>
              <a:off x="6148038" y="4330718"/>
              <a:ext cx="1364615" cy="188595"/>
            </a:xfrm>
            <a:custGeom>
              <a:avLst/>
              <a:gdLst/>
              <a:ahLst/>
              <a:cxnLst/>
              <a:rect l="l" t="t" r="r" b="b"/>
              <a:pathLst>
                <a:path w="1364615" h="188595">
                  <a:moveTo>
                    <a:pt x="0" y="0"/>
                  </a:moveTo>
                  <a:lnTo>
                    <a:pt x="1364232" y="0"/>
                  </a:lnTo>
                  <a:lnTo>
                    <a:pt x="1364232" y="188189"/>
                  </a:lnTo>
                  <a:lnTo>
                    <a:pt x="0" y="188189"/>
                  </a:lnTo>
                  <a:lnTo>
                    <a:pt x="0" y="0"/>
                  </a:lnTo>
                  <a:close/>
                </a:path>
              </a:pathLst>
            </a:custGeom>
            <a:ln w="38114">
              <a:solidFill>
                <a:srgbClr val="C70F2E"/>
              </a:solidFill>
            </a:ln>
          </p:spPr>
          <p:txBody>
            <a:bodyPr wrap="square" lIns="0" tIns="0" rIns="0" bIns="0" rtlCol="0"/>
            <a:lstStyle/>
            <a:p>
              <a:endParaRPr sz="1632"/>
            </a:p>
          </p:txBody>
        </p:sp>
        <p:sp>
          <p:nvSpPr>
            <p:cNvPr id="29" name="object 29"/>
            <p:cNvSpPr/>
            <p:nvPr/>
          </p:nvSpPr>
          <p:spPr>
            <a:xfrm>
              <a:off x="5971194" y="4519050"/>
              <a:ext cx="687705" cy="167640"/>
            </a:xfrm>
            <a:custGeom>
              <a:avLst/>
              <a:gdLst/>
              <a:ahLst/>
              <a:cxnLst/>
              <a:rect l="l" t="t" r="r" b="b"/>
              <a:pathLst>
                <a:path w="687704" h="167639">
                  <a:moveTo>
                    <a:pt x="0" y="0"/>
                  </a:moveTo>
                  <a:lnTo>
                    <a:pt x="687316" y="0"/>
                  </a:lnTo>
                  <a:lnTo>
                    <a:pt x="687316" y="167345"/>
                  </a:lnTo>
                  <a:lnTo>
                    <a:pt x="0" y="167345"/>
                  </a:lnTo>
                  <a:lnTo>
                    <a:pt x="0" y="0"/>
                  </a:lnTo>
                  <a:close/>
                </a:path>
              </a:pathLst>
            </a:custGeom>
            <a:ln w="38114">
              <a:solidFill>
                <a:srgbClr val="C70F2E"/>
              </a:solidFill>
            </a:ln>
          </p:spPr>
          <p:txBody>
            <a:bodyPr wrap="square" lIns="0" tIns="0" rIns="0" bIns="0" rtlCol="0"/>
            <a:lstStyle/>
            <a:p>
              <a:endParaRPr sz="1632"/>
            </a:p>
          </p:txBody>
        </p:sp>
        <p:sp>
          <p:nvSpPr>
            <p:cNvPr id="30" name="object 30"/>
            <p:cNvSpPr/>
            <p:nvPr/>
          </p:nvSpPr>
          <p:spPr>
            <a:xfrm>
              <a:off x="7031050" y="267885"/>
              <a:ext cx="1657985" cy="866775"/>
            </a:xfrm>
            <a:custGeom>
              <a:avLst/>
              <a:gdLst/>
              <a:ahLst/>
              <a:cxnLst/>
              <a:rect l="l" t="t" r="r" b="b"/>
              <a:pathLst>
                <a:path w="1657984" h="866775">
                  <a:moveTo>
                    <a:pt x="1524908" y="866776"/>
                  </a:moveTo>
                  <a:lnTo>
                    <a:pt x="219392" y="866776"/>
                  </a:lnTo>
                  <a:lnTo>
                    <a:pt x="183503" y="861855"/>
                  </a:lnTo>
                  <a:lnTo>
                    <a:pt x="151358" y="847989"/>
                  </a:lnTo>
                  <a:lnTo>
                    <a:pt x="124296" y="826518"/>
                  </a:lnTo>
                  <a:lnTo>
                    <a:pt x="103655" y="798783"/>
                  </a:lnTo>
                  <a:lnTo>
                    <a:pt x="62341" y="780445"/>
                  </a:lnTo>
                  <a:lnTo>
                    <a:pt x="29501" y="750245"/>
                  </a:lnTo>
                  <a:lnTo>
                    <a:pt x="7823" y="710873"/>
                  </a:lnTo>
                  <a:lnTo>
                    <a:pt x="0" y="665020"/>
                  </a:lnTo>
                  <a:lnTo>
                    <a:pt x="0" y="138112"/>
                  </a:lnTo>
                  <a:lnTo>
                    <a:pt x="7052" y="94505"/>
                  </a:lnTo>
                  <a:lnTo>
                    <a:pt x="26683" y="56598"/>
                  </a:lnTo>
                  <a:lnTo>
                    <a:pt x="56598" y="26683"/>
                  </a:lnTo>
                  <a:lnTo>
                    <a:pt x="94505" y="7052"/>
                  </a:lnTo>
                  <a:lnTo>
                    <a:pt x="138112" y="0"/>
                  </a:lnTo>
                  <a:lnTo>
                    <a:pt x="1443630" y="0"/>
                  </a:lnTo>
                  <a:lnTo>
                    <a:pt x="1484251" y="6095"/>
                  </a:lnTo>
                  <a:lnTo>
                    <a:pt x="1520107" y="23161"/>
                  </a:lnTo>
                  <a:lnTo>
                    <a:pt x="1549367" y="49366"/>
                  </a:lnTo>
                  <a:lnTo>
                    <a:pt x="1570202" y="82877"/>
                  </a:lnTo>
                  <a:lnTo>
                    <a:pt x="1605279" y="102088"/>
                  </a:lnTo>
                  <a:lnTo>
                    <a:pt x="1632862" y="130606"/>
                  </a:lnTo>
                  <a:lnTo>
                    <a:pt x="1650909" y="166390"/>
                  </a:lnTo>
                  <a:lnTo>
                    <a:pt x="1657379" y="207397"/>
                  </a:lnTo>
                  <a:lnTo>
                    <a:pt x="1657379" y="734305"/>
                  </a:lnTo>
                  <a:lnTo>
                    <a:pt x="1650625" y="776176"/>
                  </a:lnTo>
                  <a:lnTo>
                    <a:pt x="1631819" y="812540"/>
                  </a:lnTo>
                  <a:lnTo>
                    <a:pt x="1603143" y="841216"/>
                  </a:lnTo>
                  <a:lnTo>
                    <a:pt x="1566779" y="860022"/>
                  </a:lnTo>
                  <a:lnTo>
                    <a:pt x="1524908" y="866776"/>
                  </a:lnTo>
                  <a:close/>
                </a:path>
              </a:pathLst>
            </a:custGeom>
            <a:solidFill>
              <a:srgbClr val="000000"/>
            </a:solidFill>
          </p:spPr>
          <p:txBody>
            <a:bodyPr wrap="square" lIns="0" tIns="0" rIns="0" bIns="0" rtlCol="0"/>
            <a:lstStyle/>
            <a:p>
              <a:endParaRPr sz="1632"/>
            </a:p>
          </p:txBody>
        </p:sp>
        <p:sp>
          <p:nvSpPr>
            <p:cNvPr id="31" name="object 31"/>
            <p:cNvSpPr/>
            <p:nvPr/>
          </p:nvSpPr>
          <p:spPr>
            <a:xfrm>
              <a:off x="7042335" y="279172"/>
              <a:ext cx="1559560" cy="781050"/>
            </a:xfrm>
            <a:custGeom>
              <a:avLst/>
              <a:gdLst/>
              <a:ahLst/>
              <a:cxnLst/>
              <a:rect l="l" t="t" r="r" b="b"/>
              <a:pathLst>
                <a:path w="1559559" h="781050">
                  <a:moveTo>
                    <a:pt x="1432345" y="780562"/>
                  </a:moveTo>
                  <a:lnTo>
                    <a:pt x="126827" y="780562"/>
                  </a:lnTo>
                  <a:lnTo>
                    <a:pt x="77480" y="770589"/>
                  </a:lnTo>
                  <a:lnTo>
                    <a:pt x="37164" y="743397"/>
                  </a:lnTo>
                  <a:lnTo>
                    <a:pt x="9973" y="703082"/>
                  </a:lnTo>
                  <a:lnTo>
                    <a:pt x="0" y="653734"/>
                  </a:lnTo>
                  <a:lnTo>
                    <a:pt x="0" y="126825"/>
                  </a:lnTo>
                  <a:lnTo>
                    <a:pt x="9974" y="77479"/>
                  </a:lnTo>
                  <a:lnTo>
                    <a:pt x="37165" y="37163"/>
                  </a:lnTo>
                  <a:lnTo>
                    <a:pt x="77480" y="9973"/>
                  </a:lnTo>
                  <a:lnTo>
                    <a:pt x="126827" y="0"/>
                  </a:lnTo>
                  <a:lnTo>
                    <a:pt x="1432345" y="0"/>
                  </a:lnTo>
                  <a:lnTo>
                    <a:pt x="1481692" y="9973"/>
                  </a:lnTo>
                  <a:lnTo>
                    <a:pt x="1522008" y="37164"/>
                  </a:lnTo>
                  <a:lnTo>
                    <a:pt x="1549199" y="77480"/>
                  </a:lnTo>
                  <a:lnTo>
                    <a:pt x="1559172" y="126827"/>
                  </a:lnTo>
                  <a:lnTo>
                    <a:pt x="1559172" y="653734"/>
                  </a:lnTo>
                  <a:lnTo>
                    <a:pt x="1549199" y="703082"/>
                  </a:lnTo>
                  <a:lnTo>
                    <a:pt x="1522008" y="743397"/>
                  </a:lnTo>
                  <a:lnTo>
                    <a:pt x="1481692" y="770589"/>
                  </a:lnTo>
                  <a:lnTo>
                    <a:pt x="1432345" y="780562"/>
                  </a:lnTo>
                  <a:close/>
                </a:path>
              </a:pathLst>
            </a:custGeom>
            <a:solidFill>
              <a:srgbClr val="FFFFFF"/>
            </a:solidFill>
          </p:spPr>
          <p:txBody>
            <a:bodyPr wrap="square" lIns="0" tIns="0" rIns="0" bIns="0" rtlCol="0"/>
            <a:lstStyle/>
            <a:p>
              <a:endParaRPr sz="1632"/>
            </a:p>
          </p:txBody>
        </p:sp>
      </p:grpSp>
      <p:grpSp>
        <p:nvGrpSpPr>
          <p:cNvPr id="32" name="object 32"/>
          <p:cNvGrpSpPr/>
          <p:nvPr/>
        </p:nvGrpSpPr>
        <p:grpSpPr>
          <a:xfrm>
            <a:off x="1466137" y="5898874"/>
            <a:ext cx="7677966" cy="977164"/>
            <a:chOff x="240990" y="6505147"/>
            <a:chExt cx="8467090" cy="1077595"/>
          </a:xfrm>
        </p:grpSpPr>
        <p:sp>
          <p:nvSpPr>
            <p:cNvPr id="33" name="object 33"/>
            <p:cNvSpPr/>
            <p:nvPr/>
          </p:nvSpPr>
          <p:spPr>
            <a:xfrm>
              <a:off x="4069466" y="6562318"/>
              <a:ext cx="4618990" cy="1000760"/>
            </a:xfrm>
            <a:custGeom>
              <a:avLst/>
              <a:gdLst/>
              <a:ahLst/>
              <a:cxnLst/>
              <a:rect l="l" t="t" r="r" b="b"/>
              <a:pathLst>
                <a:path w="4618990" h="1000759">
                  <a:moveTo>
                    <a:pt x="0" y="1000532"/>
                  </a:moveTo>
                  <a:lnTo>
                    <a:pt x="0" y="0"/>
                  </a:lnTo>
                  <a:lnTo>
                    <a:pt x="4618732" y="0"/>
                  </a:lnTo>
                  <a:lnTo>
                    <a:pt x="4618733" y="1000532"/>
                  </a:lnTo>
                </a:path>
              </a:pathLst>
            </a:custGeom>
            <a:ln w="38114">
              <a:solidFill>
                <a:srgbClr val="C70F2E"/>
              </a:solidFill>
            </a:ln>
          </p:spPr>
          <p:txBody>
            <a:bodyPr wrap="square" lIns="0" tIns="0" rIns="0" bIns="0" rtlCol="0"/>
            <a:lstStyle/>
            <a:p>
              <a:endParaRPr sz="1632"/>
            </a:p>
          </p:txBody>
        </p:sp>
        <p:sp>
          <p:nvSpPr>
            <p:cNvPr id="34" name="object 34"/>
            <p:cNvSpPr/>
            <p:nvPr/>
          </p:nvSpPr>
          <p:spPr>
            <a:xfrm>
              <a:off x="240990" y="6505147"/>
              <a:ext cx="1406525" cy="732790"/>
            </a:xfrm>
            <a:custGeom>
              <a:avLst/>
              <a:gdLst/>
              <a:ahLst/>
              <a:cxnLst/>
              <a:rect l="l" t="t" r="r" b="b"/>
              <a:pathLst>
                <a:path w="1406525" h="732790">
                  <a:moveTo>
                    <a:pt x="1309062" y="732342"/>
                  </a:moveTo>
                  <a:lnTo>
                    <a:pt x="163690" y="732342"/>
                  </a:lnTo>
                  <a:lnTo>
                    <a:pt x="155694" y="731245"/>
                  </a:lnTo>
                  <a:lnTo>
                    <a:pt x="128420" y="719481"/>
                  </a:lnTo>
                  <a:lnTo>
                    <a:pt x="105459" y="701263"/>
                  </a:lnTo>
                  <a:lnTo>
                    <a:pt x="87947" y="677732"/>
                  </a:lnTo>
                  <a:lnTo>
                    <a:pt x="52894" y="662172"/>
                  </a:lnTo>
                  <a:lnTo>
                    <a:pt x="25030" y="636549"/>
                  </a:lnTo>
                  <a:lnTo>
                    <a:pt x="6638" y="603144"/>
                  </a:lnTo>
                  <a:lnTo>
                    <a:pt x="0" y="564239"/>
                  </a:lnTo>
                  <a:lnTo>
                    <a:pt x="0" y="117182"/>
                  </a:lnTo>
                  <a:lnTo>
                    <a:pt x="9223" y="71613"/>
                  </a:lnTo>
                  <a:lnTo>
                    <a:pt x="34360" y="34360"/>
                  </a:lnTo>
                  <a:lnTo>
                    <a:pt x="71613" y="9223"/>
                  </a:lnTo>
                  <a:lnTo>
                    <a:pt x="117182" y="0"/>
                  </a:lnTo>
                  <a:lnTo>
                    <a:pt x="1224855" y="0"/>
                  </a:lnTo>
                  <a:lnTo>
                    <a:pt x="1259320" y="5171"/>
                  </a:lnTo>
                  <a:lnTo>
                    <a:pt x="1289742" y="19651"/>
                  </a:lnTo>
                  <a:lnTo>
                    <a:pt x="1314568" y="41884"/>
                  </a:lnTo>
                  <a:lnTo>
                    <a:pt x="1332246" y="70317"/>
                  </a:lnTo>
                  <a:lnTo>
                    <a:pt x="1362006" y="86617"/>
                  </a:lnTo>
                  <a:lnTo>
                    <a:pt x="1385409" y="110813"/>
                  </a:lnTo>
                  <a:lnTo>
                    <a:pt x="1400722" y="141174"/>
                  </a:lnTo>
                  <a:lnTo>
                    <a:pt x="1406211" y="175967"/>
                  </a:lnTo>
                  <a:lnTo>
                    <a:pt x="1406211" y="623024"/>
                  </a:lnTo>
                  <a:lnTo>
                    <a:pt x="1397378" y="666774"/>
                  </a:lnTo>
                  <a:lnTo>
                    <a:pt x="1373291" y="702500"/>
                  </a:lnTo>
                  <a:lnTo>
                    <a:pt x="1337565" y="726587"/>
                  </a:lnTo>
                  <a:lnTo>
                    <a:pt x="1309062" y="732342"/>
                  </a:lnTo>
                  <a:close/>
                </a:path>
              </a:pathLst>
            </a:custGeom>
            <a:solidFill>
              <a:srgbClr val="000000"/>
            </a:solidFill>
          </p:spPr>
          <p:txBody>
            <a:bodyPr wrap="square" lIns="0" tIns="0" rIns="0" bIns="0" rtlCol="0"/>
            <a:lstStyle/>
            <a:p>
              <a:endParaRPr sz="1632"/>
            </a:p>
          </p:txBody>
        </p:sp>
        <p:sp>
          <p:nvSpPr>
            <p:cNvPr id="35" name="object 35"/>
            <p:cNvSpPr/>
            <p:nvPr/>
          </p:nvSpPr>
          <p:spPr>
            <a:xfrm>
              <a:off x="250565" y="6514724"/>
              <a:ext cx="1323340" cy="662305"/>
            </a:xfrm>
            <a:custGeom>
              <a:avLst/>
              <a:gdLst/>
              <a:ahLst/>
              <a:cxnLst/>
              <a:rect l="l" t="t" r="r" b="b"/>
              <a:pathLst>
                <a:path w="1323340" h="662304">
                  <a:moveTo>
                    <a:pt x="1215280" y="662272"/>
                  </a:moveTo>
                  <a:lnTo>
                    <a:pt x="107607" y="662272"/>
                  </a:lnTo>
                  <a:lnTo>
                    <a:pt x="65738" y="653810"/>
                  </a:lnTo>
                  <a:lnTo>
                    <a:pt x="31532" y="630739"/>
                  </a:lnTo>
                  <a:lnTo>
                    <a:pt x="8461" y="596533"/>
                  </a:lnTo>
                  <a:lnTo>
                    <a:pt x="0" y="554664"/>
                  </a:lnTo>
                  <a:lnTo>
                    <a:pt x="0" y="107606"/>
                  </a:lnTo>
                  <a:lnTo>
                    <a:pt x="8462" y="65737"/>
                  </a:lnTo>
                  <a:lnTo>
                    <a:pt x="31533" y="31531"/>
                  </a:lnTo>
                  <a:lnTo>
                    <a:pt x="65738" y="8461"/>
                  </a:lnTo>
                  <a:lnTo>
                    <a:pt x="107607" y="0"/>
                  </a:lnTo>
                  <a:lnTo>
                    <a:pt x="1215280" y="0"/>
                  </a:lnTo>
                  <a:lnTo>
                    <a:pt x="1257149" y="8461"/>
                  </a:lnTo>
                  <a:lnTo>
                    <a:pt x="1291355" y="31532"/>
                  </a:lnTo>
                  <a:lnTo>
                    <a:pt x="1314425" y="65738"/>
                  </a:lnTo>
                  <a:lnTo>
                    <a:pt x="1322887" y="107607"/>
                  </a:lnTo>
                  <a:lnTo>
                    <a:pt x="1322887" y="554664"/>
                  </a:lnTo>
                  <a:lnTo>
                    <a:pt x="1314425" y="596533"/>
                  </a:lnTo>
                  <a:lnTo>
                    <a:pt x="1291355" y="630739"/>
                  </a:lnTo>
                  <a:lnTo>
                    <a:pt x="1257149" y="653810"/>
                  </a:lnTo>
                  <a:lnTo>
                    <a:pt x="1215280" y="662272"/>
                  </a:lnTo>
                  <a:close/>
                </a:path>
              </a:pathLst>
            </a:custGeom>
            <a:solidFill>
              <a:srgbClr val="FFFFFF"/>
            </a:solidFill>
          </p:spPr>
          <p:txBody>
            <a:bodyPr wrap="square" lIns="0" tIns="0" rIns="0" bIns="0" rtlCol="0"/>
            <a:lstStyle/>
            <a:p>
              <a:endParaRPr sz="1632"/>
            </a:p>
          </p:txBody>
        </p:sp>
      </p:grpSp>
      <p:grpSp>
        <p:nvGrpSpPr>
          <p:cNvPr id="36" name="object 36"/>
          <p:cNvGrpSpPr/>
          <p:nvPr/>
        </p:nvGrpSpPr>
        <p:grpSpPr>
          <a:xfrm>
            <a:off x="1284002" y="4577735"/>
            <a:ext cx="6793508" cy="1109603"/>
            <a:chOff x="40135" y="5048224"/>
            <a:chExt cx="7491730" cy="1223645"/>
          </a:xfrm>
        </p:grpSpPr>
        <p:sp>
          <p:nvSpPr>
            <p:cNvPr id="37" name="object 37"/>
            <p:cNvSpPr/>
            <p:nvPr/>
          </p:nvSpPr>
          <p:spPr>
            <a:xfrm>
              <a:off x="4042078" y="5067592"/>
              <a:ext cx="3470910" cy="283210"/>
            </a:xfrm>
            <a:custGeom>
              <a:avLst/>
              <a:gdLst/>
              <a:ahLst/>
              <a:cxnLst/>
              <a:rect l="l" t="t" r="r" b="b"/>
              <a:pathLst>
                <a:path w="3470909" h="283210">
                  <a:moveTo>
                    <a:pt x="0" y="0"/>
                  </a:moveTo>
                  <a:lnTo>
                    <a:pt x="3470301" y="0"/>
                  </a:lnTo>
                  <a:lnTo>
                    <a:pt x="3470301" y="282731"/>
                  </a:lnTo>
                  <a:lnTo>
                    <a:pt x="0" y="282731"/>
                  </a:lnTo>
                  <a:lnTo>
                    <a:pt x="0" y="0"/>
                  </a:lnTo>
                  <a:close/>
                </a:path>
              </a:pathLst>
            </a:custGeom>
            <a:ln w="38114">
              <a:solidFill>
                <a:srgbClr val="C70F2E"/>
              </a:solidFill>
            </a:ln>
          </p:spPr>
          <p:txBody>
            <a:bodyPr wrap="square" lIns="0" tIns="0" rIns="0" bIns="0" rtlCol="0"/>
            <a:lstStyle/>
            <a:p>
              <a:endParaRPr sz="1632"/>
            </a:p>
          </p:txBody>
        </p:sp>
        <p:sp>
          <p:nvSpPr>
            <p:cNvPr id="38" name="object 38"/>
            <p:cNvSpPr/>
            <p:nvPr/>
          </p:nvSpPr>
          <p:spPr>
            <a:xfrm>
              <a:off x="40135" y="5239964"/>
              <a:ext cx="1972945" cy="1031875"/>
            </a:xfrm>
            <a:custGeom>
              <a:avLst/>
              <a:gdLst/>
              <a:ahLst/>
              <a:cxnLst/>
              <a:rect l="l" t="t" r="r" b="b"/>
              <a:pathLst>
                <a:path w="1972945" h="1031875">
                  <a:moveTo>
                    <a:pt x="1815040" y="1031690"/>
                  </a:moveTo>
                  <a:lnTo>
                    <a:pt x="261134" y="1031690"/>
                  </a:lnTo>
                  <a:lnTo>
                    <a:pt x="218417" y="1025834"/>
                  </a:lnTo>
                  <a:lnTo>
                    <a:pt x="180156" y="1009330"/>
                  </a:lnTo>
                  <a:lnTo>
                    <a:pt x="147945" y="983773"/>
                  </a:lnTo>
                  <a:lnTo>
                    <a:pt x="123377" y="950762"/>
                  </a:lnTo>
                  <a:lnTo>
                    <a:pt x="83333" y="934532"/>
                  </a:lnTo>
                  <a:lnTo>
                    <a:pt x="49334" y="908856"/>
                  </a:lnTo>
                  <a:lnTo>
                    <a:pt x="23019" y="875374"/>
                  </a:lnTo>
                  <a:lnTo>
                    <a:pt x="6028" y="835725"/>
                  </a:lnTo>
                  <a:lnTo>
                    <a:pt x="0" y="791548"/>
                  </a:lnTo>
                  <a:lnTo>
                    <a:pt x="0" y="164390"/>
                  </a:lnTo>
                  <a:lnTo>
                    <a:pt x="5882" y="120739"/>
                  </a:lnTo>
                  <a:lnTo>
                    <a:pt x="22476" y="81484"/>
                  </a:lnTo>
                  <a:lnTo>
                    <a:pt x="48203" y="48203"/>
                  </a:lnTo>
                  <a:lnTo>
                    <a:pt x="81484" y="22476"/>
                  </a:lnTo>
                  <a:lnTo>
                    <a:pt x="120739" y="5882"/>
                  </a:lnTo>
                  <a:lnTo>
                    <a:pt x="164390" y="0"/>
                  </a:lnTo>
                  <a:lnTo>
                    <a:pt x="1718298" y="0"/>
                  </a:lnTo>
                  <a:lnTo>
                    <a:pt x="1766649" y="7255"/>
                  </a:lnTo>
                  <a:lnTo>
                    <a:pt x="1809326" y="27568"/>
                  </a:lnTo>
                  <a:lnTo>
                    <a:pt x="1844153" y="58758"/>
                  </a:lnTo>
                  <a:lnTo>
                    <a:pt x="1868953" y="98645"/>
                  </a:lnTo>
                  <a:lnTo>
                    <a:pt x="1910703" y="121511"/>
                  </a:lnTo>
                  <a:lnTo>
                    <a:pt x="1943534" y="155455"/>
                  </a:lnTo>
                  <a:lnTo>
                    <a:pt x="1965015" y="198047"/>
                  </a:lnTo>
                  <a:lnTo>
                    <a:pt x="1972715" y="246857"/>
                  </a:lnTo>
                  <a:lnTo>
                    <a:pt x="1972715" y="874015"/>
                  </a:lnTo>
                  <a:lnTo>
                    <a:pt x="1964677" y="923853"/>
                  </a:lnTo>
                  <a:lnTo>
                    <a:pt x="1942293" y="967136"/>
                  </a:lnTo>
                  <a:lnTo>
                    <a:pt x="1908161" y="1001268"/>
                  </a:lnTo>
                  <a:lnTo>
                    <a:pt x="1864878" y="1023652"/>
                  </a:lnTo>
                  <a:lnTo>
                    <a:pt x="1815040" y="1031690"/>
                  </a:lnTo>
                  <a:close/>
                </a:path>
              </a:pathLst>
            </a:custGeom>
            <a:solidFill>
              <a:srgbClr val="000000"/>
            </a:solidFill>
          </p:spPr>
          <p:txBody>
            <a:bodyPr wrap="square" lIns="0" tIns="0" rIns="0" bIns="0" rtlCol="0"/>
            <a:lstStyle/>
            <a:p>
              <a:endParaRPr sz="1632"/>
            </a:p>
          </p:txBody>
        </p:sp>
        <p:sp>
          <p:nvSpPr>
            <p:cNvPr id="39" name="object 39"/>
            <p:cNvSpPr/>
            <p:nvPr/>
          </p:nvSpPr>
          <p:spPr>
            <a:xfrm>
              <a:off x="53568" y="5253398"/>
              <a:ext cx="1856105" cy="929640"/>
            </a:xfrm>
            <a:custGeom>
              <a:avLst/>
              <a:gdLst/>
              <a:ahLst/>
              <a:cxnLst/>
              <a:rect l="l" t="t" r="r" b="b"/>
              <a:pathLst>
                <a:path w="1856105" h="929639">
                  <a:moveTo>
                    <a:pt x="1704866" y="929074"/>
                  </a:moveTo>
                  <a:lnTo>
                    <a:pt x="150958" y="929074"/>
                  </a:lnTo>
                  <a:lnTo>
                    <a:pt x="103265" y="921372"/>
                  </a:lnTo>
                  <a:lnTo>
                    <a:pt x="61828" y="899931"/>
                  </a:lnTo>
                  <a:lnTo>
                    <a:pt x="29142" y="867245"/>
                  </a:lnTo>
                  <a:lnTo>
                    <a:pt x="7701" y="825808"/>
                  </a:lnTo>
                  <a:lnTo>
                    <a:pt x="0" y="778116"/>
                  </a:lnTo>
                  <a:lnTo>
                    <a:pt x="0" y="150956"/>
                  </a:lnTo>
                  <a:lnTo>
                    <a:pt x="7702" y="103263"/>
                  </a:lnTo>
                  <a:lnTo>
                    <a:pt x="29143" y="61827"/>
                  </a:lnTo>
                  <a:lnTo>
                    <a:pt x="61829" y="29141"/>
                  </a:lnTo>
                  <a:lnTo>
                    <a:pt x="103265" y="7701"/>
                  </a:lnTo>
                  <a:lnTo>
                    <a:pt x="150958" y="0"/>
                  </a:lnTo>
                  <a:lnTo>
                    <a:pt x="1704866" y="0"/>
                  </a:lnTo>
                  <a:lnTo>
                    <a:pt x="1752559" y="7701"/>
                  </a:lnTo>
                  <a:lnTo>
                    <a:pt x="1793996" y="29142"/>
                  </a:lnTo>
                  <a:lnTo>
                    <a:pt x="1826682" y="61828"/>
                  </a:lnTo>
                  <a:lnTo>
                    <a:pt x="1848123" y="103265"/>
                  </a:lnTo>
                  <a:lnTo>
                    <a:pt x="1855824" y="150958"/>
                  </a:lnTo>
                  <a:lnTo>
                    <a:pt x="1855824" y="778116"/>
                  </a:lnTo>
                  <a:lnTo>
                    <a:pt x="1848123" y="825808"/>
                  </a:lnTo>
                  <a:lnTo>
                    <a:pt x="1826682" y="867245"/>
                  </a:lnTo>
                  <a:lnTo>
                    <a:pt x="1793996" y="899931"/>
                  </a:lnTo>
                  <a:lnTo>
                    <a:pt x="1752559" y="921372"/>
                  </a:lnTo>
                  <a:lnTo>
                    <a:pt x="1704866" y="929074"/>
                  </a:lnTo>
                  <a:close/>
                </a:path>
              </a:pathLst>
            </a:custGeom>
            <a:solidFill>
              <a:srgbClr val="FFFFFF"/>
            </a:solidFill>
          </p:spPr>
          <p:txBody>
            <a:bodyPr wrap="square" lIns="0" tIns="0" rIns="0" bIns="0" rtlCol="0"/>
            <a:lstStyle/>
            <a:p>
              <a:endParaRPr sz="1632"/>
            </a:p>
          </p:txBody>
        </p:sp>
      </p:grpSp>
      <p:grpSp>
        <p:nvGrpSpPr>
          <p:cNvPr id="40" name="object 40"/>
          <p:cNvGrpSpPr/>
          <p:nvPr/>
        </p:nvGrpSpPr>
        <p:grpSpPr>
          <a:xfrm>
            <a:off x="9299196" y="773445"/>
            <a:ext cx="1555286" cy="4665858"/>
            <a:chOff x="8879113" y="852937"/>
            <a:chExt cx="1715135" cy="5145405"/>
          </a:xfrm>
        </p:grpSpPr>
        <p:sp>
          <p:nvSpPr>
            <p:cNvPr id="41" name="object 41"/>
            <p:cNvSpPr/>
            <p:nvPr/>
          </p:nvSpPr>
          <p:spPr>
            <a:xfrm>
              <a:off x="8898170" y="3210289"/>
              <a:ext cx="1677035" cy="2768600"/>
            </a:xfrm>
            <a:custGeom>
              <a:avLst/>
              <a:gdLst/>
              <a:ahLst/>
              <a:cxnLst/>
              <a:rect l="l" t="t" r="r" b="b"/>
              <a:pathLst>
                <a:path w="1677034" h="2768600">
                  <a:moveTo>
                    <a:pt x="0" y="0"/>
                  </a:moveTo>
                  <a:lnTo>
                    <a:pt x="1676436" y="0"/>
                  </a:lnTo>
                  <a:lnTo>
                    <a:pt x="1676436" y="2768437"/>
                  </a:lnTo>
                  <a:lnTo>
                    <a:pt x="0" y="2768437"/>
                  </a:lnTo>
                  <a:lnTo>
                    <a:pt x="0" y="0"/>
                  </a:lnTo>
                  <a:close/>
                </a:path>
              </a:pathLst>
            </a:custGeom>
            <a:ln w="38114">
              <a:solidFill>
                <a:srgbClr val="C70F2E"/>
              </a:solidFill>
            </a:ln>
          </p:spPr>
          <p:txBody>
            <a:bodyPr wrap="square" lIns="0" tIns="0" rIns="0" bIns="0" rtlCol="0"/>
            <a:lstStyle/>
            <a:p>
              <a:endParaRPr sz="1632"/>
            </a:p>
          </p:txBody>
        </p:sp>
        <p:sp>
          <p:nvSpPr>
            <p:cNvPr id="42" name="object 42"/>
            <p:cNvSpPr/>
            <p:nvPr/>
          </p:nvSpPr>
          <p:spPr>
            <a:xfrm>
              <a:off x="10140391" y="905332"/>
              <a:ext cx="55880" cy="2305050"/>
            </a:xfrm>
            <a:custGeom>
              <a:avLst/>
              <a:gdLst/>
              <a:ahLst/>
              <a:cxnLst/>
              <a:rect l="l" t="t" r="r" b="b"/>
              <a:pathLst>
                <a:path w="55879" h="2305050">
                  <a:moveTo>
                    <a:pt x="55407" y="2304884"/>
                  </a:moveTo>
                  <a:lnTo>
                    <a:pt x="0" y="0"/>
                  </a:lnTo>
                </a:path>
              </a:pathLst>
            </a:custGeom>
            <a:ln w="19057">
              <a:solidFill>
                <a:srgbClr val="C70F2E"/>
              </a:solidFill>
            </a:ln>
          </p:spPr>
          <p:txBody>
            <a:bodyPr wrap="square" lIns="0" tIns="0" rIns="0" bIns="0" rtlCol="0"/>
            <a:lstStyle/>
            <a:p>
              <a:endParaRPr sz="1632"/>
            </a:p>
          </p:txBody>
        </p:sp>
        <p:sp>
          <p:nvSpPr>
            <p:cNvPr id="43" name="object 43"/>
            <p:cNvSpPr/>
            <p:nvPr/>
          </p:nvSpPr>
          <p:spPr>
            <a:xfrm>
              <a:off x="10111699" y="862466"/>
              <a:ext cx="57150" cy="39370"/>
            </a:xfrm>
            <a:custGeom>
              <a:avLst/>
              <a:gdLst/>
              <a:ahLst/>
              <a:cxnLst/>
              <a:rect l="l" t="t" r="r" b="b"/>
              <a:pathLst>
                <a:path w="57150" h="39369">
                  <a:moveTo>
                    <a:pt x="57155" y="37416"/>
                  </a:moveTo>
                  <a:lnTo>
                    <a:pt x="0" y="38790"/>
                  </a:lnTo>
                  <a:lnTo>
                    <a:pt x="27661" y="0"/>
                  </a:lnTo>
                  <a:lnTo>
                    <a:pt x="57155" y="37416"/>
                  </a:lnTo>
                  <a:close/>
                </a:path>
              </a:pathLst>
            </a:custGeom>
            <a:solidFill>
              <a:srgbClr val="C70F2E"/>
            </a:solidFill>
          </p:spPr>
          <p:txBody>
            <a:bodyPr wrap="square" lIns="0" tIns="0" rIns="0" bIns="0" rtlCol="0"/>
            <a:lstStyle/>
            <a:p>
              <a:endParaRPr sz="1632"/>
            </a:p>
          </p:txBody>
        </p:sp>
        <p:sp>
          <p:nvSpPr>
            <p:cNvPr id="44" name="object 44"/>
            <p:cNvSpPr/>
            <p:nvPr/>
          </p:nvSpPr>
          <p:spPr>
            <a:xfrm>
              <a:off x="10111699" y="862466"/>
              <a:ext cx="57150" cy="39370"/>
            </a:xfrm>
            <a:custGeom>
              <a:avLst/>
              <a:gdLst/>
              <a:ahLst/>
              <a:cxnLst/>
              <a:rect l="l" t="t" r="r" b="b"/>
              <a:pathLst>
                <a:path w="57150" h="39369">
                  <a:moveTo>
                    <a:pt x="0" y="38790"/>
                  </a:moveTo>
                  <a:lnTo>
                    <a:pt x="27661" y="0"/>
                  </a:lnTo>
                  <a:lnTo>
                    <a:pt x="57155" y="37416"/>
                  </a:lnTo>
                  <a:lnTo>
                    <a:pt x="0" y="38790"/>
                  </a:lnTo>
                  <a:close/>
                </a:path>
              </a:pathLst>
            </a:custGeom>
            <a:ln w="19057">
              <a:solidFill>
                <a:srgbClr val="C70F2E"/>
              </a:solidFill>
            </a:ln>
          </p:spPr>
          <p:txBody>
            <a:bodyPr wrap="square" lIns="0" tIns="0" rIns="0" bIns="0" rtlCol="0"/>
            <a:lstStyle/>
            <a:p>
              <a:endParaRPr sz="1632"/>
            </a:p>
          </p:txBody>
        </p:sp>
      </p:grpSp>
      <p:sp>
        <p:nvSpPr>
          <p:cNvPr id="45" name="object 45"/>
          <p:cNvSpPr txBox="1"/>
          <p:nvPr/>
        </p:nvSpPr>
        <p:spPr>
          <a:xfrm>
            <a:off x="6021983" y="305126"/>
            <a:ext cx="1246072" cy="382880"/>
          </a:xfrm>
          <a:prstGeom prst="rect">
            <a:avLst/>
          </a:prstGeom>
        </p:spPr>
        <p:txBody>
          <a:bodyPr vert="horz" wrap="square" lIns="0" tIns="36277" rIns="0" bIns="0" rtlCol="0">
            <a:spAutoFit/>
          </a:bodyPr>
          <a:lstStyle/>
          <a:p>
            <a:pPr marL="11516" marR="4607">
              <a:lnSpc>
                <a:spcPts val="889"/>
              </a:lnSpc>
              <a:spcBef>
                <a:spcPts val="286"/>
              </a:spcBef>
            </a:pPr>
            <a:r>
              <a:rPr sz="907" b="1" spc="-23" dirty="0">
                <a:latin typeface="Times New Roman"/>
                <a:cs typeface="Times New Roman"/>
              </a:rPr>
              <a:t>Other</a:t>
            </a:r>
            <a:r>
              <a:rPr sz="907" b="1" spc="-18" dirty="0">
                <a:latin typeface="Times New Roman"/>
                <a:cs typeface="Times New Roman"/>
              </a:rPr>
              <a:t> Citing</a:t>
            </a:r>
            <a:r>
              <a:rPr sz="907" b="1" spc="-14" dirty="0">
                <a:latin typeface="Times New Roman"/>
                <a:cs typeface="Times New Roman"/>
              </a:rPr>
              <a:t> </a:t>
            </a:r>
            <a:r>
              <a:rPr sz="907" b="1" spc="-18" dirty="0">
                <a:latin typeface="Times New Roman"/>
                <a:cs typeface="Times New Roman"/>
              </a:rPr>
              <a:t>Sources</a:t>
            </a:r>
            <a:r>
              <a:rPr sz="907" b="1" spc="-14" dirty="0">
                <a:latin typeface="Times New Roman"/>
                <a:cs typeface="Times New Roman"/>
              </a:rPr>
              <a:t> </a:t>
            </a:r>
            <a:r>
              <a:rPr sz="907" spc="-18" dirty="0">
                <a:latin typeface="Times New Roman"/>
                <a:cs typeface="Times New Roman"/>
              </a:rPr>
              <a:t>lists </a:t>
            </a:r>
            <a:r>
              <a:rPr sz="907" spc="-9" dirty="0">
                <a:latin typeface="Times New Roman"/>
                <a:cs typeface="Times New Roman"/>
              </a:rPr>
              <a:t>all</a:t>
            </a:r>
            <a:r>
              <a:rPr sz="907" spc="-5" dirty="0">
                <a:latin typeface="Times New Roman"/>
                <a:cs typeface="Times New Roman"/>
              </a:rPr>
              <a:t> </a:t>
            </a:r>
            <a:r>
              <a:rPr sz="907" dirty="0">
                <a:latin typeface="Times New Roman"/>
                <a:cs typeface="Times New Roman"/>
              </a:rPr>
              <a:t>the non-</a:t>
            </a:r>
            <a:r>
              <a:rPr sz="907" spc="-18" dirty="0">
                <a:latin typeface="Times New Roman"/>
                <a:cs typeface="Times New Roman"/>
              </a:rPr>
              <a:t>case</a:t>
            </a:r>
            <a:r>
              <a:rPr sz="907" dirty="0">
                <a:latin typeface="Times New Roman"/>
                <a:cs typeface="Times New Roman"/>
              </a:rPr>
              <a:t> </a:t>
            </a:r>
            <a:r>
              <a:rPr sz="907" spc="-9" dirty="0">
                <a:latin typeface="Times New Roman"/>
                <a:cs typeface="Times New Roman"/>
              </a:rPr>
              <a:t>sources </a:t>
            </a:r>
            <a:r>
              <a:rPr sz="907" dirty="0">
                <a:latin typeface="Times New Roman"/>
                <a:cs typeface="Times New Roman"/>
              </a:rPr>
              <a:t>that</a:t>
            </a:r>
            <a:r>
              <a:rPr sz="907" spc="9" dirty="0">
                <a:latin typeface="Times New Roman"/>
                <a:cs typeface="Times New Roman"/>
              </a:rPr>
              <a:t> </a:t>
            </a:r>
            <a:r>
              <a:rPr sz="907" spc="-9" dirty="0">
                <a:latin typeface="Times New Roman"/>
                <a:cs typeface="Times New Roman"/>
              </a:rPr>
              <a:t>cite</a:t>
            </a:r>
            <a:r>
              <a:rPr sz="907" spc="9"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sp>
        <p:nvSpPr>
          <p:cNvPr id="46" name="object 46"/>
          <p:cNvSpPr txBox="1"/>
          <p:nvPr/>
        </p:nvSpPr>
        <p:spPr>
          <a:xfrm>
            <a:off x="7773594" y="424409"/>
            <a:ext cx="1189065" cy="382880"/>
          </a:xfrm>
          <a:prstGeom prst="rect">
            <a:avLst/>
          </a:prstGeom>
        </p:spPr>
        <p:txBody>
          <a:bodyPr vert="horz" wrap="square" lIns="0" tIns="36277" rIns="0" bIns="0" rtlCol="0">
            <a:spAutoFit/>
          </a:bodyPr>
          <a:lstStyle/>
          <a:p>
            <a:pPr marL="11516" marR="4607">
              <a:lnSpc>
                <a:spcPts val="889"/>
              </a:lnSpc>
              <a:spcBef>
                <a:spcPts val="286"/>
              </a:spcBef>
            </a:pPr>
            <a:r>
              <a:rPr sz="907" spc="-23" dirty="0">
                <a:latin typeface="Times New Roman"/>
                <a:cs typeface="Times New Roman"/>
              </a:rPr>
              <a:t>The</a:t>
            </a:r>
            <a:r>
              <a:rPr sz="907" spc="-41" dirty="0">
                <a:latin typeface="Times New Roman"/>
                <a:cs typeface="Times New Roman"/>
              </a:rPr>
              <a:t> </a:t>
            </a:r>
            <a:r>
              <a:rPr sz="907" b="1" spc="-27" dirty="0">
                <a:latin typeface="Times New Roman"/>
                <a:cs typeface="Times New Roman"/>
              </a:rPr>
              <a:t>Table</a:t>
            </a:r>
            <a:r>
              <a:rPr sz="907" b="1" spc="-36" dirty="0">
                <a:latin typeface="Times New Roman"/>
                <a:cs typeface="Times New Roman"/>
              </a:rPr>
              <a:t> </a:t>
            </a:r>
            <a:r>
              <a:rPr sz="907" b="1" dirty="0">
                <a:latin typeface="Times New Roman"/>
                <a:cs typeface="Times New Roman"/>
              </a:rPr>
              <a:t>of</a:t>
            </a:r>
            <a:r>
              <a:rPr sz="907" b="1" spc="-36" dirty="0">
                <a:latin typeface="Times New Roman"/>
                <a:cs typeface="Times New Roman"/>
              </a:rPr>
              <a:t> </a:t>
            </a:r>
            <a:r>
              <a:rPr sz="907" b="1" spc="-9" dirty="0">
                <a:latin typeface="Times New Roman"/>
                <a:cs typeface="Times New Roman"/>
              </a:rPr>
              <a:t>Authorities </a:t>
            </a:r>
            <a:r>
              <a:rPr sz="907" spc="-9" dirty="0">
                <a:latin typeface="Times New Roman"/>
                <a:cs typeface="Times New Roman"/>
              </a:rPr>
              <a:t>is</a:t>
            </a:r>
            <a:r>
              <a:rPr sz="907" spc="-41" dirty="0">
                <a:latin typeface="Times New Roman"/>
                <a:cs typeface="Times New Roman"/>
              </a:rPr>
              <a:t> </a:t>
            </a:r>
            <a:r>
              <a:rPr sz="907" dirty="0">
                <a:latin typeface="Times New Roman"/>
                <a:cs typeface="Times New Roman"/>
              </a:rPr>
              <a:t>a</a:t>
            </a:r>
            <a:r>
              <a:rPr sz="907" spc="-36" dirty="0">
                <a:latin typeface="Times New Roman"/>
                <a:cs typeface="Times New Roman"/>
              </a:rPr>
              <a:t> </a:t>
            </a:r>
            <a:r>
              <a:rPr sz="907" dirty="0">
                <a:latin typeface="Times New Roman"/>
                <a:cs typeface="Times New Roman"/>
              </a:rPr>
              <a:t>list</a:t>
            </a:r>
            <a:r>
              <a:rPr sz="907" spc="-41" dirty="0">
                <a:latin typeface="Times New Roman"/>
                <a:cs typeface="Times New Roman"/>
              </a:rPr>
              <a:t> </a:t>
            </a:r>
            <a:r>
              <a:rPr sz="907" spc="-32" dirty="0">
                <a:latin typeface="Times New Roman"/>
                <a:cs typeface="Times New Roman"/>
              </a:rPr>
              <a:t>of</a:t>
            </a:r>
            <a:r>
              <a:rPr sz="907" spc="-36" dirty="0">
                <a:latin typeface="Times New Roman"/>
                <a:cs typeface="Times New Roman"/>
              </a:rPr>
              <a:t> </a:t>
            </a:r>
            <a:r>
              <a:rPr sz="907" spc="-9" dirty="0">
                <a:latin typeface="Times New Roman"/>
                <a:cs typeface="Times New Roman"/>
              </a:rPr>
              <a:t>all</a:t>
            </a:r>
            <a:r>
              <a:rPr sz="907" spc="-36" dirty="0">
                <a:latin typeface="Times New Roman"/>
                <a:cs typeface="Times New Roman"/>
              </a:rPr>
              <a:t> </a:t>
            </a:r>
            <a:r>
              <a:rPr sz="907" dirty="0">
                <a:latin typeface="Times New Roman"/>
                <a:cs typeface="Times New Roman"/>
              </a:rPr>
              <a:t>the</a:t>
            </a:r>
            <a:r>
              <a:rPr sz="907" spc="-41" dirty="0">
                <a:latin typeface="Times New Roman"/>
                <a:cs typeface="Times New Roman"/>
              </a:rPr>
              <a:t> </a:t>
            </a:r>
            <a:r>
              <a:rPr sz="907" spc="-9" dirty="0">
                <a:latin typeface="Times New Roman"/>
                <a:cs typeface="Times New Roman"/>
              </a:rPr>
              <a:t>sources cited</a:t>
            </a:r>
            <a:r>
              <a:rPr sz="907" spc="-18" dirty="0">
                <a:latin typeface="Times New Roman"/>
                <a:cs typeface="Times New Roman"/>
              </a:rPr>
              <a:t> </a:t>
            </a:r>
            <a:r>
              <a:rPr sz="907" dirty="0">
                <a:latin typeface="Times New Roman"/>
                <a:cs typeface="Times New Roman"/>
              </a:rPr>
              <a:t>in</a:t>
            </a:r>
            <a:r>
              <a:rPr sz="907" spc="-18" dirty="0">
                <a:latin typeface="Times New Roman"/>
                <a:cs typeface="Times New Roman"/>
              </a:rPr>
              <a:t> </a:t>
            </a:r>
            <a:r>
              <a:rPr sz="907" dirty="0">
                <a:latin typeface="Times New Roman"/>
                <a:cs typeface="Times New Roman"/>
              </a:rPr>
              <a:t>the</a:t>
            </a:r>
            <a:r>
              <a:rPr sz="907" spc="-18"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grpSp>
        <p:nvGrpSpPr>
          <p:cNvPr id="47" name="object 47"/>
          <p:cNvGrpSpPr/>
          <p:nvPr/>
        </p:nvGrpSpPr>
        <p:grpSpPr>
          <a:xfrm>
            <a:off x="1301243" y="2531465"/>
            <a:ext cx="1789069" cy="1963542"/>
            <a:chOff x="59148" y="2791644"/>
            <a:chExt cx="1972945" cy="2165350"/>
          </a:xfrm>
        </p:grpSpPr>
        <p:sp>
          <p:nvSpPr>
            <p:cNvPr id="48" name="object 48"/>
            <p:cNvSpPr/>
            <p:nvPr/>
          </p:nvSpPr>
          <p:spPr>
            <a:xfrm>
              <a:off x="133884" y="2791644"/>
              <a:ext cx="1600835" cy="837565"/>
            </a:xfrm>
            <a:custGeom>
              <a:avLst/>
              <a:gdLst/>
              <a:ahLst/>
              <a:cxnLst/>
              <a:rect l="l" t="t" r="r" b="b"/>
              <a:pathLst>
                <a:path w="1600835" h="837564">
                  <a:moveTo>
                    <a:pt x="1472854" y="837187"/>
                  </a:moveTo>
                  <a:lnTo>
                    <a:pt x="211903" y="837187"/>
                  </a:lnTo>
                  <a:lnTo>
                    <a:pt x="177239" y="832435"/>
                  </a:lnTo>
                  <a:lnTo>
                    <a:pt x="146191" y="819042"/>
                  </a:lnTo>
                  <a:lnTo>
                    <a:pt x="120053" y="798304"/>
                  </a:lnTo>
                  <a:lnTo>
                    <a:pt x="100117" y="771516"/>
                  </a:lnTo>
                  <a:lnTo>
                    <a:pt x="60213" y="753804"/>
                  </a:lnTo>
                  <a:lnTo>
                    <a:pt x="28494" y="724635"/>
                  </a:lnTo>
                  <a:lnTo>
                    <a:pt x="7556" y="686607"/>
                  </a:lnTo>
                  <a:lnTo>
                    <a:pt x="0" y="642319"/>
                  </a:lnTo>
                  <a:lnTo>
                    <a:pt x="0" y="133398"/>
                  </a:lnTo>
                  <a:lnTo>
                    <a:pt x="6812" y="91279"/>
                  </a:lnTo>
                  <a:lnTo>
                    <a:pt x="25772" y="54666"/>
                  </a:lnTo>
                  <a:lnTo>
                    <a:pt x="54666" y="25772"/>
                  </a:lnTo>
                  <a:lnTo>
                    <a:pt x="91279" y="6812"/>
                  </a:lnTo>
                  <a:lnTo>
                    <a:pt x="133398" y="0"/>
                  </a:lnTo>
                  <a:lnTo>
                    <a:pt x="1394350" y="0"/>
                  </a:lnTo>
                  <a:lnTo>
                    <a:pt x="1433585" y="5887"/>
                  </a:lnTo>
                  <a:lnTo>
                    <a:pt x="1468217" y="22371"/>
                  </a:lnTo>
                  <a:lnTo>
                    <a:pt x="1496478" y="47680"/>
                  </a:lnTo>
                  <a:lnTo>
                    <a:pt x="1516602" y="80048"/>
                  </a:lnTo>
                  <a:lnTo>
                    <a:pt x="1550481" y="98603"/>
                  </a:lnTo>
                  <a:lnTo>
                    <a:pt x="1577122" y="126148"/>
                  </a:lnTo>
                  <a:lnTo>
                    <a:pt x="1594554" y="160710"/>
                  </a:lnTo>
                  <a:lnTo>
                    <a:pt x="1600803" y="200318"/>
                  </a:lnTo>
                  <a:lnTo>
                    <a:pt x="1600803" y="709238"/>
                  </a:lnTo>
                  <a:lnTo>
                    <a:pt x="1590748" y="759042"/>
                  </a:lnTo>
                  <a:lnTo>
                    <a:pt x="1563327" y="799712"/>
                  </a:lnTo>
                  <a:lnTo>
                    <a:pt x="1522657" y="827133"/>
                  </a:lnTo>
                  <a:lnTo>
                    <a:pt x="1472854" y="837187"/>
                  </a:lnTo>
                  <a:close/>
                </a:path>
              </a:pathLst>
            </a:custGeom>
            <a:solidFill>
              <a:srgbClr val="000000"/>
            </a:solidFill>
          </p:spPr>
          <p:txBody>
            <a:bodyPr wrap="square" lIns="0" tIns="0" rIns="0" bIns="0" rtlCol="0"/>
            <a:lstStyle/>
            <a:p>
              <a:endParaRPr sz="1632"/>
            </a:p>
          </p:txBody>
        </p:sp>
        <p:sp>
          <p:nvSpPr>
            <p:cNvPr id="49" name="object 49"/>
            <p:cNvSpPr/>
            <p:nvPr/>
          </p:nvSpPr>
          <p:spPr>
            <a:xfrm>
              <a:off x="144784" y="2802545"/>
              <a:ext cx="1506220" cy="754380"/>
            </a:xfrm>
            <a:custGeom>
              <a:avLst/>
              <a:gdLst/>
              <a:ahLst/>
              <a:cxnLst/>
              <a:rect l="l" t="t" r="r" b="b"/>
              <a:pathLst>
                <a:path w="1506220" h="754379">
                  <a:moveTo>
                    <a:pt x="1383450" y="753917"/>
                  </a:moveTo>
                  <a:lnTo>
                    <a:pt x="122498" y="753917"/>
                  </a:lnTo>
                  <a:lnTo>
                    <a:pt x="74835" y="744284"/>
                  </a:lnTo>
                  <a:lnTo>
                    <a:pt x="35896" y="718021"/>
                  </a:lnTo>
                  <a:lnTo>
                    <a:pt x="9632" y="679081"/>
                  </a:lnTo>
                  <a:lnTo>
                    <a:pt x="0" y="631419"/>
                  </a:lnTo>
                  <a:lnTo>
                    <a:pt x="0" y="122496"/>
                  </a:lnTo>
                  <a:lnTo>
                    <a:pt x="9633" y="74834"/>
                  </a:lnTo>
                  <a:lnTo>
                    <a:pt x="35896" y="35895"/>
                  </a:lnTo>
                  <a:lnTo>
                    <a:pt x="74835" y="9632"/>
                  </a:lnTo>
                  <a:lnTo>
                    <a:pt x="122498" y="0"/>
                  </a:lnTo>
                  <a:lnTo>
                    <a:pt x="1383450" y="0"/>
                  </a:lnTo>
                  <a:lnTo>
                    <a:pt x="1431113" y="9632"/>
                  </a:lnTo>
                  <a:lnTo>
                    <a:pt x="1470053" y="35896"/>
                  </a:lnTo>
                  <a:lnTo>
                    <a:pt x="1496316" y="74835"/>
                  </a:lnTo>
                  <a:lnTo>
                    <a:pt x="1505949" y="122498"/>
                  </a:lnTo>
                  <a:lnTo>
                    <a:pt x="1505949" y="631419"/>
                  </a:lnTo>
                  <a:lnTo>
                    <a:pt x="1496316" y="679081"/>
                  </a:lnTo>
                  <a:lnTo>
                    <a:pt x="1470053" y="718021"/>
                  </a:lnTo>
                  <a:lnTo>
                    <a:pt x="1431113" y="744284"/>
                  </a:lnTo>
                  <a:lnTo>
                    <a:pt x="1383450" y="753917"/>
                  </a:lnTo>
                  <a:close/>
                </a:path>
              </a:pathLst>
            </a:custGeom>
            <a:solidFill>
              <a:srgbClr val="FFFFFF"/>
            </a:solidFill>
          </p:spPr>
          <p:txBody>
            <a:bodyPr wrap="square" lIns="0" tIns="0" rIns="0" bIns="0" rtlCol="0"/>
            <a:lstStyle/>
            <a:p>
              <a:endParaRPr sz="1632"/>
            </a:p>
          </p:txBody>
        </p:sp>
        <p:sp>
          <p:nvSpPr>
            <p:cNvPr id="50" name="object 50"/>
            <p:cNvSpPr/>
            <p:nvPr/>
          </p:nvSpPr>
          <p:spPr>
            <a:xfrm>
              <a:off x="59148" y="3924929"/>
              <a:ext cx="1972945" cy="1031875"/>
            </a:xfrm>
            <a:custGeom>
              <a:avLst/>
              <a:gdLst/>
              <a:ahLst/>
              <a:cxnLst/>
              <a:rect l="l" t="t" r="r" b="b"/>
              <a:pathLst>
                <a:path w="1972945" h="1031875">
                  <a:moveTo>
                    <a:pt x="1815040" y="1031690"/>
                  </a:moveTo>
                  <a:lnTo>
                    <a:pt x="261134" y="1031690"/>
                  </a:lnTo>
                  <a:lnTo>
                    <a:pt x="218417" y="1025834"/>
                  </a:lnTo>
                  <a:lnTo>
                    <a:pt x="180156" y="1009330"/>
                  </a:lnTo>
                  <a:lnTo>
                    <a:pt x="147945" y="983773"/>
                  </a:lnTo>
                  <a:lnTo>
                    <a:pt x="123377" y="950762"/>
                  </a:lnTo>
                  <a:lnTo>
                    <a:pt x="83333" y="934532"/>
                  </a:lnTo>
                  <a:lnTo>
                    <a:pt x="49334" y="908856"/>
                  </a:lnTo>
                  <a:lnTo>
                    <a:pt x="23019" y="875374"/>
                  </a:lnTo>
                  <a:lnTo>
                    <a:pt x="6028" y="835725"/>
                  </a:lnTo>
                  <a:lnTo>
                    <a:pt x="0" y="791548"/>
                  </a:lnTo>
                  <a:lnTo>
                    <a:pt x="0" y="164390"/>
                  </a:lnTo>
                  <a:lnTo>
                    <a:pt x="5882" y="120739"/>
                  </a:lnTo>
                  <a:lnTo>
                    <a:pt x="22476" y="81484"/>
                  </a:lnTo>
                  <a:lnTo>
                    <a:pt x="48203" y="48203"/>
                  </a:lnTo>
                  <a:lnTo>
                    <a:pt x="81484" y="22476"/>
                  </a:lnTo>
                  <a:lnTo>
                    <a:pt x="120739" y="5882"/>
                  </a:lnTo>
                  <a:lnTo>
                    <a:pt x="164390" y="0"/>
                  </a:lnTo>
                  <a:lnTo>
                    <a:pt x="1718298" y="0"/>
                  </a:lnTo>
                  <a:lnTo>
                    <a:pt x="1766649" y="7255"/>
                  </a:lnTo>
                  <a:lnTo>
                    <a:pt x="1809326" y="27568"/>
                  </a:lnTo>
                  <a:lnTo>
                    <a:pt x="1844153" y="58758"/>
                  </a:lnTo>
                  <a:lnTo>
                    <a:pt x="1868953" y="98645"/>
                  </a:lnTo>
                  <a:lnTo>
                    <a:pt x="1910703" y="121511"/>
                  </a:lnTo>
                  <a:lnTo>
                    <a:pt x="1943534" y="155455"/>
                  </a:lnTo>
                  <a:lnTo>
                    <a:pt x="1965015" y="198047"/>
                  </a:lnTo>
                  <a:lnTo>
                    <a:pt x="1972715" y="246857"/>
                  </a:lnTo>
                  <a:lnTo>
                    <a:pt x="1972715" y="874015"/>
                  </a:lnTo>
                  <a:lnTo>
                    <a:pt x="1964677" y="923853"/>
                  </a:lnTo>
                  <a:lnTo>
                    <a:pt x="1942293" y="967136"/>
                  </a:lnTo>
                  <a:lnTo>
                    <a:pt x="1908161" y="1001268"/>
                  </a:lnTo>
                  <a:lnTo>
                    <a:pt x="1864878" y="1023652"/>
                  </a:lnTo>
                  <a:lnTo>
                    <a:pt x="1815040" y="1031690"/>
                  </a:lnTo>
                  <a:close/>
                </a:path>
              </a:pathLst>
            </a:custGeom>
            <a:solidFill>
              <a:srgbClr val="000000"/>
            </a:solidFill>
          </p:spPr>
          <p:txBody>
            <a:bodyPr wrap="square" lIns="0" tIns="0" rIns="0" bIns="0" rtlCol="0"/>
            <a:lstStyle/>
            <a:p>
              <a:endParaRPr sz="1632"/>
            </a:p>
          </p:txBody>
        </p:sp>
        <p:sp>
          <p:nvSpPr>
            <p:cNvPr id="51" name="object 51"/>
            <p:cNvSpPr/>
            <p:nvPr/>
          </p:nvSpPr>
          <p:spPr>
            <a:xfrm>
              <a:off x="72581" y="3938363"/>
              <a:ext cx="1856105" cy="929640"/>
            </a:xfrm>
            <a:custGeom>
              <a:avLst/>
              <a:gdLst/>
              <a:ahLst/>
              <a:cxnLst/>
              <a:rect l="l" t="t" r="r" b="b"/>
              <a:pathLst>
                <a:path w="1856105" h="929639">
                  <a:moveTo>
                    <a:pt x="1704866" y="929074"/>
                  </a:moveTo>
                  <a:lnTo>
                    <a:pt x="150958" y="929074"/>
                  </a:lnTo>
                  <a:lnTo>
                    <a:pt x="103265" y="921372"/>
                  </a:lnTo>
                  <a:lnTo>
                    <a:pt x="61828" y="899931"/>
                  </a:lnTo>
                  <a:lnTo>
                    <a:pt x="29142" y="867245"/>
                  </a:lnTo>
                  <a:lnTo>
                    <a:pt x="7701" y="825808"/>
                  </a:lnTo>
                  <a:lnTo>
                    <a:pt x="0" y="778116"/>
                  </a:lnTo>
                  <a:lnTo>
                    <a:pt x="0" y="150956"/>
                  </a:lnTo>
                  <a:lnTo>
                    <a:pt x="7702" y="103263"/>
                  </a:lnTo>
                  <a:lnTo>
                    <a:pt x="29143" y="61827"/>
                  </a:lnTo>
                  <a:lnTo>
                    <a:pt x="61829" y="29141"/>
                  </a:lnTo>
                  <a:lnTo>
                    <a:pt x="103265" y="7701"/>
                  </a:lnTo>
                  <a:lnTo>
                    <a:pt x="150958" y="0"/>
                  </a:lnTo>
                  <a:lnTo>
                    <a:pt x="1704866" y="0"/>
                  </a:lnTo>
                  <a:lnTo>
                    <a:pt x="1752559" y="7701"/>
                  </a:lnTo>
                  <a:lnTo>
                    <a:pt x="1793996" y="29142"/>
                  </a:lnTo>
                  <a:lnTo>
                    <a:pt x="1826682" y="61828"/>
                  </a:lnTo>
                  <a:lnTo>
                    <a:pt x="1848123" y="103265"/>
                  </a:lnTo>
                  <a:lnTo>
                    <a:pt x="1855824" y="150958"/>
                  </a:lnTo>
                  <a:lnTo>
                    <a:pt x="1855824" y="778116"/>
                  </a:lnTo>
                  <a:lnTo>
                    <a:pt x="1848123" y="825808"/>
                  </a:lnTo>
                  <a:lnTo>
                    <a:pt x="1826682" y="867245"/>
                  </a:lnTo>
                  <a:lnTo>
                    <a:pt x="1793996" y="899931"/>
                  </a:lnTo>
                  <a:lnTo>
                    <a:pt x="1752559" y="921372"/>
                  </a:lnTo>
                  <a:lnTo>
                    <a:pt x="1704866" y="929074"/>
                  </a:lnTo>
                  <a:close/>
                </a:path>
              </a:pathLst>
            </a:custGeom>
            <a:solidFill>
              <a:srgbClr val="FFFFFF"/>
            </a:solidFill>
          </p:spPr>
          <p:txBody>
            <a:bodyPr wrap="square" lIns="0" tIns="0" rIns="0" bIns="0" rtlCol="0"/>
            <a:lstStyle/>
            <a:p>
              <a:endParaRPr sz="1632"/>
            </a:p>
          </p:txBody>
        </p:sp>
      </p:grpSp>
      <p:sp>
        <p:nvSpPr>
          <p:cNvPr id="52" name="object 52"/>
          <p:cNvSpPr txBox="1"/>
          <p:nvPr/>
        </p:nvSpPr>
        <p:spPr>
          <a:xfrm>
            <a:off x="1357497" y="3613767"/>
            <a:ext cx="1570257" cy="729129"/>
          </a:xfrm>
          <a:prstGeom prst="rect">
            <a:avLst/>
          </a:prstGeom>
        </p:spPr>
        <p:txBody>
          <a:bodyPr vert="horz" wrap="square" lIns="0" tIns="36277" rIns="0" bIns="0" rtlCol="0">
            <a:spAutoFit/>
          </a:bodyPr>
          <a:lstStyle/>
          <a:p>
            <a:pPr marL="11516" marR="4607">
              <a:lnSpc>
                <a:spcPts val="889"/>
              </a:lnSpc>
              <a:spcBef>
                <a:spcPts val="286"/>
              </a:spcBef>
            </a:pPr>
            <a:r>
              <a:rPr sz="907" b="1" dirty="0">
                <a:latin typeface="Times New Roman"/>
                <a:cs typeface="Times New Roman"/>
              </a:rPr>
              <a:t>A</a:t>
            </a:r>
            <a:r>
              <a:rPr sz="907" b="1" spc="63" dirty="0">
                <a:latin typeface="Times New Roman"/>
                <a:cs typeface="Times New Roman"/>
              </a:rPr>
              <a:t> </a:t>
            </a:r>
            <a:r>
              <a:rPr sz="907" b="1" spc="-9" dirty="0">
                <a:latin typeface="Times New Roman"/>
                <a:cs typeface="Times New Roman"/>
              </a:rPr>
              <a:t>Docket</a:t>
            </a:r>
            <a:r>
              <a:rPr sz="907" b="1" spc="-54" dirty="0">
                <a:latin typeface="Times New Roman"/>
                <a:cs typeface="Times New Roman"/>
              </a:rPr>
              <a:t> </a:t>
            </a:r>
            <a:r>
              <a:rPr sz="907" b="1" spc="-18" dirty="0">
                <a:latin typeface="Times New Roman"/>
                <a:cs typeface="Times New Roman"/>
              </a:rPr>
              <a:t>Number</a:t>
            </a:r>
            <a:r>
              <a:rPr sz="907" b="1" spc="-54" dirty="0">
                <a:latin typeface="Times New Roman"/>
                <a:cs typeface="Times New Roman"/>
              </a:rPr>
              <a:t> </a:t>
            </a:r>
            <a:r>
              <a:rPr sz="907" spc="-9" dirty="0">
                <a:latin typeface="Times New Roman"/>
                <a:cs typeface="Times New Roman"/>
              </a:rPr>
              <a:t>is</a:t>
            </a:r>
            <a:r>
              <a:rPr sz="907" spc="-59" dirty="0">
                <a:latin typeface="Times New Roman"/>
                <a:cs typeface="Times New Roman"/>
              </a:rPr>
              <a:t> </a:t>
            </a:r>
            <a:r>
              <a:rPr sz="907" spc="-23" dirty="0">
                <a:latin typeface="Times New Roman"/>
                <a:cs typeface="Times New Roman"/>
              </a:rPr>
              <a:t>an </a:t>
            </a:r>
            <a:r>
              <a:rPr sz="907" dirty="0">
                <a:latin typeface="Times New Roman"/>
                <a:cs typeface="Times New Roman"/>
              </a:rPr>
              <a:t>independent</a:t>
            </a:r>
            <a:r>
              <a:rPr sz="907" spc="27" dirty="0">
                <a:latin typeface="Times New Roman"/>
                <a:cs typeface="Times New Roman"/>
              </a:rPr>
              <a:t> </a:t>
            </a:r>
            <a:r>
              <a:rPr sz="907" dirty="0">
                <a:latin typeface="Times New Roman"/>
                <a:cs typeface="Times New Roman"/>
              </a:rPr>
              <a:t>number</a:t>
            </a:r>
            <a:r>
              <a:rPr sz="907" spc="27" dirty="0">
                <a:latin typeface="Times New Roman"/>
                <a:cs typeface="Times New Roman"/>
              </a:rPr>
              <a:t> </a:t>
            </a:r>
            <a:r>
              <a:rPr sz="907" spc="-9" dirty="0">
                <a:latin typeface="Times New Roman"/>
                <a:cs typeface="Times New Roman"/>
              </a:rPr>
              <a:t>assigned</a:t>
            </a:r>
            <a:r>
              <a:rPr sz="907" spc="27" dirty="0">
                <a:latin typeface="Times New Roman"/>
                <a:cs typeface="Times New Roman"/>
              </a:rPr>
              <a:t> </a:t>
            </a:r>
            <a:r>
              <a:rPr sz="907" spc="-23" dirty="0">
                <a:latin typeface="Times New Roman"/>
                <a:cs typeface="Times New Roman"/>
              </a:rPr>
              <a:t>to </a:t>
            </a:r>
            <a:r>
              <a:rPr sz="907" spc="-9" dirty="0">
                <a:latin typeface="Times New Roman"/>
                <a:cs typeface="Times New Roman"/>
              </a:rPr>
              <a:t>each</a:t>
            </a:r>
            <a:r>
              <a:rPr sz="907" spc="-32" dirty="0">
                <a:latin typeface="Times New Roman"/>
                <a:cs typeface="Times New Roman"/>
              </a:rPr>
              <a:t> </a:t>
            </a:r>
            <a:r>
              <a:rPr sz="907" spc="-18" dirty="0">
                <a:latin typeface="Times New Roman"/>
                <a:cs typeface="Times New Roman"/>
              </a:rPr>
              <a:t>case</a:t>
            </a:r>
            <a:r>
              <a:rPr sz="907" spc="-27" dirty="0">
                <a:latin typeface="Times New Roman"/>
                <a:cs typeface="Times New Roman"/>
              </a:rPr>
              <a:t> </a:t>
            </a:r>
            <a:r>
              <a:rPr sz="907" dirty="0">
                <a:latin typeface="Times New Roman"/>
                <a:cs typeface="Times New Roman"/>
              </a:rPr>
              <a:t>when</a:t>
            </a:r>
            <a:r>
              <a:rPr sz="907" spc="-32" dirty="0">
                <a:latin typeface="Times New Roman"/>
                <a:cs typeface="Times New Roman"/>
              </a:rPr>
              <a:t> </a:t>
            </a:r>
            <a:r>
              <a:rPr sz="907" spc="-23" dirty="0">
                <a:latin typeface="Times New Roman"/>
                <a:cs typeface="Times New Roman"/>
              </a:rPr>
              <a:t>it’s</a:t>
            </a:r>
            <a:r>
              <a:rPr sz="907" spc="-27" dirty="0">
                <a:latin typeface="Times New Roman"/>
                <a:cs typeface="Times New Roman"/>
              </a:rPr>
              <a:t> </a:t>
            </a:r>
            <a:r>
              <a:rPr sz="907" spc="-23" dirty="0">
                <a:latin typeface="Times New Roman"/>
                <a:cs typeface="Times New Roman"/>
              </a:rPr>
              <a:t>filed;</a:t>
            </a:r>
            <a:r>
              <a:rPr sz="907" spc="-32" dirty="0">
                <a:latin typeface="Times New Roman"/>
                <a:cs typeface="Times New Roman"/>
              </a:rPr>
              <a:t> </a:t>
            </a:r>
            <a:r>
              <a:rPr sz="907" spc="-18" dirty="0">
                <a:latin typeface="Times New Roman"/>
                <a:cs typeface="Times New Roman"/>
              </a:rPr>
              <a:t>this </a:t>
            </a:r>
            <a:r>
              <a:rPr sz="907" dirty="0">
                <a:latin typeface="Times New Roman"/>
                <a:cs typeface="Times New Roman"/>
              </a:rPr>
              <a:t>number</a:t>
            </a:r>
            <a:r>
              <a:rPr sz="907" spc="-14" dirty="0">
                <a:latin typeface="Times New Roman"/>
                <a:cs typeface="Times New Roman"/>
              </a:rPr>
              <a:t> </a:t>
            </a:r>
            <a:r>
              <a:rPr sz="907" dirty="0">
                <a:latin typeface="Times New Roman"/>
                <a:cs typeface="Times New Roman"/>
              </a:rPr>
              <a:t>attaches</a:t>
            </a:r>
            <a:r>
              <a:rPr sz="907" spc="-9" dirty="0">
                <a:latin typeface="Times New Roman"/>
                <a:cs typeface="Times New Roman"/>
              </a:rPr>
              <a:t> </a:t>
            </a:r>
            <a:r>
              <a:rPr sz="907" dirty="0">
                <a:latin typeface="Times New Roman"/>
                <a:cs typeface="Times New Roman"/>
              </a:rPr>
              <a:t>to</a:t>
            </a:r>
            <a:r>
              <a:rPr sz="907" spc="-9" dirty="0">
                <a:latin typeface="Times New Roman"/>
                <a:cs typeface="Times New Roman"/>
              </a:rPr>
              <a:t> all </a:t>
            </a:r>
            <a:r>
              <a:rPr sz="907" spc="-18" dirty="0">
                <a:latin typeface="Times New Roman"/>
                <a:cs typeface="Times New Roman"/>
              </a:rPr>
              <a:t>filings</a:t>
            </a:r>
            <a:r>
              <a:rPr sz="907" spc="-9" dirty="0">
                <a:latin typeface="Times New Roman"/>
                <a:cs typeface="Times New Roman"/>
              </a:rPr>
              <a:t> </a:t>
            </a:r>
            <a:r>
              <a:rPr sz="907" spc="-23" dirty="0">
                <a:latin typeface="Times New Roman"/>
                <a:cs typeface="Times New Roman"/>
              </a:rPr>
              <a:t>and </a:t>
            </a:r>
            <a:r>
              <a:rPr sz="907" dirty="0">
                <a:latin typeface="Times New Roman"/>
                <a:cs typeface="Times New Roman"/>
              </a:rPr>
              <a:t>court</a:t>
            </a:r>
            <a:r>
              <a:rPr sz="907" spc="-14" dirty="0">
                <a:latin typeface="Times New Roman"/>
                <a:cs typeface="Times New Roman"/>
              </a:rPr>
              <a:t> </a:t>
            </a:r>
            <a:r>
              <a:rPr sz="907" dirty="0">
                <a:latin typeface="Times New Roman"/>
                <a:cs typeface="Times New Roman"/>
              </a:rPr>
              <a:t>documents</a:t>
            </a:r>
            <a:r>
              <a:rPr sz="907" spc="-14" dirty="0">
                <a:latin typeface="Times New Roman"/>
                <a:cs typeface="Times New Roman"/>
              </a:rPr>
              <a:t> </a:t>
            </a:r>
            <a:r>
              <a:rPr sz="907" spc="-9" dirty="0">
                <a:latin typeface="Times New Roman"/>
                <a:cs typeface="Times New Roman"/>
              </a:rPr>
              <a:t>while</a:t>
            </a:r>
            <a:r>
              <a:rPr sz="907" spc="-14"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18" dirty="0">
                <a:latin typeface="Times New Roman"/>
                <a:cs typeface="Times New Roman"/>
              </a:rPr>
              <a:t>case</a:t>
            </a:r>
            <a:r>
              <a:rPr sz="907" spc="-14" dirty="0">
                <a:latin typeface="Times New Roman"/>
                <a:cs typeface="Times New Roman"/>
              </a:rPr>
              <a:t> </a:t>
            </a:r>
            <a:r>
              <a:rPr sz="907" spc="-23" dirty="0">
                <a:latin typeface="Times New Roman"/>
                <a:cs typeface="Times New Roman"/>
              </a:rPr>
              <a:t>is before</a:t>
            </a:r>
            <a:r>
              <a:rPr sz="907" spc="-5" dirty="0">
                <a:latin typeface="Times New Roman"/>
                <a:cs typeface="Times New Roman"/>
              </a:rPr>
              <a:t> </a:t>
            </a:r>
            <a:r>
              <a:rPr sz="907" dirty="0">
                <a:latin typeface="Times New Roman"/>
                <a:cs typeface="Times New Roman"/>
              </a:rPr>
              <a:t>the </a:t>
            </a:r>
            <a:r>
              <a:rPr sz="907" spc="-9" dirty="0">
                <a:latin typeface="Times New Roman"/>
                <a:cs typeface="Times New Roman"/>
              </a:rPr>
              <a:t>court.</a:t>
            </a:r>
            <a:endParaRPr sz="907">
              <a:latin typeface="Times New Roman"/>
              <a:cs typeface="Times New Roman"/>
            </a:endParaRPr>
          </a:p>
        </p:txBody>
      </p:sp>
      <p:sp>
        <p:nvSpPr>
          <p:cNvPr id="53" name="object 53"/>
          <p:cNvSpPr txBox="1"/>
          <p:nvPr/>
        </p:nvSpPr>
        <p:spPr>
          <a:xfrm>
            <a:off x="1497149" y="5976091"/>
            <a:ext cx="1083691" cy="382880"/>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32" dirty="0">
                <a:latin typeface="Times New Roman"/>
                <a:cs typeface="Times New Roman"/>
              </a:rPr>
              <a:t> </a:t>
            </a:r>
            <a:r>
              <a:rPr sz="907" b="1" spc="-45" dirty="0">
                <a:latin typeface="Times New Roman"/>
                <a:cs typeface="Times New Roman"/>
              </a:rPr>
              <a:t>Core</a:t>
            </a:r>
            <a:r>
              <a:rPr sz="907" b="1" spc="-27" dirty="0">
                <a:latin typeface="Times New Roman"/>
                <a:cs typeface="Times New Roman"/>
              </a:rPr>
              <a:t> </a:t>
            </a:r>
            <a:r>
              <a:rPr sz="907" b="1" spc="-32" dirty="0">
                <a:latin typeface="Times New Roman"/>
                <a:cs typeface="Times New Roman"/>
              </a:rPr>
              <a:t>Terms </a:t>
            </a:r>
            <a:r>
              <a:rPr sz="907" spc="-18" dirty="0">
                <a:latin typeface="Times New Roman"/>
                <a:cs typeface="Times New Roman"/>
              </a:rPr>
              <a:t>lists </a:t>
            </a:r>
            <a:r>
              <a:rPr sz="907" dirty="0">
                <a:latin typeface="Times New Roman"/>
                <a:cs typeface="Times New Roman"/>
              </a:rPr>
              <a:t>important</a:t>
            </a:r>
            <a:r>
              <a:rPr sz="907" spc="86" dirty="0">
                <a:latin typeface="Times New Roman"/>
                <a:cs typeface="Times New Roman"/>
              </a:rPr>
              <a:t> </a:t>
            </a:r>
            <a:r>
              <a:rPr sz="907" spc="-9" dirty="0">
                <a:latin typeface="Times New Roman"/>
                <a:cs typeface="Times New Roman"/>
              </a:rPr>
              <a:t>terminology </a:t>
            </a:r>
            <a:r>
              <a:rPr sz="907" dirty="0">
                <a:latin typeface="Times New Roman"/>
                <a:cs typeface="Times New Roman"/>
              </a:rPr>
              <a:t>used</a:t>
            </a:r>
            <a:r>
              <a:rPr sz="907" spc="-23" dirty="0">
                <a:latin typeface="Times New Roman"/>
                <a:cs typeface="Times New Roman"/>
              </a:rPr>
              <a:t> </a:t>
            </a:r>
            <a:r>
              <a:rPr sz="907" dirty="0">
                <a:latin typeface="Times New Roman"/>
                <a:cs typeface="Times New Roman"/>
              </a:rPr>
              <a:t>in</a:t>
            </a:r>
            <a:r>
              <a:rPr sz="907" spc="-23"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spc="-9" dirty="0">
                <a:latin typeface="Times New Roman"/>
                <a:cs typeface="Times New Roman"/>
              </a:rPr>
              <a:t>case.</a:t>
            </a:r>
            <a:endParaRPr sz="907">
              <a:latin typeface="Times New Roman"/>
              <a:cs typeface="Times New Roman"/>
            </a:endParaRPr>
          </a:p>
        </p:txBody>
      </p:sp>
      <p:grpSp>
        <p:nvGrpSpPr>
          <p:cNvPr id="54" name="object 54"/>
          <p:cNvGrpSpPr/>
          <p:nvPr/>
        </p:nvGrpSpPr>
        <p:grpSpPr>
          <a:xfrm>
            <a:off x="8690298" y="1114287"/>
            <a:ext cx="1570833" cy="821692"/>
            <a:chOff x="8207634" y="1228811"/>
            <a:chExt cx="1732280" cy="906144"/>
          </a:xfrm>
        </p:grpSpPr>
        <p:sp>
          <p:nvSpPr>
            <p:cNvPr id="55" name="object 55"/>
            <p:cNvSpPr/>
            <p:nvPr/>
          </p:nvSpPr>
          <p:spPr>
            <a:xfrm>
              <a:off x="8207634" y="1228811"/>
              <a:ext cx="1732280" cy="906144"/>
            </a:xfrm>
            <a:custGeom>
              <a:avLst/>
              <a:gdLst/>
              <a:ahLst/>
              <a:cxnLst/>
              <a:rect l="l" t="t" r="r" b="b"/>
              <a:pathLst>
                <a:path w="1732279" h="906144">
                  <a:moveTo>
                    <a:pt x="1593537" y="905785"/>
                  </a:moveTo>
                  <a:lnTo>
                    <a:pt x="229266" y="905785"/>
                  </a:lnTo>
                  <a:lnTo>
                    <a:pt x="191762" y="900644"/>
                  </a:lnTo>
                  <a:lnTo>
                    <a:pt x="158170" y="886153"/>
                  </a:lnTo>
                  <a:lnTo>
                    <a:pt x="129890" y="863716"/>
                  </a:lnTo>
                  <a:lnTo>
                    <a:pt x="108320" y="834733"/>
                  </a:lnTo>
                  <a:lnTo>
                    <a:pt x="65147" y="815569"/>
                  </a:lnTo>
                  <a:lnTo>
                    <a:pt x="30828" y="784010"/>
                  </a:lnTo>
                  <a:lnTo>
                    <a:pt x="8175" y="742866"/>
                  </a:lnTo>
                  <a:lnTo>
                    <a:pt x="0" y="694949"/>
                  </a:lnTo>
                  <a:lnTo>
                    <a:pt x="0" y="144328"/>
                  </a:lnTo>
                  <a:lnTo>
                    <a:pt x="7370" y="98758"/>
                  </a:lnTo>
                  <a:lnTo>
                    <a:pt x="27883" y="59145"/>
                  </a:lnTo>
                  <a:lnTo>
                    <a:pt x="59145" y="27883"/>
                  </a:lnTo>
                  <a:lnTo>
                    <a:pt x="98758" y="7370"/>
                  </a:lnTo>
                  <a:lnTo>
                    <a:pt x="144328" y="0"/>
                  </a:lnTo>
                  <a:lnTo>
                    <a:pt x="1508601" y="0"/>
                  </a:lnTo>
                  <a:lnTo>
                    <a:pt x="1551051" y="6370"/>
                  </a:lnTo>
                  <a:lnTo>
                    <a:pt x="1588520" y="24204"/>
                  </a:lnTo>
                  <a:lnTo>
                    <a:pt x="1619097" y="51587"/>
                  </a:lnTo>
                  <a:lnTo>
                    <a:pt x="1640870" y="86607"/>
                  </a:lnTo>
                  <a:lnTo>
                    <a:pt x="1677525" y="106682"/>
                  </a:lnTo>
                  <a:lnTo>
                    <a:pt x="1706349" y="136484"/>
                  </a:lnTo>
                  <a:lnTo>
                    <a:pt x="1725209" y="173878"/>
                  </a:lnTo>
                  <a:lnTo>
                    <a:pt x="1731970" y="216731"/>
                  </a:lnTo>
                  <a:lnTo>
                    <a:pt x="1731970" y="767352"/>
                  </a:lnTo>
                  <a:lnTo>
                    <a:pt x="1724912" y="811108"/>
                  </a:lnTo>
                  <a:lnTo>
                    <a:pt x="1705260" y="849109"/>
                  </a:lnTo>
                  <a:lnTo>
                    <a:pt x="1675293" y="879076"/>
                  </a:lnTo>
                  <a:lnTo>
                    <a:pt x="1637292" y="898728"/>
                  </a:lnTo>
                  <a:lnTo>
                    <a:pt x="1593537" y="905785"/>
                  </a:lnTo>
                  <a:close/>
                </a:path>
              </a:pathLst>
            </a:custGeom>
            <a:solidFill>
              <a:srgbClr val="000000"/>
            </a:solidFill>
          </p:spPr>
          <p:txBody>
            <a:bodyPr wrap="square" lIns="0" tIns="0" rIns="0" bIns="0" rtlCol="0"/>
            <a:lstStyle/>
            <a:p>
              <a:endParaRPr sz="1632"/>
            </a:p>
          </p:txBody>
        </p:sp>
        <p:sp>
          <p:nvSpPr>
            <p:cNvPr id="56" name="object 56"/>
            <p:cNvSpPr/>
            <p:nvPr/>
          </p:nvSpPr>
          <p:spPr>
            <a:xfrm>
              <a:off x="8219427" y="1240606"/>
              <a:ext cx="1629410" cy="815975"/>
            </a:xfrm>
            <a:custGeom>
              <a:avLst/>
              <a:gdLst/>
              <a:ahLst/>
              <a:cxnLst/>
              <a:rect l="l" t="t" r="r" b="b"/>
              <a:pathLst>
                <a:path w="1629409" h="815975">
                  <a:moveTo>
                    <a:pt x="1496808" y="815692"/>
                  </a:moveTo>
                  <a:lnTo>
                    <a:pt x="132535" y="815692"/>
                  </a:lnTo>
                  <a:lnTo>
                    <a:pt x="90663" y="808930"/>
                  </a:lnTo>
                  <a:lnTo>
                    <a:pt x="54283" y="790106"/>
                  </a:lnTo>
                  <a:lnTo>
                    <a:pt x="25585" y="761409"/>
                  </a:lnTo>
                  <a:lnTo>
                    <a:pt x="6761" y="725029"/>
                  </a:lnTo>
                  <a:lnTo>
                    <a:pt x="0" y="683156"/>
                  </a:lnTo>
                  <a:lnTo>
                    <a:pt x="0" y="132533"/>
                  </a:lnTo>
                  <a:lnTo>
                    <a:pt x="6762" y="90661"/>
                  </a:lnTo>
                  <a:lnTo>
                    <a:pt x="25586" y="54281"/>
                  </a:lnTo>
                  <a:lnTo>
                    <a:pt x="54283" y="25585"/>
                  </a:lnTo>
                  <a:lnTo>
                    <a:pt x="90663" y="6761"/>
                  </a:lnTo>
                  <a:lnTo>
                    <a:pt x="132535" y="0"/>
                  </a:lnTo>
                  <a:lnTo>
                    <a:pt x="1496808" y="0"/>
                  </a:lnTo>
                  <a:lnTo>
                    <a:pt x="1538680" y="6761"/>
                  </a:lnTo>
                  <a:lnTo>
                    <a:pt x="1575060" y="25585"/>
                  </a:lnTo>
                  <a:lnTo>
                    <a:pt x="1603758" y="54283"/>
                  </a:lnTo>
                  <a:lnTo>
                    <a:pt x="1622582" y="90663"/>
                  </a:lnTo>
                  <a:lnTo>
                    <a:pt x="1629344" y="132535"/>
                  </a:lnTo>
                  <a:lnTo>
                    <a:pt x="1629344" y="683156"/>
                  </a:lnTo>
                  <a:lnTo>
                    <a:pt x="1622582" y="725029"/>
                  </a:lnTo>
                  <a:lnTo>
                    <a:pt x="1603758" y="761409"/>
                  </a:lnTo>
                  <a:lnTo>
                    <a:pt x="1575060" y="790106"/>
                  </a:lnTo>
                  <a:lnTo>
                    <a:pt x="1538680" y="808930"/>
                  </a:lnTo>
                  <a:lnTo>
                    <a:pt x="1496808" y="815692"/>
                  </a:lnTo>
                  <a:close/>
                </a:path>
              </a:pathLst>
            </a:custGeom>
            <a:solidFill>
              <a:srgbClr val="FFFFFF"/>
            </a:solidFill>
          </p:spPr>
          <p:txBody>
            <a:bodyPr wrap="square" lIns="0" tIns="0" rIns="0" bIns="0" rtlCol="0"/>
            <a:lstStyle/>
            <a:p>
              <a:endParaRPr sz="1632"/>
            </a:p>
          </p:txBody>
        </p:sp>
      </p:grpSp>
      <p:sp>
        <p:nvSpPr>
          <p:cNvPr id="57" name="object 57"/>
          <p:cNvSpPr txBox="1"/>
          <p:nvPr/>
        </p:nvSpPr>
        <p:spPr>
          <a:xfrm>
            <a:off x="8823298" y="1295502"/>
            <a:ext cx="1143000" cy="382880"/>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32" dirty="0">
                <a:latin typeface="Times New Roman"/>
                <a:cs typeface="Times New Roman"/>
              </a:rPr>
              <a:t> </a:t>
            </a:r>
            <a:r>
              <a:rPr sz="907" b="1" spc="-9" dirty="0">
                <a:latin typeface="Times New Roman"/>
                <a:cs typeface="Times New Roman"/>
              </a:rPr>
              <a:t>Opinion</a:t>
            </a:r>
            <a:r>
              <a:rPr sz="907" b="1" spc="-23" dirty="0">
                <a:latin typeface="Times New Roman"/>
                <a:cs typeface="Times New Roman"/>
              </a:rPr>
              <a:t> </a:t>
            </a:r>
            <a:r>
              <a:rPr sz="907" b="1" spc="-18" dirty="0">
                <a:latin typeface="Times New Roman"/>
                <a:cs typeface="Times New Roman"/>
              </a:rPr>
              <a:t>Date</a:t>
            </a:r>
            <a:r>
              <a:rPr sz="907" b="1" spc="-32" dirty="0">
                <a:latin typeface="Times New Roman"/>
                <a:cs typeface="Times New Roman"/>
              </a:rPr>
              <a:t> </a:t>
            </a:r>
            <a:r>
              <a:rPr sz="907" spc="-9" dirty="0">
                <a:latin typeface="Times New Roman"/>
                <a:cs typeface="Times New Roman"/>
              </a:rPr>
              <a:t>is</a:t>
            </a:r>
            <a:r>
              <a:rPr sz="907" spc="-27" dirty="0">
                <a:latin typeface="Times New Roman"/>
                <a:cs typeface="Times New Roman"/>
              </a:rPr>
              <a:t> </a:t>
            </a:r>
            <a:r>
              <a:rPr sz="907" spc="-23" dirty="0">
                <a:latin typeface="Times New Roman"/>
                <a:cs typeface="Times New Roman"/>
              </a:rPr>
              <a:t>the </a:t>
            </a:r>
            <a:r>
              <a:rPr sz="907" dirty="0">
                <a:latin typeface="Times New Roman"/>
                <a:cs typeface="Times New Roman"/>
              </a:rPr>
              <a:t>date</a:t>
            </a:r>
            <a:r>
              <a:rPr sz="907" spc="-14" dirty="0">
                <a:latin typeface="Times New Roman"/>
                <a:cs typeface="Times New Roman"/>
              </a:rPr>
              <a:t> </a:t>
            </a:r>
            <a:r>
              <a:rPr sz="907" dirty="0">
                <a:latin typeface="Times New Roman"/>
                <a:cs typeface="Times New Roman"/>
              </a:rPr>
              <a:t>the</a:t>
            </a:r>
            <a:r>
              <a:rPr sz="907" spc="-9" dirty="0">
                <a:latin typeface="Times New Roman"/>
                <a:cs typeface="Times New Roman"/>
              </a:rPr>
              <a:t> </a:t>
            </a:r>
            <a:r>
              <a:rPr sz="907" dirty="0">
                <a:latin typeface="Times New Roman"/>
                <a:cs typeface="Times New Roman"/>
              </a:rPr>
              <a:t>opinion</a:t>
            </a:r>
            <a:r>
              <a:rPr sz="907" spc="-14" dirty="0">
                <a:latin typeface="Times New Roman"/>
                <a:cs typeface="Times New Roman"/>
              </a:rPr>
              <a:t> </a:t>
            </a:r>
            <a:r>
              <a:rPr sz="907" spc="-23" dirty="0">
                <a:latin typeface="Times New Roman"/>
                <a:cs typeface="Times New Roman"/>
              </a:rPr>
              <a:t>was </a:t>
            </a:r>
            <a:r>
              <a:rPr sz="907" spc="-18" dirty="0">
                <a:latin typeface="Times New Roman"/>
                <a:cs typeface="Times New Roman"/>
              </a:rPr>
              <a:t>delivered </a:t>
            </a:r>
            <a:r>
              <a:rPr sz="907" dirty="0">
                <a:latin typeface="Times New Roman"/>
                <a:cs typeface="Times New Roman"/>
              </a:rPr>
              <a:t>or</a:t>
            </a:r>
            <a:r>
              <a:rPr sz="907" spc="-18" dirty="0">
                <a:latin typeface="Times New Roman"/>
                <a:cs typeface="Times New Roman"/>
              </a:rPr>
              <a:t> </a:t>
            </a:r>
            <a:r>
              <a:rPr sz="907" spc="-9" dirty="0">
                <a:latin typeface="Times New Roman"/>
                <a:cs typeface="Times New Roman"/>
              </a:rPr>
              <a:t>published.</a:t>
            </a:r>
            <a:endParaRPr sz="907">
              <a:latin typeface="Times New Roman"/>
              <a:cs typeface="Times New Roman"/>
            </a:endParaRPr>
          </a:p>
        </p:txBody>
      </p:sp>
      <p:sp>
        <p:nvSpPr>
          <p:cNvPr id="58" name="object 58"/>
          <p:cNvSpPr txBox="1"/>
          <p:nvPr/>
        </p:nvSpPr>
        <p:spPr>
          <a:xfrm>
            <a:off x="1341386" y="4826812"/>
            <a:ext cx="1630143" cy="729129"/>
          </a:xfrm>
          <a:prstGeom prst="rect">
            <a:avLst/>
          </a:prstGeom>
        </p:spPr>
        <p:txBody>
          <a:bodyPr vert="horz" wrap="square" lIns="0" tIns="36277" rIns="0" bIns="0" rtlCol="0">
            <a:spAutoFit/>
          </a:bodyPr>
          <a:lstStyle/>
          <a:p>
            <a:pPr marL="11516" marR="4607">
              <a:lnSpc>
                <a:spcPts val="889"/>
              </a:lnSpc>
              <a:spcBef>
                <a:spcPts val="286"/>
              </a:spcBef>
            </a:pPr>
            <a:r>
              <a:rPr sz="907" spc="-23" dirty="0">
                <a:latin typeface="Times New Roman"/>
                <a:cs typeface="Times New Roman"/>
              </a:rPr>
              <a:t>The</a:t>
            </a:r>
            <a:r>
              <a:rPr sz="907" spc="-41" dirty="0">
                <a:latin typeface="Times New Roman"/>
                <a:cs typeface="Times New Roman"/>
              </a:rPr>
              <a:t> </a:t>
            </a:r>
            <a:r>
              <a:rPr sz="907" b="1" spc="-32" dirty="0">
                <a:latin typeface="Times New Roman"/>
                <a:cs typeface="Times New Roman"/>
              </a:rPr>
              <a:t>Case</a:t>
            </a:r>
            <a:r>
              <a:rPr sz="907" b="1" spc="-41" dirty="0">
                <a:latin typeface="Times New Roman"/>
                <a:cs typeface="Times New Roman"/>
              </a:rPr>
              <a:t> </a:t>
            </a:r>
            <a:r>
              <a:rPr sz="907" b="1" spc="-9" dirty="0">
                <a:latin typeface="Times New Roman"/>
                <a:cs typeface="Times New Roman"/>
              </a:rPr>
              <a:t>Citation</a:t>
            </a:r>
            <a:r>
              <a:rPr sz="907" b="1" spc="-41" dirty="0">
                <a:latin typeface="Times New Roman"/>
                <a:cs typeface="Times New Roman"/>
              </a:rPr>
              <a:t> </a:t>
            </a:r>
            <a:r>
              <a:rPr sz="907" dirty="0">
                <a:latin typeface="Times New Roman"/>
                <a:cs typeface="Times New Roman"/>
              </a:rPr>
              <a:t>tells</a:t>
            </a:r>
            <a:r>
              <a:rPr sz="907" spc="-45" dirty="0">
                <a:latin typeface="Times New Roman"/>
                <a:cs typeface="Times New Roman"/>
              </a:rPr>
              <a:t> </a:t>
            </a:r>
            <a:r>
              <a:rPr sz="907" spc="-9" dirty="0">
                <a:latin typeface="Times New Roman"/>
                <a:cs typeface="Times New Roman"/>
              </a:rPr>
              <a:t>researchers </a:t>
            </a:r>
            <a:r>
              <a:rPr sz="907" dirty="0">
                <a:latin typeface="Times New Roman"/>
                <a:cs typeface="Times New Roman"/>
              </a:rPr>
              <a:t>how</a:t>
            </a:r>
            <a:r>
              <a:rPr sz="907" spc="-27" dirty="0">
                <a:latin typeface="Times New Roman"/>
                <a:cs typeface="Times New Roman"/>
              </a:rPr>
              <a:t> </a:t>
            </a:r>
            <a:r>
              <a:rPr sz="907" dirty="0">
                <a:latin typeface="Times New Roman"/>
                <a:cs typeface="Times New Roman"/>
              </a:rPr>
              <a:t>to</a:t>
            </a:r>
            <a:r>
              <a:rPr sz="907" spc="-27" dirty="0">
                <a:latin typeface="Times New Roman"/>
                <a:cs typeface="Times New Roman"/>
              </a:rPr>
              <a:t> </a:t>
            </a:r>
            <a:r>
              <a:rPr sz="907" spc="-18" dirty="0">
                <a:latin typeface="Times New Roman"/>
                <a:cs typeface="Times New Roman"/>
              </a:rPr>
              <a:t>look</a:t>
            </a:r>
            <a:r>
              <a:rPr sz="907" spc="-27" dirty="0">
                <a:latin typeface="Times New Roman"/>
                <a:cs typeface="Times New Roman"/>
              </a:rPr>
              <a:t> </a:t>
            </a:r>
            <a:r>
              <a:rPr sz="907" dirty="0">
                <a:latin typeface="Times New Roman"/>
                <a:cs typeface="Times New Roman"/>
              </a:rPr>
              <a:t>up</a:t>
            </a:r>
            <a:r>
              <a:rPr sz="907" spc="-27" dirty="0">
                <a:latin typeface="Times New Roman"/>
                <a:cs typeface="Times New Roman"/>
              </a:rPr>
              <a:t> </a:t>
            </a:r>
            <a:r>
              <a:rPr sz="907" dirty="0">
                <a:latin typeface="Times New Roman"/>
                <a:cs typeface="Times New Roman"/>
              </a:rPr>
              <a:t>the</a:t>
            </a:r>
            <a:r>
              <a:rPr sz="907" spc="-27" dirty="0">
                <a:latin typeface="Times New Roman"/>
                <a:cs typeface="Times New Roman"/>
              </a:rPr>
              <a:t> </a:t>
            </a:r>
            <a:r>
              <a:rPr sz="907" spc="-18" dirty="0">
                <a:latin typeface="Times New Roman"/>
                <a:cs typeface="Times New Roman"/>
              </a:rPr>
              <a:t>case</a:t>
            </a:r>
            <a:r>
              <a:rPr sz="907" spc="-27" dirty="0">
                <a:latin typeface="Times New Roman"/>
                <a:cs typeface="Times New Roman"/>
              </a:rPr>
              <a:t> </a:t>
            </a:r>
            <a:r>
              <a:rPr sz="907" dirty="0">
                <a:latin typeface="Times New Roman"/>
                <a:cs typeface="Times New Roman"/>
              </a:rPr>
              <a:t>or</a:t>
            </a:r>
            <a:r>
              <a:rPr sz="907" spc="-27" dirty="0">
                <a:latin typeface="Times New Roman"/>
                <a:cs typeface="Times New Roman"/>
              </a:rPr>
              <a:t> </a:t>
            </a:r>
            <a:r>
              <a:rPr sz="907" spc="-9" dirty="0">
                <a:latin typeface="Times New Roman"/>
                <a:cs typeface="Times New Roman"/>
              </a:rPr>
              <a:t>find</a:t>
            </a:r>
            <a:r>
              <a:rPr sz="907" spc="-27" dirty="0">
                <a:latin typeface="Times New Roman"/>
                <a:cs typeface="Times New Roman"/>
              </a:rPr>
              <a:t> </a:t>
            </a:r>
            <a:r>
              <a:rPr sz="907" dirty="0">
                <a:latin typeface="Times New Roman"/>
                <a:cs typeface="Times New Roman"/>
              </a:rPr>
              <a:t>it</a:t>
            </a:r>
            <a:r>
              <a:rPr sz="907" spc="-27" dirty="0">
                <a:latin typeface="Times New Roman"/>
                <a:cs typeface="Times New Roman"/>
              </a:rPr>
              <a:t> </a:t>
            </a:r>
            <a:r>
              <a:rPr sz="907" spc="-23" dirty="0">
                <a:latin typeface="Times New Roman"/>
                <a:cs typeface="Times New Roman"/>
              </a:rPr>
              <a:t>in </a:t>
            </a:r>
            <a:r>
              <a:rPr sz="907" dirty="0">
                <a:latin typeface="Times New Roman"/>
                <a:cs typeface="Times New Roman"/>
              </a:rPr>
              <a:t>a</a:t>
            </a:r>
            <a:r>
              <a:rPr sz="907" spc="-18" dirty="0">
                <a:latin typeface="Times New Roman"/>
                <a:cs typeface="Times New Roman"/>
              </a:rPr>
              <a:t> </a:t>
            </a:r>
            <a:r>
              <a:rPr sz="907" dirty="0">
                <a:latin typeface="Times New Roman"/>
                <a:cs typeface="Times New Roman"/>
              </a:rPr>
              <a:t>print</a:t>
            </a:r>
            <a:r>
              <a:rPr sz="907" spc="-14" dirty="0">
                <a:latin typeface="Times New Roman"/>
                <a:cs typeface="Times New Roman"/>
              </a:rPr>
              <a:t> </a:t>
            </a:r>
            <a:r>
              <a:rPr sz="907" spc="-9" dirty="0">
                <a:latin typeface="Times New Roman"/>
                <a:cs typeface="Times New Roman"/>
              </a:rPr>
              <a:t>reporter.</a:t>
            </a:r>
            <a:r>
              <a:rPr sz="907" spc="-14" dirty="0">
                <a:latin typeface="Times New Roman"/>
                <a:cs typeface="Times New Roman"/>
              </a:rPr>
              <a:t> </a:t>
            </a:r>
            <a:r>
              <a:rPr sz="907" spc="-32" dirty="0">
                <a:latin typeface="Times New Roman"/>
                <a:cs typeface="Times New Roman"/>
              </a:rPr>
              <a:t>Here</a:t>
            </a:r>
            <a:r>
              <a:rPr sz="907" spc="-14" dirty="0">
                <a:latin typeface="Times New Roman"/>
                <a:cs typeface="Times New Roman"/>
              </a:rPr>
              <a:t> </a:t>
            </a:r>
            <a:r>
              <a:rPr sz="907" spc="-23" dirty="0">
                <a:latin typeface="Times New Roman"/>
                <a:cs typeface="Times New Roman"/>
              </a:rPr>
              <a:t>it’s</a:t>
            </a:r>
            <a:r>
              <a:rPr sz="907" spc="-18" dirty="0">
                <a:latin typeface="Times New Roman"/>
                <a:cs typeface="Times New Roman"/>
              </a:rPr>
              <a:t> </a:t>
            </a:r>
            <a:r>
              <a:rPr sz="907" spc="-23" dirty="0">
                <a:latin typeface="Times New Roman"/>
                <a:cs typeface="Times New Roman"/>
              </a:rPr>
              <a:t>646 </a:t>
            </a:r>
            <a:r>
              <a:rPr sz="907" spc="-41" dirty="0">
                <a:latin typeface="Times New Roman"/>
                <a:cs typeface="Times New Roman"/>
              </a:rPr>
              <a:t>S.W.3d</a:t>
            </a:r>
            <a:r>
              <a:rPr sz="907" spc="-27" dirty="0">
                <a:latin typeface="Times New Roman"/>
                <a:cs typeface="Times New Roman"/>
              </a:rPr>
              <a:t> </a:t>
            </a:r>
            <a:r>
              <a:rPr sz="907" dirty="0">
                <a:latin typeface="Times New Roman"/>
                <a:cs typeface="Times New Roman"/>
              </a:rPr>
              <a:t>498,</a:t>
            </a:r>
            <a:r>
              <a:rPr sz="907" spc="-27" dirty="0">
                <a:latin typeface="Times New Roman"/>
                <a:cs typeface="Times New Roman"/>
              </a:rPr>
              <a:t> </a:t>
            </a:r>
            <a:r>
              <a:rPr sz="907" dirty="0">
                <a:latin typeface="Times New Roman"/>
                <a:cs typeface="Times New Roman"/>
              </a:rPr>
              <a:t>which</a:t>
            </a:r>
            <a:r>
              <a:rPr sz="907" spc="-27" dirty="0">
                <a:latin typeface="Times New Roman"/>
                <a:cs typeface="Times New Roman"/>
              </a:rPr>
              <a:t> </a:t>
            </a:r>
            <a:r>
              <a:rPr sz="907" dirty="0">
                <a:latin typeface="Times New Roman"/>
                <a:cs typeface="Times New Roman"/>
              </a:rPr>
              <a:t>stands</a:t>
            </a:r>
            <a:r>
              <a:rPr sz="907" spc="-27" dirty="0">
                <a:latin typeface="Times New Roman"/>
                <a:cs typeface="Times New Roman"/>
              </a:rPr>
              <a:t> </a:t>
            </a:r>
            <a:r>
              <a:rPr sz="907" spc="-18" dirty="0">
                <a:latin typeface="Times New Roman"/>
                <a:cs typeface="Times New Roman"/>
              </a:rPr>
              <a:t>for</a:t>
            </a:r>
            <a:r>
              <a:rPr sz="907" spc="-27" dirty="0">
                <a:latin typeface="Times New Roman"/>
                <a:cs typeface="Times New Roman"/>
              </a:rPr>
              <a:t> </a:t>
            </a:r>
            <a:r>
              <a:rPr sz="907" spc="-18" dirty="0">
                <a:latin typeface="Times New Roman"/>
                <a:cs typeface="Times New Roman"/>
              </a:rPr>
              <a:t>page </a:t>
            </a:r>
            <a:r>
              <a:rPr sz="907" dirty="0">
                <a:latin typeface="Times New Roman"/>
                <a:cs typeface="Times New Roman"/>
              </a:rPr>
              <a:t>498</a:t>
            </a:r>
            <a:r>
              <a:rPr sz="907" spc="-23" dirty="0">
                <a:latin typeface="Times New Roman"/>
                <a:cs typeface="Times New Roman"/>
              </a:rPr>
              <a:t> </a:t>
            </a:r>
            <a:r>
              <a:rPr sz="907" spc="-32" dirty="0">
                <a:latin typeface="Times New Roman"/>
                <a:cs typeface="Times New Roman"/>
              </a:rPr>
              <a:t>of</a:t>
            </a:r>
            <a:r>
              <a:rPr sz="907" spc="-23"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dirty="0">
                <a:latin typeface="Times New Roman"/>
                <a:cs typeface="Times New Roman"/>
              </a:rPr>
              <a:t>646th</a:t>
            </a:r>
            <a:r>
              <a:rPr sz="907" spc="-18" dirty="0">
                <a:latin typeface="Times New Roman"/>
                <a:cs typeface="Times New Roman"/>
              </a:rPr>
              <a:t> </a:t>
            </a:r>
            <a:r>
              <a:rPr sz="907" spc="-9" dirty="0">
                <a:latin typeface="Times New Roman"/>
                <a:cs typeface="Times New Roman"/>
              </a:rPr>
              <a:t>volume</a:t>
            </a:r>
            <a:r>
              <a:rPr sz="907" spc="-23" dirty="0">
                <a:latin typeface="Times New Roman"/>
                <a:cs typeface="Times New Roman"/>
              </a:rPr>
              <a:t> </a:t>
            </a:r>
            <a:r>
              <a:rPr sz="907" spc="-32" dirty="0">
                <a:latin typeface="Times New Roman"/>
                <a:cs typeface="Times New Roman"/>
              </a:rPr>
              <a:t>of</a:t>
            </a:r>
            <a:r>
              <a:rPr sz="907" spc="-23" dirty="0">
                <a:latin typeface="Times New Roman"/>
                <a:cs typeface="Times New Roman"/>
              </a:rPr>
              <a:t> the </a:t>
            </a:r>
            <a:r>
              <a:rPr sz="907" dirty="0">
                <a:latin typeface="Times New Roman"/>
                <a:cs typeface="Times New Roman"/>
              </a:rPr>
              <a:t>Southwestern </a:t>
            </a:r>
            <a:r>
              <a:rPr sz="907" spc="-18" dirty="0">
                <a:latin typeface="Times New Roman"/>
                <a:cs typeface="Times New Roman"/>
              </a:rPr>
              <a:t>Reporter</a:t>
            </a:r>
            <a:r>
              <a:rPr sz="907" spc="5" dirty="0">
                <a:latin typeface="Times New Roman"/>
                <a:cs typeface="Times New Roman"/>
              </a:rPr>
              <a:t> </a:t>
            </a:r>
            <a:r>
              <a:rPr sz="907" spc="-9" dirty="0">
                <a:latin typeface="Times New Roman"/>
                <a:cs typeface="Times New Roman"/>
              </a:rPr>
              <a:t>Third.</a:t>
            </a:r>
            <a:endParaRPr sz="907">
              <a:latin typeface="Times New Roman"/>
              <a:cs typeface="Times New Roman"/>
            </a:endParaRPr>
          </a:p>
        </p:txBody>
      </p:sp>
      <p:grpSp>
        <p:nvGrpSpPr>
          <p:cNvPr id="59" name="object 59"/>
          <p:cNvGrpSpPr/>
          <p:nvPr/>
        </p:nvGrpSpPr>
        <p:grpSpPr>
          <a:xfrm>
            <a:off x="4409990" y="681181"/>
            <a:ext cx="3013835" cy="2238783"/>
            <a:chOff x="3487406" y="751191"/>
            <a:chExt cx="3323590" cy="2468880"/>
          </a:xfrm>
        </p:grpSpPr>
        <p:sp>
          <p:nvSpPr>
            <p:cNvPr id="60" name="object 60"/>
            <p:cNvSpPr/>
            <p:nvPr/>
          </p:nvSpPr>
          <p:spPr>
            <a:xfrm>
              <a:off x="3523947" y="797589"/>
              <a:ext cx="1432560" cy="2413000"/>
            </a:xfrm>
            <a:custGeom>
              <a:avLst/>
              <a:gdLst/>
              <a:ahLst/>
              <a:cxnLst/>
              <a:rect l="l" t="t" r="r" b="b"/>
              <a:pathLst>
                <a:path w="1432560" h="2413000">
                  <a:moveTo>
                    <a:pt x="1432496" y="2412662"/>
                  </a:moveTo>
                  <a:lnTo>
                    <a:pt x="0" y="0"/>
                  </a:lnTo>
                </a:path>
              </a:pathLst>
            </a:custGeom>
            <a:ln w="19057">
              <a:solidFill>
                <a:srgbClr val="C70F2E"/>
              </a:solidFill>
            </a:ln>
          </p:spPr>
          <p:txBody>
            <a:bodyPr wrap="square" lIns="0" tIns="0" rIns="0" bIns="0" rtlCol="0"/>
            <a:lstStyle/>
            <a:p>
              <a:endParaRPr sz="1632"/>
            </a:p>
          </p:txBody>
        </p:sp>
        <p:pic>
          <p:nvPicPr>
            <p:cNvPr id="61" name="object 61"/>
            <p:cNvPicPr/>
            <p:nvPr/>
          </p:nvPicPr>
          <p:blipFill>
            <a:blip r:embed="rId3" cstate="print"/>
            <a:stretch>
              <a:fillRect/>
            </a:stretch>
          </p:blipFill>
          <p:spPr>
            <a:xfrm>
              <a:off x="3487406" y="751191"/>
              <a:ext cx="68216" cy="66424"/>
            </a:xfrm>
            <a:prstGeom prst="rect">
              <a:avLst/>
            </a:prstGeom>
          </p:spPr>
        </p:pic>
        <p:sp>
          <p:nvSpPr>
            <p:cNvPr id="62" name="object 62"/>
            <p:cNvSpPr/>
            <p:nvPr/>
          </p:nvSpPr>
          <p:spPr>
            <a:xfrm>
              <a:off x="5586267" y="1881213"/>
              <a:ext cx="496570" cy="1222375"/>
            </a:xfrm>
            <a:custGeom>
              <a:avLst/>
              <a:gdLst/>
              <a:ahLst/>
              <a:cxnLst/>
              <a:rect l="l" t="t" r="r" b="b"/>
              <a:pathLst>
                <a:path w="496570" h="1222375">
                  <a:moveTo>
                    <a:pt x="495943" y="1222065"/>
                  </a:moveTo>
                  <a:lnTo>
                    <a:pt x="0" y="0"/>
                  </a:lnTo>
                </a:path>
              </a:pathLst>
            </a:custGeom>
            <a:ln w="19057">
              <a:solidFill>
                <a:srgbClr val="C70F2E"/>
              </a:solidFill>
            </a:ln>
          </p:spPr>
          <p:txBody>
            <a:bodyPr wrap="square" lIns="0" tIns="0" rIns="0" bIns="0" rtlCol="0"/>
            <a:lstStyle/>
            <a:p>
              <a:endParaRPr sz="1632"/>
            </a:p>
          </p:txBody>
        </p:sp>
        <p:pic>
          <p:nvPicPr>
            <p:cNvPr id="63" name="object 63"/>
            <p:cNvPicPr/>
            <p:nvPr/>
          </p:nvPicPr>
          <p:blipFill>
            <a:blip r:embed="rId4" cstate="print"/>
            <a:stretch>
              <a:fillRect/>
            </a:stretch>
          </p:blipFill>
          <p:spPr>
            <a:xfrm>
              <a:off x="5548459" y="1831953"/>
              <a:ext cx="72032" cy="65123"/>
            </a:xfrm>
            <a:prstGeom prst="rect">
              <a:avLst/>
            </a:prstGeom>
          </p:spPr>
        </p:pic>
        <p:sp>
          <p:nvSpPr>
            <p:cNvPr id="64" name="object 64"/>
            <p:cNvSpPr/>
            <p:nvPr/>
          </p:nvSpPr>
          <p:spPr>
            <a:xfrm>
              <a:off x="6387660" y="804049"/>
              <a:ext cx="414020" cy="2299335"/>
            </a:xfrm>
            <a:custGeom>
              <a:avLst/>
              <a:gdLst/>
              <a:ahLst/>
              <a:cxnLst/>
              <a:rect l="l" t="t" r="r" b="b"/>
              <a:pathLst>
                <a:path w="414020" h="2299335">
                  <a:moveTo>
                    <a:pt x="413724" y="2299190"/>
                  </a:moveTo>
                  <a:lnTo>
                    <a:pt x="0" y="0"/>
                  </a:lnTo>
                </a:path>
              </a:pathLst>
            </a:custGeom>
            <a:ln w="19057">
              <a:solidFill>
                <a:srgbClr val="C70F2E"/>
              </a:solidFill>
            </a:ln>
          </p:spPr>
          <p:txBody>
            <a:bodyPr wrap="square" lIns="0" tIns="0" rIns="0" bIns="0" rtlCol="0"/>
            <a:lstStyle/>
            <a:p>
              <a:endParaRPr sz="1632"/>
            </a:p>
          </p:txBody>
        </p:sp>
        <p:sp>
          <p:nvSpPr>
            <p:cNvPr id="65" name="object 65"/>
            <p:cNvSpPr/>
            <p:nvPr/>
          </p:nvSpPr>
          <p:spPr>
            <a:xfrm>
              <a:off x="6358682" y="761848"/>
              <a:ext cx="56515" cy="43180"/>
            </a:xfrm>
            <a:custGeom>
              <a:avLst/>
              <a:gdLst/>
              <a:ahLst/>
              <a:cxnLst/>
              <a:rect l="l" t="t" r="r" b="b"/>
              <a:pathLst>
                <a:path w="56514" h="43179">
                  <a:moveTo>
                    <a:pt x="56267" y="32449"/>
                  </a:moveTo>
                  <a:lnTo>
                    <a:pt x="0" y="42574"/>
                  </a:lnTo>
                  <a:lnTo>
                    <a:pt x="21383" y="0"/>
                  </a:lnTo>
                  <a:lnTo>
                    <a:pt x="56267" y="32449"/>
                  </a:lnTo>
                  <a:close/>
                </a:path>
              </a:pathLst>
            </a:custGeom>
            <a:solidFill>
              <a:srgbClr val="C70F2E"/>
            </a:solidFill>
          </p:spPr>
          <p:txBody>
            <a:bodyPr wrap="square" lIns="0" tIns="0" rIns="0" bIns="0" rtlCol="0"/>
            <a:lstStyle/>
            <a:p>
              <a:endParaRPr sz="1632"/>
            </a:p>
          </p:txBody>
        </p:sp>
        <p:sp>
          <p:nvSpPr>
            <p:cNvPr id="66" name="object 66"/>
            <p:cNvSpPr/>
            <p:nvPr/>
          </p:nvSpPr>
          <p:spPr>
            <a:xfrm>
              <a:off x="6358682" y="761848"/>
              <a:ext cx="56515" cy="43180"/>
            </a:xfrm>
            <a:custGeom>
              <a:avLst/>
              <a:gdLst/>
              <a:ahLst/>
              <a:cxnLst/>
              <a:rect l="l" t="t" r="r" b="b"/>
              <a:pathLst>
                <a:path w="56514" h="43179">
                  <a:moveTo>
                    <a:pt x="0" y="42574"/>
                  </a:moveTo>
                  <a:lnTo>
                    <a:pt x="21383" y="0"/>
                  </a:lnTo>
                  <a:lnTo>
                    <a:pt x="56267" y="32449"/>
                  </a:lnTo>
                  <a:lnTo>
                    <a:pt x="0" y="42574"/>
                  </a:lnTo>
                  <a:close/>
                </a:path>
              </a:pathLst>
            </a:custGeom>
            <a:ln w="19057">
              <a:solidFill>
                <a:srgbClr val="C70F2E"/>
              </a:solidFill>
            </a:ln>
          </p:spPr>
          <p:txBody>
            <a:bodyPr wrap="square" lIns="0" tIns="0" rIns="0" bIns="0" rtlCol="0"/>
            <a:lstStyle/>
            <a:p>
              <a:endParaRPr sz="1632"/>
            </a:p>
          </p:txBody>
        </p:sp>
      </p:grpSp>
      <p:grpSp>
        <p:nvGrpSpPr>
          <p:cNvPr id="67" name="object 67"/>
          <p:cNvGrpSpPr/>
          <p:nvPr/>
        </p:nvGrpSpPr>
        <p:grpSpPr>
          <a:xfrm>
            <a:off x="2820448" y="4714883"/>
            <a:ext cx="2101162" cy="504993"/>
            <a:chOff x="1734493" y="5199468"/>
            <a:chExt cx="2317115" cy="556895"/>
          </a:xfrm>
        </p:grpSpPr>
        <p:sp>
          <p:nvSpPr>
            <p:cNvPr id="68" name="object 68"/>
            <p:cNvSpPr/>
            <p:nvPr/>
          </p:nvSpPr>
          <p:spPr>
            <a:xfrm>
              <a:off x="1785850" y="5208996"/>
              <a:ext cx="2256155" cy="509270"/>
            </a:xfrm>
            <a:custGeom>
              <a:avLst/>
              <a:gdLst/>
              <a:ahLst/>
              <a:cxnLst/>
              <a:rect l="l" t="t" r="r" b="b"/>
              <a:pathLst>
                <a:path w="2256154" h="509270">
                  <a:moveTo>
                    <a:pt x="2255809" y="0"/>
                  </a:moveTo>
                  <a:lnTo>
                    <a:pt x="0" y="508890"/>
                  </a:lnTo>
                </a:path>
              </a:pathLst>
            </a:custGeom>
            <a:ln w="19057">
              <a:solidFill>
                <a:srgbClr val="C70F2E"/>
              </a:solidFill>
            </a:ln>
          </p:spPr>
          <p:txBody>
            <a:bodyPr wrap="square" lIns="0" tIns="0" rIns="0" bIns="0" rtlCol="0"/>
            <a:lstStyle/>
            <a:p>
              <a:endParaRPr sz="1632"/>
            </a:p>
          </p:txBody>
        </p:sp>
        <p:sp>
          <p:nvSpPr>
            <p:cNvPr id="69" name="object 69"/>
            <p:cNvSpPr/>
            <p:nvPr/>
          </p:nvSpPr>
          <p:spPr>
            <a:xfrm>
              <a:off x="1744022" y="5691050"/>
              <a:ext cx="43815" cy="55880"/>
            </a:xfrm>
            <a:custGeom>
              <a:avLst/>
              <a:gdLst/>
              <a:ahLst/>
              <a:cxnLst/>
              <a:rect l="l" t="t" r="r" b="b"/>
              <a:pathLst>
                <a:path w="43814" h="55879">
                  <a:moveTo>
                    <a:pt x="30889" y="0"/>
                  </a:moveTo>
                  <a:lnTo>
                    <a:pt x="43470" y="55770"/>
                  </a:lnTo>
                  <a:lnTo>
                    <a:pt x="0" y="36272"/>
                  </a:lnTo>
                  <a:lnTo>
                    <a:pt x="30889" y="0"/>
                  </a:lnTo>
                  <a:close/>
                </a:path>
              </a:pathLst>
            </a:custGeom>
            <a:solidFill>
              <a:srgbClr val="C70F2E"/>
            </a:solidFill>
          </p:spPr>
          <p:txBody>
            <a:bodyPr wrap="square" lIns="0" tIns="0" rIns="0" bIns="0" rtlCol="0"/>
            <a:lstStyle/>
            <a:p>
              <a:endParaRPr sz="1632"/>
            </a:p>
          </p:txBody>
        </p:sp>
        <p:sp>
          <p:nvSpPr>
            <p:cNvPr id="70" name="object 70"/>
            <p:cNvSpPr/>
            <p:nvPr/>
          </p:nvSpPr>
          <p:spPr>
            <a:xfrm>
              <a:off x="1744022" y="5691050"/>
              <a:ext cx="43815" cy="55880"/>
            </a:xfrm>
            <a:custGeom>
              <a:avLst/>
              <a:gdLst/>
              <a:ahLst/>
              <a:cxnLst/>
              <a:rect l="l" t="t" r="r" b="b"/>
              <a:pathLst>
                <a:path w="43814" h="55879">
                  <a:moveTo>
                    <a:pt x="43470" y="55770"/>
                  </a:moveTo>
                  <a:lnTo>
                    <a:pt x="0" y="36272"/>
                  </a:lnTo>
                  <a:lnTo>
                    <a:pt x="30889" y="0"/>
                  </a:lnTo>
                  <a:lnTo>
                    <a:pt x="43470" y="55770"/>
                  </a:lnTo>
                  <a:close/>
                </a:path>
              </a:pathLst>
            </a:custGeom>
            <a:ln w="19057">
              <a:solidFill>
                <a:srgbClr val="C70F2E"/>
              </a:solidFill>
            </a:ln>
          </p:spPr>
          <p:txBody>
            <a:bodyPr wrap="square" lIns="0" tIns="0" rIns="0" bIns="0" rtlCol="0"/>
            <a:lstStyle/>
            <a:p>
              <a:endParaRPr sz="1632"/>
            </a:p>
          </p:txBody>
        </p:sp>
      </p:grpSp>
      <p:grpSp>
        <p:nvGrpSpPr>
          <p:cNvPr id="71" name="object 71"/>
          <p:cNvGrpSpPr/>
          <p:nvPr/>
        </p:nvGrpSpPr>
        <p:grpSpPr>
          <a:xfrm>
            <a:off x="2459097" y="6252032"/>
            <a:ext cx="2487537" cy="237813"/>
            <a:chOff x="1336004" y="6894601"/>
            <a:chExt cx="2743200" cy="262255"/>
          </a:xfrm>
        </p:grpSpPr>
        <p:sp>
          <p:nvSpPr>
            <p:cNvPr id="72" name="object 72"/>
            <p:cNvSpPr/>
            <p:nvPr/>
          </p:nvSpPr>
          <p:spPr>
            <a:xfrm>
              <a:off x="1388276" y="6933004"/>
              <a:ext cx="2680970" cy="213995"/>
            </a:xfrm>
            <a:custGeom>
              <a:avLst/>
              <a:gdLst/>
              <a:ahLst/>
              <a:cxnLst/>
              <a:rect l="l" t="t" r="r" b="b"/>
              <a:pathLst>
                <a:path w="2680970" h="213995">
                  <a:moveTo>
                    <a:pt x="2680960" y="213826"/>
                  </a:moveTo>
                  <a:lnTo>
                    <a:pt x="0" y="0"/>
                  </a:lnTo>
                </a:path>
              </a:pathLst>
            </a:custGeom>
            <a:ln w="19057">
              <a:solidFill>
                <a:srgbClr val="C70F2E"/>
              </a:solidFill>
            </a:ln>
          </p:spPr>
          <p:txBody>
            <a:bodyPr wrap="square" lIns="0" tIns="0" rIns="0" bIns="0" rtlCol="0"/>
            <a:lstStyle/>
            <a:p>
              <a:endParaRPr sz="1632"/>
            </a:p>
          </p:txBody>
        </p:sp>
        <p:sp>
          <p:nvSpPr>
            <p:cNvPr id="73" name="object 73"/>
            <p:cNvSpPr/>
            <p:nvPr/>
          </p:nvSpPr>
          <p:spPr>
            <a:xfrm>
              <a:off x="1345533" y="6904130"/>
              <a:ext cx="40640" cy="57150"/>
            </a:xfrm>
            <a:custGeom>
              <a:avLst/>
              <a:gdLst/>
              <a:ahLst/>
              <a:cxnLst/>
              <a:rect l="l" t="t" r="r" b="b"/>
              <a:pathLst>
                <a:path w="40640" h="57150">
                  <a:moveTo>
                    <a:pt x="40266" y="0"/>
                  </a:moveTo>
                  <a:lnTo>
                    <a:pt x="35721" y="56990"/>
                  </a:lnTo>
                  <a:lnTo>
                    <a:pt x="0" y="25465"/>
                  </a:lnTo>
                  <a:lnTo>
                    <a:pt x="40266" y="0"/>
                  </a:lnTo>
                  <a:close/>
                </a:path>
              </a:pathLst>
            </a:custGeom>
            <a:solidFill>
              <a:srgbClr val="C70F2E"/>
            </a:solidFill>
          </p:spPr>
          <p:txBody>
            <a:bodyPr wrap="square" lIns="0" tIns="0" rIns="0" bIns="0" rtlCol="0"/>
            <a:lstStyle/>
            <a:p>
              <a:endParaRPr sz="1632"/>
            </a:p>
          </p:txBody>
        </p:sp>
        <p:sp>
          <p:nvSpPr>
            <p:cNvPr id="74" name="object 74"/>
            <p:cNvSpPr/>
            <p:nvPr/>
          </p:nvSpPr>
          <p:spPr>
            <a:xfrm>
              <a:off x="1345533" y="6904130"/>
              <a:ext cx="40640" cy="57150"/>
            </a:xfrm>
            <a:custGeom>
              <a:avLst/>
              <a:gdLst/>
              <a:ahLst/>
              <a:cxnLst/>
              <a:rect l="l" t="t" r="r" b="b"/>
              <a:pathLst>
                <a:path w="40640" h="57150">
                  <a:moveTo>
                    <a:pt x="35721" y="56990"/>
                  </a:moveTo>
                  <a:lnTo>
                    <a:pt x="0" y="25465"/>
                  </a:lnTo>
                  <a:lnTo>
                    <a:pt x="40266" y="0"/>
                  </a:lnTo>
                  <a:lnTo>
                    <a:pt x="35721" y="56990"/>
                  </a:lnTo>
                  <a:close/>
                </a:path>
              </a:pathLst>
            </a:custGeom>
            <a:ln w="19057">
              <a:solidFill>
                <a:srgbClr val="C70F2E"/>
              </a:solidFill>
            </a:ln>
          </p:spPr>
          <p:txBody>
            <a:bodyPr wrap="square" lIns="0" tIns="0" rIns="0" bIns="0" rtlCol="0"/>
            <a:lstStyle/>
            <a:p>
              <a:endParaRPr sz="1632"/>
            </a:p>
          </p:txBody>
        </p:sp>
      </p:grpSp>
      <p:grpSp>
        <p:nvGrpSpPr>
          <p:cNvPr id="75" name="object 75"/>
          <p:cNvGrpSpPr/>
          <p:nvPr/>
        </p:nvGrpSpPr>
        <p:grpSpPr>
          <a:xfrm>
            <a:off x="2571381" y="801582"/>
            <a:ext cx="6589669" cy="3559711"/>
            <a:chOff x="1459829" y="883967"/>
            <a:chExt cx="7266940" cy="3925570"/>
          </a:xfrm>
        </p:grpSpPr>
        <p:sp>
          <p:nvSpPr>
            <p:cNvPr id="76" name="object 76"/>
            <p:cNvSpPr/>
            <p:nvPr/>
          </p:nvSpPr>
          <p:spPr>
            <a:xfrm>
              <a:off x="7520114" y="935959"/>
              <a:ext cx="304165" cy="2167890"/>
            </a:xfrm>
            <a:custGeom>
              <a:avLst/>
              <a:gdLst/>
              <a:ahLst/>
              <a:cxnLst/>
              <a:rect l="l" t="t" r="r" b="b"/>
              <a:pathLst>
                <a:path w="304165" h="2167890">
                  <a:moveTo>
                    <a:pt x="303552" y="2167325"/>
                  </a:moveTo>
                  <a:lnTo>
                    <a:pt x="0" y="0"/>
                  </a:lnTo>
                </a:path>
              </a:pathLst>
            </a:custGeom>
            <a:ln w="19057">
              <a:solidFill>
                <a:srgbClr val="C70F2E"/>
              </a:solidFill>
            </a:ln>
          </p:spPr>
          <p:txBody>
            <a:bodyPr wrap="square" lIns="0" tIns="0" rIns="0" bIns="0" rtlCol="0"/>
            <a:lstStyle/>
            <a:p>
              <a:endParaRPr sz="1632"/>
            </a:p>
          </p:txBody>
        </p:sp>
        <p:sp>
          <p:nvSpPr>
            <p:cNvPr id="77" name="object 77"/>
            <p:cNvSpPr/>
            <p:nvPr/>
          </p:nvSpPr>
          <p:spPr>
            <a:xfrm>
              <a:off x="7491144" y="893495"/>
              <a:ext cx="57150" cy="41910"/>
            </a:xfrm>
            <a:custGeom>
              <a:avLst/>
              <a:gdLst/>
              <a:ahLst/>
              <a:cxnLst/>
              <a:rect l="l" t="t" r="r" b="b"/>
              <a:pathLst>
                <a:path w="57150" h="41909">
                  <a:moveTo>
                    <a:pt x="56618" y="33780"/>
                  </a:moveTo>
                  <a:lnTo>
                    <a:pt x="0" y="41710"/>
                  </a:lnTo>
                  <a:lnTo>
                    <a:pt x="23022" y="0"/>
                  </a:lnTo>
                  <a:lnTo>
                    <a:pt x="56618" y="33780"/>
                  </a:lnTo>
                  <a:close/>
                </a:path>
              </a:pathLst>
            </a:custGeom>
            <a:solidFill>
              <a:srgbClr val="C70F2E"/>
            </a:solidFill>
          </p:spPr>
          <p:txBody>
            <a:bodyPr wrap="square" lIns="0" tIns="0" rIns="0" bIns="0" rtlCol="0"/>
            <a:lstStyle/>
            <a:p>
              <a:endParaRPr sz="1632"/>
            </a:p>
          </p:txBody>
        </p:sp>
        <p:sp>
          <p:nvSpPr>
            <p:cNvPr id="78" name="object 78"/>
            <p:cNvSpPr/>
            <p:nvPr/>
          </p:nvSpPr>
          <p:spPr>
            <a:xfrm>
              <a:off x="7491144" y="893495"/>
              <a:ext cx="57150" cy="41910"/>
            </a:xfrm>
            <a:custGeom>
              <a:avLst/>
              <a:gdLst/>
              <a:ahLst/>
              <a:cxnLst/>
              <a:rect l="l" t="t" r="r" b="b"/>
              <a:pathLst>
                <a:path w="57150" h="41909">
                  <a:moveTo>
                    <a:pt x="0" y="41710"/>
                  </a:moveTo>
                  <a:lnTo>
                    <a:pt x="23022" y="0"/>
                  </a:lnTo>
                  <a:lnTo>
                    <a:pt x="56618" y="33780"/>
                  </a:lnTo>
                  <a:lnTo>
                    <a:pt x="0" y="41710"/>
                  </a:lnTo>
                  <a:close/>
                </a:path>
              </a:pathLst>
            </a:custGeom>
            <a:ln w="19057">
              <a:solidFill>
                <a:srgbClr val="C70F2E"/>
              </a:solidFill>
            </a:ln>
          </p:spPr>
          <p:txBody>
            <a:bodyPr wrap="square" lIns="0" tIns="0" rIns="0" bIns="0" rtlCol="0"/>
            <a:lstStyle/>
            <a:p>
              <a:endParaRPr sz="1632"/>
            </a:p>
          </p:txBody>
        </p:sp>
        <p:sp>
          <p:nvSpPr>
            <p:cNvPr id="79" name="object 79"/>
            <p:cNvSpPr/>
            <p:nvPr/>
          </p:nvSpPr>
          <p:spPr>
            <a:xfrm>
              <a:off x="1510851" y="3418792"/>
              <a:ext cx="3594735" cy="936625"/>
            </a:xfrm>
            <a:custGeom>
              <a:avLst/>
              <a:gdLst/>
              <a:ahLst/>
              <a:cxnLst/>
              <a:rect l="l" t="t" r="r" b="b"/>
              <a:pathLst>
                <a:path w="3594735" h="936625">
                  <a:moveTo>
                    <a:pt x="3594358" y="936309"/>
                  </a:moveTo>
                  <a:lnTo>
                    <a:pt x="0" y="0"/>
                  </a:lnTo>
                </a:path>
              </a:pathLst>
            </a:custGeom>
            <a:ln w="19057">
              <a:solidFill>
                <a:srgbClr val="C70F2E"/>
              </a:solidFill>
            </a:ln>
          </p:spPr>
          <p:txBody>
            <a:bodyPr wrap="square" lIns="0" tIns="0" rIns="0" bIns="0" rtlCol="0"/>
            <a:lstStyle/>
            <a:p>
              <a:endParaRPr sz="1632"/>
            </a:p>
          </p:txBody>
        </p:sp>
        <p:sp>
          <p:nvSpPr>
            <p:cNvPr id="80" name="object 80"/>
            <p:cNvSpPr/>
            <p:nvPr/>
          </p:nvSpPr>
          <p:spPr>
            <a:xfrm>
              <a:off x="1469357" y="3389928"/>
              <a:ext cx="44450" cy="55880"/>
            </a:xfrm>
            <a:custGeom>
              <a:avLst/>
              <a:gdLst/>
              <a:ahLst/>
              <a:cxnLst/>
              <a:rect l="l" t="t" r="r" b="b"/>
              <a:pathLst>
                <a:path w="44450" h="55879">
                  <a:moveTo>
                    <a:pt x="44089" y="0"/>
                  </a:moveTo>
                  <a:lnTo>
                    <a:pt x="29677" y="55325"/>
                  </a:lnTo>
                  <a:lnTo>
                    <a:pt x="0" y="18054"/>
                  </a:lnTo>
                  <a:lnTo>
                    <a:pt x="44089" y="0"/>
                  </a:lnTo>
                  <a:close/>
                </a:path>
              </a:pathLst>
            </a:custGeom>
            <a:solidFill>
              <a:srgbClr val="C70F2E"/>
            </a:solidFill>
          </p:spPr>
          <p:txBody>
            <a:bodyPr wrap="square" lIns="0" tIns="0" rIns="0" bIns="0" rtlCol="0"/>
            <a:lstStyle/>
            <a:p>
              <a:endParaRPr sz="1632"/>
            </a:p>
          </p:txBody>
        </p:sp>
        <p:sp>
          <p:nvSpPr>
            <p:cNvPr id="81" name="object 81"/>
            <p:cNvSpPr/>
            <p:nvPr/>
          </p:nvSpPr>
          <p:spPr>
            <a:xfrm>
              <a:off x="1469357" y="3389928"/>
              <a:ext cx="44450" cy="55880"/>
            </a:xfrm>
            <a:custGeom>
              <a:avLst/>
              <a:gdLst/>
              <a:ahLst/>
              <a:cxnLst/>
              <a:rect l="l" t="t" r="r" b="b"/>
              <a:pathLst>
                <a:path w="44450" h="55879">
                  <a:moveTo>
                    <a:pt x="29677" y="55325"/>
                  </a:moveTo>
                  <a:lnTo>
                    <a:pt x="0" y="18054"/>
                  </a:lnTo>
                  <a:lnTo>
                    <a:pt x="44089" y="0"/>
                  </a:lnTo>
                  <a:lnTo>
                    <a:pt x="29677" y="55325"/>
                  </a:lnTo>
                  <a:close/>
                </a:path>
              </a:pathLst>
            </a:custGeom>
            <a:ln w="19057">
              <a:solidFill>
                <a:srgbClr val="C70F2E"/>
              </a:solidFill>
            </a:ln>
          </p:spPr>
          <p:txBody>
            <a:bodyPr wrap="square" lIns="0" tIns="0" rIns="0" bIns="0" rtlCol="0"/>
            <a:lstStyle/>
            <a:p>
              <a:endParaRPr sz="1632"/>
            </a:p>
          </p:txBody>
        </p:sp>
        <p:sp>
          <p:nvSpPr>
            <p:cNvPr id="82" name="object 82"/>
            <p:cNvSpPr/>
            <p:nvPr/>
          </p:nvSpPr>
          <p:spPr>
            <a:xfrm>
              <a:off x="1787083" y="4602738"/>
              <a:ext cx="4184650" cy="168275"/>
            </a:xfrm>
            <a:custGeom>
              <a:avLst/>
              <a:gdLst/>
              <a:ahLst/>
              <a:cxnLst/>
              <a:rect l="l" t="t" r="r" b="b"/>
              <a:pathLst>
                <a:path w="4184650" h="168275">
                  <a:moveTo>
                    <a:pt x="4184033" y="0"/>
                  </a:moveTo>
                  <a:lnTo>
                    <a:pt x="0" y="168002"/>
                  </a:lnTo>
                </a:path>
              </a:pathLst>
            </a:custGeom>
            <a:ln w="19057">
              <a:solidFill>
                <a:srgbClr val="C70F2E"/>
              </a:solidFill>
            </a:ln>
          </p:spPr>
          <p:txBody>
            <a:bodyPr wrap="square" lIns="0" tIns="0" rIns="0" bIns="0" rtlCol="0"/>
            <a:lstStyle/>
            <a:p>
              <a:endParaRPr sz="1632"/>
            </a:p>
          </p:txBody>
        </p:sp>
        <p:sp>
          <p:nvSpPr>
            <p:cNvPr id="83" name="object 83"/>
            <p:cNvSpPr/>
            <p:nvPr/>
          </p:nvSpPr>
          <p:spPr>
            <a:xfrm>
              <a:off x="1744239" y="4742369"/>
              <a:ext cx="39370" cy="57150"/>
            </a:xfrm>
            <a:custGeom>
              <a:avLst/>
              <a:gdLst/>
              <a:ahLst/>
              <a:cxnLst/>
              <a:rect l="l" t="t" r="r" b="b"/>
              <a:pathLst>
                <a:path w="39369" h="57150">
                  <a:moveTo>
                    <a:pt x="36936" y="0"/>
                  </a:moveTo>
                  <a:lnTo>
                    <a:pt x="39230" y="57125"/>
                  </a:lnTo>
                  <a:lnTo>
                    <a:pt x="0" y="30091"/>
                  </a:lnTo>
                  <a:lnTo>
                    <a:pt x="36936" y="0"/>
                  </a:lnTo>
                  <a:close/>
                </a:path>
              </a:pathLst>
            </a:custGeom>
            <a:solidFill>
              <a:srgbClr val="C70F2E"/>
            </a:solidFill>
          </p:spPr>
          <p:txBody>
            <a:bodyPr wrap="square" lIns="0" tIns="0" rIns="0" bIns="0" rtlCol="0"/>
            <a:lstStyle/>
            <a:p>
              <a:endParaRPr sz="1632"/>
            </a:p>
          </p:txBody>
        </p:sp>
        <p:sp>
          <p:nvSpPr>
            <p:cNvPr id="84" name="object 84"/>
            <p:cNvSpPr/>
            <p:nvPr/>
          </p:nvSpPr>
          <p:spPr>
            <a:xfrm>
              <a:off x="1744239" y="4742369"/>
              <a:ext cx="39370" cy="57150"/>
            </a:xfrm>
            <a:custGeom>
              <a:avLst/>
              <a:gdLst/>
              <a:ahLst/>
              <a:cxnLst/>
              <a:rect l="l" t="t" r="r" b="b"/>
              <a:pathLst>
                <a:path w="39369" h="57150">
                  <a:moveTo>
                    <a:pt x="39230" y="57125"/>
                  </a:moveTo>
                  <a:lnTo>
                    <a:pt x="0" y="30091"/>
                  </a:lnTo>
                  <a:lnTo>
                    <a:pt x="36936" y="0"/>
                  </a:lnTo>
                  <a:lnTo>
                    <a:pt x="39230" y="57125"/>
                  </a:lnTo>
                  <a:close/>
                </a:path>
              </a:pathLst>
            </a:custGeom>
            <a:ln w="19057">
              <a:solidFill>
                <a:srgbClr val="C70F2E"/>
              </a:solidFill>
            </a:ln>
          </p:spPr>
          <p:txBody>
            <a:bodyPr wrap="square" lIns="0" tIns="0" rIns="0" bIns="0" rtlCol="0"/>
            <a:lstStyle/>
            <a:p>
              <a:endParaRPr sz="1632"/>
            </a:p>
          </p:txBody>
        </p:sp>
        <p:sp>
          <p:nvSpPr>
            <p:cNvPr id="85" name="object 85"/>
            <p:cNvSpPr/>
            <p:nvPr/>
          </p:nvSpPr>
          <p:spPr>
            <a:xfrm>
              <a:off x="7512862" y="1897103"/>
              <a:ext cx="1176020" cy="2527935"/>
            </a:xfrm>
            <a:custGeom>
              <a:avLst/>
              <a:gdLst/>
              <a:ahLst/>
              <a:cxnLst/>
              <a:rect l="l" t="t" r="r" b="b"/>
              <a:pathLst>
                <a:path w="1176020" h="2527935">
                  <a:moveTo>
                    <a:pt x="0" y="2527780"/>
                  </a:moveTo>
                  <a:lnTo>
                    <a:pt x="946992" y="2527780"/>
                  </a:lnTo>
                  <a:lnTo>
                    <a:pt x="993080" y="2523134"/>
                  </a:lnTo>
                  <a:lnTo>
                    <a:pt x="1036007" y="2509809"/>
                  </a:lnTo>
                  <a:lnTo>
                    <a:pt x="1074852" y="2488724"/>
                  </a:lnTo>
                  <a:lnTo>
                    <a:pt x="1108697" y="2460800"/>
                  </a:lnTo>
                  <a:lnTo>
                    <a:pt x="1136622" y="2426955"/>
                  </a:lnTo>
                  <a:lnTo>
                    <a:pt x="1157707" y="2388109"/>
                  </a:lnTo>
                  <a:lnTo>
                    <a:pt x="1171032" y="2345183"/>
                  </a:lnTo>
                  <a:lnTo>
                    <a:pt x="1175678" y="2299094"/>
                  </a:lnTo>
                  <a:lnTo>
                    <a:pt x="1175678" y="0"/>
                  </a:lnTo>
                </a:path>
              </a:pathLst>
            </a:custGeom>
            <a:ln w="19057">
              <a:solidFill>
                <a:srgbClr val="C70F2E"/>
              </a:solidFill>
            </a:ln>
          </p:spPr>
          <p:txBody>
            <a:bodyPr wrap="square" lIns="0" tIns="0" rIns="0" bIns="0" rtlCol="0"/>
            <a:lstStyle/>
            <a:p>
              <a:endParaRPr sz="1632"/>
            </a:p>
          </p:txBody>
        </p:sp>
        <p:sp>
          <p:nvSpPr>
            <p:cNvPr id="86" name="object 86"/>
            <p:cNvSpPr/>
            <p:nvPr/>
          </p:nvSpPr>
          <p:spPr>
            <a:xfrm>
              <a:off x="8659955" y="1854224"/>
              <a:ext cx="57785" cy="38735"/>
            </a:xfrm>
            <a:custGeom>
              <a:avLst/>
              <a:gdLst/>
              <a:ahLst/>
              <a:cxnLst/>
              <a:rect l="l" t="t" r="r" b="b"/>
              <a:pathLst>
                <a:path w="57784" h="38735">
                  <a:moveTo>
                    <a:pt x="57171" y="38114"/>
                  </a:moveTo>
                  <a:lnTo>
                    <a:pt x="0" y="38114"/>
                  </a:lnTo>
                  <a:lnTo>
                    <a:pt x="28585" y="0"/>
                  </a:lnTo>
                  <a:lnTo>
                    <a:pt x="57171" y="38114"/>
                  </a:lnTo>
                  <a:close/>
                </a:path>
              </a:pathLst>
            </a:custGeom>
            <a:solidFill>
              <a:srgbClr val="C70F2E"/>
            </a:solidFill>
          </p:spPr>
          <p:txBody>
            <a:bodyPr wrap="square" lIns="0" tIns="0" rIns="0" bIns="0" rtlCol="0"/>
            <a:lstStyle/>
            <a:p>
              <a:endParaRPr sz="1632"/>
            </a:p>
          </p:txBody>
        </p:sp>
        <p:sp>
          <p:nvSpPr>
            <p:cNvPr id="87" name="object 87"/>
            <p:cNvSpPr/>
            <p:nvPr/>
          </p:nvSpPr>
          <p:spPr>
            <a:xfrm>
              <a:off x="8659955" y="1854224"/>
              <a:ext cx="57785" cy="38735"/>
            </a:xfrm>
            <a:custGeom>
              <a:avLst/>
              <a:gdLst/>
              <a:ahLst/>
              <a:cxnLst/>
              <a:rect l="l" t="t" r="r" b="b"/>
              <a:pathLst>
                <a:path w="57784" h="38735">
                  <a:moveTo>
                    <a:pt x="0" y="38114"/>
                  </a:moveTo>
                  <a:lnTo>
                    <a:pt x="28585" y="0"/>
                  </a:lnTo>
                  <a:lnTo>
                    <a:pt x="57171" y="38114"/>
                  </a:lnTo>
                  <a:lnTo>
                    <a:pt x="0" y="38114"/>
                  </a:lnTo>
                  <a:close/>
                </a:path>
              </a:pathLst>
            </a:custGeom>
            <a:ln w="19057">
              <a:solidFill>
                <a:srgbClr val="C70F2E"/>
              </a:solidFill>
            </a:ln>
          </p:spPr>
          <p:txBody>
            <a:bodyPr wrap="square" lIns="0" tIns="0" rIns="0" bIns="0" rtlCol="0"/>
            <a:lstStyle/>
            <a:p>
              <a:endParaRPr sz="1632"/>
            </a:p>
          </p:txBody>
        </p:sp>
      </p:grpSp>
      <p:sp>
        <p:nvSpPr>
          <p:cNvPr id="88" name="object 88"/>
          <p:cNvSpPr txBox="1"/>
          <p:nvPr/>
        </p:nvSpPr>
        <p:spPr>
          <a:xfrm rot="20280000">
            <a:off x="1519499" y="763474"/>
            <a:ext cx="2141279" cy="397545"/>
          </a:xfrm>
          <a:prstGeom prst="rect">
            <a:avLst/>
          </a:prstGeom>
        </p:spPr>
        <p:txBody>
          <a:bodyPr vert="horz" wrap="square" lIns="0" tIns="0" rIns="0" bIns="0" rtlCol="0">
            <a:spAutoFit/>
          </a:bodyPr>
          <a:lstStyle/>
          <a:p>
            <a:pPr>
              <a:lnSpc>
                <a:spcPts val="3092"/>
              </a:lnSpc>
            </a:pPr>
            <a:r>
              <a:rPr sz="4761" spc="-958" baseline="-1587" dirty="0">
                <a:latin typeface="Gill Sans MT"/>
                <a:cs typeface="Gill Sans MT"/>
              </a:rPr>
              <a:t>An</a:t>
            </a:r>
            <a:r>
              <a:rPr sz="3174" spc="-639" dirty="0">
                <a:latin typeface="Gill Sans MT"/>
                <a:cs typeface="Gill Sans MT"/>
              </a:rPr>
              <a:t>atomy</a:t>
            </a:r>
            <a:r>
              <a:rPr sz="3174" spc="-449" dirty="0">
                <a:latin typeface="Gill Sans MT"/>
                <a:cs typeface="Gill Sans MT"/>
              </a:rPr>
              <a:t> </a:t>
            </a:r>
            <a:r>
              <a:rPr sz="3174" spc="-435" dirty="0">
                <a:latin typeface="Gill Sans MT"/>
                <a:cs typeface="Gill Sans MT"/>
              </a:rPr>
              <a:t>of</a:t>
            </a:r>
            <a:r>
              <a:rPr sz="3174" spc="-449" dirty="0">
                <a:latin typeface="Gill Sans MT"/>
                <a:cs typeface="Gill Sans MT"/>
              </a:rPr>
              <a:t> </a:t>
            </a:r>
            <a:r>
              <a:rPr sz="3174" spc="-326" dirty="0">
                <a:latin typeface="Gill Sans MT"/>
                <a:cs typeface="Gill Sans MT"/>
              </a:rPr>
              <a:t>a</a:t>
            </a:r>
            <a:r>
              <a:rPr sz="3174" spc="-444" dirty="0">
                <a:latin typeface="Gill Sans MT"/>
                <a:cs typeface="Gill Sans MT"/>
              </a:rPr>
              <a:t> </a:t>
            </a:r>
            <a:r>
              <a:rPr sz="4761" spc="-803" baseline="1587" dirty="0">
                <a:latin typeface="Gill Sans MT"/>
                <a:cs typeface="Gill Sans MT"/>
              </a:rPr>
              <a:t>Cas</a:t>
            </a:r>
            <a:r>
              <a:rPr sz="4761" spc="-803" baseline="2380" dirty="0">
                <a:latin typeface="Gill Sans MT"/>
                <a:cs typeface="Gill Sans MT"/>
              </a:rPr>
              <a:t>e:</a:t>
            </a:r>
            <a:endParaRPr sz="4761" baseline="2380">
              <a:latin typeface="Gill Sans MT"/>
              <a:cs typeface="Gill Sans MT"/>
            </a:endParaRPr>
          </a:p>
        </p:txBody>
      </p:sp>
      <p:sp>
        <p:nvSpPr>
          <p:cNvPr id="89" name="object 89"/>
          <p:cNvSpPr txBox="1"/>
          <p:nvPr/>
        </p:nvSpPr>
        <p:spPr>
          <a:xfrm rot="20280000">
            <a:off x="2331214" y="1113608"/>
            <a:ext cx="879486" cy="397545"/>
          </a:xfrm>
          <a:prstGeom prst="rect">
            <a:avLst/>
          </a:prstGeom>
        </p:spPr>
        <p:txBody>
          <a:bodyPr vert="horz" wrap="square" lIns="0" tIns="0" rIns="0" bIns="0" rtlCol="0">
            <a:spAutoFit/>
          </a:bodyPr>
          <a:lstStyle/>
          <a:p>
            <a:pPr>
              <a:lnSpc>
                <a:spcPts val="3147"/>
              </a:lnSpc>
            </a:pPr>
            <a:r>
              <a:rPr sz="3174" spc="-453" dirty="0">
                <a:latin typeface="Gill Sans MT"/>
                <a:cs typeface="Gill Sans MT"/>
              </a:rPr>
              <a:t>Lexis+</a:t>
            </a:r>
            <a:endParaRPr sz="3174">
              <a:latin typeface="Gill Sans MT"/>
              <a:cs typeface="Gill Sans MT"/>
            </a:endParaRPr>
          </a:p>
        </p:txBody>
      </p:sp>
      <p:sp>
        <p:nvSpPr>
          <p:cNvPr id="90" name="object 90"/>
          <p:cNvSpPr txBox="1"/>
          <p:nvPr/>
        </p:nvSpPr>
        <p:spPr>
          <a:xfrm>
            <a:off x="1442509" y="2710924"/>
            <a:ext cx="1189065" cy="382880"/>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a:t>
            </a:r>
            <a:r>
              <a:rPr sz="907" spc="-32" dirty="0">
                <a:latin typeface="Times New Roman"/>
                <a:cs typeface="Times New Roman"/>
              </a:rPr>
              <a:t> </a:t>
            </a:r>
            <a:r>
              <a:rPr sz="907" b="1" spc="-36" dirty="0">
                <a:latin typeface="Times New Roman"/>
                <a:cs typeface="Times New Roman"/>
              </a:rPr>
              <a:t>Argued</a:t>
            </a:r>
            <a:r>
              <a:rPr sz="907" b="1" spc="-27" dirty="0">
                <a:latin typeface="Times New Roman"/>
                <a:cs typeface="Times New Roman"/>
              </a:rPr>
              <a:t> </a:t>
            </a:r>
            <a:r>
              <a:rPr sz="907" b="1" spc="-18" dirty="0">
                <a:latin typeface="Times New Roman"/>
                <a:cs typeface="Times New Roman"/>
              </a:rPr>
              <a:t>Date</a:t>
            </a:r>
            <a:r>
              <a:rPr sz="907" b="1" spc="-32" dirty="0">
                <a:latin typeface="Times New Roman"/>
                <a:cs typeface="Times New Roman"/>
              </a:rPr>
              <a:t> </a:t>
            </a:r>
            <a:r>
              <a:rPr sz="907" spc="-9" dirty="0">
                <a:latin typeface="Times New Roman"/>
                <a:cs typeface="Times New Roman"/>
              </a:rPr>
              <a:t>is</a:t>
            </a:r>
            <a:r>
              <a:rPr sz="907" spc="-27" dirty="0">
                <a:latin typeface="Times New Roman"/>
                <a:cs typeface="Times New Roman"/>
              </a:rPr>
              <a:t> </a:t>
            </a:r>
            <a:r>
              <a:rPr sz="907" spc="-23" dirty="0">
                <a:latin typeface="Times New Roman"/>
                <a:cs typeface="Times New Roman"/>
              </a:rPr>
              <a:t>the </a:t>
            </a:r>
            <a:r>
              <a:rPr sz="907" dirty="0">
                <a:latin typeface="Times New Roman"/>
                <a:cs typeface="Times New Roman"/>
              </a:rPr>
              <a:t>date</a:t>
            </a:r>
            <a:r>
              <a:rPr sz="907" spc="-14" dirty="0">
                <a:latin typeface="Times New Roman"/>
                <a:cs typeface="Times New Roman"/>
              </a:rPr>
              <a:t> </a:t>
            </a:r>
            <a:r>
              <a:rPr sz="907" spc="-9" dirty="0">
                <a:latin typeface="Times New Roman"/>
                <a:cs typeface="Times New Roman"/>
              </a:rPr>
              <a:t>oral</a:t>
            </a:r>
            <a:r>
              <a:rPr sz="907" spc="-14" dirty="0">
                <a:latin typeface="Times New Roman"/>
                <a:cs typeface="Times New Roman"/>
              </a:rPr>
              <a:t> </a:t>
            </a:r>
            <a:r>
              <a:rPr sz="907" dirty="0">
                <a:latin typeface="Times New Roman"/>
                <a:cs typeface="Times New Roman"/>
              </a:rPr>
              <a:t>arguments</a:t>
            </a:r>
            <a:r>
              <a:rPr sz="907" spc="-14" dirty="0">
                <a:latin typeface="Times New Roman"/>
                <a:cs typeface="Times New Roman"/>
              </a:rPr>
              <a:t> </a:t>
            </a:r>
            <a:r>
              <a:rPr sz="907" spc="-18" dirty="0">
                <a:latin typeface="Times New Roman"/>
                <a:cs typeface="Times New Roman"/>
              </a:rPr>
              <a:t>were </a:t>
            </a:r>
            <a:r>
              <a:rPr sz="907" dirty="0">
                <a:latin typeface="Times New Roman"/>
                <a:cs typeface="Times New Roman"/>
              </a:rPr>
              <a:t>heard</a:t>
            </a:r>
            <a:r>
              <a:rPr sz="907" spc="-14" dirty="0">
                <a:latin typeface="Times New Roman"/>
                <a:cs typeface="Times New Roman"/>
              </a:rPr>
              <a:t> </a:t>
            </a:r>
            <a:r>
              <a:rPr sz="907" spc="-23" dirty="0">
                <a:latin typeface="Times New Roman"/>
                <a:cs typeface="Times New Roman"/>
              </a:rPr>
              <a:t>before</a:t>
            </a:r>
            <a:r>
              <a:rPr sz="907" spc="-9"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9" dirty="0">
                <a:latin typeface="Times New Roman"/>
                <a:cs typeface="Times New Roman"/>
              </a:rPr>
              <a:t>court.</a:t>
            </a:r>
            <a:endParaRPr sz="907">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618539" y="2093883"/>
            <a:ext cx="9184889" cy="4544920"/>
          </a:xfrm>
          <a:prstGeom prst="rect">
            <a:avLst/>
          </a:prstGeom>
        </p:spPr>
      </p:pic>
      <p:grpSp>
        <p:nvGrpSpPr>
          <p:cNvPr id="3" name="object 3"/>
          <p:cNvGrpSpPr/>
          <p:nvPr/>
        </p:nvGrpSpPr>
        <p:grpSpPr>
          <a:xfrm>
            <a:off x="1303607" y="-251"/>
            <a:ext cx="2745503" cy="1813252"/>
            <a:chOff x="61755" y="-277"/>
            <a:chExt cx="3027680" cy="1999614"/>
          </a:xfrm>
        </p:grpSpPr>
        <p:sp>
          <p:nvSpPr>
            <p:cNvPr id="4" name="object 4"/>
            <p:cNvSpPr/>
            <p:nvPr/>
          </p:nvSpPr>
          <p:spPr>
            <a:xfrm>
              <a:off x="217805" y="292107"/>
              <a:ext cx="2822575" cy="1706880"/>
            </a:xfrm>
            <a:custGeom>
              <a:avLst/>
              <a:gdLst/>
              <a:ahLst/>
              <a:cxnLst/>
              <a:rect l="l" t="t" r="r" b="b"/>
              <a:pathLst>
                <a:path w="2822575" h="1706880">
                  <a:moveTo>
                    <a:pt x="203809" y="1706762"/>
                  </a:moveTo>
                  <a:lnTo>
                    <a:pt x="0" y="504455"/>
                  </a:lnTo>
                  <a:lnTo>
                    <a:pt x="2596622" y="0"/>
                  </a:lnTo>
                  <a:lnTo>
                    <a:pt x="2822436" y="1062778"/>
                  </a:lnTo>
                  <a:lnTo>
                    <a:pt x="203809" y="1706762"/>
                  </a:lnTo>
                  <a:close/>
                </a:path>
              </a:pathLst>
            </a:custGeom>
            <a:solidFill>
              <a:srgbClr val="C70F2E">
                <a:alpha val="25000"/>
              </a:srgbClr>
            </a:solidFill>
          </p:spPr>
          <p:txBody>
            <a:bodyPr wrap="square" lIns="0" tIns="0" rIns="0" bIns="0" rtlCol="0"/>
            <a:lstStyle/>
            <a:p>
              <a:endParaRPr sz="1632"/>
            </a:p>
          </p:txBody>
        </p:sp>
        <p:sp>
          <p:nvSpPr>
            <p:cNvPr id="5" name="object 5"/>
            <p:cNvSpPr/>
            <p:nvPr/>
          </p:nvSpPr>
          <p:spPr>
            <a:xfrm>
              <a:off x="195732" y="137191"/>
              <a:ext cx="2870200" cy="1772920"/>
            </a:xfrm>
            <a:custGeom>
              <a:avLst/>
              <a:gdLst/>
              <a:ahLst/>
              <a:cxnLst/>
              <a:rect l="l" t="t" r="r" b="b"/>
              <a:pathLst>
                <a:path w="2870200" h="1772920">
                  <a:moveTo>
                    <a:pt x="2870006" y="1217385"/>
                  </a:moveTo>
                  <a:lnTo>
                    <a:pt x="258763" y="1772422"/>
                  </a:lnTo>
                  <a:lnTo>
                    <a:pt x="0" y="555036"/>
                  </a:lnTo>
                  <a:lnTo>
                    <a:pt x="2611243" y="0"/>
                  </a:lnTo>
                  <a:lnTo>
                    <a:pt x="2870006" y="1217385"/>
                  </a:lnTo>
                  <a:close/>
                </a:path>
              </a:pathLst>
            </a:custGeom>
            <a:solidFill>
              <a:srgbClr val="F0EBD4"/>
            </a:solidFill>
          </p:spPr>
          <p:txBody>
            <a:bodyPr wrap="square" lIns="0" tIns="0" rIns="0" bIns="0" rtlCol="0"/>
            <a:lstStyle/>
            <a:p>
              <a:endParaRPr sz="1632"/>
            </a:p>
          </p:txBody>
        </p:sp>
        <p:sp>
          <p:nvSpPr>
            <p:cNvPr id="6" name="object 6"/>
            <p:cNvSpPr/>
            <p:nvPr/>
          </p:nvSpPr>
          <p:spPr>
            <a:xfrm>
              <a:off x="61747" y="-267"/>
              <a:ext cx="3027680" cy="1213485"/>
            </a:xfrm>
            <a:custGeom>
              <a:avLst/>
              <a:gdLst/>
              <a:ahLst/>
              <a:cxnLst/>
              <a:rect l="l" t="t" r="r" b="b"/>
              <a:pathLst>
                <a:path w="3027680" h="1213485">
                  <a:moveTo>
                    <a:pt x="604901" y="523684"/>
                  </a:moveTo>
                  <a:lnTo>
                    <a:pt x="538060" y="560336"/>
                  </a:lnTo>
                  <a:lnTo>
                    <a:pt x="547281" y="487857"/>
                  </a:lnTo>
                  <a:lnTo>
                    <a:pt x="479539" y="548805"/>
                  </a:lnTo>
                  <a:lnTo>
                    <a:pt x="499186" y="457936"/>
                  </a:lnTo>
                  <a:lnTo>
                    <a:pt x="438365" y="530555"/>
                  </a:lnTo>
                  <a:lnTo>
                    <a:pt x="462597" y="435178"/>
                  </a:lnTo>
                  <a:lnTo>
                    <a:pt x="395541" y="486676"/>
                  </a:lnTo>
                  <a:lnTo>
                    <a:pt x="403936" y="407200"/>
                  </a:lnTo>
                  <a:lnTo>
                    <a:pt x="346252" y="491261"/>
                  </a:lnTo>
                  <a:lnTo>
                    <a:pt x="25336" y="1004392"/>
                  </a:lnTo>
                  <a:lnTo>
                    <a:pt x="0" y="1062151"/>
                  </a:lnTo>
                  <a:lnTo>
                    <a:pt x="63030" y="1031748"/>
                  </a:lnTo>
                  <a:lnTo>
                    <a:pt x="42900" y="1095260"/>
                  </a:lnTo>
                  <a:lnTo>
                    <a:pt x="129882" y="1053338"/>
                  </a:lnTo>
                  <a:lnTo>
                    <a:pt x="92887" y="1141222"/>
                  </a:lnTo>
                  <a:lnTo>
                    <a:pt x="143967" y="1114348"/>
                  </a:lnTo>
                  <a:lnTo>
                    <a:pt x="140982" y="1173073"/>
                  </a:lnTo>
                  <a:lnTo>
                    <a:pt x="195414" y="1148359"/>
                  </a:lnTo>
                  <a:lnTo>
                    <a:pt x="186728" y="1213129"/>
                  </a:lnTo>
                  <a:lnTo>
                    <a:pt x="247751" y="1146149"/>
                  </a:lnTo>
                  <a:lnTo>
                    <a:pt x="546455" y="623506"/>
                  </a:lnTo>
                  <a:lnTo>
                    <a:pt x="604901" y="523684"/>
                  </a:lnTo>
                  <a:close/>
                </a:path>
                <a:path w="3027680" h="1213485">
                  <a:moveTo>
                    <a:pt x="3027565" y="481965"/>
                  </a:moveTo>
                  <a:lnTo>
                    <a:pt x="2966758" y="414832"/>
                  </a:lnTo>
                  <a:lnTo>
                    <a:pt x="2474938" y="67741"/>
                  </a:lnTo>
                  <a:lnTo>
                    <a:pt x="2381148" y="0"/>
                  </a:lnTo>
                  <a:lnTo>
                    <a:pt x="2411285" y="70040"/>
                  </a:lnTo>
                  <a:lnTo>
                    <a:pt x="2339987" y="53936"/>
                  </a:lnTo>
                  <a:lnTo>
                    <a:pt x="2394204" y="127165"/>
                  </a:lnTo>
                  <a:lnTo>
                    <a:pt x="2305621" y="98983"/>
                  </a:lnTo>
                  <a:lnTo>
                    <a:pt x="2372055" y="166458"/>
                  </a:lnTo>
                  <a:lnTo>
                    <a:pt x="2279459" y="133210"/>
                  </a:lnTo>
                  <a:lnTo>
                    <a:pt x="2324366" y="204851"/>
                  </a:lnTo>
                  <a:lnTo>
                    <a:pt x="2245995" y="188950"/>
                  </a:lnTo>
                  <a:lnTo>
                    <a:pt x="2324227" y="254342"/>
                  </a:lnTo>
                  <a:lnTo>
                    <a:pt x="2804464" y="622808"/>
                  </a:lnTo>
                  <a:lnTo>
                    <a:pt x="2859506" y="653491"/>
                  </a:lnTo>
                  <a:lnTo>
                    <a:pt x="2835275" y="587819"/>
                  </a:lnTo>
                  <a:lnTo>
                    <a:pt x="2896578" y="613918"/>
                  </a:lnTo>
                  <a:lnTo>
                    <a:pt x="2863113" y="523328"/>
                  </a:lnTo>
                  <a:lnTo>
                    <a:pt x="2947047" y="568528"/>
                  </a:lnTo>
                  <a:lnTo>
                    <a:pt x="2925178" y="515073"/>
                  </a:lnTo>
                  <a:lnTo>
                    <a:pt x="2983344" y="523684"/>
                  </a:lnTo>
                  <a:lnTo>
                    <a:pt x="2963976" y="467106"/>
                  </a:lnTo>
                  <a:lnTo>
                    <a:pt x="3027565" y="481965"/>
                  </a:lnTo>
                  <a:close/>
                </a:path>
              </a:pathLst>
            </a:custGeom>
            <a:solidFill>
              <a:srgbClr val="C70F2E">
                <a:alpha val="29998"/>
              </a:srgbClr>
            </a:solidFill>
          </p:spPr>
          <p:txBody>
            <a:bodyPr wrap="square" lIns="0" tIns="0" rIns="0" bIns="0" rtlCol="0"/>
            <a:lstStyle/>
            <a:p>
              <a:endParaRPr sz="1632"/>
            </a:p>
          </p:txBody>
        </p:sp>
      </p:grpSp>
      <p:grpSp>
        <p:nvGrpSpPr>
          <p:cNvPr id="7" name="object 7"/>
          <p:cNvGrpSpPr/>
          <p:nvPr/>
        </p:nvGrpSpPr>
        <p:grpSpPr>
          <a:xfrm>
            <a:off x="4589165" y="871063"/>
            <a:ext cx="1797706" cy="940312"/>
            <a:chOff x="3684996" y="960589"/>
            <a:chExt cx="1982470" cy="1036955"/>
          </a:xfrm>
        </p:grpSpPr>
        <p:sp>
          <p:nvSpPr>
            <p:cNvPr id="8" name="object 8"/>
            <p:cNvSpPr/>
            <p:nvPr/>
          </p:nvSpPr>
          <p:spPr>
            <a:xfrm>
              <a:off x="3684996" y="960589"/>
              <a:ext cx="1982470" cy="1036955"/>
            </a:xfrm>
            <a:custGeom>
              <a:avLst/>
              <a:gdLst/>
              <a:ahLst/>
              <a:cxnLst/>
              <a:rect l="l" t="t" r="r" b="b"/>
              <a:pathLst>
                <a:path w="1982470" h="1036955">
                  <a:moveTo>
                    <a:pt x="1823670" y="1036596"/>
                  </a:moveTo>
                  <a:lnTo>
                    <a:pt x="262375" y="1036596"/>
                  </a:lnTo>
                  <a:lnTo>
                    <a:pt x="219455" y="1030712"/>
                  </a:lnTo>
                  <a:lnTo>
                    <a:pt x="181012" y="1014129"/>
                  </a:lnTo>
                  <a:lnTo>
                    <a:pt x="148648" y="988451"/>
                  </a:lnTo>
                  <a:lnTo>
                    <a:pt x="123964" y="955282"/>
                  </a:lnTo>
                  <a:lnTo>
                    <a:pt x="83730" y="938975"/>
                  </a:lnTo>
                  <a:lnTo>
                    <a:pt x="49569" y="913177"/>
                  </a:lnTo>
                  <a:lnTo>
                    <a:pt x="23128" y="879536"/>
                  </a:lnTo>
                  <a:lnTo>
                    <a:pt x="6056" y="839698"/>
                  </a:lnTo>
                  <a:lnTo>
                    <a:pt x="0" y="795311"/>
                  </a:lnTo>
                  <a:lnTo>
                    <a:pt x="0" y="165172"/>
                  </a:lnTo>
                  <a:lnTo>
                    <a:pt x="5910" y="121313"/>
                  </a:lnTo>
                  <a:lnTo>
                    <a:pt x="22583" y="81871"/>
                  </a:lnTo>
                  <a:lnTo>
                    <a:pt x="48432" y="48432"/>
                  </a:lnTo>
                  <a:lnTo>
                    <a:pt x="81871" y="22583"/>
                  </a:lnTo>
                  <a:lnTo>
                    <a:pt x="121313" y="5910"/>
                  </a:lnTo>
                  <a:lnTo>
                    <a:pt x="165172" y="0"/>
                  </a:lnTo>
                  <a:lnTo>
                    <a:pt x="1726468" y="0"/>
                  </a:lnTo>
                  <a:lnTo>
                    <a:pt x="1775049" y="7289"/>
                  </a:lnTo>
                  <a:lnTo>
                    <a:pt x="1817929" y="27699"/>
                  </a:lnTo>
                  <a:lnTo>
                    <a:pt x="1852922" y="59037"/>
                  </a:lnTo>
                  <a:lnTo>
                    <a:pt x="1877839" y="99114"/>
                  </a:lnTo>
                  <a:lnTo>
                    <a:pt x="1919788" y="122089"/>
                  </a:lnTo>
                  <a:lnTo>
                    <a:pt x="1952775" y="156195"/>
                  </a:lnTo>
                  <a:lnTo>
                    <a:pt x="1974358" y="198989"/>
                  </a:lnTo>
                  <a:lnTo>
                    <a:pt x="1982095" y="248031"/>
                  </a:lnTo>
                  <a:lnTo>
                    <a:pt x="1982095" y="878171"/>
                  </a:lnTo>
                  <a:lnTo>
                    <a:pt x="1974019" y="928245"/>
                  </a:lnTo>
                  <a:lnTo>
                    <a:pt x="1951528" y="971735"/>
                  </a:lnTo>
                  <a:lnTo>
                    <a:pt x="1917234" y="1006029"/>
                  </a:lnTo>
                  <a:lnTo>
                    <a:pt x="1873745" y="1028519"/>
                  </a:lnTo>
                  <a:lnTo>
                    <a:pt x="1823670" y="1036596"/>
                  </a:lnTo>
                  <a:close/>
                </a:path>
              </a:pathLst>
            </a:custGeom>
            <a:solidFill>
              <a:srgbClr val="000000"/>
            </a:solidFill>
          </p:spPr>
          <p:txBody>
            <a:bodyPr wrap="square" lIns="0" tIns="0" rIns="0" bIns="0" rtlCol="0"/>
            <a:lstStyle/>
            <a:p>
              <a:endParaRPr sz="1632"/>
            </a:p>
          </p:txBody>
        </p:sp>
        <p:sp>
          <p:nvSpPr>
            <p:cNvPr id="9" name="object 9"/>
            <p:cNvSpPr/>
            <p:nvPr/>
          </p:nvSpPr>
          <p:spPr>
            <a:xfrm>
              <a:off x="3698492" y="974087"/>
              <a:ext cx="1864995" cy="934085"/>
            </a:xfrm>
            <a:custGeom>
              <a:avLst/>
              <a:gdLst/>
              <a:ahLst/>
              <a:cxnLst/>
              <a:rect l="l" t="t" r="r" b="b"/>
              <a:pathLst>
                <a:path w="1864995" h="934085">
                  <a:moveTo>
                    <a:pt x="1712972" y="933491"/>
                  </a:moveTo>
                  <a:lnTo>
                    <a:pt x="151675" y="933491"/>
                  </a:lnTo>
                  <a:lnTo>
                    <a:pt x="103756" y="925753"/>
                  </a:lnTo>
                  <a:lnTo>
                    <a:pt x="62122" y="904210"/>
                  </a:lnTo>
                  <a:lnTo>
                    <a:pt x="29280" y="871369"/>
                  </a:lnTo>
                  <a:lnTo>
                    <a:pt x="7737" y="829735"/>
                  </a:lnTo>
                  <a:lnTo>
                    <a:pt x="0" y="781815"/>
                  </a:lnTo>
                  <a:lnTo>
                    <a:pt x="0" y="151673"/>
                  </a:lnTo>
                  <a:lnTo>
                    <a:pt x="7738" y="103754"/>
                  </a:lnTo>
                  <a:lnTo>
                    <a:pt x="29281" y="62121"/>
                  </a:lnTo>
                  <a:lnTo>
                    <a:pt x="62123" y="29280"/>
                  </a:lnTo>
                  <a:lnTo>
                    <a:pt x="103756" y="7737"/>
                  </a:lnTo>
                  <a:lnTo>
                    <a:pt x="151675" y="0"/>
                  </a:lnTo>
                  <a:lnTo>
                    <a:pt x="1712972" y="0"/>
                  </a:lnTo>
                  <a:lnTo>
                    <a:pt x="1760892" y="7737"/>
                  </a:lnTo>
                  <a:lnTo>
                    <a:pt x="1802526" y="29280"/>
                  </a:lnTo>
                  <a:lnTo>
                    <a:pt x="1835367" y="62122"/>
                  </a:lnTo>
                  <a:lnTo>
                    <a:pt x="1856910" y="103756"/>
                  </a:lnTo>
                  <a:lnTo>
                    <a:pt x="1864648" y="151675"/>
                  </a:lnTo>
                  <a:lnTo>
                    <a:pt x="1864648" y="781815"/>
                  </a:lnTo>
                  <a:lnTo>
                    <a:pt x="1856910" y="829735"/>
                  </a:lnTo>
                  <a:lnTo>
                    <a:pt x="1835367" y="871369"/>
                  </a:lnTo>
                  <a:lnTo>
                    <a:pt x="1802526" y="904210"/>
                  </a:lnTo>
                  <a:lnTo>
                    <a:pt x="1760892" y="925753"/>
                  </a:lnTo>
                  <a:lnTo>
                    <a:pt x="1712972" y="933491"/>
                  </a:lnTo>
                  <a:close/>
                </a:path>
              </a:pathLst>
            </a:custGeom>
            <a:solidFill>
              <a:srgbClr val="FFFFFF"/>
            </a:solidFill>
          </p:spPr>
          <p:txBody>
            <a:bodyPr wrap="square" lIns="0" tIns="0" rIns="0" bIns="0" rtlCol="0"/>
            <a:lstStyle/>
            <a:p>
              <a:endParaRPr sz="1632"/>
            </a:p>
          </p:txBody>
        </p:sp>
      </p:grpSp>
      <p:sp>
        <p:nvSpPr>
          <p:cNvPr id="10" name="object 10"/>
          <p:cNvSpPr txBox="1"/>
          <p:nvPr/>
        </p:nvSpPr>
        <p:spPr>
          <a:xfrm>
            <a:off x="4694087" y="966854"/>
            <a:ext cx="1576016" cy="729129"/>
          </a:xfrm>
          <a:prstGeom prst="rect">
            <a:avLst/>
          </a:prstGeom>
        </p:spPr>
        <p:txBody>
          <a:bodyPr vert="horz" wrap="square" lIns="0" tIns="36277" rIns="0" bIns="0" rtlCol="0">
            <a:spAutoFit/>
          </a:bodyPr>
          <a:lstStyle/>
          <a:p>
            <a:pPr marL="11516" marR="4607">
              <a:lnSpc>
                <a:spcPts val="889"/>
              </a:lnSpc>
              <a:spcBef>
                <a:spcPts val="286"/>
              </a:spcBef>
            </a:pPr>
            <a:r>
              <a:rPr sz="907" spc="-27" dirty="0">
                <a:latin typeface="Times New Roman"/>
                <a:cs typeface="Times New Roman"/>
              </a:rPr>
              <a:t>The </a:t>
            </a:r>
            <a:r>
              <a:rPr sz="907" spc="-18" dirty="0">
                <a:latin typeface="Times New Roman"/>
                <a:cs typeface="Times New Roman"/>
              </a:rPr>
              <a:t>case</a:t>
            </a:r>
            <a:r>
              <a:rPr sz="907" spc="-27" dirty="0">
                <a:latin typeface="Times New Roman"/>
                <a:cs typeface="Times New Roman"/>
              </a:rPr>
              <a:t> </a:t>
            </a:r>
            <a:r>
              <a:rPr sz="907" b="1" spc="-23" dirty="0">
                <a:latin typeface="Times New Roman"/>
                <a:cs typeface="Times New Roman"/>
              </a:rPr>
              <a:t>Summary </a:t>
            </a:r>
            <a:r>
              <a:rPr sz="907" spc="-9" dirty="0">
                <a:latin typeface="Times New Roman"/>
                <a:cs typeface="Times New Roman"/>
              </a:rPr>
              <a:t>provides</a:t>
            </a:r>
            <a:r>
              <a:rPr sz="907" spc="-27" dirty="0">
                <a:latin typeface="Times New Roman"/>
                <a:cs typeface="Times New Roman"/>
              </a:rPr>
              <a:t> </a:t>
            </a:r>
            <a:r>
              <a:rPr sz="907" spc="-45" dirty="0">
                <a:latin typeface="Times New Roman"/>
                <a:cs typeface="Times New Roman"/>
              </a:rPr>
              <a:t>a</a:t>
            </a:r>
            <a:r>
              <a:rPr sz="907" spc="-18" dirty="0">
                <a:latin typeface="Times New Roman"/>
                <a:cs typeface="Times New Roman"/>
              </a:rPr>
              <a:t> brief</a:t>
            </a:r>
            <a:r>
              <a:rPr sz="907" spc="-32" dirty="0">
                <a:latin typeface="Times New Roman"/>
                <a:cs typeface="Times New Roman"/>
              </a:rPr>
              <a:t> </a:t>
            </a:r>
            <a:r>
              <a:rPr sz="907" dirty="0">
                <a:latin typeface="Times New Roman"/>
                <a:cs typeface="Times New Roman"/>
              </a:rPr>
              <a:t>summary</a:t>
            </a:r>
            <a:r>
              <a:rPr sz="907" spc="-27" dirty="0">
                <a:latin typeface="Times New Roman"/>
                <a:cs typeface="Times New Roman"/>
              </a:rPr>
              <a:t> </a:t>
            </a:r>
            <a:r>
              <a:rPr sz="907" spc="-32" dirty="0">
                <a:latin typeface="Times New Roman"/>
                <a:cs typeface="Times New Roman"/>
              </a:rPr>
              <a:t>of</a:t>
            </a:r>
            <a:r>
              <a:rPr sz="907" spc="-27" dirty="0">
                <a:latin typeface="Times New Roman"/>
                <a:cs typeface="Times New Roman"/>
              </a:rPr>
              <a:t> </a:t>
            </a:r>
            <a:r>
              <a:rPr sz="907" dirty="0">
                <a:latin typeface="Times New Roman"/>
                <a:cs typeface="Times New Roman"/>
              </a:rPr>
              <a:t>the</a:t>
            </a:r>
            <a:r>
              <a:rPr sz="907" spc="-27" dirty="0">
                <a:latin typeface="Times New Roman"/>
                <a:cs typeface="Times New Roman"/>
              </a:rPr>
              <a:t> </a:t>
            </a:r>
            <a:r>
              <a:rPr sz="907" spc="-9" dirty="0">
                <a:latin typeface="Times New Roman"/>
                <a:cs typeface="Times New Roman"/>
              </a:rPr>
              <a:t>facts,</a:t>
            </a:r>
            <a:r>
              <a:rPr sz="907" spc="-27" dirty="0">
                <a:latin typeface="Times New Roman"/>
                <a:cs typeface="Times New Roman"/>
              </a:rPr>
              <a:t> </a:t>
            </a:r>
            <a:r>
              <a:rPr sz="907" spc="-23" dirty="0">
                <a:latin typeface="Times New Roman"/>
                <a:cs typeface="Times New Roman"/>
              </a:rPr>
              <a:t>the </a:t>
            </a:r>
            <a:r>
              <a:rPr sz="907" dirty="0">
                <a:latin typeface="Times New Roman"/>
                <a:cs typeface="Times New Roman"/>
              </a:rPr>
              <a:t>nature</a:t>
            </a:r>
            <a:r>
              <a:rPr sz="907" spc="-9" dirty="0">
                <a:latin typeface="Times New Roman"/>
                <a:cs typeface="Times New Roman"/>
              </a:rPr>
              <a:t> </a:t>
            </a:r>
            <a:r>
              <a:rPr sz="907" spc="-32" dirty="0">
                <a:latin typeface="Times New Roman"/>
                <a:cs typeface="Times New Roman"/>
              </a:rPr>
              <a:t>of</a:t>
            </a:r>
            <a:r>
              <a:rPr sz="907" spc="-5" dirty="0">
                <a:latin typeface="Times New Roman"/>
                <a:cs typeface="Times New Roman"/>
              </a:rPr>
              <a:t> </a:t>
            </a:r>
            <a:r>
              <a:rPr sz="907" dirty="0">
                <a:latin typeface="Times New Roman"/>
                <a:cs typeface="Times New Roman"/>
              </a:rPr>
              <a:t>the</a:t>
            </a:r>
            <a:r>
              <a:rPr sz="907" spc="-9" dirty="0">
                <a:latin typeface="Times New Roman"/>
                <a:cs typeface="Times New Roman"/>
              </a:rPr>
              <a:t> </a:t>
            </a:r>
            <a:r>
              <a:rPr sz="907" spc="-18" dirty="0">
                <a:latin typeface="Times New Roman"/>
                <a:cs typeface="Times New Roman"/>
              </a:rPr>
              <a:t>claim,</a:t>
            </a:r>
            <a:r>
              <a:rPr sz="907" spc="-5" dirty="0">
                <a:latin typeface="Times New Roman"/>
                <a:cs typeface="Times New Roman"/>
              </a:rPr>
              <a:t> </a:t>
            </a:r>
            <a:r>
              <a:rPr sz="907" spc="-23" dirty="0">
                <a:latin typeface="Times New Roman"/>
                <a:cs typeface="Times New Roman"/>
              </a:rPr>
              <a:t>the</a:t>
            </a:r>
            <a:r>
              <a:rPr sz="907" spc="453" dirty="0">
                <a:latin typeface="Times New Roman"/>
                <a:cs typeface="Times New Roman"/>
              </a:rPr>
              <a:t> </a:t>
            </a:r>
            <a:r>
              <a:rPr sz="907" spc="-9" dirty="0">
                <a:latin typeface="Times New Roman"/>
                <a:cs typeface="Times New Roman"/>
              </a:rPr>
              <a:t>procedural</a:t>
            </a:r>
            <a:r>
              <a:rPr sz="907" spc="-23" dirty="0">
                <a:latin typeface="Times New Roman"/>
                <a:cs typeface="Times New Roman"/>
              </a:rPr>
              <a:t> </a:t>
            </a:r>
            <a:r>
              <a:rPr sz="907" dirty="0">
                <a:latin typeface="Times New Roman"/>
                <a:cs typeface="Times New Roman"/>
              </a:rPr>
              <a:t>stages</a:t>
            </a:r>
            <a:r>
              <a:rPr sz="907" spc="-23" dirty="0">
                <a:latin typeface="Times New Roman"/>
                <a:cs typeface="Times New Roman"/>
              </a:rPr>
              <a:t> </a:t>
            </a:r>
            <a:r>
              <a:rPr sz="907" dirty="0">
                <a:latin typeface="Times New Roman"/>
                <a:cs typeface="Times New Roman"/>
              </a:rPr>
              <a:t>in</a:t>
            </a:r>
            <a:r>
              <a:rPr sz="907" spc="-23" dirty="0">
                <a:latin typeface="Times New Roman"/>
                <a:cs typeface="Times New Roman"/>
              </a:rPr>
              <a:t> </a:t>
            </a:r>
            <a:r>
              <a:rPr sz="907" dirty="0">
                <a:latin typeface="Times New Roman"/>
                <a:cs typeface="Times New Roman"/>
              </a:rPr>
              <a:t>the</a:t>
            </a:r>
            <a:r>
              <a:rPr sz="907" spc="-23" dirty="0">
                <a:latin typeface="Times New Roman"/>
                <a:cs typeface="Times New Roman"/>
              </a:rPr>
              <a:t> </a:t>
            </a:r>
            <a:r>
              <a:rPr sz="907" dirty="0">
                <a:latin typeface="Times New Roman"/>
                <a:cs typeface="Times New Roman"/>
              </a:rPr>
              <a:t>history</a:t>
            </a:r>
            <a:r>
              <a:rPr sz="907" spc="-23" dirty="0">
                <a:latin typeface="Times New Roman"/>
                <a:cs typeface="Times New Roman"/>
              </a:rPr>
              <a:t> </a:t>
            </a:r>
            <a:r>
              <a:rPr sz="907" spc="-32" dirty="0">
                <a:latin typeface="Times New Roman"/>
                <a:cs typeface="Times New Roman"/>
              </a:rPr>
              <a:t>of </a:t>
            </a:r>
            <a:r>
              <a:rPr sz="907" dirty="0">
                <a:latin typeface="Times New Roman"/>
                <a:cs typeface="Times New Roman"/>
              </a:rPr>
              <a:t>the</a:t>
            </a:r>
            <a:r>
              <a:rPr sz="907" spc="-14" dirty="0">
                <a:latin typeface="Times New Roman"/>
                <a:cs typeface="Times New Roman"/>
              </a:rPr>
              <a:t> </a:t>
            </a:r>
            <a:r>
              <a:rPr sz="907" spc="-23" dirty="0">
                <a:latin typeface="Times New Roman"/>
                <a:cs typeface="Times New Roman"/>
              </a:rPr>
              <a:t>case,</a:t>
            </a:r>
            <a:r>
              <a:rPr sz="907" spc="-18" dirty="0">
                <a:latin typeface="Times New Roman"/>
                <a:cs typeface="Times New Roman"/>
              </a:rPr>
              <a:t> </a:t>
            </a:r>
            <a:r>
              <a:rPr sz="907" dirty="0">
                <a:latin typeface="Times New Roman"/>
                <a:cs typeface="Times New Roman"/>
              </a:rPr>
              <a:t>and</a:t>
            </a:r>
            <a:r>
              <a:rPr sz="907" spc="-14"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9" dirty="0">
                <a:latin typeface="Times New Roman"/>
                <a:cs typeface="Times New Roman"/>
              </a:rPr>
              <a:t>decision</a:t>
            </a:r>
            <a:r>
              <a:rPr sz="907" spc="-14" dirty="0">
                <a:latin typeface="Times New Roman"/>
                <a:cs typeface="Times New Roman"/>
              </a:rPr>
              <a:t> </a:t>
            </a:r>
            <a:r>
              <a:rPr sz="907" spc="-23" dirty="0">
                <a:latin typeface="Times New Roman"/>
                <a:cs typeface="Times New Roman"/>
              </a:rPr>
              <a:t>by</a:t>
            </a:r>
            <a:r>
              <a:rPr sz="907" spc="-14" dirty="0">
                <a:latin typeface="Times New Roman"/>
                <a:cs typeface="Times New Roman"/>
              </a:rPr>
              <a:t> </a:t>
            </a:r>
            <a:r>
              <a:rPr sz="907" spc="-23" dirty="0">
                <a:latin typeface="Times New Roman"/>
                <a:cs typeface="Times New Roman"/>
              </a:rPr>
              <a:t>the </a:t>
            </a:r>
            <a:r>
              <a:rPr sz="907" spc="-9" dirty="0">
                <a:latin typeface="Times New Roman"/>
                <a:cs typeface="Times New Roman"/>
              </a:rPr>
              <a:t>court.</a:t>
            </a:r>
            <a:endParaRPr sz="907">
              <a:latin typeface="Times New Roman"/>
              <a:cs typeface="Times New Roman"/>
            </a:endParaRPr>
          </a:p>
        </p:txBody>
      </p:sp>
      <p:grpSp>
        <p:nvGrpSpPr>
          <p:cNvPr id="11" name="object 11"/>
          <p:cNvGrpSpPr/>
          <p:nvPr/>
        </p:nvGrpSpPr>
        <p:grpSpPr>
          <a:xfrm>
            <a:off x="3129484" y="468577"/>
            <a:ext cx="6309821" cy="6407134"/>
            <a:chOff x="2075292" y="516736"/>
            <a:chExt cx="6958330" cy="7065645"/>
          </a:xfrm>
        </p:grpSpPr>
        <p:sp>
          <p:nvSpPr>
            <p:cNvPr id="12" name="object 12"/>
            <p:cNvSpPr/>
            <p:nvPr/>
          </p:nvSpPr>
          <p:spPr>
            <a:xfrm>
              <a:off x="2118367" y="3262119"/>
              <a:ext cx="6222365" cy="2609215"/>
            </a:xfrm>
            <a:custGeom>
              <a:avLst/>
              <a:gdLst/>
              <a:ahLst/>
              <a:cxnLst/>
              <a:rect l="l" t="t" r="r" b="b"/>
              <a:pathLst>
                <a:path w="6222365" h="2609215">
                  <a:moveTo>
                    <a:pt x="6222169" y="2608885"/>
                  </a:moveTo>
                  <a:lnTo>
                    <a:pt x="0" y="2608885"/>
                  </a:lnTo>
                  <a:lnTo>
                    <a:pt x="0" y="0"/>
                  </a:lnTo>
                  <a:lnTo>
                    <a:pt x="6222169" y="0"/>
                  </a:lnTo>
                </a:path>
              </a:pathLst>
            </a:custGeom>
            <a:ln w="38114">
              <a:solidFill>
                <a:srgbClr val="C70F2E"/>
              </a:solidFill>
            </a:ln>
          </p:spPr>
          <p:txBody>
            <a:bodyPr wrap="square" lIns="0" tIns="0" rIns="0" bIns="0" rtlCol="0"/>
            <a:lstStyle/>
            <a:p>
              <a:endParaRPr sz="1632"/>
            </a:p>
          </p:txBody>
        </p:sp>
        <p:sp>
          <p:nvSpPr>
            <p:cNvPr id="13" name="object 13"/>
            <p:cNvSpPr/>
            <p:nvPr/>
          </p:nvSpPr>
          <p:spPr>
            <a:xfrm>
              <a:off x="3125650" y="1800727"/>
              <a:ext cx="1268095" cy="1461770"/>
            </a:xfrm>
            <a:custGeom>
              <a:avLst/>
              <a:gdLst/>
              <a:ahLst/>
              <a:cxnLst/>
              <a:rect l="l" t="t" r="r" b="b"/>
              <a:pathLst>
                <a:path w="1268095" h="1461770">
                  <a:moveTo>
                    <a:pt x="0" y="1461373"/>
                  </a:moveTo>
                  <a:lnTo>
                    <a:pt x="1267524" y="0"/>
                  </a:lnTo>
                </a:path>
              </a:pathLst>
            </a:custGeom>
            <a:ln w="19057">
              <a:solidFill>
                <a:srgbClr val="C70F2E"/>
              </a:solidFill>
            </a:ln>
          </p:spPr>
          <p:txBody>
            <a:bodyPr wrap="square" lIns="0" tIns="0" rIns="0" bIns="0" rtlCol="0"/>
            <a:lstStyle/>
            <a:p>
              <a:endParaRPr sz="1632"/>
            </a:p>
          </p:txBody>
        </p:sp>
        <p:pic>
          <p:nvPicPr>
            <p:cNvPr id="14" name="object 14"/>
            <p:cNvPicPr/>
            <p:nvPr/>
          </p:nvPicPr>
          <p:blipFill>
            <a:blip r:embed="rId3" cstate="print"/>
            <a:stretch>
              <a:fillRect/>
            </a:stretch>
          </p:blipFill>
          <p:spPr>
            <a:xfrm>
              <a:off x="4365173" y="1758807"/>
              <a:ext cx="65625" cy="66580"/>
            </a:xfrm>
            <a:prstGeom prst="rect">
              <a:avLst/>
            </a:prstGeom>
          </p:spPr>
        </p:pic>
        <p:sp>
          <p:nvSpPr>
            <p:cNvPr id="15" name="object 15"/>
            <p:cNvSpPr/>
            <p:nvPr/>
          </p:nvSpPr>
          <p:spPr>
            <a:xfrm>
              <a:off x="2094660" y="5975882"/>
              <a:ext cx="6269990" cy="1587500"/>
            </a:xfrm>
            <a:custGeom>
              <a:avLst/>
              <a:gdLst/>
              <a:ahLst/>
              <a:cxnLst/>
              <a:rect l="l" t="t" r="r" b="b"/>
              <a:pathLst>
                <a:path w="6269990" h="1587500">
                  <a:moveTo>
                    <a:pt x="0" y="1586967"/>
                  </a:moveTo>
                  <a:lnTo>
                    <a:pt x="0" y="0"/>
                  </a:lnTo>
                  <a:lnTo>
                    <a:pt x="6269688" y="0"/>
                  </a:lnTo>
                </a:path>
              </a:pathLst>
            </a:custGeom>
            <a:ln w="38114">
              <a:solidFill>
                <a:srgbClr val="C70F2E"/>
              </a:solidFill>
            </a:ln>
          </p:spPr>
          <p:txBody>
            <a:bodyPr wrap="square" lIns="0" tIns="0" rIns="0" bIns="0" rtlCol="0"/>
            <a:lstStyle/>
            <a:p>
              <a:endParaRPr sz="1632"/>
            </a:p>
          </p:txBody>
        </p:sp>
        <p:sp>
          <p:nvSpPr>
            <p:cNvPr id="16" name="object 16"/>
            <p:cNvSpPr/>
            <p:nvPr/>
          </p:nvSpPr>
          <p:spPr>
            <a:xfrm>
              <a:off x="7051429" y="516736"/>
              <a:ext cx="1982470" cy="1036955"/>
            </a:xfrm>
            <a:custGeom>
              <a:avLst/>
              <a:gdLst/>
              <a:ahLst/>
              <a:cxnLst/>
              <a:rect l="l" t="t" r="r" b="b"/>
              <a:pathLst>
                <a:path w="1982470" h="1036955">
                  <a:moveTo>
                    <a:pt x="1823670" y="1036596"/>
                  </a:moveTo>
                  <a:lnTo>
                    <a:pt x="262375" y="1036596"/>
                  </a:lnTo>
                  <a:lnTo>
                    <a:pt x="219455" y="1030712"/>
                  </a:lnTo>
                  <a:lnTo>
                    <a:pt x="181012" y="1014129"/>
                  </a:lnTo>
                  <a:lnTo>
                    <a:pt x="148648" y="988451"/>
                  </a:lnTo>
                  <a:lnTo>
                    <a:pt x="123964" y="955282"/>
                  </a:lnTo>
                  <a:lnTo>
                    <a:pt x="83730" y="938975"/>
                  </a:lnTo>
                  <a:lnTo>
                    <a:pt x="49569" y="913177"/>
                  </a:lnTo>
                  <a:lnTo>
                    <a:pt x="23128" y="879536"/>
                  </a:lnTo>
                  <a:lnTo>
                    <a:pt x="6056" y="839698"/>
                  </a:lnTo>
                  <a:lnTo>
                    <a:pt x="0" y="795311"/>
                  </a:lnTo>
                  <a:lnTo>
                    <a:pt x="0" y="165172"/>
                  </a:lnTo>
                  <a:lnTo>
                    <a:pt x="5910" y="121313"/>
                  </a:lnTo>
                  <a:lnTo>
                    <a:pt x="22583" y="81871"/>
                  </a:lnTo>
                  <a:lnTo>
                    <a:pt x="48432" y="48432"/>
                  </a:lnTo>
                  <a:lnTo>
                    <a:pt x="81871" y="22583"/>
                  </a:lnTo>
                  <a:lnTo>
                    <a:pt x="121313" y="5910"/>
                  </a:lnTo>
                  <a:lnTo>
                    <a:pt x="165172" y="0"/>
                  </a:lnTo>
                  <a:lnTo>
                    <a:pt x="1726468" y="0"/>
                  </a:lnTo>
                  <a:lnTo>
                    <a:pt x="1775049" y="7289"/>
                  </a:lnTo>
                  <a:lnTo>
                    <a:pt x="1817929" y="27699"/>
                  </a:lnTo>
                  <a:lnTo>
                    <a:pt x="1852922" y="59037"/>
                  </a:lnTo>
                  <a:lnTo>
                    <a:pt x="1877839" y="99114"/>
                  </a:lnTo>
                  <a:lnTo>
                    <a:pt x="1919788" y="122089"/>
                  </a:lnTo>
                  <a:lnTo>
                    <a:pt x="1952775" y="156195"/>
                  </a:lnTo>
                  <a:lnTo>
                    <a:pt x="1974358" y="198989"/>
                  </a:lnTo>
                  <a:lnTo>
                    <a:pt x="1982095" y="248031"/>
                  </a:lnTo>
                  <a:lnTo>
                    <a:pt x="1982095" y="878171"/>
                  </a:lnTo>
                  <a:lnTo>
                    <a:pt x="1974019" y="928245"/>
                  </a:lnTo>
                  <a:lnTo>
                    <a:pt x="1951528" y="971735"/>
                  </a:lnTo>
                  <a:lnTo>
                    <a:pt x="1917234" y="1006029"/>
                  </a:lnTo>
                  <a:lnTo>
                    <a:pt x="1873745" y="1028519"/>
                  </a:lnTo>
                  <a:lnTo>
                    <a:pt x="1823670" y="1036596"/>
                  </a:lnTo>
                  <a:close/>
                </a:path>
              </a:pathLst>
            </a:custGeom>
            <a:solidFill>
              <a:srgbClr val="000000"/>
            </a:solidFill>
          </p:spPr>
          <p:txBody>
            <a:bodyPr wrap="square" lIns="0" tIns="0" rIns="0" bIns="0" rtlCol="0"/>
            <a:lstStyle/>
            <a:p>
              <a:endParaRPr sz="1632"/>
            </a:p>
          </p:txBody>
        </p:sp>
        <p:sp>
          <p:nvSpPr>
            <p:cNvPr id="17" name="object 17"/>
            <p:cNvSpPr/>
            <p:nvPr/>
          </p:nvSpPr>
          <p:spPr>
            <a:xfrm>
              <a:off x="7064925" y="530234"/>
              <a:ext cx="1864995" cy="934085"/>
            </a:xfrm>
            <a:custGeom>
              <a:avLst/>
              <a:gdLst/>
              <a:ahLst/>
              <a:cxnLst/>
              <a:rect l="l" t="t" r="r" b="b"/>
              <a:pathLst>
                <a:path w="1864995" h="934085">
                  <a:moveTo>
                    <a:pt x="1712972" y="933491"/>
                  </a:moveTo>
                  <a:lnTo>
                    <a:pt x="151675" y="933491"/>
                  </a:lnTo>
                  <a:lnTo>
                    <a:pt x="103756" y="925753"/>
                  </a:lnTo>
                  <a:lnTo>
                    <a:pt x="62122" y="904210"/>
                  </a:lnTo>
                  <a:lnTo>
                    <a:pt x="29280" y="871369"/>
                  </a:lnTo>
                  <a:lnTo>
                    <a:pt x="7737" y="829735"/>
                  </a:lnTo>
                  <a:lnTo>
                    <a:pt x="0" y="781815"/>
                  </a:lnTo>
                  <a:lnTo>
                    <a:pt x="0" y="151673"/>
                  </a:lnTo>
                  <a:lnTo>
                    <a:pt x="7738" y="103754"/>
                  </a:lnTo>
                  <a:lnTo>
                    <a:pt x="29281" y="62121"/>
                  </a:lnTo>
                  <a:lnTo>
                    <a:pt x="62123" y="29280"/>
                  </a:lnTo>
                  <a:lnTo>
                    <a:pt x="103756" y="7737"/>
                  </a:lnTo>
                  <a:lnTo>
                    <a:pt x="151675" y="0"/>
                  </a:lnTo>
                  <a:lnTo>
                    <a:pt x="1712972" y="0"/>
                  </a:lnTo>
                  <a:lnTo>
                    <a:pt x="1760892" y="7737"/>
                  </a:lnTo>
                  <a:lnTo>
                    <a:pt x="1802526" y="29280"/>
                  </a:lnTo>
                  <a:lnTo>
                    <a:pt x="1835367" y="62122"/>
                  </a:lnTo>
                  <a:lnTo>
                    <a:pt x="1856910" y="103756"/>
                  </a:lnTo>
                  <a:lnTo>
                    <a:pt x="1864648" y="151675"/>
                  </a:lnTo>
                  <a:lnTo>
                    <a:pt x="1864648" y="781815"/>
                  </a:lnTo>
                  <a:lnTo>
                    <a:pt x="1856910" y="829735"/>
                  </a:lnTo>
                  <a:lnTo>
                    <a:pt x="1835367" y="871369"/>
                  </a:lnTo>
                  <a:lnTo>
                    <a:pt x="1802526" y="904210"/>
                  </a:lnTo>
                  <a:lnTo>
                    <a:pt x="1760892" y="925753"/>
                  </a:lnTo>
                  <a:lnTo>
                    <a:pt x="1712972" y="933491"/>
                  </a:lnTo>
                  <a:close/>
                </a:path>
              </a:pathLst>
            </a:custGeom>
            <a:solidFill>
              <a:srgbClr val="FFFFFF"/>
            </a:solidFill>
          </p:spPr>
          <p:txBody>
            <a:bodyPr wrap="square" lIns="0" tIns="0" rIns="0" bIns="0" rtlCol="0"/>
            <a:lstStyle/>
            <a:p>
              <a:endParaRPr sz="1632"/>
            </a:p>
          </p:txBody>
        </p:sp>
      </p:grpSp>
      <p:sp>
        <p:nvSpPr>
          <p:cNvPr id="18" name="object 18"/>
          <p:cNvSpPr txBox="1"/>
          <p:nvPr/>
        </p:nvSpPr>
        <p:spPr>
          <a:xfrm rot="20820000">
            <a:off x="1568585" y="569931"/>
            <a:ext cx="2136190" cy="397545"/>
          </a:xfrm>
          <a:prstGeom prst="rect">
            <a:avLst/>
          </a:prstGeom>
        </p:spPr>
        <p:txBody>
          <a:bodyPr vert="horz" wrap="square" lIns="0" tIns="0" rIns="0" bIns="0" rtlCol="0">
            <a:spAutoFit/>
          </a:bodyPr>
          <a:lstStyle/>
          <a:p>
            <a:pPr>
              <a:lnSpc>
                <a:spcPts val="3142"/>
              </a:lnSpc>
            </a:pPr>
            <a:r>
              <a:rPr sz="3174" spc="-608" dirty="0">
                <a:latin typeface="Gill Sans MT"/>
                <a:cs typeface="Gill Sans MT"/>
              </a:rPr>
              <a:t>Anatomy</a:t>
            </a:r>
            <a:r>
              <a:rPr sz="3174" spc="-404" dirty="0">
                <a:latin typeface="Gill Sans MT"/>
                <a:cs typeface="Gill Sans MT"/>
              </a:rPr>
              <a:t> </a:t>
            </a:r>
            <a:r>
              <a:rPr sz="3174" spc="-416" dirty="0">
                <a:latin typeface="Gill Sans MT"/>
                <a:cs typeface="Gill Sans MT"/>
              </a:rPr>
              <a:t>of</a:t>
            </a:r>
            <a:r>
              <a:rPr sz="3174" spc="-404" dirty="0">
                <a:latin typeface="Gill Sans MT"/>
                <a:cs typeface="Gill Sans MT"/>
              </a:rPr>
              <a:t> </a:t>
            </a:r>
            <a:r>
              <a:rPr sz="3174" spc="-326" dirty="0">
                <a:latin typeface="Gill Sans MT"/>
                <a:cs typeface="Gill Sans MT"/>
              </a:rPr>
              <a:t>a</a:t>
            </a:r>
            <a:r>
              <a:rPr sz="3174" spc="-404" dirty="0">
                <a:latin typeface="Gill Sans MT"/>
                <a:cs typeface="Gill Sans MT"/>
              </a:rPr>
              <a:t> </a:t>
            </a:r>
            <a:r>
              <a:rPr sz="3174" spc="-503" dirty="0">
                <a:latin typeface="Gill Sans MT"/>
                <a:cs typeface="Gill Sans MT"/>
              </a:rPr>
              <a:t>Case:</a:t>
            </a:r>
            <a:endParaRPr sz="3174">
              <a:latin typeface="Gill Sans MT"/>
              <a:cs typeface="Gill Sans MT"/>
            </a:endParaRPr>
          </a:p>
        </p:txBody>
      </p:sp>
      <p:sp>
        <p:nvSpPr>
          <p:cNvPr id="19" name="object 19"/>
          <p:cNvSpPr txBox="1"/>
          <p:nvPr/>
        </p:nvSpPr>
        <p:spPr>
          <a:xfrm rot="20820000">
            <a:off x="2319996" y="948605"/>
            <a:ext cx="874885" cy="397545"/>
          </a:xfrm>
          <a:prstGeom prst="rect">
            <a:avLst/>
          </a:prstGeom>
        </p:spPr>
        <p:txBody>
          <a:bodyPr vert="horz" wrap="square" lIns="0" tIns="0" rIns="0" bIns="0" rtlCol="0">
            <a:spAutoFit/>
          </a:bodyPr>
          <a:lstStyle/>
          <a:p>
            <a:pPr>
              <a:lnSpc>
                <a:spcPts val="3132"/>
              </a:lnSpc>
            </a:pPr>
            <a:r>
              <a:rPr sz="3174" spc="-422" dirty="0">
                <a:latin typeface="Gill Sans MT"/>
                <a:cs typeface="Gill Sans MT"/>
              </a:rPr>
              <a:t>Lexis+</a:t>
            </a:r>
            <a:endParaRPr sz="3174">
              <a:latin typeface="Gill Sans MT"/>
              <a:cs typeface="Gill Sans MT"/>
            </a:endParaRPr>
          </a:p>
        </p:txBody>
      </p:sp>
      <p:sp>
        <p:nvSpPr>
          <p:cNvPr id="20" name="object 20"/>
          <p:cNvSpPr txBox="1"/>
          <p:nvPr/>
        </p:nvSpPr>
        <p:spPr>
          <a:xfrm>
            <a:off x="7746773" y="532210"/>
            <a:ext cx="1548375" cy="729129"/>
          </a:xfrm>
          <a:prstGeom prst="rect">
            <a:avLst/>
          </a:prstGeom>
        </p:spPr>
        <p:txBody>
          <a:bodyPr vert="horz" wrap="square" lIns="0" tIns="36277" rIns="0" bIns="0" rtlCol="0">
            <a:spAutoFit/>
          </a:bodyPr>
          <a:lstStyle/>
          <a:p>
            <a:pPr marL="11516" marR="4607">
              <a:lnSpc>
                <a:spcPts val="889"/>
              </a:lnSpc>
              <a:spcBef>
                <a:spcPts val="286"/>
              </a:spcBef>
            </a:pPr>
            <a:r>
              <a:rPr sz="907" b="1" spc="-9" dirty="0">
                <a:latin typeface="Times New Roman"/>
                <a:cs typeface="Times New Roman"/>
              </a:rPr>
              <a:t>Headnotes</a:t>
            </a:r>
            <a:r>
              <a:rPr sz="907" b="1" spc="-18" dirty="0">
                <a:latin typeface="Times New Roman"/>
                <a:cs typeface="Times New Roman"/>
              </a:rPr>
              <a:t> </a:t>
            </a:r>
            <a:r>
              <a:rPr sz="907" spc="-32" dirty="0">
                <a:latin typeface="Times New Roman"/>
                <a:cs typeface="Times New Roman"/>
              </a:rPr>
              <a:t>give</a:t>
            </a:r>
            <a:r>
              <a:rPr sz="907" spc="-23" dirty="0">
                <a:latin typeface="Times New Roman"/>
                <a:cs typeface="Times New Roman"/>
              </a:rPr>
              <a:t> </a:t>
            </a:r>
            <a:r>
              <a:rPr sz="907" dirty="0">
                <a:latin typeface="Times New Roman"/>
                <a:cs typeface="Times New Roman"/>
              </a:rPr>
              <a:t>summaries</a:t>
            </a:r>
            <a:r>
              <a:rPr sz="907" spc="-23" dirty="0">
                <a:latin typeface="Times New Roman"/>
                <a:cs typeface="Times New Roman"/>
              </a:rPr>
              <a:t> of </a:t>
            </a:r>
            <a:r>
              <a:rPr sz="907" dirty="0">
                <a:latin typeface="Times New Roman"/>
                <a:cs typeface="Times New Roman"/>
              </a:rPr>
              <a:t>sub-</a:t>
            </a:r>
            <a:r>
              <a:rPr sz="907" spc="-9" dirty="0">
                <a:latin typeface="Times New Roman"/>
                <a:cs typeface="Times New Roman"/>
              </a:rPr>
              <a:t>issues discussed</a:t>
            </a:r>
            <a:r>
              <a:rPr sz="907" spc="-5" dirty="0">
                <a:latin typeface="Times New Roman"/>
                <a:cs typeface="Times New Roman"/>
              </a:rPr>
              <a:t> </a:t>
            </a:r>
            <a:r>
              <a:rPr sz="907" dirty="0">
                <a:latin typeface="Times New Roman"/>
                <a:cs typeface="Times New Roman"/>
              </a:rPr>
              <a:t>in</a:t>
            </a:r>
            <a:r>
              <a:rPr sz="907" spc="-9" dirty="0">
                <a:latin typeface="Times New Roman"/>
                <a:cs typeface="Times New Roman"/>
              </a:rPr>
              <a:t> </a:t>
            </a:r>
            <a:r>
              <a:rPr sz="907" dirty="0">
                <a:latin typeface="Times New Roman"/>
                <a:cs typeface="Times New Roman"/>
              </a:rPr>
              <a:t>a</a:t>
            </a:r>
            <a:r>
              <a:rPr sz="907" spc="-5" dirty="0">
                <a:latin typeface="Times New Roman"/>
                <a:cs typeface="Times New Roman"/>
              </a:rPr>
              <a:t> </a:t>
            </a:r>
            <a:r>
              <a:rPr sz="907" spc="-18" dirty="0">
                <a:latin typeface="Times New Roman"/>
                <a:cs typeface="Times New Roman"/>
              </a:rPr>
              <a:t>case. </a:t>
            </a:r>
            <a:r>
              <a:rPr sz="907" spc="-23" dirty="0">
                <a:latin typeface="Times New Roman"/>
                <a:cs typeface="Times New Roman"/>
              </a:rPr>
              <a:t>Researchers</a:t>
            </a:r>
            <a:r>
              <a:rPr sz="907" spc="-14" dirty="0">
                <a:latin typeface="Times New Roman"/>
                <a:cs typeface="Times New Roman"/>
              </a:rPr>
              <a:t> </a:t>
            </a:r>
            <a:r>
              <a:rPr sz="907" spc="-9" dirty="0">
                <a:latin typeface="Times New Roman"/>
                <a:cs typeface="Times New Roman"/>
              </a:rPr>
              <a:t>can </a:t>
            </a:r>
            <a:r>
              <a:rPr sz="907" dirty="0">
                <a:latin typeface="Times New Roman"/>
                <a:cs typeface="Times New Roman"/>
              </a:rPr>
              <a:t>use</a:t>
            </a:r>
            <a:r>
              <a:rPr sz="907" spc="-14" dirty="0">
                <a:latin typeface="Times New Roman"/>
                <a:cs typeface="Times New Roman"/>
              </a:rPr>
              <a:t> </a:t>
            </a:r>
            <a:r>
              <a:rPr sz="907" dirty="0">
                <a:latin typeface="Times New Roman"/>
                <a:cs typeface="Times New Roman"/>
              </a:rPr>
              <a:t>headnotes</a:t>
            </a:r>
            <a:r>
              <a:rPr sz="907" spc="-9" dirty="0">
                <a:latin typeface="Times New Roman"/>
                <a:cs typeface="Times New Roman"/>
              </a:rPr>
              <a:t> </a:t>
            </a:r>
            <a:r>
              <a:rPr sz="907" spc="-23" dirty="0">
                <a:latin typeface="Times New Roman"/>
                <a:cs typeface="Times New Roman"/>
              </a:rPr>
              <a:t>to </a:t>
            </a:r>
            <a:r>
              <a:rPr sz="907" spc="-9" dirty="0">
                <a:latin typeface="Times New Roman"/>
                <a:cs typeface="Times New Roman"/>
              </a:rPr>
              <a:t>find</a:t>
            </a:r>
            <a:r>
              <a:rPr sz="907" dirty="0">
                <a:latin typeface="Times New Roman"/>
                <a:cs typeface="Times New Roman"/>
              </a:rPr>
              <a:t> </a:t>
            </a:r>
            <a:r>
              <a:rPr sz="907" spc="-9" dirty="0">
                <a:latin typeface="Times New Roman"/>
                <a:cs typeface="Times New Roman"/>
              </a:rPr>
              <a:t>where</a:t>
            </a:r>
            <a:r>
              <a:rPr sz="907" dirty="0">
                <a:latin typeface="Times New Roman"/>
                <a:cs typeface="Times New Roman"/>
              </a:rPr>
              <a:t> that</a:t>
            </a:r>
            <a:r>
              <a:rPr sz="907" spc="5" dirty="0">
                <a:latin typeface="Times New Roman"/>
                <a:cs typeface="Times New Roman"/>
              </a:rPr>
              <a:t> </a:t>
            </a:r>
            <a:r>
              <a:rPr sz="907" spc="-9" dirty="0">
                <a:latin typeface="Times New Roman"/>
                <a:cs typeface="Times New Roman"/>
              </a:rPr>
              <a:t>issue</a:t>
            </a:r>
            <a:r>
              <a:rPr sz="907" dirty="0">
                <a:latin typeface="Times New Roman"/>
                <a:cs typeface="Times New Roman"/>
              </a:rPr>
              <a:t> </a:t>
            </a:r>
            <a:r>
              <a:rPr sz="907" spc="-23" dirty="0">
                <a:latin typeface="Times New Roman"/>
                <a:cs typeface="Times New Roman"/>
              </a:rPr>
              <a:t>was </a:t>
            </a:r>
            <a:r>
              <a:rPr sz="907" spc="-9" dirty="0">
                <a:latin typeface="Times New Roman"/>
                <a:cs typeface="Times New Roman"/>
              </a:rPr>
              <a:t>discussed</a:t>
            </a:r>
            <a:r>
              <a:rPr sz="907" spc="-14" dirty="0">
                <a:latin typeface="Times New Roman"/>
                <a:cs typeface="Times New Roman"/>
              </a:rPr>
              <a:t> </a:t>
            </a:r>
            <a:r>
              <a:rPr sz="907" dirty="0">
                <a:latin typeface="Times New Roman"/>
                <a:cs typeface="Times New Roman"/>
              </a:rPr>
              <a:t>in</a:t>
            </a:r>
            <a:r>
              <a:rPr sz="907" spc="-14" dirty="0">
                <a:latin typeface="Times New Roman"/>
                <a:cs typeface="Times New Roman"/>
              </a:rPr>
              <a:t> </a:t>
            </a:r>
            <a:r>
              <a:rPr sz="907" dirty="0">
                <a:latin typeface="Times New Roman"/>
                <a:cs typeface="Times New Roman"/>
              </a:rPr>
              <a:t>the</a:t>
            </a:r>
            <a:r>
              <a:rPr sz="907" spc="-14" dirty="0">
                <a:latin typeface="Times New Roman"/>
                <a:cs typeface="Times New Roman"/>
              </a:rPr>
              <a:t> </a:t>
            </a:r>
            <a:r>
              <a:rPr sz="907" spc="-18" dirty="0">
                <a:latin typeface="Times New Roman"/>
                <a:cs typeface="Times New Roman"/>
              </a:rPr>
              <a:t>case</a:t>
            </a:r>
            <a:r>
              <a:rPr sz="907" spc="-14" dirty="0">
                <a:latin typeface="Times New Roman"/>
                <a:cs typeface="Times New Roman"/>
              </a:rPr>
              <a:t> </a:t>
            </a:r>
            <a:r>
              <a:rPr sz="907" dirty="0">
                <a:latin typeface="Times New Roman"/>
                <a:cs typeface="Times New Roman"/>
              </a:rPr>
              <a:t>and</a:t>
            </a:r>
            <a:r>
              <a:rPr sz="907" spc="-14" dirty="0">
                <a:latin typeface="Times New Roman"/>
                <a:cs typeface="Times New Roman"/>
              </a:rPr>
              <a:t> </a:t>
            </a:r>
            <a:r>
              <a:rPr sz="907" dirty="0">
                <a:latin typeface="Times New Roman"/>
                <a:cs typeface="Times New Roman"/>
              </a:rPr>
              <a:t>to</a:t>
            </a:r>
            <a:r>
              <a:rPr sz="907" spc="-14" dirty="0">
                <a:latin typeface="Times New Roman"/>
                <a:cs typeface="Times New Roman"/>
              </a:rPr>
              <a:t> </a:t>
            </a:r>
            <a:r>
              <a:rPr sz="907" spc="-18" dirty="0">
                <a:latin typeface="Times New Roman"/>
                <a:cs typeface="Times New Roman"/>
              </a:rPr>
              <a:t>find </a:t>
            </a:r>
            <a:r>
              <a:rPr sz="907" spc="-9" dirty="0">
                <a:latin typeface="Times New Roman"/>
                <a:cs typeface="Times New Roman"/>
              </a:rPr>
              <a:t>more</a:t>
            </a:r>
            <a:r>
              <a:rPr sz="907" spc="-5" dirty="0">
                <a:latin typeface="Times New Roman"/>
                <a:cs typeface="Times New Roman"/>
              </a:rPr>
              <a:t> </a:t>
            </a:r>
            <a:r>
              <a:rPr sz="907" spc="-18" dirty="0">
                <a:latin typeface="Times New Roman"/>
                <a:cs typeface="Times New Roman"/>
              </a:rPr>
              <a:t>cases</a:t>
            </a:r>
            <a:r>
              <a:rPr sz="907" spc="-5" dirty="0">
                <a:latin typeface="Times New Roman"/>
                <a:cs typeface="Times New Roman"/>
              </a:rPr>
              <a:t> </a:t>
            </a:r>
            <a:r>
              <a:rPr sz="907" dirty="0">
                <a:latin typeface="Times New Roman"/>
                <a:cs typeface="Times New Roman"/>
              </a:rPr>
              <a:t>on</a:t>
            </a:r>
            <a:r>
              <a:rPr sz="907" spc="-5" dirty="0">
                <a:latin typeface="Times New Roman"/>
                <a:cs typeface="Times New Roman"/>
              </a:rPr>
              <a:t> </a:t>
            </a:r>
            <a:r>
              <a:rPr sz="907" dirty="0">
                <a:latin typeface="Times New Roman"/>
                <a:cs typeface="Times New Roman"/>
              </a:rPr>
              <a:t>that</a:t>
            </a:r>
            <a:r>
              <a:rPr sz="907" spc="-5" dirty="0">
                <a:latin typeface="Times New Roman"/>
                <a:cs typeface="Times New Roman"/>
              </a:rPr>
              <a:t> </a:t>
            </a:r>
            <a:r>
              <a:rPr sz="907" spc="-9" dirty="0">
                <a:latin typeface="Times New Roman"/>
                <a:cs typeface="Times New Roman"/>
              </a:rPr>
              <a:t>issue.</a:t>
            </a:r>
            <a:endParaRPr sz="907">
              <a:latin typeface="Times New Roman"/>
              <a:cs typeface="Times New Roman"/>
            </a:endParaRPr>
          </a:p>
        </p:txBody>
      </p:sp>
      <p:grpSp>
        <p:nvGrpSpPr>
          <p:cNvPr id="21" name="object 21"/>
          <p:cNvGrpSpPr/>
          <p:nvPr/>
        </p:nvGrpSpPr>
        <p:grpSpPr>
          <a:xfrm>
            <a:off x="8826390" y="1151856"/>
            <a:ext cx="287334" cy="5067780"/>
            <a:chOff x="8357713" y="1270241"/>
            <a:chExt cx="316865" cy="5588635"/>
          </a:xfrm>
        </p:grpSpPr>
        <p:sp>
          <p:nvSpPr>
            <p:cNvPr id="22" name="object 22"/>
            <p:cNvSpPr/>
            <p:nvPr/>
          </p:nvSpPr>
          <p:spPr>
            <a:xfrm>
              <a:off x="8367241" y="1322649"/>
              <a:ext cx="269240" cy="5526405"/>
            </a:xfrm>
            <a:custGeom>
              <a:avLst/>
              <a:gdLst/>
              <a:ahLst/>
              <a:cxnLst/>
              <a:rect l="l" t="t" r="r" b="b"/>
              <a:pathLst>
                <a:path w="269240" h="5526405">
                  <a:moveTo>
                    <a:pt x="0" y="5526259"/>
                  </a:moveTo>
                  <a:lnTo>
                    <a:pt x="134404" y="5526259"/>
                  </a:lnTo>
                  <a:lnTo>
                    <a:pt x="176886" y="5519407"/>
                  </a:lnTo>
                  <a:lnTo>
                    <a:pt x="213782" y="5500327"/>
                  </a:lnTo>
                  <a:lnTo>
                    <a:pt x="242876" y="5471232"/>
                  </a:lnTo>
                  <a:lnTo>
                    <a:pt x="261956" y="5434337"/>
                  </a:lnTo>
                  <a:lnTo>
                    <a:pt x="268808" y="5391855"/>
                  </a:lnTo>
                  <a:lnTo>
                    <a:pt x="268808" y="0"/>
                  </a:lnTo>
                </a:path>
              </a:pathLst>
            </a:custGeom>
            <a:ln w="19057">
              <a:solidFill>
                <a:srgbClr val="C70F2E"/>
              </a:solidFill>
            </a:ln>
          </p:spPr>
          <p:txBody>
            <a:bodyPr wrap="square" lIns="0" tIns="0" rIns="0" bIns="0" rtlCol="0"/>
            <a:lstStyle/>
            <a:p>
              <a:endParaRPr sz="1632"/>
            </a:p>
          </p:txBody>
        </p:sp>
        <p:sp>
          <p:nvSpPr>
            <p:cNvPr id="23" name="object 23"/>
            <p:cNvSpPr/>
            <p:nvPr/>
          </p:nvSpPr>
          <p:spPr>
            <a:xfrm>
              <a:off x="8607464" y="1279770"/>
              <a:ext cx="57785" cy="38735"/>
            </a:xfrm>
            <a:custGeom>
              <a:avLst/>
              <a:gdLst/>
              <a:ahLst/>
              <a:cxnLst/>
              <a:rect l="l" t="t" r="r" b="b"/>
              <a:pathLst>
                <a:path w="57784" h="38734">
                  <a:moveTo>
                    <a:pt x="57171" y="38114"/>
                  </a:moveTo>
                  <a:lnTo>
                    <a:pt x="0" y="38114"/>
                  </a:lnTo>
                  <a:lnTo>
                    <a:pt x="28585" y="0"/>
                  </a:lnTo>
                  <a:lnTo>
                    <a:pt x="57171" y="38114"/>
                  </a:lnTo>
                  <a:close/>
                </a:path>
              </a:pathLst>
            </a:custGeom>
            <a:solidFill>
              <a:srgbClr val="C70F2E"/>
            </a:solidFill>
          </p:spPr>
          <p:txBody>
            <a:bodyPr wrap="square" lIns="0" tIns="0" rIns="0" bIns="0" rtlCol="0"/>
            <a:lstStyle/>
            <a:p>
              <a:endParaRPr sz="1632"/>
            </a:p>
          </p:txBody>
        </p:sp>
        <p:sp>
          <p:nvSpPr>
            <p:cNvPr id="24" name="object 24"/>
            <p:cNvSpPr/>
            <p:nvPr/>
          </p:nvSpPr>
          <p:spPr>
            <a:xfrm>
              <a:off x="8607464" y="1279770"/>
              <a:ext cx="57785" cy="38735"/>
            </a:xfrm>
            <a:custGeom>
              <a:avLst/>
              <a:gdLst/>
              <a:ahLst/>
              <a:cxnLst/>
              <a:rect l="l" t="t" r="r" b="b"/>
              <a:pathLst>
                <a:path w="57784" h="38734">
                  <a:moveTo>
                    <a:pt x="0" y="38114"/>
                  </a:moveTo>
                  <a:lnTo>
                    <a:pt x="28585" y="0"/>
                  </a:lnTo>
                  <a:lnTo>
                    <a:pt x="57171" y="38114"/>
                  </a:lnTo>
                  <a:lnTo>
                    <a:pt x="0" y="38114"/>
                  </a:lnTo>
                  <a:close/>
                </a:path>
              </a:pathLst>
            </a:custGeom>
            <a:ln w="19057">
              <a:solidFill>
                <a:srgbClr val="C70F2E"/>
              </a:solidFill>
            </a:ln>
          </p:spPr>
          <p:txBody>
            <a:bodyPr wrap="square" lIns="0" tIns="0" rIns="0" bIns="0" rtlCol="0"/>
            <a:lstStyle/>
            <a:p>
              <a:endParaRPr sz="1632"/>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82787" y="604405"/>
            <a:ext cx="2226252" cy="155707"/>
          </a:xfrm>
          <a:prstGeom prst="rect">
            <a:avLst/>
          </a:prstGeom>
        </p:spPr>
        <p:txBody>
          <a:bodyPr vert="horz" wrap="square" lIns="0" tIns="8659" rIns="0" bIns="0" rtlCol="0">
            <a:spAutoFit/>
          </a:bodyPr>
          <a:lstStyle/>
          <a:p>
            <a:pPr marL="8659">
              <a:spcBef>
                <a:spcPts val="68"/>
              </a:spcBef>
            </a:pPr>
            <a:r>
              <a:rPr sz="955" b="1" spc="-7" dirty="0">
                <a:latin typeface="Georgia"/>
                <a:cs typeface="Georgia"/>
              </a:rPr>
              <a:t>Four-</a:t>
            </a:r>
            <a:r>
              <a:rPr sz="955" b="1" dirty="0">
                <a:latin typeface="Georgia"/>
                <a:cs typeface="Georgia"/>
              </a:rPr>
              <a:t>Step</a:t>
            </a:r>
            <a:r>
              <a:rPr sz="955" b="1" spc="-7" dirty="0">
                <a:latin typeface="Georgia"/>
                <a:cs typeface="Georgia"/>
              </a:rPr>
              <a:t> </a:t>
            </a:r>
            <a:r>
              <a:rPr sz="955" b="1" dirty="0">
                <a:latin typeface="Georgia"/>
                <a:cs typeface="Georgia"/>
              </a:rPr>
              <a:t>Legal</a:t>
            </a:r>
            <a:r>
              <a:rPr sz="955" b="1" spc="-20" dirty="0">
                <a:latin typeface="Georgia"/>
                <a:cs typeface="Georgia"/>
              </a:rPr>
              <a:t> </a:t>
            </a:r>
            <a:r>
              <a:rPr sz="955" b="1" dirty="0">
                <a:latin typeface="Georgia"/>
                <a:cs typeface="Georgia"/>
              </a:rPr>
              <a:t>Research</a:t>
            </a:r>
            <a:r>
              <a:rPr sz="955" b="1" spc="-10" dirty="0">
                <a:latin typeface="Georgia"/>
                <a:cs typeface="Georgia"/>
              </a:rPr>
              <a:t> </a:t>
            </a:r>
            <a:r>
              <a:rPr sz="955" b="1" spc="-7" dirty="0">
                <a:latin typeface="Georgia"/>
                <a:cs typeface="Georgia"/>
              </a:rPr>
              <a:t>Checklist</a:t>
            </a:r>
            <a:endParaRPr sz="955">
              <a:latin typeface="Georgia"/>
              <a:cs typeface="Georgia"/>
            </a:endParaRPr>
          </a:p>
        </p:txBody>
      </p:sp>
      <p:sp>
        <p:nvSpPr>
          <p:cNvPr id="3" name="object 3"/>
          <p:cNvSpPr txBox="1"/>
          <p:nvPr/>
        </p:nvSpPr>
        <p:spPr>
          <a:xfrm>
            <a:off x="4061114" y="1346315"/>
            <a:ext cx="4033838" cy="4889632"/>
          </a:xfrm>
          <a:prstGeom prst="rect">
            <a:avLst/>
          </a:prstGeom>
        </p:spPr>
        <p:txBody>
          <a:bodyPr vert="horz" wrap="square" lIns="0" tIns="8659" rIns="0" bIns="0" rtlCol="0">
            <a:spAutoFit/>
          </a:bodyPr>
          <a:lstStyle/>
          <a:p>
            <a:pPr marL="8659">
              <a:spcBef>
                <a:spcPts val="68"/>
              </a:spcBef>
            </a:pPr>
            <a:r>
              <a:rPr sz="818" b="1" dirty="0">
                <a:latin typeface="Georgia"/>
                <a:cs typeface="Georgia"/>
              </a:rPr>
              <a:t>Step</a:t>
            </a:r>
            <a:r>
              <a:rPr sz="818" b="1" spc="-17" dirty="0">
                <a:latin typeface="Georgia"/>
                <a:cs typeface="Georgia"/>
              </a:rPr>
              <a:t> </a:t>
            </a:r>
            <a:r>
              <a:rPr sz="818" b="1" dirty="0">
                <a:latin typeface="Georgia"/>
                <a:cs typeface="Georgia"/>
              </a:rPr>
              <a:t>1:</a:t>
            </a:r>
            <a:r>
              <a:rPr sz="818" b="1" spc="-14" dirty="0">
                <a:latin typeface="Georgia"/>
                <a:cs typeface="Georgia"/>
              </a:rPr>
              <a:t> </a:t>
            </a:r>
            <a:r>
              <a:rPr sz="818" b="1" dirty="0">
                <a:latin typeface="Georgia"/>
                <a:cs typeface="Georgia"/>
              </a:rPr>
              <a:t>Problem</a:t>
            </a:r>
            <a:r>
              <a:rPr sz="818" b="1" spc="-14" dirty="0">
                <a:latin typeface="Georgia"/>
                <a:cs typeface="Georgia"/>
              </a:rPr>
              <a:t> </a:t>
            </a:r>
            <a:r>
              <a:rPr sz="818" b="1" spc="-7" dirty="0">
                <a:latin typeface="Georgia"/>
                <a:cs typeface="Georgia"/>
              </a:rPr>
              <a:t>Analysis</a:t>
            </a:r>
            <a:endParaRPr sz="818">
              <a:latin typeface="Georgia"/>
              <a:cs typeface="Georgia"/>
            </a:endParaRPr>
          </a:p>
          <a:p>
            <a:pPr marL="632097" indent="-155859">
              <a:spcBef>
                <a:spcPts val="641"/>
              </a:spcBef>
              <a:buFont typeface="Verdana"/>
              <a:buChar char="□"/>
              <a:tabLst>
                <a:tab pos="632097" algn="l"/>
              </a:tabLst>
            </a:pPr>
            <a:r>
              <a:rPr sz="750" b="1" dirty="0">
                <a:latin typeface="Georgia"/>
                <a:cs typeface="Georgia"/>
              </a:rPr>
              <a:t>Chart</a:t>
            </a:r>
            <a:r>
              <a:rPr sz="750" b="1" spc="-24" dirty="0">
                <a:latin typeface="Georgia"/>
                <a:cs typeface="Georgia"/>
              </a:rPr>
              <a:t> </a:t>
            </a:r>
            <a:r>
              <a:rPr sz="750" b="1" dirty="0">
                <a:latin typeface="Georgia"/>
                <a:cs typeface="Georgia"/>
              </a:rPr>
              <a:t>your</a:t>
            </a:r>
            <a:r>
              <a:rPr sz="750" b="1" spc="-20" dirty="0">
                <a:latin typeface="Georgia"/>
                <a:cs typeface="Georgia"/>
              </a:rPr>
              <a:t> </a:t>
            </a:r>
            <a:r>
              <a:rPr sz="750" b="1" dirty="0">
                <a:latin typeface="Georgia"/>
                <a:cs typeface="Georgia"/>
              </a:rPr>
              <a:t>problem</a:t>
            </a:r>
            <a:r>
              <a:rPr sz="750" b="1" spc="-34" dirty="0">
                <a:latin typeface="Georgia"/>
                <a:cs typeface="Georgia"/>
              </a:rPr>
              <a:t> </a:t>
            </a:r>
            <a:r>
              <a:rPr sz="750" dirty="0">
                <a:latin typeface="Georgia"/>
                <a:cs typeface="Georgia"/>
              </a:rPr>
              <a:t>using</a:t>
            </a:r>
            <a:r>
              <a:rPr sz="750" spc="-14" dirty="0">
                <a:latin typeface="Georgia"/>
                <a:cs typeface="Georgia"/>
              </a:rPr>
              <a:t> </a:t>
            </a:r>
            <a:r>
              <a:rPr sz="750" dirty="0">
                <a:latin typeface="Georgia"/>
                <a:cs typeface="Georgia"/>
              </a:rPr>
              <a:t>the</a:t>
            </a:r>
            <a:r>
              <a:rPr sz="750" spc="-17" dirty="0">
                <a:latin typeface="Georgia"/>
                <a:cs typeface="Georgia"/>
              </a:rPr>
              <a:t> </a:t>
            </a:r>
            <a:r>
              <a:rPr sz="750" u="sng" dirty="0">
                <a:solidFill>
                  <a:srgbClr val="0562C1"/>
                </a:solidFill>
                <a:uFill>
                  <a:solidFill>
                    <a:srgbClr val="0562C1"/>
                  </a:solidFill>
                </a:uFill>
                <a:latin typeface="Georgia"/>
                <a:cs typeface="Georgia"/>
              </a:rPr>
              <a:t>Problem</a:t>
            </a:r>
            <a:r>
              <a:rPr sz="750" u="sng" spc="-20"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Analysis</a:t>
            </a:r>
            <a:r>
              <a:rPr sz="750" u="sng" spc="-14" dirty="0">
                <a:solidFill>
                  <a:srgbClr val="0562C1"/>
                </a:solidFill>
                <a:uFill>
                  <a:solidFill>
                    <a:srgbClr val="0562C1"/>
                  </a:solidFill>
                </a:uFill>
                <a:latin typeface="Georgia"/>
                <a:cs typeface="Georgia"/>
              </a:rPr>
              <a:t> </a:t>
            </a:r>
            <a:r>
              <a:rPr sz="750" u="sng" spc="-7" dirty="0">
                <a:solidFill>
                  <a:srgbClr val="0562C1"/>
                </a:solidFill>
                <a:uFill>
                  <a:solidFill>
                    <a:srgbClr val="0562C1"/>
                  </a:solidFill>
                </a:uFill>
                <a:latin typeface="Georgia"/>
                <a:cs typeface="Georgia"/>
              </a:rPr>
              <a:t>template</a:t>
            </a:r>
            <a:endParaRPr sz="750">
              <a:latin typeface="Georgia"/>
              <a:cs typeface="Georgia"/>
            </a:endParaRPr>
          </a:p>
          <a:p>
            <a:pPr marL="943816" lvl="1" indent="-155859">
              <a:spcBef>
                <a:spcPts val="14"/>
              </a:spcBef>
              <a:buFont typeface="Wingdings"/>
              <a:buChar char=""/>
              <a:tabLst>
                <a:tab pos="943816" algn="l"/>
              </a:tabLst>
            </a:pPr>
            <a:r>
              <a:rPr sz="750" spc="-7" dirty="0">
                <a:latin typeface="Georgia"/>
                <a:cs typeface="Georgia"/>
              </a:rPr>
              <a:t>Parties</a:t>
            </a:r>
            <a:endParaRPr sz="750">
              <a:latin typeface="Georgia"/>
              <a:cs typeface="Georgia"/>
            </a:endParaRPr>
          </a:p>
          <a:p>
            <a:pPr marL="943816" lvl="1" indent="-155859">
              <a:spcBef>
                <a:spcPts val="17"/>
              </a:spcBef>
              <a:buFont typeface="Wingdings"/>
              <a:buChar char=""/>
              <a:tabLst>
                <a:tab pos="943816" algn="l"/>
              </a:tabLst>
            </a:pPr>
            <a:r>
              <a:rPr sz="750" spc="-7" dirty="0">
                <a:latin typeface="Georgia"/>
                <a:cs typeface="Georgia"/>
              </a:rPr>
              <a:t>Places</a:t>
            </a:r>
            <a:endParaRPr sz="750">
              <a:latin typeface="Georgia"/>
              <a:cs typeface="Georgia"/>
            </a:endParaRPr>
          </a:p>
          <a:p>
            <a:pPr marL="943816" lvl="1" indent="-155859">
              <a:spcBef>
                <a:spcPts val="17"/>
              </a:spcBef>
              <a:buFont typeface="Wingdings"/>
              <a:buChar char=""/>
              <a:tabLst>
                <a:tab pos="943816" algn="l"/>
              </a:tabLst>
            </a:pPr>
            <a:r>
              <a:rPr sz="750" spc="-7" dirty="0">
                <a:latin typeface="Georgia"/>
                <a:cs typeface="Georgia"/>
              </a:rPr>
              <a:t>Things</a:t>
            </a:r>
            <a:endParaRPr sz="750">
              <a:latin typeface="Georgia"/>
              <a:cs typeface="Georgia"/>
            </a:endParaRPr>
          </a:p>
          <a:p>
            <a:pPr marL="943816" lvl="1" indent="-155859">
              <a:spcBef>
                <a:spcPts val="24"/>
              </a:spcBef>
              <a:buFont typeface="Wingdings"/>
              <a:buChar char=""/>
              <a:tabLst>
                <a:tab pos="943816" algn="l"/>
              </a:tabLst>
            </a:pPr>
            <a:r>
              <a:rPr sz="750" dirty="0">
                <a:latin typeface="Georgia"/>
                <a:cs typeface="Georgia"/>
              </a:rPr>
              <a:t>Potential</a:t>
            </a:r>
            <a:r>
              <a:rPr sz="750" spc="-20" dirty="0">
                <a:latin typeface="Georgia"/>
                <a:cs typeface="Georgia"/>
              </a:rPr>
              <a:t> </a:t>
            </a:r>
            <a:r>
              <a:rPr sz="750" dirty="0">
                <a:latin typeface="Georgia"/>
                <a:cs typeface="Georgia"/>
              </a:rPr>
              <a:t>Claims</a:t>
            </a:r>
            <a:r>
              <a:rPr sz="750" spc="-14" dirty="0">
                <a:latin typeface="Georgia"/>
                <a:cs typeface="Georgia"/>
              </a:rPr>
              <a:t> </a:t>
            </a:r>
            <a:r>
              <a:rPr sz="750" dirty="0">
                <a:latin typeface="Georgia"/>
                <a:cs typeface="Georgia"/>
              </a:rPr>
              <a:t>&amp;</a:t>
            </a:r>
            <a:r>
              <a:rPr sz="750" spc="-20" dirty="0">
                <a:latin typeface="Georgia"/>
                <a:cs typeface="Georgia"/>
              </a:rPr>
              <a:t> </a:t>
            </a:r>
            <a:r>
              <a:rPr sz="750" spc="-7" dirty="0">
                <a:latin typeface="Georgia"/>
                <a:cs typeface="Georgia"/>
              </a:rPr>
              <a:t>Defenses</a:t>
            </a:r>
            <a:endParaRPr sz="750">
              <a:latin typeface="Georgia"/>
              <a:cs typeface="Georgia"/>
            </a:endParaRPr>
          </a:p>
          <a:p>
            <a:pPr marL="943816" lvl="1" indent="-155859">
              <a:spcBef>
                <a:spcPts val="17"/>
              </a:spcBef>
              <a:buFont typeface="Wingdings"/>
              <a:buChar char=""/>
              <a:tabLst>
                <a:tab pos="943816" algn="l"/>
              </a:tabLst>
            </a:pPr>
            <a:r>
              <a:rPr sz="750" dirty="0">
                <a:latin typeface="Georgia"/>
                <a:cs typeface="Georgia"/>
              </a:rPr>
              <a:t>Relief</a:t>
            </a:r>
            <a:r>
              <a:rPr sz="750" spc="-31" dirty="0">
                <a:latin typeface="Georgia"/>
                <a:cs typeface="Georgia"/>
              </a:rPr>
              <a:t> </a:t>
            </a:r>
            <a:r>
              <a:rPr sz="750" spc="-7" dirty="0">
                <a:latin typeface="Georgia"/>
                <a:cs typeface="Georgia"/>
              </a:rPr>
              <a:t>Sought</a:t>
            </a:r>
            <a:endParaRPr sz="750">
              <a:latin typeface="Georgia"/>
              <a:cs typeface="Georgia"/>
            </a:endParaRPr>
          </a:p>
          <a:p>
            <a:pPr marL="632097" indent="-155859">
              <a:spcBef>
                <a:spcPts val="99"/>
              </a:spcBef>
              <a:buFont typeface="Verdana"/>
              <a:buChar char="□"/>
              <a:tabLst>
                <a:tab pos="632097" algn="l"/>
              </a:tabLst>
            </a:pPr>
            <a:r>
              <a:rPr sz="750" dirty="0">
                <a:latin typeface="Georgia"/>
                <a:cs typeface="Georgia"/>
              </a:rPr>
              <a:t>Use</a:t>
            </a:r>
            <a:r>
              <a:rPr sz="750" spc="-14" dirty="0">
                <a:latin typeface="Georgia"/>
                <a:cs typeface="Georgia"/>
              </a:rPr>
              <a:t> </a:t>
            </a:r>
            <a:r>
              <a:rPr sz="750" u="sng" dirty="0">
                <a:solidFill>
                  <a:srgbClr val="0562C1"/>
                </a:solidFill>
                <a:uFill>
                  <a:solidFill>
                    <a:srgbClr val="0562C1"/>
                  </a:solidFill>
                </a:uFill>
                <a:latin typeface="Georgia"/>
                <a:cs typeface="Georgia"/>
              </a:rPr>
              <a:t>Facts</a:t>
            </a:r>
            <a:r>
              <a:rPr sz="750" u="sng" spc="-14"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to</a:t>
            </a:r>
            <a:r>
              <a:rPr sz="750" u="sng" spc="-20"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Legal</a:t>
            </a:r>
            <a:r>
              <a:rPr sz="750" u="sng" spc="-20"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Language</a:t>
            </a:r>
            <a:r>
              <a:rPr sz="750" u="sng" spc="-14"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Checklist</a:t>
            </a:r>
            <a:r>
              <a:rPr sz="750" spc="-17" dirty="0">
                <a:solidFill>
                  <a:srgbClr val="0562C1"/>
                </a:solidFill>
                <a:latin typeface="Georgia"/>
                <a:cs typeface="Georgia"/>
              </a:rPr>
              <a:t> </a:t>
            </a:r>
            <a:r>
              <a:rPr sz="750" dirty="0">
                <a:latin typeface="Georgia"/>
                <a:cs typeface="Georgia"/>
              </a:rPr>
              <a:t>to</a:t>
            </a:r>
            <a:r>
              <a:rPr sz="750" spc="-14" dirty="0">
                <a:latin typeface="Georgia"/>
                <a:cs typeface="Georgia"/>
              </a:rPr>
              <a:t> </a:t>
            </a:r>
            <a:r>
              <a:rPr sz="750" dirty="0">
                <a:latin typeface="Georgia"/>
                <a:cs typeface="Georgia"/>
              </a:rPr>
              <a:t>find</a:t>
            </a:r>
            <a:r>
              <a:rPr sz="750" spc="-14" dirty="0">
                <a:latin typeface="Georgia"/>
                <a:cs typeface="Georgia"/>
              </a:rPr>
              <a:t> </a:t>
            </a:r>
            <a:r>
              <a:rPr sz="750" dirty="0">
                <a:latin typeface="Georgia"/>
                <a:cs typeface="Georgia"/>
              </a:rPr>
              <a:t>legal</a:t>
            </a:r>
            <a:r>
              <a:rPr sz="750" spc="-20" dirty="0">
                <a:latin typeface="Georgia"/>
                <a:cs typeface="Georgia"/>
              </a:rPr>
              <a:t> </a:t>
            </a:r>
            <a:r>
              <a:rPr sz="750" spc="-7" dirty="0">
                <a:latin typeface="Georgia"/>
                <a:cs typeface="Georgia"/>
              </a:rPr>
              <a:t>language</a:t>
            </a:r>
            <a:endParaRPr sz="750">
              <a:latin typeface="Georgia"/>
              <a:cs typeface="Georgia"/>
            </a:endParaRPr>
          </a:p>
          <a:p>
            <a:pPr marL="631664" indent="-155427">
              <a:spcBef>
                <a:spcPts val="78"/>
              </a:spcBef>
              <a:buSzPct val="109090"/>
              <a:buFont typeface="Verdana"/>
              <a:buChar char="□"/>
              <a:tabLst>
                <a:tab pos="631664" algn="l"/>
              </a:tabLst>
            </a:pPr>
            <a:r>
              <a:rPr sz="750" dirty="0">
                <a:latin typeface="Georgia"/>
                <a:cs typeface="Georgia"/>
              </a:rPr>
              <a:t>Identify</a:t>
            </a:r>
            <a:r>
              <a:rPr sz="750" spc="-20" dirty="0">
                <a:latin typeface="Georgia"/>
                <a:cs typeface="Georgia"/>
              </a:rPr>
              <a:t> </a:t>
            </a:r>
            <a:r>
              <a:rPr sz="750" dirty="0">
                <a:latin typeface="Georgia"/>
                <a:cs typeface="Georgia"/>
              </a:rPr>
              <a:t>the</a:t>
            </a:r>
            <a:r>
              <a:rPr sz="750" spc="-20" dirty="0">
                <a:latin typeface="Georgia"/>
                <a:cs typeface="Georgia"/>
              </a:rPr>
              <a:t> </a:t>
            </a:r>
            <a:r>
              <a:rPr sz="750" dirty="0">
                <a:latin typeface="Georgia"/>
                <a:cs typeface="Georgia"/>
              </a:rPr>
              <a:t>broad</a:t>
            </a:r>
            <a:r>
              <a:rPr sz="750" spc="-17" dirty="0">
                <a:latin typeface="Georgia"/>
                <a:cs typeface="Georgia"/>
              </a:rPr>
              <a:t> </a:t>
            </a:r>
            <a:r>
              <a:rPr sz="750" dirty="0">
                <a:latin typeface="Georgia"/>
                <a:cs typeface="Georgia"/>
              </a:rPr>
              <a:t>legal</a:t>
            </a:r>
            <a:r>
              <a:rPr sz="750" spc="-20" dirty="0">
                <a:latin typeface="Georgia"/>
                <a:cs typeface="Georgia"/>
              </a:rPr>
              <a:t> </a:t>
            </a:r>
            <a:r>
              <a:rPr sz="750" dirty="0">
                <a:latin typeface="Georgia"/>
                <a:cs typeface="Georgia"/>
              </a:rPr>
              <a:t>areas</a:t>
            </a:r>
            <a:r>
              <a:rPr sz="750" spc="-14" dirty="0">
                <a:latin typeface="Georgia"/>
                <a:cs typeface="Georgia"/>
              </a:rPr>
              <a:t> </a:t>
            </a:r>
            <a:r>
              <a:rPr sz="750" dirty="0">
                <a:latin typeface="Georgia"/>
                <a:cs typeface="Georgia"/>
              </a:rPr>
              <a:t>you</a:t>
            </a:r>
            <a:r>
              <a:rPr sz="750" spc="-20" dirty="0">
                <a:latin typeface="Georgia"/>
                <a:cs typeface="Georgia"/>
              </a:rPr>
              <a:t> </a:t>
            </a:r>
            <a:r>
              <a:rPr sz="750" dirty="0">
                <a:latin typeface="Georgia"/>
                <a:cs typeface="Georgia"/>
              </a:rPr>
              <a:t>need</a:t>
            </a:r>
            <a:r>
              <a:rPr sz="750" spc="-24" dirty="0">
                <a:latin typeface="Georgia"/>
                <a:cs typeface="Georgia"/>
              </a:rPr>
              <a:t> </a:t>
            </a:r>
            <a:r>
              <a:rPr sz="750" dirty="0">
                <a:latin typeface="Georgia"/>
                <a:cs typeface="Georgia"/>
              </a:rPr>
              <a:t>understanding</a:t>
            </a:r>
            <a:r>
              <a:rPr sz="750" spc="-14" dirty="0">
                <a:latin typeface="Georgia"/>
                <a:cs typeface="Georgia"/>
              </a:rPr>
              <a:t> </a:t>
            </a:r>
            <a:r>
              <a:rPr sz="750" spc="-17" dirty="0">
                <a:latin typeface="Georgia"/>
                <a:cs typeface="Georgia"/>
              </a:rPr>
              <a:t>of</a:t>
            </a:r>
            <a:endParaRPr sz="750">
              <a:latin typeface="Georgia"/>
              <a:cs typeface="Georgia"/>
            </a:endParaRPr>
          </a:p>
          <a:p>
            <a:pPr>
              <a:spcBef>
                <a:spcPts val="375"/>
              </a:spcBef>
              <a:buFont typeface="Verdana"/>
              <a:buChar char="□"/>
            </a:pPr>
            <a:endParaRPr sz="750">
              <a:latin typeface="Georgia"/>
              <a:cs typeface="Georgia"/>
            </a:endParaRPr>
          </a:p>
          <a:p>
            <a:pPr marL="8659"/>
            <a:r>
              <a:rPr sz="818" b="1" dirty="0">
                <a:latin typeface="Georgia"/>
                <a:cs typeface="Georgia"/>
              </a:rPr>
              <a:t>Step</a:t>
            </a:r>
            <a:r>
              <a:rPr sz="818" b="1" spc="-10" dirty="0">
                <a:latin typeface="Georgia"/>
                <a:cs typeface="Georgia"/>
              </a:rPr>
              <a:t> </a:t>
            </a:r>
            <a:r>
              <a:rPr sz="818" b="1" dirty="0">
                <a:latin typeface="Georgia"/>
                <a:cs typeface="Georgia"/>
              </a:rPr>
              <a:t>2:</a:t>
            </a:r>
            <a:r>
              <a:rPr sz="818" b="1" spc="-10" dirty="0">
                <a:latin typeface="Georgia"/>
                <a:cs typeface="Georgia"/>
              </a:rPr>
              <a:t> </a:t>
            </a:r>
            <a:r>
              <a:rPr sz="818" b="1" dirty="0">
                <a:latin typeface="Georgia"/>
                <a:cs typeface="Georgia"/>
              </a:rPr>
              <a:t>Issue</a:t>
            </a:r>
            <a:r>
              <a:rPr sz="818" b="1" spc="-14" dirty="0">
                <a:latin typeface="Georgia"/>
                <a:cs typeface="Georgia"/>
              </a:rPr>
              <a:t> </a:t>
            </a:r>
            <a:r>
              <a:rPr sz="818" b="1" spc="-7" dirty="0">
                <a:latin typeface="Georgia"/>
                <a:cs typeface="Georgia"/>
              </a:rPr>
              <a:t>Analysis</a:t>
            </a:r>
            <a:endParaRPr sz="818">
              <a:latin typeface="Georgia"/>
              <a:cs typeface="Georgia"/>
            </a:endParaRPr>
          </a:p>
          <a:p>
            <a:pPr marL="632097" indent="-155859" algn="just">
              <a:spcBef>
                <a:spcPts val="641"/>
              </a:spcBef>
              <a:buFont typeface="Verdana"/>
              <a:buChar char="□"/>
              <a:tabLst>
                <a:tab pos="632097" algn="l"/>
              </a:tabLst>
            </a:pPr>
            <a:r>
              <a:rPr sz="750" dirty="0">
                <a:latin typeface="Georgia"/>
                <a:cs typeface="Georgia"/>
              </a:rPr>
              <a:t>Select</a:t>
            </a:r>
            <a:r>
              <a:rPr sz="750" spc="-7" dirty="0">
                <a:latin typeface="Georgia"/>
                <a:cs typeface="Georgia"/>
              </a:rPr>
              <a:t> </a:t>
            </a:r>
            <a:r>
              <a:rPr sz="750" dirty="0">
                <a:latin typeface="Georgia"/>
                <a:cs typeface="Georgia"/>
              </a:rPr>
              <a:t>a</a:t>
            </a:r>
            <a:r>
              <a:rPr sz="750" spc="-14" dirty="0">
                <a:latin typeface="Georgia"/>
                <a:cs typeface="Georgia"/>
              </a:rPr>
              <a:t> </a:t>
            </a:r>
            <a:r>
              <a:rPr sz="750" dirty="0">
                <a:latin typeface="Georgia"/>
                <a:cs typeface="Georgia"/>
              </a:rPr>
              <a:t>secondary</a:t>
            </a:r>
            <a:r>
              <a:rPr sz="750" spc="-20" dirty="0">
                <a:latin typeface="Georgia"/>
                <a:cs typeface="Georgia"/>
              </a:rPr>
              <a:t> </a:t>
            </a:r>
            <a:r>
              <a:rPr sz="750" dirty="0">
                <a:latin typeface="Georgia"/>
                <a:cs typeface="Georgia"/>
              </a:rPr>
              <a:t>source</a:t>
            </a:r>
            <a:r>
              <a:rPr sz="750" spc="-7" dirty="0">
                <a:latin typeface="Georgia"/>
                <a:cs typeface="Georgia"/>
              </a:rPr>
              <a:t> </a:t>
            </a:r>
            <a:r>
              <a:rPr sz="750" dirty="0">
                <a:latin typeface="Georgia"/>
                <a:cs typeface="Georgia"/>
              </a:rPr>
              <a:t>to</a:t>
            </a:r>
            <a:r>
              <a:rPr sz="750" spc="-3" dirty="0">
                <a:latin typeface="Georgia"/>
                <a:cs typeface="Georgia"/>
              </a:rPr>
              <a:t> </a:t>
            </a:r>
            <a:r>
              <a:rPr sz="750" dirty="0">
                <a:latin typeface="Georgia"/>
                <a:cs typeface="Georgia"/>
              </a:rPr>
              <a:t>begin</a:t>
            </a:r>
            <a:r>
              <a:rPr sz="750" spc="-14" dirty="0">
                <a:latin typeface="Georgia"/>
                <a:cs typeface="Georgia"/>
              </a:rPr>
              <a:t> </a:t>
            </a:r>
            <a:r>
              <a:rPr sz="750" dirty="0">
                <a:latin typeface="Georgia"/>
                <a:cs typeface="Georgia"/>
              </a:rPr>
              <a:t>your</a:t>
            </a:r>
            <a:r>
              <a:rPr sz="750" spc="-7" dirty="0">
                <a:latin typeface="Georgia"/>
                <a:cs typeface="Georgia"/>
              </a:rPr>
              <a:t> research—</a:t>
            </a:r>
            <a:r>
              <a:rPr sz="750" dirty="0">
                <a:latin typeface="Georgia"/>
                <a:cs typeface="Georgia"/>
              </a:rPr>
              <a:t>usually</a:t>
            </a:r>
            <a:r>
              <a:rPr sz="750" spc="-10" dirty="0">
                <a:latin typeface="Georgia"/>
                <a:cs typeface="Georgia"/>
              </a:rPr>
              <a:t> </a:t>
            </a:r>
            <a:r>
              <a:rPr sz="750" dirty="0">
                <a:latin typeface="Georgia"/>
                <a:cs typeface="Georgia"/>
              </a:rPr>
              <a:t>an</a:t>
            </a:r>
            <a:r>
              <a:rPr sz="750" spc="-10" dirty="0">
                <a:latin typeface="Georgia"/>
                <a:cs typeface="Georgia"/>
              </a:rPr>
              <a:t> </a:t>
            </a:r>
            <a:r>
              <a:rPr sz="750" b="1" spc="-7" dirty="0">
                <a:latin typeface="Georgia"/>
                <a:cs typeface="Georgia"/>
              </a:rPr>
              <a:t>encyclopedia</a:t>
            </a:r>
            <a:r>
              <a:rPr sz="750" spc="-7" dirty="0">
                <a:latin typeface="Georgia"/>
                <a:cs typeface="Georgia"/>
              </a:rPr>
              <a:t>!</a:t>
            </a:r>
            <a:endParaRPr sz="750">
              <a:latin typeface="Georgia"/>
              <a:cs typeface="Georgia"/>
            </a:endParaRPr>
          </a:p>
          <a:p>
            <a:pPr marL="943816" lvl="1" indent="-155859" algn="just">
              <a:spcBef>
                <a:spcPts val="17"/>
              </a:spcBef>
              <a:buFont typeface="Wingdings"/>
              <a:buChar char=""/>
              <a:tabLst>
                <a:tab pos="943816" algn="l"/>
              </a:tabLst>
            </a:pPr>
            <a:r>
              <a:rPr sz="750" dirty="0">
                <a:latin typeface="Georgia"/>
                <a:cs typeface="Georgia"/>
              </a:rPr>
              <a:t>See</a:t>
            </a:r>
            <a:r>
              <a:rPr sz="750" spc="-14" dirty="0">
                <a:latin typeface="Georgia"/>
                <a:cs typeface="Georgia"/>
              </a:rPr>
              <a:t> </a:t>
            </a:r>
            <a:r>
              <a:rPr sz="750" u="sng" dirty="0">
                <a:solidFill>
                  <a:srgbClr val="0562C1"/>
                </a:solidFill>
                <a:uFill>
                  <a:solidFill>
                    <a:srgbClr val="0562C1"/>
                  </a:solidFill>
                </a:uFill>
                <a:latin typeface="Georgia"/>
                <a:cs typeface="Georgia"/>
                <a:hlinkClick r:id="rId2"/>
              </a:rPr>
              <a:t>Secondary</a:t>
            </a:r>
            <a:r>
              <a:rPr sz="750" u="sng" spc="-31" dirty="0">
                <a:solidFill>
                  <a:srgbClr val="0562C1"/>
                </a:solidFill>
                <a:uFill>
                  <a:solidFill>
                    <a:srgbClr val="0562C1"/>
                  </a:solidFill>
                </a:uFill>
                <a:latin typeface="Georgia"/>
                <a:cs typeface="Georgia"/>
                <a:hlinkClick r:id="rId2"/>
              </a:rPr>
              <a:t> </a:t>
            </a:r>
            <a:r>
              <a:rPr sz="750" u="sng" dirty="0">
                <a:solidFill>
                  <a:srgbClr val="0562C1"/>
                </a:solidFill>
                <a:uFill>
                  <a:solidFill>
                    <a:srgbClr val="0562C1"/>
                  </a:solidFill>
                </a:uFill>
                <a:latin typeface="Georgia"/>
                <a:cs typeface="Georgia"/>
                <a:hlinkClick r:id="rId2"/>
              </a:rPr>
              <a:t>Source</a:t>
            </a:r>
            <a:r>
              <a:rPr sz="750" u="sng" spc="-17" dirty="0">
                <a:solidFill>
                  <a:srgbClr val="0562C1"/>
                </a:solidFill>
                <a:uFill>
                  <a:solidFill>
                    <a:srgbClr val="0562C1"/>
                  </a:solidFill>
                </a:uFill>
                <a:latin typeface="Georgia"/>
                <a:cs typeface="Georgia"/>
                <a:hlinkClick r:id="rId2"/>
              </a:rPr>
              <a:t> </a:t>
            </a:r>
            <a:r>
              <a:rPr sz="750" u="sng" dirty="0">
                <a:solidFill>
                  <a:srgbClr val="0562C1"/>
                </a:solidFill>
                <a:uFill>
                  <a:solidFill>
                    <a:srgbClr val="0562C1"/>
                  </a:solidFill>
                </a:uFill>
                <a:latin typeface="Georgia"/>
                <a:cs typeface="Georgia"/>
                <a:hlinkClick r:id="rId2"/>
              </a:rPr>
              <a:t>Flipcards</a:t>
            </a:r>
            <a:r>
              <a:rPr sz="750" spc="-14" dirty="0">
                <a:solidFill>
                  <a:srgbClr val="0562C1"/>
                </a:solidFill>
                <a:latin typeface="Georgia"/>
                <a:cs typeface="Georgia"/>
              </a:rPr>
              <a:t> </a:t>
            </a:r>
            <a:r>
              <a:rPr sz="750" dirty="0">
                <a:latin typeface="Georgia"/>
                <a:cs typeface="Georgia"/>
              </a:rPr>
              <a:t>for</a:t>
            </a:r>
            <a:r>
              <a:rPr sz="750" spc="-17" dirty="0">
                <a:latin typeface="Georgia"/>
                <a:cs typeface="Georgia"/>
              </a:rPr>
              <a:t> </a:t>
            </a:r>
            <a:r>
              <a:rPr sz="750" dirty="0">
                <a:latin typeface="Georgia"/>
                <a:cs typeface="Georgia"/>
              </a:rPr>
              <a:t>a</a:t>
            </a:r>
            <a:r>
              <a:rPr sz="750" spc="-24" dirty="0">
                <a:latin typeface="Georgia"/>
                <a:cs typeface="Georgia"/>
              </a:rPr>
              <a:t> </a:t>
            </a:r>
            <a:r>
              <a:rPr sz="750" dirty="0">
                <a:latin typeface="Georgia"/>
                <a:cs typeface="Georgia"/>
              </a:rPr>
              <a:t>review</a:t>
            </a:r>
            <a:r>
              <a:rPr sz="750" spc="-17" dirty="0">
                <a:latin typeface="Georgia"/>
                <a:cs typeface="Georgia"/>
              </a:rPr>
              <a:t> </a:t>
            </a:r>
            <a:r>
              <a:rPr sz="750" dirty="0">
                <a:latin typeface="Georgia"/>
                <a:cs typeface="Georgia"/>
              </a:rPr>
              <a:t>of</a:t>
            </a:r>
            <a:r>
              <a:rPr sz="750" spc="-17" dirty="0">
                <a:latin typeface="Georgia"/>
                <a:cs typeface="Georgia"/>
              </a:rPr>
              <a:t> </a:t>
            </a:r>
            <a:r>
              <a:rPr sz="750" dirty="0">
                <a:latin typeface="Georgia"/>
                <a:cs typeface="Georgia"/>
              </a:rPr>
              <a:t>secondary</a:t>
            </a:r>
            <a:r>
              <a:rPr sz="750" spc="-20" dirty="0">
                <a:latin typeface="Georgia"/>
                <a:cs typeface="Georgia"/>
              </a:rPr>
              <a:t> </a:t>
            </a:r>
            <a:r>
              <a:rPr sz="750" spc="-7" dirty="0">
                <a:latin typeface="Georgia"/>
                <a:cs typeface="Georgia"/>
              </a:rPr>
              <a:t>sources.</a:t>
            </a:r>
            <a:endParaRPr sz="750">
              <a:latin typeface="Georgia"/>
              <a:cs typeface="Georgia"/>
            </a:endParaRPr>
          </a:p>
          <a:p>
            <a:pPr marL="632097" marR="83558" indent="-156292" algn="just">
              <a:lnSpc>
                <a:spcPct val="101800"/>
              </a:lnSpc>
              <a:spcBef>
                <a:spcPts val="75"/>
              </a:spcBef>
              <a:buFont typeface="Verdana"/>
              <a:buChar char="□"/>
              <a:tabLst>
                <a:tab pos="632097" algn="l"/>
              </a:tabLst>
            </a:pPr>
            <a:r>
              <a:rPr sz="750" dirty="0">
                <a:latin typeface="Georgia"/>
                <a:cs typeface="Georgia"/>
              </a:rPr>
              <a:t>Look</a:t>
            </a:r>
            <a:r>
              <a:rPr sz="750" spc="-7" dirty="0">
                <a:latin typeface="Georgia"/>
                <a:cs typeface="Georgia"/>
              </a:rPr>
              <a:t> </a:t>
            </a:r>
            <a:r>
              <a:rPr sz="750" dirty="0">
                <a:latin typeface="Georgia"/>
                <a:cs typeface="Georgia"/>
              </a:rPr>
              <a:t>up</a:t>
            </a:r>
            <a:r>
              <a:rPr sz="750" spc="-3" dirty="0">
                <a:latin typeface="Georgia"/>
                <a:cs typeface="Georgia"/>
              </a:rPr>
              <a:t> </a:t>
            </a:r>
            <a:r>
              <a:rPr sz="750" dirty="0">
                <a:latin typeface="Georgia"/>
                <a:cs typeface="Georgia"/>
              </a:rPr>
              <a:t>core</a:t>
            </a:r>
            <a:r>
              <a:rPr sz="750" spc="-10" dirty="0">
                <a:latin typeface="Georgia"/>
                <a:cs typeface="Georgia"/>
              </a:rPr>
              <a:t> </a:t>
            </a:r>
            <a:r>
              <a:rPr sz="750" dirty="0">
                <a:latin typeface="Georgia"/>
                <a:cs typeface="Georgia"/>
              </a:rPr>
              <a:t>concepts</a:t>
            </a:r>
            <a:r>
              <a:rPr sz="750" spc="-3" dirty="0">
                <a:latin typeface="Georgia"/>
                <a:cs typeface="Georgia"/>
              </a:rPr>
              <a:t> </a:t>
            </a:r>
            <a:r>
              <a:rPr sz="750" dirty="0">
                <a:latin typeface="Georgia"/>
                <a:cs typeface="Georgia"/>
              </a:rPr>
              <a:t>in</a:t>
            </a:r>
            <a:r>
              <a:rPr sz="750" spc="-10" dirty="0">
                <a:latin typeface="Georgia"/>
                <a:cs typeface="Georgia"/>
              </a:rPr>
              <a:t> </a:t>
            </a:r>
            <a:r>
              <a:rPr sz="750" b="1" dirty="0">
                <a:latin typeface="Georgia"/>
                <a:cs typeface="Georgia"/>
              </a:rPr>
              <a:t>index</a:t>
            </a:r>
            <a:r>
              <a:rPr sz="750" b="1" spc="-17" dirty="0">
                <a:latin typeface="Georgia"/>
                <a:cs typeface="Georgia"/>
              </a:rPr>
              <a:t> </a:t>
            </a:r>
            <a:r>
              <a:rPr sz="750" b="1" dirty="0">
                <a:latin typeface="Georgia"/>
                <a:cs typeface="Georgia"/>
              </a:rPr>
              <a:t>or</a:t>
            </a:r>
            <a:r>
              <a:rPr sz="750" b="1" spc="-7" dirty="0">
                <a:latin typeface="Georgia"/>
                <a:cs typeface="Georgia"/>
              </a:rPr>
              <a:t> </a:t>
            </a:r>
            <a:r>
              <a:rPr sz="750" b="1" dirty="0">
                <a:latin typeface="Georgia"/>
                <a:cs typeface="Georgia"/>
              </a:rPr>
              <a:t>table</a:t>
            </a:r>
            <a:r>
              <a:rPr sz="750" b="1" spc="-14" dirty="0">
                <a:latin typeface="Georgia"/>
                <a:cs typeface="Georgia"/>
              </a:rPr>
              <a:t> </a:t>
            </a:r>
            <a:r>
              <a:rPr sz="750" b="1" dirty="0">
                <a:latin typeface="Georgia"/>
                <a:cs typeface="Georgia"/>
              </a:rPr>
              <a:t>of</a:t>
            </a:r>
            <a:r>
              <a:rPr sz="750" b="1" spc="-10" dirty="0">
                <a:latin typeface="Georgia"/>
                <a:cs typeface="Georgia"/>
              </a:rPr>
              <a:t> </a:t>
            </a:r>
            <a:r>
              <a:rPr sz="750" b="1" dirty="0">
                <a:latin typeface="Georgia"/>
                <a:cs typeface="Georgia"/>
              </a:rPr>
              <a:t>contents</a:t>
            </a:r>
            <a:r>
              <a:rPr sz="750" b="1" spc="-17" dirty="0">
                <a:latin typeface="Georgia"/>
                <a:cs typeface="Georgia"/>
              </a:rPr>
              <a:t> </a:t>
            </a:r>
            <a:r>
              <a:rPr sz="750" dirty="0">
                <a:latin typeface="Georgia"/>
                <a:cs typeface="Georgia"/>
              </a:rPr>
              <a:t>of</a:t>
            </a:r>
            <a:r>
              <a:rPr sz="750" spc="-7" dirty="0">
                <a:latin typeface="Georgia"/>
                <a:cs typeface="Georgia"/>
              </a:rPr>
              <a:t> </a:t>
            </a:r>
            <a:r>
              <a:rPr sz="750" dirty="0">
                <a:latin typeface="Georgia"/>
                <a:cs typeface="Georgia"/>
              </a:rPr>
              <a:t>legal</a:t>
            </a:r>
            <a:r>
              <a:rPr sz="750" spc="-7" dirty="0">
                <a:latin typeface="Georgia"/>
                <a:cs typeface="Georgia"/>
              </a:rPr>
              <a:t> encyclopedia</a:t>
            </a:r>
            <a:r>
              <a:rPr sz="750" spc="-10" dirty="0">
                <a:latin typeface="Georgia"/>
                <a:cs typeface="Georgia"/>
              </a:rPr>
              <a:t> </a:t>
            </a:r>
            <a:r>
              <a:rPr sz="750" spc="-17" dirty="0">
                <a:latin typeface="Georgia"/>
                <a:cs typeface="Georgia"/>
              </a:rPr>
              <a:t>to </a:t>
            </a:r>
            <a:r>
              <a:rPr sz="750" dirty="0">
                <a:latin typeface="Georgia"/>
                <a:cs typeface="Georgia"/>
              </a:rPr>
              <a:t>gain</a:t>
            </a:r>
            <a:r>
              <a:rPr sz="750" spc="-17" dirty="0">
                <a:latin typeface="Georgia"/>
                <a:cs typeface="Georgia"/>
              </a:rPr>
              <a:t> </a:t>
            </a:r>
            <a:r>
              <a:rPr sz="750" dirty="0">
                <a:latin typeface="Georgia"/>
                <a:cs typeface="Georgia"/>
              </a:rPr>
              <a:t>important</a:t>
            </a:r>
            <a:r>
              <a:rPr sz="750" spc="-17" dirty="0">
                <a:latin typeface="Georgia"/>
                <a:cs typeface="Georgia"/>
              </a:rPr>
              <a:t> </a:t>
            </a:r>
            <a:r>
              <a:rPr sz="750" spc="-7" dirty="0">
                <a:latin typeface="Georgia"/>
                <a:cs typeface="Georgia"/>
              </a:rPr>
              <a:t>background</a:t>
            </a:r>
            <a:r>
              <a:rPr sz="750" spc="-14" dirty="0">
                <a:latin typeface="Georgia"/>
                <a:cs typeface="Georgia"/>
              </a:rPr>
              <a:t> </a:t>
            </a:r>
            <a:r>
              <a:rPr sz="750" dirty="0">
                <a:latin typeface="Georgia"/>
                <a:cs typeface="Georgia"/>
              </a:rPr>
              <a:t>and</a:t>
            </a:r>
            <a:r>
              <a:rPr sz="750" spc="-10" dirty="0">
                <a:latin typeface="Georgia"/>
                <a:cs typeface="Georgia"/>
              </a:rPr>
              <a:t> </a:t>
            </a:r>
            <a:r>
              <a:rPr sz="750" dirty="0">
                <a:latin typeface="Georgia"/>
                <a:cs typeface="Georgia"/>
              </a:rPr>
              <a:t>identify</a:t>
            </a:r>
            <a:r>
              <a:rPr sz="750" spc="-14" dirty="0">
                <a:latin typeface="Georgia"/>
                <a:cs typeface="Georgia"/>
              </a:rPr>
              <a:t> </a:t>
            </a:r>
            <a:r>
              <a:rPr sz="750" dirty="0">
                <a:latin typeface="Georgia"/>
                <a:cs typeface="Georgia"/>
              </a:rPr>
              <a:t>specific</a:t>
            </a:r>
            <a:r>
              <a:rPr sz="750" spc="-10" dirty="0">
                <a:latin typeface="Georgia"/>
                <a:cs typeface="Georgia"/>
              </a:rPr>
              <a:t> </a:t>
            </a:r>
            <a:r>
              <a:rPr sz="750" dirty="0">
                <a:latin typeface="Georgia"/>
                <a:cs typeface="Georgia"/>
              </a:rPr>
              <a:t>legal</a:t>
            </a:r>
            <a:r>
              <a:rPr sz="750" spc="-14" dirty="0">
                <a:latin typeface="Georgia"/>
                <a:cs typeface="Georgia"/>
              </a:rPr>
              <a:t> </a:t>
            </a:r>
            <a:r>
              <a:rPr sz="750" dirty="0">
                <a:latin typeface="Georgia"/>
                <a:cs typeface="Georgia"/>
              </a:rPr>
              <a:t>research</a:t>
            </a:r>
            <a:r>
              <a:rPr sz="750" spc="-10" dirty="0">
                <a:latin typeface="Georgia"/>
                <a:cs typeface="Georgia"/>
              </a:rPr>
              <a:t> </a:t>
            </a:r>
            <a:r>
              <a:rPr sz="750" spc="-7" dirty="0">
                <a:latin typeface="Georgia"/>
                <a:cs typeface="Georgia"/>
              </a:rPr>
              <a:t>issues</a:t>
            </a:r>
            <a:endParaRPr sz="750">
              <a:latin typeface="Georgia"/>
              <a:cs typeface="Georgia"/>
            </a:endParaRPr>
          </a:p>
          <a:p>
            <a:pPr marL="943816" lvl="1" indent="-155859" algn="just">
              <a:spcBef>
                <a:spcPts val="14"/>
              </a:spcBef>
              <a:buFont typeface="Wingdings"/>
              <a:buChar char=""/>
              <a:tabLst>
                <a:tab pos="943816" algn="l"/>
              </a:tabLst>
            </a:pPr>
            <a:r>
              <a:rPr sz="750" dirty="0">
                <a:latin typeface="Georgia"/>
                <a:cs typeface="Georgia"/>
              </a:rPr>
              <a:t>Go</a:t>
            </a:r>
            <a:r>
              <a:rPr sz="750" spc="-14" dirty="0">
                <a:latin typeface="Georgia"/>
                <a:cs typeface="Georgia"/>
              </a:rPr>
              <a:t> </a:t>
            </a:r>
            <a:r>
              <a:rPr sz="750" dirty="0">
                <a:latin typeface="Georgia"/>
                <a:cs typeface="Georgia"/>
              </a:rPr>
              <a:t>to</a:t>
            </a:r>
            <a:r>
              <a:rPr sz="750" spc="-14" dirty="0">
                <a:latin typeface="Georgia"/>
                <a:cs typeface="Georgia"/>
              </a:rPr>
              <a:t> </a:t>
            </a:r>
            <a:r>
              <a:rPr sz="750" dirty="0">
                <a:latin typeface="Georgia"/>
                <a:cs typeface="Georgia"/>
              </a:rPr>
              <a:t>“general”</a:t>
            </a:r>
            <a:r>
              <a:rPr sz="750" spc="-14" dirty="0">
                <a:latin typeface="Georgia"/>
                <a:cs typeface="Georgia"/>
              </a:rPr>
              <a:t> </a:t>
            </a:r>
            <a:r>
              <a:rPr sz="750" dirty="0">
                <a:latin typeface="Georgia"/>
                <a:cs typeface="Georgia"/>
              </a:rPr>
              <a:t>sections</a:t>
            </a:r>
            <a:r>
              <a:rPr sz="750" spc="-14" dirty="0">
                <a:latin typeface="Georgia"/>
                <a:cs typeface="Georgia"/>
              </a:rPr>
              <a:t> </a:t>
            </a:r>
            <a:r>
              <a:rPr sz="750" spc="-7" dirty="0">
                <a:latin typeface="Georgia"/>
                <a:cs typeface="Georgia"/>
              </a:rPr>
              <a:t>first</a:t>
            </a:r>
            <a:endParaRPr sz="750">
              <a:latin typeface="Georgia"/>
              <a:cs typeface="Georgia"/>
            </a:endParaRPr>
          </a:p>
          <a:p>
            <a:pPr marL="944249" marR="63210" lvl="1" indent="-156292" algn="just">
              <a:lnSpc>
                <a:spcPct val="101800"/>
              </a:lnSpc>
              <a:spcBef>
                <a:spcPts val="10"/>
              </a:spcBef>
              <a:buFont typeface="Wingdings"/>
              <a:buChar char=""/>
              <a:tabLst>
                <a:tab pos="944249" algn="l"/>
              </a:tabLst>
            </a:pPr>
            <a:r>
              <a:rPr sz="750" dirty="0">
                <a:latin typeface="Georgia"/>
                <a:cs typeface="Georgia"/>
              </a:rPr>
              <a:t>Check</a:t>
            </a:r>
            <a:r>
              <a:rPr sz="750" spc="-24" dirty="0">
                <a:latin typeface="Georgia"/>
                <a:cs typeface="Georgia"/>
              </a:rPr>
              <a:t> </a:t>
            </a:r>
            <a:r>
              <a:rPr sz="750" dirty="0">
                <a:latin typeface="Georgia"/>
                <a:cs typeface="Georgia"/>
              </a:rPr>
              <a:t>nearby</a:t>
            </a:r>
            <a:r>
              <a:rPr sz="750" spc="-20" dirty="0">
                <a:latin typeface="Georgia"/>
                <a:cs typeface="Georgia"/>
              </a:rPr>
              <a:t> </a:t>
            </a:r>
            <a:r>
              <a:rPr sz="750" dirty="0">
                <a:latin typeface="Georgia"/>
                <a:cs typeface="Georgia"/>
              </a:rPr>
              <a:t>sections</a:t>
            </a:r>
            <a:r>
              <a:rPr sz="750" spc="-17" dirty="0">
                <a:latin typeface="Georgia"/>
                <a:cs typeface="Georgia"/>
              </a:rPr>
              <a:t> </a:t>
            </a:r>
            <a:r>
              <a:rPr sz="750" dirty="0">
                <a:latin typeface="Georgia"/>
                <a:cs typeface="Georgia"/>
              </a:rPr>
              <a:t>of</a:t>
            </a:r>
            <a:r>
              <a:rPr sz="750" spc="-27" dirty="0">
                <a:latin typeface="Georgia"/>
                <a:cs typeface="Georgia"/>
              </a:rPr>
              <a:t> </a:t>
            </a:r>
            <a:r>
              <a:rPr sz="750" dirty="0">
                <a:latin typeface="Georgia"/>
                <a:cs typeface="Georgia"/>
              </a:rPr>
              <a:t>encyclopedia</a:t>
            </a:r>
            <a:r>
              <a:rPr sz="750" spc="-24" dirty="0">
                <a:latin typeface="Georgia"/>
                <a:cs typeface="Georgia"/>
              </a:rPr>
              <a:t> </a:t>
            </a:r>
            <a:r>
              <a:rPr sz="750" dirty="0">
                <a:latin typeface="Georgia"/>
                <a:cs typeface="Georgia"/>
              </a:rPr>
              <a:t>for</a:t>
            </a:r>
            <a:r>
              <a:rPr sz="750" spc="-17" dirty="0">
                <a:latin typeface="Georgia"/>
                <a:cs typeface="Georgia"/>
              </a:rPr>
              <a:t> </a:t>
            </a:r>
            <a:r>
              <a:rPr sz="750" dirty="0">
                <a:latin typeface="Georgia"/>
                <a:cs typeface="Georgia"/>
              </a:rPr>
              <a:t>more</a:t>
            </a:r>
            <a:r>
              <a:rPr sz="750" spc="-20" dirty="0">
                <a:latin typeface="Georgia"/>
                <a:cs typeface="Georgia"/>
              </a:rPr>
              <a:t> </a:t>
            </a:r>
            <a:r>
              <a:rPr sz="750" dirty="0">
                <a:latin typeface="Georgia"/>
                <a:cs typeface="Georgia"/>
              </a:rPr>
              <a:t>relevant</a:t>
            </a:r>
            <a:r>
              <a:rPr sz="750" spc="-17" dirty="0">
                <a:latin typeface="Georgia"/>
                <a:cs typeface="Georgia"/>
              </a:rPr>
              <a:t> </a:t>
            </a:r>
            <a:r>
              <a:rPr sz="750" dirty="0">
                <a:latin typeface="Georgia"/>
                <a:cs typeface="Georgia"/>
              </a:rPr>
              <a:t>information</a:t>
            </a:r>
            <a:r>
              <a:rPr sz="750" spc="-24" dirty="0">
                <a:latin typeface="Georgia"/>
                <a:cs typeface="Georgia"/>
              </a:rPr>
              <a:t> </a:t>
            </a:r>
            <a:r>
              <a:rPr sz="750" spc="-17" dirty="0">
                <a:latin typeface="Georgia"/>
                <a:cs typeface="Georgia"/>
              </a:rPr>
              <a:t>on </a:t>
            </a:r>
            <a:r>
              <a:rPr sz="750" dirty="0">
                <a:latin typeface="Georgia"/>
                <a:cs typeface="Georgia"/>
              </a:rPr>
              <a:t>your</a:t>
            </a:r>
            <a:r>
              <a:rPr sz="750" spc="-10" dirty="0">
                <a:latin typeface="Georgia"/>
                <a:cs typeface="Georgia"/>
              </a:rPr>
              <a:t> </a:t>
            </a:r>
            <a:r>
              <a:rPr sz="750" dirty="0">
                <a:latin typeface="Georgia"/>
                <a:cs typeface="Georgia"/>
              </a:rPr>
              <a:t>issues</a:t>
            </a:r>
            <a:r>
              <a:rPr sz="750" spc="-10" dirty="0">
                <a:latin typeface="Georgia"/>
                <a:cs typeface="Georgia"/>
              </a:rPr>
              <a:t> </a:t>
            </a:r>
            <a:r>
              <a:rPr sz="750" dirty="0">
                <a:latin typeface="Georgia"/>
                <a:cs typeface="Georgia"/>
              </a:rPr>
              <a:t>and</a:t>
            </a:r>
            <a:r>
              <a:rPr sz="750" spc="-17" dirty="0">
                <a:latin typeface="Georgia"/>
                <a:cs typeface="Georgia"/>
              </a:rPr>
              <a:t> </a:t>
            </a:r>
            <a:r>
              <a:rPr sz="750" dirty="0">
                <a:latin typeface="Georgia"/>
                <a:cs typeface="Georgia"/>
              </a:rPr>
              <a:t>read</a:t>
            </a:r>
            <a:r>
              <a:rPr sz="750" spc="-7" dirty="0">
                <a:latin typeface="Georgia"/>
                <a:cs typeface="Georgia"/>
              </a:rPr>
              <a:t> </a:t>
            </a:r>
            <a:r>
              <a:rPr sz="750" dirty="0">
                <a:latin typeface="Georgia"/>
                <a:cs typeface="Georgia"/>
              </a:rPr>
              <a:t>at</a:t>
            </a:r>
            <a:r>
              <a:rPr sz="750" spc="-10" dirty="0">
                <a:latin typeface="Georgia"/>
                <a:cs typeface="Georgia"/>
              </a:rPr>
              <a:t> </a:t>
            </a:r>
            <a:r>
              <a:rPr sz="750" dirty="0">
                <a:latin typeface="Georgia"/>
                <a:cs typeface="Georgia"/>
              </a:rPr>
              <a:t>least</a:t>
            </a:r>
            <a:r>
              <a:rPr sz="750" spc="-10" dirty="0">
                <a:latin typeface="Georgia"/>
                <a:cs typeface="Georgia"/>
              </a:rPr>
              <a:t> </a:t>
            </a:r>
            <a:r>
              <a:rPr sz="750" dirty="0">
                <a:latin typeface="Georgia"/>
                <a:cs typeface="Georgia"/>
              </a:rPr>
              <a:t>first</a:t>
            </a:r>
            <a:r>
              <a:rPr sz="750" spc="-7" dirty="0">
                <a:latin typeface="Georgia"/>
                <a:cs typeface="Georgia"/>
              </a:rPr>
              <a:t> </a:t>
            </a:r>
            <a:r>
              <a:rPr sz="750" dirty="0">
                <a:latin typeface="Georgia"/>
                <a:cs typeface="Georgia"/>
              </a:rPr>
              <a:t>few</a:t>
            </a:r>
            <a:r>
              <a:rPr sz="750" spc="-10" dirty="0">
                <a:latin typeface="Georgia"/>
                <a:cs typeface="Georgia"/>
              </a:rPr>
              <a:t> </a:t>
            </a:r>
            <a:r>
              <a:rPr sz="750" dirty="0">
                <a:latin typeface="Georgia"/>
                <a:cs typeface="Georgia"/>
              </a:rPr>
              <a:t>sentences</a:t>
            </a:r>
            <a:r>
              <a:rPr sz="750" spc="-17" dirty="0">
                <a:latin typeface="Georgia"/>
                <a:cs typeface="Georgia"/>
              </a:rPr>
              <a:t> </a:t>
            </a:r>
            <a:r>
              <a:rPr sz="750" dirty="0">
                <a:latin typeface="Georgia"/>
                <a:cs typeface="Georgia"/>
              </a:rPr>
              <a:t>of</a:t>
            </a:r>
            <a:r>
              <a:rPr sz="750" spc="-17" dirty="0">
                <a:latin typeface="Georgia"/>
                <a:cs typeface="Georgia"/>
              </a:rPr>
              <a:t> </a:t>
            </a:r>
            <a:r>
              <a:rPr sz="750" dirty="0">
                <a:latin typeface="Georgia"/>
                <a:cs typeface="Georgia"/>
              </a:rPr>
              <a:t>all</a:t>
            </a:r>
            <a:r>
              <a:rPr sz="750" spc="-14" dirty="0">
                <a:latin typeface="Georgia"/>
                <a:cs typeface="Georgia"/>
              </a:rPr>
              <a:t> </a:t>
            </a:r>
            <a:r>
              <a:rPr sz="750" dirty="0">
                <a:latin typeface="Georgia"/>
                <a:cs typeface="Georgia"/>
              </a:rPr>
              <a:t>sections</a:t>
            </a:r>
            <a:r>
              <a:rPr sz="750" spc="-7" dirty="0">
                <a:latin typeface="Georgia"/>
                <a:cs typeface="Georgia"/>
              </a:rPr>
              <a:t> </a:t>
            </a:r>
            <a:r>
              <a:rPr sz="750" dirty="0">
                <a:latin typeface="Georgia"/>
                <a:cs typeface="Georgia"/>
              </a:rPr>
              <a:t>that</a:t>
            </a:r>
            <a:r>
              <a:rPr sz="750" spc="-10" dirty="0">
                <a:latin typeface="Georgia"/>
                <a:cs typeface="Georgia"/>
              </a:rPr>
              <a:t> </a:t>
            </a:r>
            <a:r>
              <a:rPr sz="750" spc="-14" dirty="0">
                <a:latin typeface="Georgia"/>
                <a:cs typeface="Georgia"/>
              </a:rPr>
              <a:t>seem </a:t>
            </a:r>
            <a:r>
              <a:rPr sz="750" spc="-7" dirty="0">
                <a:latin typeface="Georgia"/>
                <a:cs typeface="Georgia"/>
              </a:rPr>
              <a:t>relevant</a:t>
            </a:r>
            <a:endParaRPr sz="750">
              <a:latin typeface="Georgia"/>
              <a:cs typeface="Georgia"/>
            </a:endParaRPr>
          </a:p>
          <a:p>
            <a:pPr marL="944249" lvl="1" indent="-155859" algn="just">
              <a:spcBef>
                <a:spcPts val="24"/>
              </a:spcBef>
              <a:buFont typeface="Wingdings"/>
              <a:buChar char=""/>
              <a:tabLst>
                <a:tab pos="944249" algn="l"/>
              </a:tabLst>
            </a:pPr>
            <a:r>
              <a:rPr sz="750" dirty="0">
                <a:latin typeface="Georgia"/>
                <a:cs typeface="Georgia"/>
              </a:rPr>
              <a:t>Take</a:t>
            </a:r>
            <a:r>
              <a:rPr sz="750" spc="-14" dirty="0">
                <a:latin typeface="Georgia"/>
                <a:cs typeface="Georgia"/>
              </a:rPr>
              <a:t> </a:t>
            </a:r>
            <a:r>
              <a:rPr sz="750" dirty="0">
                <a:latin typeface="Georgia"/>
                <a:cs typeface="Georgia"/>
              </a:rPr>
              <a:t>note</a:t>
            </a:r>
            <a:r>
              <a:rPr sz="750" spc="-14" dirty="0">
                <a:latin typeface="Georgia"/>
                <a:cs typeface="Georgia"/>
              </a:rPr>
              <a:t> </a:t>
            </a:r>
            <a:r>
              <a:rPr sz="750" dirty="0">
                <a:latin typeface="Georgia"/>
                <a:cs typeface="Georgia"/>
              </a:rPr>
              <a:t>of</a:t>
            </a:r>
            <a:r>
              <a:rPr sz="750" spc="-14" dirty="0">
                <a:latin typeface="Georgia"/>
                <a:cs typeface="Georgia"/>
              </a:rPr>
              <a:t> </a:t>
            </a:r>
            <a:r>
              <a:rPr sz="750" dirty="0">
                <a:latin typeface="Georgia"/>
                <a:cs typeface="Georgia"/>
              </a:rPr>
              <a:t>primary</a:t>
            </a:r>
            <a:r>
              <a:rPr sz="750" spc="-17" dirty="0">
                <a:latin typeface="Georgia"/>
                <a:cs typeface="Georgia"/>
              </a:rPr>
              <a:t> </a:t>
            </a:r>
            <a:r>
              <a:rPr sz="750" dirty="0">
                <a:latin typeface="Georgia"/>
                <a:cs typeface="Georgia"/>
              </a:rPr>
              <a:t>sources</a:t>
            </a:r>
            <a:r>
              <a:rPr sz="750" spc="-10" dirty="0">
                <a:latin typeface="Georgia"/>
                <a:cs typeface="Georgia"/>
              </a:rPr>
              <a:t> </a:t>
            </a:r>
            <a:r>
              <a:rPr sz="750" dirty="0">
                <a:latin typeface="Georgia"/>
                <a:cs typeface="Georgia"/>
              </a:rPr>
              <a:t>cited</a:t>
            </a:r>
            <a:r>
              <a:rPr sz="750" spc="-14" dirty="0">
                <a:latin typeface="Georgia"/>
                <a:cs typeface="Georgia"/>
              </a:rPr>
              <a:t> </a:t>
            </a:r>
            <a:r>
              <a:rPr sz="750" dirty="0">
                <a:latin typeface="Georgia"/>
                <a:cs typeface="Georgia"/>
              </a:rPr>
              <a:t>within</a:t>
            </a:r>
            <a:r>
              <a:rPr sz="750" spc="-14" dirty="0">
                <a:latin typeface="Georgia"/>
                <a:cs typeface="Georgia"/>
              </a:rPr>
              <a:t> </a:t>
            </a:r>
            <a:r>
              <a:rPr sz="750" dirty="0">
                <a:latin typeface="Georgia"/>
                <a:cs typeface="Georgia"/>
              </a:rPr>
              <a:t>the</a:t>
            </a:r>
            <a:r>
              <a:rPr sz="750" spc="-14" dirty="0">
                <a:latin typeface="Georgia"/>
                <a:cs typeface="Georgia"/>
              </a:rPr>
              <a:t> </a:t>
            </a:r>
            <a:r>
              <a:rPr sz="750" dirty="0">
                <a:latin typeface="Georgia"/>
                <a:cs typeface="Georgia"/>
              </a:rPr>
              <a:t>sections</a:t>
            </a:r>
            <a:r>
              <a:rPr sz="750" spc="-10" dirty="0">
                <a:latin typeface="Georgia"/>
                <a:cs typeface="Georgia"/>
              </a:rPr>
              <a:t> </a:t>
            </a:r>
            <a:r>
              <a:rPr sz="750" dirty="0">
                <a:latin typeface="Georgia"/>
                <a:cs typeface="Georgia"/>
              </a:rPr>
              <a:t>you</a:t>
            </a:r>
            <a:r>
              <a:rPr sz="750" spc="-20" dirty="0">
                <a:latin typeface="Georgia"/>
                <a:cs typeface="Georgia"/>
              </a:rPr>
              <a:t> </a:t>
            </a:r>
            <a:r>
              <a:rPr sz="750" spc="-14" dirty="0">
                <a:latin typeface="Georgia"/>
                <a:cs typeface="Georgia"/>
              </a:rPr>
              <a:t>read</a:t>
            </a:r>
            <a:endParaRPr sz="750">
              <a:latin typeface="Georgia"/>
              <a:cs typeface="Georgia"/>
            </a:endParaRPr>
          </a:p>
          <a:p>
            <a:pPr marL="632530" indent="-155859" algn="just">
              <a:spcBef>
                <a:spcPts val="89"/>
              </a:spcBef>
              <a:buFont typeface="Verdana"/>
              <a:buChar char="□"/>
              <a:tabLst>
                <a:tab pos="632530" algn="l"/>
              </a:tabLst>
            </a:pPr>
            <a:r>
              <a:rPr sz="750" dirty="0">
                <a:latin typeface="Georgia"/>
                <a:cs typeface="Georgia"/>
              </a:rPr>
              <a:t>Select</a:t>
            </a:r>
            <a:r>
              <a:rPr sz="750" spc="-10" dirty="0">
                <a:latin typeface="Georgia"/>
                <a:cs typeface="Georgia"/>
              </a:rPr>
              <a:t> </a:t>
            </a:r>
            <a:r>
              <a:rPr sz="750" dirty="0">
                <a:latin typeface="Georgia"/>
                <a:cs typeface="Georgia"/>
              </a:rPr>
              <a:t>a</a:t>
            </a:r>
            <a:r>
              <a:rPr sz="750" spc="-14" dirty="0">
                <a:latin typeface="Georgia"/>
                <a:cs typeface="Georgia"/>
              </a:rPr>
              <a:t> </a:t>
            </a:r>
            <a:r>
              <a:rPr sz="750" dirty="0">
                <a:latin typeface="Georgia"/>
                <a:cs typeface="Georgia"/>
              </a:rPr>
              <a:t>good</a:t>
            </a:r>
            <a:r>
              <a:rPr sz="750" spc="-10" dirty="0">
                <a:latin typeface="Georgia"/>
                <a:cs typeface="Georgia"/>
              </a:rPr>
              <a:t> </a:t>
            </a:r>
            <a:r>
              <a:rPr sz="750" b="1" dirty="0">
                <a:latin typeface="Georgia"/>
                <a:cs typeface="Georgia"/>
              </a:rPr>
              <a:t>legal</a:t>
            </a:r>
            <a:r>
              <a:rPr sz="750" b="1" spc="-7" dirty="0">
                <a:latin typeface="Georgia"/>
                <a:cs typeface="Georgia"/>
              </a:rPr>
              <a:t> treatise</a:t>
            </a:r>
            <a:endParaRPr sz="750">
              <a:latin typeface="Georgia"/>
              <a:cs typeface="Georgia"/>
            </a:endParaRPr>
          </a:p>
          <a:p>
            <a:pPr marL="943816" marR="3464" lvl="1" indent="-155427">
              <a:lnSpc>
                <a:spcPts val="920"/>
              </a:lnSpc>
              <a:spcBef>
                <a:spcPts val="31"/>
              </a:spcBef>
              <a:buFont typeface="Wingdings"/>
              <a:buChar char=""/>
              <a:tabLst>
                <a:tab pos="943816" algn="l"/>
              </a:tabLst>
            </a:pPr>
            <a:r>
              <a:rPr sz="750" dirty="0">
                <a:latin typeface="Georgia"/>
                <a:cs typeface="Georgia"/>
              </a:rPr>
              <a:t>To</a:t>
            </a:r>
            <a:r>
              <a:rPr sz="750" spc="-14" dirty="0">
                <a:latin typeface="Georgia"/>
                <a:cs typeface="Georgia"/>
              </a:rPr>
              <a:t> </a:t>
            </a:r>
            <a:r>
              <a:rPr sz="750" dirty="0">
                <a:latin typeface="Georgia"/>
                <a:cs typeface="Georgia"/>
              </a:rPr>
              <a:t>find</a:t>
            </a:r>
            <a:r>
              <a:rPr sz="750" spc="-10" dirty="0">
                <a:latin typeface="Georgia"/>
                <a:cs typeface="Georgia"/>
              </a:rPr>
              <a:t> </a:t>
            </a:r>
            <a:r>
              <a:rPr sz="750" dirty="0">
                <a:latin typeface="Georgia"/>
                <a:cs typeface="Georgia"/>
              </a:rPr>
              <a:t>a</a:t>
            </a:r>
            <a:r>
              <a:rPr sz="750" spc="-17" dirty="0">
                <a:latin typeface="Georgia"/>
                <a:cs typeface="Georgia"/>
              </a:rPr>
              <a:t> </a:t>
            </a:r>
            <a:r>
              <a:rPr sz="750" dirty="0">
                <a:latin typeface="Georgia"/>
                <a:cs typeface="Georgia"/>
              </a:rPr>
              <a:t>good</a:t>
            </a:r>
            <a:r>
              <a:rPr sz="750" spc="-14" dirty="0">
                <a:latin typeface="Georgia"/>
                <a:cs typeface="Georgia"/>
              </a:rPr>
              <a:t> </a:t>
            </a:r>
            <a:r>
              <a:rPr sz="750" dirty="0">
                <a:latin typeface="Georgia"/>
                <a:cs typeface="Georgia"/>
              </a:rPr>
              <a:t>national</a:t>
            </a:r>
            <a:r>
              <a:rPr sz="750" spc="-14" dirty="0">
                <a:latin typeface="Georgia"/>
                <a:cs typeface="Georgia"/>
              </a:rPr>
              <a:t> </a:t>
            </a:r>
            <a:r>
              <a:rPr sz="750" dirty="0">
                <a:latin typeface="Georgia"/>
                <a:cs typeface="Georgia"/>
              </a:rPr>
              <a:t>legal</a:t>
            </a:r>
            <a:r>
              <a:rPr sz="750" spc="-17" dirty="0">
                <a:latin typeface="Georgia"/>
                <a:cs typeface="Georgia"/>
              </a:rPr>
              <a:t> </a:t>
            </a:r>
            <a:r>
              <a:rPr sz="750" dirty="0">
                <a:latin typeface="Georgia"/>
                <a:cs typeface="Georgia"/>
              </a:rPr>
              <a:t>treatise,</a:t>
            </a:r>
            <a:r>
              <a:rPr sz="750" spc="-14" dirty="0">
                <a:latin typeface="Georgia"/>
                <a:cs typeface="Georgia"/>
              </a:rPr>
              <a:t> </a:t>
            </a:r>
            <a:r>
              <a:rPr sz="750" dirty="0">
                <a:latin typeface="Georgia"/>
                <a:cs typeface="Georgia"/>
              </a:rPr>
              <a:t>use</a:t>
            </a:r>
            <a:r>
              <a:rPr sz="750" spc="-10" dirty="0">
                <a:latin typeface="Georgia"/>
                <a:cs typeface="Georgia"/>
              </a:rPr>
              <a:t> </a:t>
            </a:r>
            <a:r>
              <a:rPr sz="750" dirty="0">
                <a:latin typeface="Georgia"/>
                <a:cs typeface="Georgia"/>
              </a:rPr>
              <a:t>the</a:t>
            </a:r>
            <a:r>
              <a:rPr sz="750" spc="-17" dirty="0">
                <a:latin typeface="Georgia"/>
                <a:cs typeface="Georgia"/>
              </a:rPr>
              <a:t> </a:t>
            </a:r>
            <a:r>
              <a:rPr sz="750" u="sng" dirty="0">
                <a:solidFill>
                  <a:srgbClr val="0562C1"/>
                </a:solidFill>
                <a:uFill>
                  <a:solidFill>
                    <a:srgbClr val="0562C1"/>
                  </a:solidFill>
                </a:uFill>
                <a:latin typeface="Georgia"/>
                <a:cs typeface="Georgia"/>
                <a:hlinkClick r:id="rId3"/>
              </a:rPr>
              <a:t>Georgetown</a:t>
            </a:r>
            <a:r>
              <a:rPr sz="750" u="sng" spc="-17" dirty="0">
                <a:solidFill>
                  <a:srgbClr val="0562C1"/>
                </a:solidFill>
                <a:uFill>
                  <a:solidFill>
                    <a:srgbClr val="0562C1"/>
                  </a:solidFill>
                </a:uFill>
                <a:latin typeface="Georgia"/>
                <a:cs typeface="Georgia"/>
                <a:hlinkClick r:id="rId3"/>
              </a:rPr>
              <a:t> </a:t>
            </a:r>
            <a:r>
              <a:rPr sz="750" u="sng" dirty="0">
                <a:solidFill>
                  <a:srgbClr val="0562C1"/>
                </a:solidFill>
                <a:uFill>
                  <a:solidFill>
                    <a:srgbClr val="0562C1"/>
                  </a:solidFill>
                </a:uFill>
                <a:latin typeface="Georgia"/>
                <a:cs typeface="Georgia"/>
                <a:hlinkClick r:id="rId3"/>
              </a:rPr>
              <a:t>Treatise</a:t>
            </a:r>
            <a:r>
              <a:rPr sz="750" u="sng" spc="-14" dirty="0">
                <a:solidFill>
                  <a:srgbClr val="0562C1"/>
                </a:solidFill>
                <a:uFill>
                  <a:solidFill>
                    <a:srgbClr val="0562C1"/>
                  </a:solidFill>
                </a:uFill>
                <a:latin typeface="Georgia"/>
                <a:cs typeface="Georgia"/>
                <a:hlinkClick r:id="rId3"/>
              </a:rPr>
              <a:t> </a:t>
            </a:r>
            <a:r>
              <a:rPr sz="750" u="sng" spc="-7" dirty="0">
                <a:solidFill>
                  <a:srgbClr val="0562C1"/>
                </a:solidFill>
                <a:uFill>
                  <a:solidFill>
                    <a:srgbClr val="0562C1"/>
                  </a:solidFill>
                </a:uFill>
                <a:latin typeface="Georgia"/>
                <a:cs typeface="Georgia"/>
                <a:hlinkClick r:id="rId3"/>
              </a:rPr>
              <a:t>Finder</a:t>
            </a:r>
            <a:r>
              <a:rPr sz="750" spc="-7" dirty="0">
                <a:solidFill>
                  <a:srgbClr val="0562C1"/>
                </a:solidFill>
                <a:latin typeface="Georgia"/>
                <a:cs typeface="Georgia"/>
              </a:rPr>
              <a:t> </a:t>
            </a:r>
            <a:r>
              <a:rPr sz="750" dirty="0">
                <a:latin typeface="Georgia"/>
                <a:cs typeface="Georgia"/>
              </a:rPr>
              <a:t>and</a:t>
            </a:r>
            <a:r>
              <a:rPr sz="750" spc="-14" dirty="0">
                <a:latin typeface="Georgia"/>
                <a:cs typeface="Georgia"/>
              </a:rPr>
              <a:t> </a:t>
            </a:r>
            <a:r>
              <a:rPr sz="750" dirty="0">
                <a:latin typeface="Georgia"/>
                <a:cs typeface="Georgia"/>
              </a:rPr>
              <a:t>select</a:t>
            </a:r>
            <a:r>
              <a:rPr sz="750" spc="-24" dirty="0">
                <a:latin typeface="Georgia"/>
                <a:cs typeface="Georgia"/>
              </a:rPr>
              <a:t> </a:t>
            </a:r>
            <a:r>
              <a:rPr sz="750" dirty="0">
                <a:latin typeface="Georgia"/>
                <a:cs typeface="Georgia"/>
              </a:rPr>
              <a:t>one</a:t>
            </a:r>
            <a:r>
              <a:rPr sz="750" spc="-10" dirty="0">
                <a:latin typeface="Georgia"/>
                <a:cs typeface="Georgia"/>
              </a:rPr>
              <a:t> </a:t>
            </a:r>
            <a:r>
              <a:rPr sz="750" dirty="0">
                <a:latin typeface="Georgia"/>
                <a:cs typeface="Georgia"/>
              </a:rPr>
              <a:t>marked</a:t>
            </a:r>
            <a:r>
              <a:rPr sz="750" spc="-14" dirty="0">
                <a:latin typeface="Georgia"/>
                <a:cs typeface="Georgia"/>
              </a:rPr>
              <a:t> </a:t>
            </a:r>
            <a:r>
              <a:rPr sz="750" dirty="0">
                <a:latin typeface="Georgia"/>
                <a:cs typeface="Georgia"/>
              </a:rPr>
              <a:t>as</a:t>
            </a:r>
            <a:r>
              <a:rPr sz="750" spc="-24" dirty="0">
                <a:latin typeface="Georgia"/>
                <a:cs typeface="Georgia"/>
              </a:rPr>
              <a:t> </a:t>
            </a:r>
            <a:r>
              <a:rPr sz="750" spc="-7" dirty="0">
                <a:latin typeface="Georgia"/>
                <a:cs typeface="Georgia"/>
              </a:rPr>
              <a:t>preeminent</a:t>
            </a:r>
            <a:endParaRPr sz="750">
              <a:latin typeface="Georgia"/>
              <a:cs typeface="Georgia"/>
            </a:endParaRPr>
          </a:p>
          <a:p>
            <a:pPr marL="943816" lvl="1" indent="-155859">
              <a:lnSpc>
                <a:spcPts val="880"/>
              </a:lnSpc>
              <a:buFont typeface="Wingdings"/>
              <a:buChar char=""/>
              <a:tabLst>
                <a:tab pos="943816" algn="l"/>
              </a:tabLst>
            </a:pPr>
            <a:r>
              <a:rPr sz="750" dirty="0">
                <a:latin typeface="Georgia"/>
                <a:cs typeface="Georgia"/>
              </a:rPr>
              <a:t>For</a:t>
            </a:r>
            <a:r>
              <a:rPr sz="750" spc="-10" dirty="0">
                <a:latin typeface="Georgia"/>
                <a:cs typeface="Georgia"/>
              </a:rPr>
              <a:t> </a:t>
            </a:r>
            <a:r>
              <a:rPr sz="750" dirty="0">
                <a:latin typeface="Georgia"/>
                <a:cs typeface="Georgia"/>
              </a:rPr>
              <a:t>a</a:t>
            </a:r>
            <a:r>
              <a:rPr sz="750" spc="-14" dirty="0">
                <a:latin typeface="Georgia"/>
                <a:cs typeface="Georgia"/>
              </a:rPr>
              <a:t> </a:t>
            </a:r>
            <a:r>
              <a:rPr sz="750" dirty="0">
                <a:latin typeface="Georgia"/>
                <a:cs typeface="Georgia"/>
              </a:rPr>
              <a:t>good</a:t>
            </a:r>
            <a:r>
              <a:rPr sz="750" spc="-7" dirty="0">
                <a:latin typeface="Georgia"/>
                <a:cs typeface="Georgia"/>
              </a:rPr>
              <a:t> </a:t>
            </a:r>
            <a:r>
              <a:rPr sz="750" dirty="0">
                <a:latin typeface="Georgia"/>
                <a:cs typeface="Georgia"/>
              </a:rPr>
              <a:t>Texas</a:t>
            </a:r>
            <a:r>
              <a:rPr sz="750" spc="-10" dirty="0">
                <a:latin typeface="Georgia"/>
                <a:cs typeface="Georgia"/>
              </a:rPr>
              <a:t> </a:t>
            </a:r>
            <a:r>
              <a:rPr sz="750" dirty="0">
                <a:latin typeface="Georgia"/>
                <a:cs typeface="Georgia"/>
              </a:rPr>
              <a:t>legal</a:t>
            </a:r>
            <a:r>
              <a:rPr sz="750" spc="-14" dirty="0">
                <a:latin typeface="Georgia"/>
                <a:cs typeface="Georgia"/>
              </a:rPr>
              <a:t> </a:t>
            </a:r>
            <a:r>
              <a:rPr sz="750" dirty="0">
                <a:latin typeface="Georgia"/>
                <a:cs typeface="Georgia"/>
              </a:rPr>
              <a:t>treatise</a:t>
            </a:r>
            <a:r>
              <a:rPr sz="750" spc="-7" dirty="0">
                <a:latin typeface="Georgia"/>
                <a:cs typeface="Georgia"/>
              </a:rPr>
              <a:t> </a:t>
            </a:r>
            <a:r>
              <a:rPr sz="750" dirty="0">
                <a:latin typeface="Georgia"/>
                <a:cs typeface="Georgia"/>
              </a:rPr>
              <a:t>go</a:t>
            </a:r>
            <a:r>
              <a:rPr sz="750" spc="-10" dirty="0">
                <a:latin typeface="Georgia"/>
                <a:cs typeface="Georgia"/>
              </a:rPr>
              <a:t> </a:t>
            </a:r>
            <a:r>
              <a:rPr sz="750" dirty="0">
                <a:latin typeface="Georgia"/>
                <a:cs typeface="Georgia"/>
              </a:rPr>
              <a:t>to</a:t>
            </a:r>
            <a:r>
              <a:rPr sz="750" spc="-7" dirty="0">
                <a:latin typeface="Georgia"/>
                <a:cs typeface="Georgia"/>
              </a:rPr>
              <a:t> </a:t>
            </a:r>
            <a:r>
              <a:rPr sz="750" dirty="0">
                <a:latin typeface="Georgia"/>
                <a:cs typeface="Georgia"/>
              </a:rPr>
              <a:t>our</a:t>
            </a:r>
            <a:r>
              <a:rPr sz="750" spc="-7" dirty="0">
                <a:latin typeface="Georgia"/>
                <a:cs typeface="Georgia"/>
              </a:rPr>
              <a:t> </a:t>
            </a:r>
            <a:r>
              <a:rPr sz="750" u="sng" dirty="0">
                <a:solidFill>
                  <a:srgbClr val="0562C1"/>
                </a:solidFill>
                <a:uFill>
                  <a:solidFill>
                    <a:srgbClr val="0562C1"/>
                  </a:solidFill>
                </a:uFill>
                <a:latin typeface="Georgia"/>
                <a:cs typeface="Georgia"/>
                <a:hlinkClick r:id="rId4"/>
              </a:rPr>
              <a:t>Texas</a:t>
            </a:r>
            <a:r>
              <a:rPr sz="750" u="sng" spc="-10" dirty="0">
                <a:solidFill>
                  <a:srgbClr val="0562C1"/>
                </a:solidFill>
                <a:uFill>
                  <a:solidFill>
                    <a:srgbClr val="0562C1"/>
                  </a:solidFill>
                </a:uFill>
                <a:latin typeface="Georgia"/>
                <a:cs typeface="Georgia"/>
                <a:hlinkClick r:id="rId4"/>
              </a:rPr>
              <a:t> </a:t>
            </a:r>
            <a:r>
              <a:rPr sz="750" u="sng" dirty="0">
                <a:solidFill>
                  <a:srgbClr val="0562C1"/>
                </a:solidFill>
                <a:uFill>
                  <a:solidFill>
                    <a:srgbClr val="0562C1"/>
                  </a:solidFill>
                </a:uFill>
                <a:latin typeface="Georgia"/>
                <a:cs typeface="Georgia"/>
                <a:hlinkClick r:id="rId4"/>
              </a:rPr>
              <a:t>Treatise</a:t>
            </a:r>
            <a:r>
              <a:rPr sz="750" u="sng" spc="-7" dirty="0">
                <a:solidFill>
                  <a:srgbClr val="0562C1"/>
                </a:solidFill>
                <a:uFill>
                  <a:solidFill>
                    <a:srgbClr val="0562C1"/>
                  </a:solidFill>
                </a:uFill>
                <a:latin typeface="Georgia"/>
                <a:cs typeface="Georgia"/>
                <a:hlinkClick r:id="rId4"/>
              </a:rPr>
              <a:t> Finder</a:t>
            </a:r>
            <a:endParaRPr sz="750">
              <a:latin typeface="Georgia"/>
              <a:cs typeface="Georgia"/>
            </a:endParaRPr>
          </a:p>
          <a:p>
            <a:pPr marL="943816" lvl="1" indent="-155859">
              <a:spcBef>
                <a:spcPts val="24"/>
              </a:spcBef>
              <a:buFont typeface="Wingdings"/>
              <a:buChar char=""/>
              <a:tabLst>
                <a:tab pos="943816" algn="l"/>
              </a:tabLst>
            </a:pPr>
            <a:r>
              <a:rPr sz="750" dirty="0">
                <a:latin typeface="Georgia"/>
                <a:cs typeface="Georgia"/>
              </a:rPr>
              <a:t>I</a:t>
            </a:r>
            <a:r>
              <a:rPr sz="750" spc="-3" dirty="0">
                <a:latin typeface="Georgia"/>
                <a:cs typeface="Georgia"/>
              </a:rPr>
              <a:t> </a:t>
            </a:r>
            <a:r>
              <a:rPr sz="750" dirty="0">
                <a:latin typeface="Georgia"/>
                <a:cs typeface="Georgia"/>
              </a:rPr>
              <a:t>all</a:t>
            </a:r>
            <a:r>
              <a:rPr sz="750" spc="-7" dirty="0">
                <a:latin typeface="Georgia"/>
                <a:cs typeface="Georgia"/>
              </a:rPr>
              <a:t> </a:t>
            </a:r>
            <a:r>
              <a:rPr sz="750" dirty="0">
                <a:latin typeface="Georgia"/>
                <a:cs typeface="Georgia"/>
              </a:rPr>
              <a:t>else</a:t>
            </a:r>
            <a:r>
              <a:rPr sz="750" spc="-3" dirty="0">
                <a:latin typeface="Georgia"/>
                <a:cs typeface="Georgia"/>
              </a:rPr>
              <a:t> </a:t>
            </a:r>
            <a:r>
              <a:rPr sz="750" dirty="0">
                <a:latin typeface="Georgia"/>
                <a:cs typeface="Georgia"/>
              </a:rPr>
              <a:t>fails, ask</a:t>
            </a:r>
            <a:r>
              <a:rPr sz="750" spc="-7" dirty="0">
                <a:latin typeface="Georgia"/>
                <a:cs typeface="Georgia"/>
              </a:rPr>
              <a:t> </a:t>
            </a:r>
            <a:r>
              <a:rPr sz="750" dirty="0">
                <a:latin typeface="Georgia"/>
                <a:cs typeface="Georgia"/>
              </a:rPr>
              <a:t>a</a:t>
            </a:r>
            <a:r>
              <a:rPr sz="750" spc="-7" dirty="0">
                <a:latin typeface="Georgia"/>
                <a:cs typeface="Georgia"/>
              </a:rPr>
              <a:t> librarian</a:t>
            </a:r>
            <a:endParaRPr sz="750">
              <a:latin typeface="Georgia"/>
              <a:cs typeface="Georgia"/>
            </a:endParaRPr>
          </a:p>
          <a:p>
            <a:pPr marL="632097" marR="164085" indent="-156292">
              <a:lnSpc>
                <a:spcPct val="101800"/>
              </a:lnSpc>
              <a:spcBef>
                <a:spcPts val="75"/>
              </a:spcBef>
              <a:buFont typeface="Verdana"/>
              <a:buChar char="□"/>
              <a:tabLst>
                <a:tab pos="632097" algn="l"/>
              </a:tabLst>
            </a:pPr>
            <a:r>
              <a:rPr sz="750" dirty="0">
                <a:latin typeface="Georgia"/>
                <a:cs typeface="Georgia"/>
              </a:rPr>
              <a:t>Look</a:t>
            </a:r>
            <a:r>
              <a:rPr sz="750" spc="-14" dirty="0">
                <a:latin typeface="Georgia"/>
                <a:cs typeface="Georgia"/>
              </a:rPr>
              <a:t> </a:t>
            </a:r>
            <a:r>
              <a:rPr sz="750" dirty="0">
                <a:latin typeface="Georgia"/>
                <a:cs typeface="Georgia"/>
              </a:rPr>
              <a:t>up</a:t>
            </a:r>
            <a:r>
              <a:rPr sz="750" spc="-7" dirty="0">
                <a:latin typeface="Georgia"/>
                <a:cs typeface="Georgia"/>
              </a:rPr>
              <a:t> </a:t>
            </a:r>
            <a:r>
              <a:rPr sz="750" dirty="0">
                <a:latin typeface="Georgia"/>
                <a:cs typeface="Georgia"/>
              </a:rPr>
              <a:t>core</a:t>
            </a:r>
            <a:r>
              <a:rPr sz="750" spc="-17" dirty="0">
                <a:latin typeface="Georgia"/>
                <a:cs typeface="Georgia"/>
              </a:rPr>
              <a:t> </a:t>
            </a:r>
            <a:r>
              <a:rPr sz="750" dirty="0">
                <a:latin typeface="Georgia"/>
                <a:cs typeface="Georgia"/>
              </a:rPr>
              <a:t>concepts</a:t>
            </a:r>
            <a:r>
              <a:rPr sz="750" spc="-7" dirty="0">
                <a:latin typeface="Georgia"/>
                <a:cs typeface="Georgia"/>
              </a:rPr>
              <a:t> </a:t>
            </a:r>
            <a:r>
              <a:rPr sz="750" dirty="0">
                <a:latin typeface="Georgia"/>
                <a:cs typeface="Georgia"/>
              </a:rPr>
              <a:t>in</a:t>
            </a:r>
            <a:r>
              <a:rPr sz="750" spc="-14" dirty="0">
                <a:latin typeface="Georgia"/>
                <a:cs typeface="Georgia"/>
              </a:rPr>
              <a:t> </a:t>
            </a:r>
            <a:r>
              <a:rPr sz="750" dirty="0">
                <a:latin typeface="Georgia"/>
                <a:cs typeface="Georgia"/>
              </a:rPr>
              <a:t>index</a:t>
            </a:r>
            <a:r>
              <a:rPr sz="750" spc="-17" dirty="0">
                <a:latin typeface="Georgia"/>
                <a:cs typeface="Georgia"/>
              </a:rPr>
              <a:t> </a:t>
            </a:r>
            <a:r>
              <a:rPr sz="750" dirty="0">
                <a:latin typeface="Georgia"/>
                <a:cs typeface="Georgia"/>
              </a:rPr>
              <a:t>or</a:t>
            </a:r>
            <a:r>
              <a:rPr sz="750" spc="-7" dirty="0">
                <a:latin typeface="Georgia"/>
                <a:cs typeface="Georgia"/>
              </a:rPr>
              <a:t> </a:t>
            </a:r>
            <a:r>
              <a:rPr sz="750" dirty="0">
                <a:latin typeface="Georgia"/>
                <a:cs typeface="Georgia"/>
              </a:rPr>
              <a:t>table</a:t>
            </a:r>
            <a:r>
              <a:rPr sz="750" spc="-10" dirty="0">
                <a:latin typeface="Georgia"/>
                <a:cs typeface="Georgia"/>
              </a:rPr>
              <a:t> </a:t>
            </a:r>
            <a:r>
              <a:rPr sz="750" dirty="0">
                <a:latin typeface="Georgia"/>
                <a:cs typeface="Georgia"/>
              </a:rPr>
              <a:t>of</a:t>
            </a:r>
            <a:r>
              <a:rPr sz="750" spc="-17" dirty="0">
                <a:latin typeface="Georgia"/>
                <a:cs typeface="Georgia"/>
              </a:rPr>
              <a:t> </a:t>
            </a:r>
            <a:r>
              <a:rPr sz="750" dirty="0">
                <a:latin typeface="Georgia"/>
                <a:cs typeface="Georgia"/>
              </a:rPr>
              <a:t>contents</a:t>
            </a:r>
            <a:r>
              <a:rPr sz="750" spc="-7" dirty="0">
                <a:latin typeface="Georgia"/>
                <a:cs typeface="Georgia"/>
              </a:rPr>
              <a:t> </a:t>
            </a:r>
            <a:r>
              <a:rPr sz="750" dirty="0">
                <a:latin typeface="Georgia"/>
                <a:cs typeface="Georgia"/>
              </a:rPr>
              <a:t>of</a:t>
            </a:r>
            <a:r>
              <a:rPr sz="750" spc="-14" dirty="0">
                <a:latin typeface="Georgia"/>
                <a:cs typeface="Georgia"/>
              </a:rPr>
              <a:t> </a:t>
            </a:r>
            <a:r>
              <a:rPr sz="750" dirty="0">
                <a:latin typeface="Georgia"/>
                <a:cs typeface="Georgia"/>
              </a:rPr>
              <a:t>legal</a:t>
            </a:r>
            <a:r>
              <a:rPr sz="750" spc="-10" dirty="0">
                <a:latin typeface="Georgia"/>
                <a:cs typeface="Georgia"/>
              </a:rPr>
              <a:t> </a:t>
            </a:r>
            <a:r>
              <a:rPr sz="750" dirty="0">
                <a:latin typeface="Georgia"/>
                <a:cs typeface="Georgia"/>
              </a:rPr>
              <a:t>treatise</a:t>
            </a:r>
            <a:r>
              <a:rPr sz="750" spc="-10" dirty="0">
                <a:latin typeface="Georgia"/>
                <a:cs typeface="Georgia"/>
              </a:rPr>
              <a:t> </a:t>
            </a:r>
            <a:r>
              <a:rPr sz="750" dirty="0">
                <a:latin typeface="Georgia"/>
                <a:cs typeface="Georgia"/>
              </a:rPr>
              <a:t>to</a:t>
            </a:r>
            <a:r>
              <a:rPr sz="750" spc="-7" dirty="0">
                <a:latin typeface="Georgia"/>
                <a:cs typeface="Georgia"/>
              </a:rPr>
              <a:t> deepen </a:t>
            </a:r>
            <a:r>
              <a:rPr sz="750" dirty="0">
                <a:latin typeface="Georgia"/>
                <a:cs typeface="Georgia"/>
              </a:rPr>
              <a:t>your </a:t>
            </a:r>
            <a:r>
              <a:rPr sz="750" spc="-7" dirty="0">
                <a:latin typeface="Georgia"/>
                <a:cs typeface="Georgia"/>
              </a:rPr>
              <a:t>understanding</a:t>
            </a:r>
            <a:r>
              <a:rPr sz="750" spc="3" dirty="0">
                <a:latin typeface="Georgia"/>
                <a:cs typeface="Georgia"/>
              </a:rPr>
              <a:t> </a:t>
            </a:r>
            <a:r>
              <a:rPr sz="750" dirty="0">
                <a:latin typeface="Georgia"/>
                <a:cs typeface="Georgia"/>
              </a:rPr>
              <a:t>of legal </a:t>
            </a:r>
            <a:r>
              <a:rPr sz="750" spc="-7" dirty="0">
                <a:latin typeface="Georgia"/>
                <a:cs typeface="Georgia"/>
              </a:rPr>
              <a:t>issues</a:t>
            </a:r>
            <a:endParaRPr sz="750">
              <a:latin typeface="Georgia"/>
              <a:cs typeface="Georgia"/>
            </a:endParaRPr>
          </a:p>
          <a:p>
            <a:pPr marL="943816" lvl="1" indent="-155859">
              <a:spcBef>
                <a:spcPts val="14"/>
              </a:spcBef>
              <a:buFont typeface="Wingdings"/>
              <a:buChar char=""/>
              <a:tabLst>
                <a:tab pos="943816" algn="l"/>
              </a:tabLst>
            </a:pPr>
            <a:r>
              <a:rPr sz="750" dirty="0">
                <a:latin typeface="Georgia"/>
                <a:cs typeface="Georgia"/>
              </a:rPr>
              <a:t>Take</a:t>
            </a:r>
            <a:r>
              <a:rPr sz="750" spc="-17" dirty="0">
                <a:latin typeface="Georgia"/>
                <a:cs typeface="Georgia"/>
              </a:rPr>
              <a:t> </a:t>
            </a:r>
            <a:r>
              <a:rPr sz="750" dirty="0">
                <a:latin typeface="Georgia"/>
                <a:cs typeface="Georgia"/>
              </a:rPr>
              <a:t>note</a:t>
            </a:r>
            <a:r>
              <a:rPr sz="750" spc="-14" dirty="0">
                <a:latin typeface="Georgia"/>
                <a:cs typeface="Georgia"/>
              </a:rPr>
              <a:t> </a:t>
            </a:r>
            <a:r>
              <a:rPr sz="750" dirty="0">
                <a:latin typeface="Georgia"/>
                <a:cs typeface="Georgia"/>
              </a:rPr>
              <a:t>of</a:t>
            </a:r>
            <a:r>
              <a:rPr sz="750" spc="-17" dirty="0">
                <a:latin typeface="Georgia"/>
                <a:cs typeface="Georgia"/>
              </a:rPr>
              <a:t> </a:t>
            </a:r>
            <a:r>
              <a:rPr sz="750" dirty="0">
                <a:latin typeface="Georgia"/>
                <a:cs typeface="Georgia"/>
              </a:rPr>
              <a:t>primary</a:t>
            </a:r>
            <a:r>
              <a:rPr sz="750" spc="-17" dirty="0">
                <a:latin typeface="Georgia"/>
                <a:cs typeface="Georgia"/>
              </a:rPr>
              <a:t> </a:t>
            </a:r>
            <a:r>
              <a:rPr sz="750" dirty="0">
                <a:latin typeface="Georgia"/>
                <a:cs typeface="Georgia"/>
              </a:rPr>
              <a:t>sources</a:t>
            </a:r>
            <a:r>
              <a:rPr sz="750" spc="-14" dirty="0">
                <a:latin typeface="Georgia"/>
                <a:cs typeface="Georgia"/>
              </a:rPr>
              <a:t> </a:t>
            </a:r>
            <a:r>
              <a:rPr sz="750" dirty="0">
                <a:latin typeface="Georgia"/>
                <a:cs typeface="Georgia"/>
              </a:rPr>
              <a:t>cited</a:t>
            </a:r>
            <a:r>
              <a:rPr sz="750" spc="-14" dirty="0">
                <a:latin typeface="Georgia"/>
                <a:cs typeface="Georgia"/>
              </a:rPr>
              <a:t> </a:t>
            </a:r>
            <a:r>
              <a:rPr sz="750" spc="-7" dirty="0">
                <a:latin typeface="Georgia"/>
                <a:cs typeface="Georgia"/>
              </a:rPr>
              <a:t>within</a:t>
            </a:r>
            <a:endParaRPr sz="750">
              <a:latin typeface="Georgia"/>
              <a:cs typeface="Georgia"/>
            </a:endParaRPr>
          </a:p>
          <a:p>
            <a:pPr marL="632097" marR="43294" indent="-156292">
              <a:lnSpc>
                <a:spcPct val="100899"/>
              </a:lnSpc>
              <a:spcBef>
                <a:spcPts val="92"/>
              </a:spcBef>
              <a:buFont typeface="Verdana"/>
              <a:buChar char="□"/>
              <a:tabLst>
                <a:tab pos="632097" algn="l"/>
              </a:tabLst>
            </a:pPr>
            <a:r>
              <a:rPr sz="750" dirty="0">
                <a:latin typeface="Georgia"/>
                <a:cs typeface="Georgia"/>
              </a:rPr>
              <a:t>By</a:t>
            </a:r>
            <a:r>
              <a:rPr sz="750" spc="-17" dirty="0">
                <a:latin typeface="Georgia"/>
                <a:cs typeface="Georgia"/>
              </a:rPr>
              <a:t> </a:t>
            </a:r>
            <a:r>
              <a:rPr sz="750" dirty="0">
                <a:latin typeface="Georgia"/>
                <a:cs typeface="Georgia"/>
              </a:rPr>
              <a:t>the</a:t>
            </a:r>
            <a:r>
              <a:rPr sz="750" spc="-10" dirty="0">
                <a:latin typeface="Georgia"/>
                <a:cs typeface="Georgia"/>
              </a:rPr>
              <a:t> </a:t>
            </a:r>
            <a:r>
              <a:rPr sz="750" dirty="0">
                <a:latin typeface="Georgia"/>
                <a:cs typeface="Georgia"/>
              </a:rPr>
              <a:t>end</a:t>
            </a:r>
            <a:r>
              <a:rPr sz="750" spc="-24" dirty="0">
                <a:latin typeface="Georgia"/>
                <a:cs typeface="Georgia"/>
              </a:rPr>
              <a:t> </a:t>
            </a:r>
            <a:r>
              <a:rPr sz="750" dirty="0">
                <a:latin typeface="Georgia"/>
                <a:cs typeface="Georgia"/>
              </a:rPr>
              <a:t>of</a:t>
            </a:r>
            <a:r>
              <a:rPr sz="750" spc="-14" dirty="0">
                <a:latin typeface="Georgia"/>
                <a:cs typeface="Georgia"/>
              </a:rPr>
              <a:t> </a:t>
            </a:r>
            <a:r>
              <a:rPr sz="750" dirty="0">
                <a:latin typeface="Georgia"/>
                <a:cs typeface="Georgia"/>
              </a:rPr>
              <a:t>this</a:t>
            </a:r>
            <a:r>
              <a:rPr sz="750" spc="-24" dirty="0">
                <a:latin typeface="Georgia"/>
                <a:cs typeface="Georgia"/>
              </a:rPr>
              <a:t> </a:t>
            </a:r>
            <a:r>
              <a:rPr sz="750" dirty="0">
                <a:latin typeface="Georgia"/>
                <a:cs typeface="Georgia"/>
              </a:rPr>
              <a:t>step,</a:t>
            </a:r>
            <a:r>
              <a:rPr sz="750" spc="-10" dirty="0">
                <a:latin typeface="Georgia"/>
                <a:cs typeface="Georgia"/>
              </a:rPr>
              <a:t> </a:t>
            </a:r>
            <a:r>
              <a:rPr sz="750" dirty="0">
                <a:latin typeface="Georgia"/>
                <a:cs typeface="Georgia"/>
              </a:rPr>
              <a:t>you</a:t>
            </a:r>
            <a:r>
              <a:rPr sz="750" spc="-17" dirty="0">
                <a:latin typeface="Georgia"/>
                <a:cs typeface="Georgia"/>
              </a:rPr>
              <a:t> </a:t>
            </a:r>
            <a:r>
              <a:rPr sz="750" dirty="0">
                <a:latin typeface="Georgia"/>
                <a:cs typeface="Georgia"/>
              </a:rPr>
              <a:t>should</a:t>
            </a:r>
            <a:r>
              <a:rPr sz="750" spc="-10" dirty="0">
                <a:latin typeface="Georgia"/>
                <a:cs typeface="Georgia"/>
              </a:rPr>
              <a:t> </a:t>
            </a:r>
            <a:r>
              <a:rPr sz="750" dirty="0">
                <a:latin typeface="Georgia"/>
                <a:cs typeface="Georgia"/>
              </a:rPr>
              <a:t>know</a:t>
            </a:r>
            <a:r>
              <a:rPr sz="750" spc="-20" dirty="0">
                <a:latin typeface="Georgia"/>
                <a:cs typeface="Georgia"/>
              </a:rPr>
              <a:t> </a:t>
            </a:r>
            <a:r>
              <a:rPr sz="750" dirty="0">
                <a:latin typeface="Georgia"/>
                <a:cs typeface="Georgia"/>
              </a:rPr>
              <a:t>the</a:t>
            </a:r>
            <a:r>
              <a:rPr sz="750" spc="-14" dirty="0">
                <a:latin typeface="Georgia"/>
                <a:cs typeface="Georgia"/>
              </a:rPr>
              <a:t> </a:t>
            </a:r>
            <a:r>
              <a:rPr sz="750" dirty="0">
                <a:latin typeface="Georgia"/>
                <a:cs typeface="Georgia"/>
              </a:rPr>
              <a:t>specific</a:t>
            </a:r>
            <a:r>
              <a:rPr sz="750" spc="-14" dirty="0">
                <a:latin typeface="Georgia"/>
                <a:cs typeface="Georgia"/>
              </a:rPr>
              <a:t> </a:t>
            </a:r>
            <a:r>
              <a:rPr sz="750" dirty="0">
                <a:latin typeface="Georgia"/>
                <a:cs typeface="Georgia"/>
              </a:rPr>
              <a:t>research</a:t>
            </a:r>
            <a:r>
              <a:rPr sz="750" spc="-10" dirty="0">
                <a:latin typeface="Georgia"/>
                <a:cs typeface="Georgia"/>
              </a:rPr>
              <a:t> </a:t>
            </a:r>
            <a:r>
              <a:rPr sz="750" dirty="0">
                <a:latin typeface="Georgia"/>
                <a:cs typeface="Georgia"/>
              </a:rPr>
              <a:t>issues</a:t>
            </a:r>
            <a:r>
              <a:rPr sz="750" spc="-14" dirty="0">
                <a:latin typeface="Georgia"/>
                <a:cs typeface="Georgia"/>
              </a:rPr>
              <a:t> </a:t>
            </a:r>
            <a:r>
              <a:rPr sz="750" dirty="0">
                <a:latin typeface="Georgia"/>
                <a:cs typeface="Georgia"/>
              </a:rPr>
              <a:t>you</a:t>
            </a:r>
            <a:r>
              <a:rPr sz="750" spc="-14" dirty="0">
                <a:latin typeface="Georgia"/>
                <a:cs typeface="Georgia"/>
              </a:rPr>
              <a:t> </a:t>
            </a:r>
            <a:r>
              <a:rPr sz="750" dirty="0">
                <a:latin typeface="Georgia"/>
                <a:cs typeface="Georgia"/>
              </a:rPr>
              <a:t>need</a:t>
            </a:r>
            <a:r>
              <a:rPr sz="750" spc="-14" dirty="0">
                <a:latin typeface="Georgia"/>
                <a:cs typeface="Georgia"/>
              </a:rPr>
              <a:t> </a:t>
            </a:r>
            <a:r>
              <a:rPr sz="750" spc="-17" dirty="0">
                <a:latin typeface="Georgia"/>
                <a:cs typeface="Georgia"/>
              </a:rPr>
              <a:t>to </a:t>
            </a:r>
            <a:r>
              <a:rPr sz="750" dirty="0">
                <a:latin typeface="Georgia"/>
                <a:cs typeface="Georgia"/>
              </a:rPr>
              <a:t>dig</a:t>
            </a:r>
            <a:r>
              <a:rPr sz="750" spc="-14" dirty="0">
                <a:latin typeface="Georgia"/>
                <a:cs typeface="Georgia"/>
              </a:rPr>
              <a:t> </a:t>
            </a:r>
            <a:r>
              <a:rPr sz="750" dirty="0">
                <a:latin typeface="Georgia"/>
                <a:cs typeface="Georgia"/>
              </a:rPr>
              <a:t>into</a:t>
            </a:r>
            <a:r>
              <a:rPr sz="750" spc="-10" dirty="0">
                <a:latin typeface="Georgia"/>
                <a:cs typeface="Georgia"/>
              </a:rPr>
              <a:t> </a:t>
            </a:r>
            <a:r>
              <a:rPr sz="750" dirty="0">
                <a:latin typeface="Georgia"/>
                <a:cs typeface="Georgia"/>
              </a:rPr>
              <a:t>more</a:t>
            </a:r>
            <a:r>
              <a:rPr sz="750" spc="-17" dirty="0">
                <a:latin typeface="Georgia"/>
                <a:cs typeface="Georgia"/>
              </a:rPr>
              <a:t> </a:t>
            </a:r>
            <a:r>
              <a:rPr sz="750" spc="-7" dirty="0">
                <a:latin typeface="Georgia"/>
                <a:cs typeface="Georgia"/>
              </a:rPr>
              <a:t>deeply</a:t>
            </a:r>
            <a:endParaRPr sz="750">
              <a:latin typeface="Georgia"/>
              <a:cs typeface="Georgia"/>
            </a:endParaRPr>
          </a:p>
          <a:p>
            <a:pPr>
              <a:spcBef>
                <a:spcPts val="389"/>
              </a:spcBef>
              <a:buFont typeface="Verdana"/>
              <a:buChar char="□"/>
            </a:pPr>
            <a:endParaRPr sz="750">
              <a:latin typeface="Georgia"/>
              <a:cs typeface="Georgia"/>
            </a:endParaRPr>
          </a:p>
          <a:p>
            <a:pPr marL="8659"/>
            <a:r>
              <a:rPr sz="818" b="1" dirty="0">
                <a:latin typeface="Georgia"/>
                <a:cs typeface="Georgia"/>
              </a:rPr>
              <a:t>Step</a:t>
            </a:r>
            <a:r>
              <a:rPr sz="818" b="1" spc="-10" dirty="0">
                <a:latin typeface="Georgia"/>
                <a:cs typeface="Georgia"/>
              </a:rPr>
              <a:t> </a:t>
            </a:r>
            <a:r>
              <a:rPr sz="818" b="1" dirty="0">
                <a:latin typeface="Georgia"/>
                <a:cs typeface="Georgia"/>
              </a:rPr>
              <a:t>3:</a:t>
            </a:r>
            <a:r>
              <a:rPr sz="818" b="1" spc="-10" dirty="0">
                <a:latin typeface="Georgia"/>
                <a:cs typeface="Georgia"/>
              </a:rPr>
              <a:t> </a:t>
            </a:r>
            <a:r>
              <a:rPr sz="818" b="1" dirty="0">
                <a:latin typeface="Georgia"/>
                <a:cs typeface="Georgia"/>
              </a:rPr>
              <a:t>Statutory</a:t>
            </a:r>
            <a:r>
              <a:rPr sz="818" b="1" spc="-14" dirty="0">
                <a:latin typeface="Georgia"/>
                <a:cs typeface="Georgia"/>
              </a:rPr>
              <a:t> </a:t>
            </a:r>
            <a:r>
              <a:rPr sz="818" b="1" spc="-7" dirty="0">
                <a:latin typeface="Georgia"/>
                <a:cs typeface="Georgia"/>
              </a:rPr>
              <a:t>Analysis</a:t>
            </a:r>
            <a:endParaRPr sz="818">
              <a:latin typeface="Georgia"/>
              <a:cs typeface="Georgia"/>
            </a:endParaRPr>
          </a:p>
          <a:p>
            <a:pPr marL="632097" marR="67972" indent="-155859">
              <a:lnSpc>
                <a:spcPct val="100899"/>
              </a:lnSpc>
              <a:spcBef>
                <a:spcPts val="641"/>
              </a:spcBef>
              <a:buFont typeface="Verdana"/>
              <a:buChar char="□"/>
              <a:tabLst>
                <a:tab pos="632097" algn="l"/>
              </a:tabLst>
            </a:pPr>
            <a:r>
              <a:rPr sz="750" dirty="0">
                <a:latin typeface="Georgia"/>
                <a:cs typeface="Georgia"/>
              </a:rPr>
              <a:t>Review</a:t>
            </a:r>
            <a:r>
              <a:rPr sz="750" spc="-14" dirty="0">
                <a:latin typeface="Georgia"/>
                <a:cs typeface="Georgia"/>
              </a:rPr>
              <a:t> </a:t>
            </a:r>
            <a:r>
              <a:rPr sz="750" dirty="0">
                <a:latin typeface="Georgia"/>
                <a:cs typeface="Georgia"/>
              </a:rPr>
              <a:t>the</a:t>
            </a:r>
            <a:r>
              <a:rPr sz="750" spc="-10" dirty="0">
                <a:latin typeface="Georgia"/>
                <a:cs typeface="Georgia"/>
              </a:rPr>
              <a:t> </a:t>
            </a:r>
            <a:r>
              <a:rPr sz="750" u="sng" dirty="0">
                <a:solidFill>
                  <a:srgbClr val="0562C1"/>
                </a:solidFill>
                <a:uFill>
                  <a:solidFill>
                    <a:srgbClr val="0562C1"/>
                  </a:solidFill>
                </a:uFill>
                <a:latin typeface="Georgia"/>
                <a:cs typeface="Georgia"/>
              </a:rPr>
              <a:t>Anatomy</a:t>
            </a:r>
            <a:r>
              <a:rPr sz="750" u="sng" spc="-14"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of</a:t>
            </a:r>
            <a:r>
              <a:rPr sz="750" u="sng" spc="-14"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a</a:t>
            </a:r>
            <a:r>
              <a:rPr sz="750" u="sng" spc="-27"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Code</a:t>
            </a:r>
            <a:r>
              <a:rPr sz="750" spc="-7" dirty="0">
                <a:solidFill>
                  <a:srgbClr val="0562C1"/>
                </a:solidFill>
                <a:latin typeface="Georgia"/>
                <a:cs typeface="Georgia"/>
              </a:rPr>
              <a:t> </a:t>
            </a:r>
            <a:r>
              <a:rPr sz="750" dirty="0">
                <a:latin typeface="Georgia"/>
                <a:cs typeface="Georgia"/>
              </a:rPr>
              <a:t>for</a:t>
            </a:r>
            <a:r>
              <a:rPr sz="750" spc="-10" dirty="0">
                <a:latin typeface="Georgia"/>
                <a:cs typeface="Georgia"/>
              </a:rPr>
              <a:t> </a:t>
            </a:r>
            <a:r>
              <a:rPr sz="750" dirty="0">
                <a:latin typeface="Georgia"/>
                <a:cs typeface="Georgia"/>
              </a:rPr>
              <a:t>a</a:t>
            </a:r>
            <a:r>
              <a:rPr sz="750" spc="-17" dirty="0">
                <a:latin typeface="Georgia"/>
                <a:cs typeface="Georgia"/>
              </a:rPr>
              <a:t> </a:t>
            </a:r>
            <a:r>
              <a:rPr sz="750" dirty="0">
                <a:latin typeface="Georgia"/>
                <a:cs typeface="Georgia"/>
              </a:rPr>
              <a:t>refresher</a:t>
            </a:r>
            <a:r>
              <a:rPr sz="750" spc="-14" dirty="0">
                <a:latin typeface="Georgia"/>
                <a:cs typeface="Georgia"/>
              </a:rPr>
              <a:t> </a:t>
            </a:r>
            <a:r>
              <a:rPr sz="750" dirty="0">
                <a:latin typeface="Georgia"/>
                <a:cs typeface="Georgia"/>
              </a:rPr>
              <a:t>on</a:t>
            </a:r>
            <a:r>
              <a:rPr sz="750" spc="-17" dirty="0">
                <a:latin typeface="Georgia"/>
                <a:cs typeface="Georgia"/>
              </a:rPr>
              <a:t> </a:t>
            </a:r>
            <a:r>
              <a:rPr sz="750" dirty="0">
                <a:latin typeface="Georgia"/>
                <a:cs typeface="Georgia"/>
              </a:rPr>
              <a:t>the</a:t>
            </a:r>
            <a:r>
              <a:rPr sz="750" spc="-17" dirty="0">
                <a:latin typeface="Georgia"/>
                <a:cs typeface="Georgia"/>
              </a:rPr>
              <a:t> </a:t>
            </a:r>
            <a:r>
              <a:rPr sz="750" dirty="0">
                <a:latin typeface="Georgia"/>
                <a:cs typeface="Georgia"/>
              </a:rPr>
              <a:t>different</a:t>
            </a:r>
            <a:r>
              <a:rPr sz="750" spc="-10" dirty="0">
                <a:latin typeface="Georgia"/>
                <a:cs typeface="Georgia"/>
              </a:rPr>
              <a:t> </a:t>
            </a:r>
            <a:r>
              <a:rPr sz="750" dirty="0">
                <a:latin typeface="Georgia"/>
                <a:cs typeface="Georgia"/>
              </a:rPr>
              <a:t>tools</a:t>
            </a:r>
            <a:r>
              <a:rPr sz="750" spc="-10" dirty="0">
                <a:latin typeface="Georgia"/>
                <a:cs typeface="Georgia"/>
              </a:rPr>
              <a:t> </a:t>
            </a:r>
            <a:r>
              <a:rPr sz="750" spc="-7" dirty="0">
                <a:latin typeface="Georgia"/>
                <a:cs typeface="Georgia"/>
              </a:rPr>
              <a:t>(remember, </a:t>
            </a:r>
            <a:r>
              <a:rPr sz="750" dirty="0">
                <a:latin typeface="Georgia"/>
                <a:cs typeface="Georgia"/>
              </a:rPr>
              <a:t>you</a:t>
            </a:r>
            <a:r>
              <a:rPr sz="750" spc="-17" dirty="0">
                <a:latin typeface="Georgia"/>
                <a:cs typeface="Georgia"/>
              </a:rPr>
              <a:t> </a:t>
            </a:r>
            <a:r>
              <a:rPr sz="750" dirty="0">
                <a:latin typeface="Georgia"/>
                <a:cs typeface="Georgia"/>
              </a:rPr>
              <a:t>must</a:t>
            </a:r>
            <a:r>
              <a:rPr sz="750" spc="-10" dirty="0">
                <a:latin typeface="Georgia"/>
                <a:cs typeface="Georgia"/>
              </a:rPr>
              <a:t> </a:t>
            </a:r>
            <a:r>
              <a:rPr sz="750" dirty="0">
                <a:latin typeface="Georgia"/>
                <a:cs typeface="Georgia"/>
              </a:rPr>
              <a:t>download</a:t>
            </a:r>
            <a:r>
              <a:rPr sz="750" spc="-14" dirty="0">
                <a:latin typeface="Georgia"/>
                <a:cs typeface="Georgia"/>
              </a:rPr>
              <a:t> </a:t>
            </a:r>
            <a:r>
              <a:rPr sz="750" dirty="0">
                <a:latin typeface="Georgia"/>
                <a:cs typeface="Georgia"/>
              </a:rPr>
              <a:t>it</a:t>
            </a:r>
            <a:r>
              <a:rPr sz="750" spc="-10" dirty="0">
                <a:latin typeface="Georgia"/>
                <a:cs typeface="Georgia"/>
              </a:rPr>
              <a:t> </a:t>
            </a:r>
            <a:r>
              <a:rPr sz="750" dirty="0">
                <a:latin typeface="Georgia"/>
                <a:cs typeface="Georgia"/>
              </a:rPr>
              <a:t>in</a:t>
            </a:r>
            <a:r>
              <a:rPr sz="750" spc="-27" dirty="0">
                <a:latin typeface="Georgia"/>
                <a:cs typeface="Georgia"/>
              </a:rPr>
              <a:t> </a:t>
            </a:r>
            <a:r>
              <a:rPr sz="750" dirty="0">
                <a:latin typeface="Georgia"/>
                <a:cs typeface="Georgia"/>
              </a:rPr>
              <a:t>Google</a:t>
            </a:r>
            <a:r>
              <a:rPr sz="750" spc="-10" dirty="0">
                <a:latin typeface="Georgia"/>
                <a:cs typeface="Georgia"/>
              </a:rPr>
              <a:t> </a:t>
            </a:r>
            <a:r>
              <a:rPr sz="750" dirty="0">
                <a:latin typeface="Georgia"/>
                <a:cs typeface="Georgia"/>
              </a:rPr>
              <a:t>Chrome</a:t>
            </a:r>
            <a:r>
              <a:rPr sz="750" spc="-14" dirty="0">
                <a:latin typeface="Georgia"/>
                <a:cs typeface="Georgia"/>
              </a:rPr>
              <a:t> </a:t>
            </a:r>
            <a:r>
              <a:rPr sz="750" dirty="0">
                <a:latin typeface="Georgia"/>
                <a:cs typeface="Georgia"/>
              </a:rPr>
              <a:t>to</a:t>
            </a:r>
            <a:r>
              <a:rPr sz="750" spc="-10" dirty="0">
                <a:latin typeface="Georgia"/>
                <a:cs typeface="Georgia"/>
              </a:rPr>
              <a:t> </a:t>
            </a:r>
            <a:r>
              <a:rPr sz="750" dirty="0">
                <a:latin typeface="Georgia"/>
                <a:cs typeface="Georgia"/>
              </a:rPr>
              <a:t>see</a:t>
            </a:r>
            <a:r>
              <a:rPr sz="750" spc="-14" dirty="0">
                <a:latin typeface="Georgia"/>
                <a:cs typeface="Georgia"/>
              </a:rPr>
              <a:t> </a:t>
            </a:r>
            <a:r>
              <a:rPr sz="750" dirty="0">
                <a:latin typeface="Georgia"/>
                <a:cs typeface="Georgia"/>
              </a:rPr>
              <a:t>the</a:t>
            </a:r>
            <a:r>
              <a:rPr sz="750" spc="-10" dirty="0">
                <a:latin typeface="Georgia"/>
                <a:cs typeface="Georgia"/>
              </a:rPr>
              <a:t> </a:t>
            </a:r>
            <a:r>
              <a:rPr sz="750" dirty="0">
                <a:latin typeface="Georgia"/>
                <a:cs typeface="Georgia"/>
              </a:rPr>
              <a:t>pop-</a:t>
            </a:r>
            <a:r>
              <a:rPr sz="750" spc="-7" dirty="0">
                <a:latin typeface="Georgia"/>
                <a:cs typeface="Georgia"/>
              </a:rPr>
              <a:t>ups!)</a:t>
            </a:r>
            <a:endParaRPr sz="750">
              <a:latin typeface="Georgia"/>
              <a:cs typeface="Georgia"/>
            </a:endParaRPr>
          </a:p>
          <a:p>
            <a:pPr marL="632097" marR="167116" indent="-156292">
              <a:lnSpc>
                <a:spcPct val="101800"/>
              </a:lnSpc>
              <a:spcBef>
                <a:spcPts val="82"/>
              </a:spcBef>
              <a:buFont typeface="Verdana"/>
              <a:buChar char="□"/>
              <a:tabLst>
                <a:tab pos="632097" algn="l"/>
              </a:tabLst>
            </a:pPr>
            <a:r>
              <a:rPr sz="750" dirty="0">
                <a:latin typeface="Georgia"/>
                <a:cs typeface="Georgia"/>
              </a:rPr>
              <a:t>Read</a:t>
            </a:r>
            <a:r>
              <a:rPr sz="750" spc="-20" dirty="0">
                <a:latin typeface="Georgia"/>
                <a:cs typeface="Georgia"/>
              </a:rPr>
              <a:t> </a:t>
            </a:r>
            <a:r>
              <a:rPr sz="750" dirty="0">
                <a:latin typeface="Georgia"/>
                <a:cs typeface="Georgia"/>
              </a:rPr>
              <a:t>the</a:t>
            </a:r>
            <a:r>
              <a:rPr sz="750" spc="-17" dirty="0">
                <a:latin typeface="Georgia"/>
                <a:cs typeface="Georgia"/>
              </a:rPr>
              <a:t> </a:t>
            </a:r>
            <a:r>
              <a:rPr sz="750" dirty="0">
                <a:latin typeface="Georgia"/>
                <a:cs typeface="Georgia"/>
              </a:rPr>
              <a:t>statute(s)</a:t>
            </a:r>
            <a:r>
              <a:rPr sz="750" spc="-20" dirty="0">
                <a:latin typeface="Georgia"/>
                <a:cs typeface="Georgia"/>
              </a:rPr>
              <a:t> </a:t>
            </a:r>
            <a:r>
              <a:rPr sz="750" dirty="0">
                <a:latin typeface="Georgia"/>
                <a:cs typeface="Georgia"/>
              </a:rPr>
              <a:t>to</a:t>
            </a:r>
            <a:r>
              <a:rPr sz="750" spc="-17" dirty="0">
                <a:latin typeface="Georgia"/>
                <a:cs typeface="Georgia"/>
              </a:rPr>
              <a:t> </a:t>
            </a:r>
            <a:r>
              <a:rPr sz="750" dirty="0">
                <a:latin typeface="Georgia"/>
                <a:cs typeface="Georgia"/>
              </a:rPr>
              <a:t>determine</a:t>
            </a:r>
            <a:r>
              <a:rPr sz="750" spc="-17" dirty="0">
                <a:latin typeface="Georgia"/>
                <a:cs typeface="Georgia"/>
              </a:rPr>
              <a:t> </a:t>
            </a:r>
            <a:r>
              <a:rPr sz="750" dirty="0">
                <a:latin typeface="Georgia"/>
                <a:cs typeface="Georgia"/>
              </a:rPr>
              <a:t>its</a:t>
            </a:r>
            <a:r>
              <a:rPr sz="750" spc="-20" dirty="0">
                <a:latin typeface="Georgia"/>
                <a:cs typeface="Georgia"/>
              </a:rPr>
              <a:t> </a:t>
            </a:r>
            <a:r>
              <a:rPr sz="750" dirty="0">
                <a:latin typeface="Georgia"/>
                <a:cs typeface="Georgia"/>
              </a:rPr>
              <a:t>relevance</a:t>
            </a:r>
            <a:r>
              <a:rPr sz="750" spc="-24" dirty="0">
                <a:latin typeface="Georgia"/>
                <a:cs typeface="Georgia"/>
              </a:rPr>
              <a:t> </a:t>
            </a:r>
            <a:r>
              <a:rPr sz="750" dirty="0">
                <a:latin typeface="Georgia"/>
                <a:cs typeface="Georgia"/>
              </a:rPr>
              <a:t>to</a:t>
            </a:r>
            <a:r>
              <a:rPr sz="750" spc="-17" dirty="0">
                <a:latin typeface="Georgia"/>
                <a:cs typeface="Georgia"/>
              </a:rPr>
              <a:t> </a:t>
            </a:r>
            <a:r>
              <a:rPr sz="750" dirty="0">
                <a:latin typeface="Georgia"/>
                <a:cs typeface="Georgia"/>
              </a:rPr>
              <a:t>your</a:t>
            </a:r>
            <a:r>
              <a:rPr sz="750" spc="-27" dirty="0">
                <a:latin typeface="Georgia"/>
                <a:cs typeface="Georgia"/>
              </a:rPr>
              <a:t> </a:t>
            </a:r>
            <a:r>
              <a:rPr sz="750" dirty="0">
                <a:latin typeface="Georgia"/>
                <a:cs typeface="Georgia"/>
              </a:rPr>
              <a:t>research</a:t>
            </a:r>
            <a:r>
              <a:rPr sz="750" spc="-17" dirty="0">
                <a:latin typeface="Georgia"/>
                <a:cs typeface="Georgia"/>
              </a:rPr>
              <a:t> </a:t>
            </a:r>
            <a:r>
              <a:rPr sz="750" dirty="0">
                <a:latin typeface="Georgia"/>
                <a:cs typeface="Georgia"/>
              </a:rPr>
              <a:t>issues:</a:t>
            </a:r>
            <a:r>
              <a:rPr sz="750" spc="-17" dirty="0">
                <a:latin typeface="Georgia"/>
                <a:cs typeface="Georgia"/>
              </a:rPr>
              <a:t> </a:t>
            </a:r>
            <a:r>
              <a:rPr sz="750" spc="-14" dirty="0">
                <a:latin typeface="Georgia"/>
                <a:cs typeface="Georgia"/>
              </a:rPr>
              <a:t>your </a:t>
            </a:r>
            <a:r>
              <a:rPr sz="750" dirty="0">
                <a:latin typeface="Georgia"/>
                <a:cs typeface="Georgia"/>
              </a:rPr>
              <a:t>secondary</a:t>
            </a:r>
            <a:r>
              <a:rPr sz="750" spc="-27" dirty="0">
                <a:latin typeface="Georgia"/>
                <a:cs typeface="Georgia"/>
              </a:rPr>
              <a:t> </a:t>
            </a:r>
            <a:r>
              <a:rPr sz="750" dirty="0">
                <a:latin typeface="Georgia"/>
                <a:cs typeface="Georgia"/>
              </a:rPr>
              <a:t>sources</a:t>
            </a:r>
            <a:r>
              <a:rPr sz="750" spc="-24" dirty="0">
                <a:latin typeface="Georgia"/>
                <a:cs typeface="Georgia"/>
              </a:rPr>
              <a:t> </a:t>
            </a:r>
            <a:r>
              <a:rPr sz="750" dirty="0">
                <a:latin typeface="Georgia"/>
                <a:cs typeface="Georgia"/>
              </a:rPr>
              <a:t>should</a:t>
            </a:r>
            <a:r>
              <a:rPr sz="750" spc="-14" dirty="0">
                <a:latin typeface="Georgia"/>
                <a:cs typeface="Georgia"/>
              </a:rPr>
              <a:t> </a:t>
            </a:r>
            <a:r>
              <a:rPr sz="750" dirty="0">
                <a:latin typeface="Georgia"/>
                <a:cs typeface="Georgia"/>
              </a:rPr>
              <a:t>direct</a:t>
            </a:r>
            <a:r>
              <a:rPr sz="750" spc="-14" dirty="0">
                <a:latin typeface="Georgia"/>
                <a:cs typeface="Georgia"/>
              </a:rPr>
              <a:t> </a:t>
            </a:r>
            <a:r>
              <a:rPr sz="750" dirty="0">
                <a:latin typeface="Georgia"/>
                <a:cs typeface="Georgia"/>
              </a:rPr>
              <a:t>you</a:t>
            </a:r>
            <a:r>
              <a:rPr sz="750" spc="-24" dirty="0">
                <a:latin typeface="Georgia"/>
                <a:cs typeface="Georgia"/>
              </a:rPr>
              <a:t> </a:t>
            </a:r>
            <a:r>
              <a:rPr sz="750" dirty="0">
                <a:latin typeface="Georgia"/>
                <a:cs typeface="Georgia"/>
              </a:rPr>
              <a:t>here,</a:t>
            </a:r>
            <a:r>
              <a:rPr sz="750" spc="-14" dirty="0">
                <a:latin typeface="Georgia"/>
                <a:cs typeface="Georgia"/>
              </a:rPr>
              <a:t> </a:t>
            </a:r>
            <a:r>
              <a:rPr sz="750" dirty="0">
                <a:latin typeface="Georgia"/>
                <a:cs typeface="Georgia"/>
              </a:rPr>
              <a:t>but</a:t>
            </a:r>
            <a:r>
              <a:rPr sz="750" spc="-14" dirty="0">
                <a:latin typeface="Georgia"/>
                <a:cs typeface="Georgia"/>
              </a:rPr>
              <a:t> </a:t>
            </a:r>
            <a:r>
              <a:rPr sz="750" dirty="0">
                <a:latin typeface="Georgia"/>
                <a:cs typeface="Georgia"/>
              </a:rPr>
              <a:t>you</a:t>
            </a:r>
            <a:r>
              <a:rPr sz="750" spc="-17" dirty="0">
                <a:latin typeface="Georgia"/>
                <a:cs typeface="Georgia"/>
              </a:rPr>
              <a:t> </a:t>
            </a:r>
            <a:r>
              <a:rPr sz="750" dirty="0">
                <a:latin typeface="Georgia"/>
                <a:cs typeface="Georgia"/>
              </a:rPr>
              <a:t>could</a:t>
            </a:r>
            <a:r>
              <a:rPr sz="750" spc="-17" dirty="0">
                <a:latin typeface="Georgia"/>
                <a:cs typeface="Georgia"/>
              </a:rPr>
              <a:t> </a:t>
            </a:r>
            <a:r>
              <a:rPr sz="750" dirty="0">
                <a:latin typeface="Georgia"/>
                <a:cs typeface="Georgia"/>
              </a:rPr>
              <a:t>also</a:t>
            </a:r>
            <a:r>
              <a:rPr sz="750" spc="-14" dirty="0">
                <a:latin typeface="Georgia"/>
                <a:cs typeface="Georgia"/>
              </a:rPr>
              <a:t> </a:t>
            </a:r>
            <a:r>
              <a:rPr sz="750" dirty="0">
                <a:latin typeface="Georgia"/>
                <a:cs typeface="Georgia"/>
              </a:rPr>
              <a:t>use</a:t>
            </a:r>
            <a:r>
              <a:rPr sz="750" spc="-14" dirty="0">
                <a:latin typeface="Georgia"/>
                <a:cs typeface="Georgia"/>
              </a:rPr>
              <a:t> </a:t>
            </a:r>
            <a:r>
              <a:rPr sz="750" dirty="0">
                <a:latin typeface="Georgia"/>
                <a:cs typeface="Georgia"/>
              </a:rPr>
              <a:t>the</a:t>
            </a:r>
            <a:r>
              <a:rPr sz="750" spc="-14" dirty="0">
                <a:latin typeface="Georgia"/>
                <a:cs typeface="Georgia"/>
              </a:rPr>
              <a:t> </a:t>
            </a:r>
            <a:r>
              <a:rPr sz="750" dirty="0">
                <a:latin typeface="Georgia"/>
                <a:cs typeface="Georgia"/>
              </a:rPr>
              <a:t>index</a:t>
            </a:r>
            <a:r>
              <a:rPr sz="750" spc="-20" dirty="0">
                <a:latin typeface="Georgia"/>
                <a:cs typeface="Georgia"/>
              </a:rPr>
              <a:t> </a:t>
            </a:r>
            <a:r>
              <a:rPr sz="750" spc="-17" dirty="0">
                <a:latin typeface="Georgia"/>
                <a:cs typeface="Georgia"/>
              </a:rPr>
              <a:t>or </a:t>
            </a:r>
            <a:r>
              <a:rPr sz="750" dirty="0">
                <a:latin typeface="Georgia"/>
                <a:cs typeface="Georgia"/>
              </a:rPr>
              <a:t>table</a:t>
            </a:r>
            <a:r>
              <a:rPr sz="750" spc="-17" dirty="0">
                <a:latin typeface="Georgia"/>
                <a:cs typeface="Georgia"/>
              </a:rPr>
              <a:t> </a:t>
            </a:r>
            <a:r>
              <a:rPr sz="750" dirty="0">
                <a:latin typeface="Georgia"/>
                <a:cs typeface="Georgia"/>
              </a:rPr>
              <a:t>of</a:t>
            </a:r>
            <a:r>
              <a:rPr sz="750" spc="-10" dirty="0">
                <a:latin typeface="Georgia"/>
                <a:cs typeface="Georgia"/>
              </a:rPr>
              <a:t> </a:t>
            </a:r>
            <a:r>
              <a:rPr sz="750" dirty="0">
                <a:latin typeface="Georgia"/>
                <a:cs typeface="Georgia"/>
              </a:rPr>
              <a:t>contents</a:t>
            </a:r>
            <a:r>
              <a:rPr sz="750" spc="-7" dirty="0">
                <a:latin typeface="Georgia"/>
                <a:cs typeface="Georgia"/>
              </a:rPr>
              <a:t> </a:t>
            </a:r>
            <a:r>
              <a:rPr sz="750" dirty="0">
                <a:latin typeface="Georgia"/>
                <a:cs typeface="Georgia"/>
              </a:rPr>
              <a:t>to</a:t>
            </a:r>
            <a:r>
              <a:rPr sz="750" spc="-7" dirty="0">
                <a:latin typeface="Georgia"/>
                <a:cs typeface="Georgia"/>
              </a:rPr>
              <a:t> </a:t>
            </a:r>
            <a:r>
              <a:rPr sz="750" dirty="0">
                <a:latin typeface="Georgia"/>
                <a:cs typeface="Georgia"/>
              </a:rPr>
              <a:t>find</a:t>
            </a:r>
            <a:r>
              <a:rPr sz="750" spc="-17" dirty="0">
                <a:latin typeface="Georgia"/>
                <a:cs typeface="Georgia"/>
              </a:rPr>
              <a:t> </a:t>
            </a:r>
            <a:r>
              <a:rPr sz="750" dirty="0">
                <a:latin typeface="Georgia"/>
                <a:cs typeface="Georgia"/>
              </a:rPr>
              <a:t>relevant</a:t>
            </a:r>
            <a:r>
              <a:rPr sz="750" spc="-7" dirty="0">
                <a:latin typeface="Georgia"/>
                <a:cs typeface="Georgia"/>
              </a:rPr>
              <a:t> </a:t>
            </a:r>
            <a:r>
              <a:rPr sz="750" dirty="0">
                <a:latin typeface="Georgia"/>
                <a:cs typeface="Georgia"/>
              </a:rPr>
              <a:t>statutes</a:t>
            </a:r>
            <a:r>
              <a:rPr sz="750" spc="-10" dirty="0">
                <a:latin typeface="Georgia"/>
                <a:cs typeface="Georgia"/>
              </a:rPr>
              <a:t> </a:t>
            </a:r>
            <a:r>
              <a:rPr sz="750" dirty="0">
                <a:latin typeface="Georgia"/>
                <a:cs typeface="Georgia"/>
              </a:rPr>
              <a:t>if</a:t>
            </a:r>
            <a:r>
              <a:rPr sz="750" spc="-10" dirty="0">
                <a:latin typeface="Georgia"/>
                <a:cs typeface="Georgia"/>
              </a:rPr>
              <a:t> </a:t>
            </a:r>
            <a:r>
              <a:rPr sz="750" spc="-7" dirty="0">
                <a:latin typeface="Georgia"/>
                <a:cs typeface="Georgia"/>
              </a:rPr>
              <a:t>necessary.</a:t>
            </a:r>
            <a:endParaRPr sz="750">
              <a:latin typeface="Georgia"/>
              <a:cs typeface="Georgia"/>
            </a:endParaRPr>
          </a:p>
          <a:p>
            <a:pPr marL="632097" indent="-155859">
              <a:spcBef>
                <a:spcPts val="89"/>
              </a:spcBef>
              <a:buFont typeface="Verdana"/>
              <a:buChar char="□"/>
              <a:tabLst>
                <a:tab pos="632097" algn="l"/>
              </a:tabLst>
            </a:pPr>
            <a:r>
              <a:rPr sz="750" dirty="0">
                <a:latin typeface="Georgia"/>
                <a:cs typeface="Georgia"/>
              </a:rPr>
              <a:t>Ensure</a:t>
            </a:r>
            <a:r>
              <a:rPr sz="750" spc="-10" dirty="0">
                <a:latin typeface="Georgia"/>
                <a:cs typeface="Georgia"/>
              </a:rPr>
              <a:t> </a:t>
            </a:r>
            <a:r>
              <a:rPr sz="750" dirty="0">
                <a:latin typeface="Georgia"/>
                <a:cs typeface="Georgia"/>
              </a:rPr>
              <a:t>your</a:t>
            </a:r>
            <a:r>
              <a:rPr sz="750" spc="-10" dirty="0">
                <a:latin typeface="Georgia"/>
                <a:cs typeface="Georgia"/>
              </a:rPr>
              <a:t> </a:t>
            </a:r>
            <a:r>
              <a:rPr sz="750" dirty="0">
                <a:latin typeface="Georgia"/>
                <a:cs typeface="Georgia"/>
              </a:rPr>
              <a:t>statute</a:t>
            </a:r>
            <a:r>
              <a:rPr sz="750" spc="-10" dirty="0">
                <a:latin typeface="Georgia"/>
                <a:cs typeface="Georgia"/>
              </a:rPr>
              <a:t> </a:t>
            </a:r>
            <a:r>
              <a:rPr sz="750" dirty="0">
                <a:latin typeface="Georgia"/>
                <a:cs typeface="Georgia"/>
              </a:rPr>
              <a:t>is</a:t>
            </a:r>
            <a:r>
              <a:rPr sz="750" spc="-20" dirty="0">
                <a:latin typeface="Georgia"/>
                <a:cs typeface="Georgia"/>
              </a:rPr>
              <a:t> </a:t>
            </a:r>
            <a:r>
              <a:rPr sz="750" dirty="0">
                <a:latin typeface="Georgia"/>
                <a:cs typeface="Georgia"/>
              </a:rPr>
              <a:t>still</a:t>
            </a:r>
            <a:r>
              <a:rPr sz="750" spc="-17" dirty="0">
                <a:latin typeface="Georgia"/>
                <a:cs typeface="Georgia"/>
              </a:rPr>
              <a:t> </a:t>
            </a:r>
            <a:r>
              <a:rPr sz="750" b="1" dirty="0">
                <a:latin typeface="Georgia"/>
                <a:cs typeface="Georgia"/>
              </a:rPr>
              <a:t>good</a:t>
            </a:r>
            <a:r>
              <a:rPr sz="750" b="1" spc="-14" dirty="0">
                <a:latin typeface="Georgia"/>
                <a:cs typeface="Georgia"/>
              </a:rPr>
              <a:t> </a:t>
            </a:r>
            <a:r>
              <a:rPr sz="750" b="1" dirty="0">
                <a:latin typeface="Georgia"/>
                <a:cs typeface="Georgia"/>
              </a:rPr>
              <a:t>law</a:t>
            </a:r>
            <a:r>
              <a:rPr sz="750" b="1" spc="-17" dirty="0">
                <a:latin typeface="Georgia"/>
                <a:cs typeface="Georgia"/>
              </a:rPr>
              <a:t> </a:t>
            </a:r>
            <a:r>
              <a:rPr sz="750" u="sng" dirty="0">
                <a:solidFill>
                  <a:srgbClr val="0562C1"/>
                </a:solidFill>
                <a:uFill>
                  <a:solidFill>
                    <a:srgbClr val="0562C1"/>
                  </a:solidFill>
                </a:uFill>
                <a:latin typeface="Georgia"/>
                <a:cs typeface="Georgia"/>
              </a:rPr>
              <a:t>(see</a:t>
            </a:r>
            <a:r>
              <a:rPr sz="750" u="sng" spc="-7"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Citator</a:t>
            </a:r>
            <a:r>
              <a:rPr sz="750" u="sng" spc="-17"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symbols</a:t>
            </a:r>
            <a:r>
              <a:rPr sz="750" u="sng" spc="-10" dirty="0">
                <a:solidFill>
                  <a:srgbClr val="0562C1"/>
                </a:solidFill>
                <a:uFill>
                  <a:solidFill>
                    <a:srgbClr val="0562C1"/>
                  </a:solidFill>
                </a:uFill>
                <a:latin typeface="Georgia"/>
                <a:cs typeface="Georgia"/>
              </a:rPr>
              <a:t> </a:t>
            </a:r>
            <a:r>
              <a:rPr sz="750" u="sng" spc="-7" dirty="0">
                <a:solidFill>
                  <a:srgbClr val="0562C1"/>
                </a:solidFill>
                <a:uFill>
                  <a:solidFill>
                    <a:srgbClr val="0562C1"/>
                  </a:solidFill>
                </a:uFill>
                <a:latin typeface="Georgia"/>
                <a:cs typeface="Georgia"/>
              </a:rPr>
              <a:t>here)</a:t>
            </a:r>
            <a:endParaRPr sz="750">
              <a:latin typeface="Georgia"/>
              <a:cs typeface="Georgia"/>
            </a:endParaRPr>
          </a:p>
        </p:txBody>
      </p:sp>
      <p:pic>
        <p:nvPicPr>
          <p:cNvPr id="4" name="object 4" descr="A black circle with a white piece of puzzle in the head  AI-generated content may be incorrect. "/>
          <p:cNvPicPr/>
          <p:nvPr/>
        </p:nvPicPr>
        <p:blipFill>
          <a:blip r:embed="rId5" cstate="print"/>
          <a:stretch>
            <a:fillRect/>
          </a:stretch>
        </p:blipFill>
        <p:spPr>
          <a:xfrm>
            <a:off x="5166602" y="841663"/>
            <a:ext cx="436418" cy="436128"/>
          </a:xfrm>
          <a:prstGeom prst="rect">
            <a:avLst/>
          </a:prstGeom>
        </p:spPr>
      </p:pic>
      <p:pic>
        <p:nvPicPr>
          <p:cNvPr id="5" name="object 5" descr="A black circle with a white line on it  AI-generated content may be incorrect. "/>
          <p:cNvPicPr/>
          <p:nvPr/>
        </p:nvPicPr>
        <p:blipFill>
          <a:blip r:embed="rId6" cstate="print"/>
          <a:stretch>
            <a:fillRect/>
          </a:stretch>
        </p:blipFill>
        <p:spPr>
          <a:xfrm>
            <a:off x="5639000" y="841663"/>
            <a:ext cx="436409" cy="436128"/>
          </a:xfrm>
          <a:prstGeom prst="rect">
            <a:avLst/>
          </a:prstGeom>
        </p:spPr>
      </p:pic>
      <p:pic>
        <p:nvPicPr>
          <p:cNvPr id="6" name="object 6" descr="A black and white symbol with a paragraph bookmark  AI-generated content may be incorrect. "/>
          <p:cNvPicPr/>
          <p:nvPr/>
        </p:nvPicPr>
        <p:blipFill>
          <a:blip r:embed="rId7" cstate="print"/>
          <a:stretch>
            <a:fillRect/>
          </a:stretch>
        </p:blipFill>
        <p:spPr>
          <a:xfrm>
            <a:off x="6111390" y="841663"/>
            <a:ext cx="436415" cy="436128"/>
          </a:xfrm>
          <a:prstGeom prst="rect">
            <a:avLst/>
          </a:prstGeom>
        </p:spPr>
      </p:pic>
      <p:pic>
        <p:nvPicPr>
          <p:cNvPr id="7" name="object 7" descr="A black circle with a white graphic of a book and a hammer  AI-generated content may be incorrect. "/>
          <p:cNvPicPr/>
          <p:nvPr/>
        </p:nvPicPr>
        <p:blipFill>
          <a:blip r:embed="rId8" cstate="print"/>
          <a:stretch>
            <a:fillRect/>
          </a:stretch>
        </p:blipFill>
        <p:spPr>
          <a:xfrm>
            <a:off x="6583784" y="841663"/>
            <a:ext cx="436418" cy="436128"/>
          </a:xfrm>
          <a:prstGeom prst="rect">
            <a:avLst/>
          </a:prstGeom>
        </p:spPr>
      </p:pic>
      <p:pic>
        <p:nvPicPr>
          <p:cNvPr id="8" name="object 8"/>
          <p:cNvPicPr/>
          <p:nvPr/>
        </p:nvPicPr>
        <p:blipFill>
          <a:blip r:embed="rId9" cstate="print"/>
          <a:stretch>
            <a:fillRect/>
          </a:stretch>
        </p:blipFill>
        <p:spPr>
          <a:xfrm>
            <a:off x="4069773" y="1583227"/>
            <a:ext cx="361516" cy="361516"/>
          </a:xfrm>
          <a:prstGeom prst="rect">
            <a:avLst/>
          </a:prstGeom>
        </p:spPr>
      </p:pic>
      <p:pic>
        <p:nvPicPr>
          <p:cNvPr id="9" name="object 9"/>
          <p:cNvPicPr/>
          <p:nvPr/>
        </p:nvPicPr>
        <p:blipFill>
          <a:blip r:embed="rId10" cstate="print"/>
          <a:stretch>
            <a:fillRect/>
          </a:stretch>
        </p:blipFill>
        <p:spPr>
          <a:xfrm>
            <a:off x="4069773" y="5508289"/>
            <a:ext cx="361516" cy="361516"/>
          </a:xfrm>
          <a:prstGeom prst="rect">
            <a:avLst/>
          </a:prstGeom>
        </p:spPr>
      </p:pic>
      <p:pic>
        <p:nvPicPr>
          <p:cNvPr id="10" name="object 10"/>
          <p:cNvPicPr/>
          <p:nvPr/>
        </p:nvPicPr>
        <p:blipFill>
          <a:blip r:embed="rId11" cstate="print"/>
          <a:stretch>
            <a:fillRect/>
          </a:stretch>
        </p:blipFill>
        <p:spPr>
          <a:xfrm>
            <a:off x="4069773" y="2883477"/>
            <a:ext cx="361516" cy="3615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061114" y="615834"/>
            <a:ext cx="4047259" cy="5008317"/>
          </a:xfrm>
          <a:prstGeom prst="rect">
            <a:avLst/>
          </a:prstGeom>
        </p:spPr>
        <p:txBody>
          <a:bodyPr vert="horz" wrap="square" lIns="0" tIns="8659" rIns="0" bIns="0" rtlCol="0">
            <a:spAutoFit/>
          </a:bodyPr>
          <a:lstStyle/>
          <a:p>
            <a:pPr marL="632097" indent="-155859" algn="just">
              <a:spcBef>
                <a:spcPts val="68"/>
              </a:spcBef>
              <a:buFont typeface="Verdana"/>
              <a:buChar char="□"/>
              <a:tabLst>
                <a:tab pos="632097" algn="l"/>
              </a:tabLst>
            </a:pPr>
            <a:r>
              <a:rPr sz="750" b="1" dirty="0">
                <a:latin typeface="Georgia"/>
                <a:cs typeface="Georgia"/>
              </a:rPr>
              <a:t>Look</a:t>
            </a:r>
            <a:r>
              <a:rPr sz="750" b="1" spc="-24" dirty="0">
                <a:latin typeface="Georgia"/>
                <a:cs typeface="Georgia"/>
              </a:rPr>
              <a:t> </a:t>
            </a:r>
            <a:r>
              <a:rPr sz="750" b="1" dirty="0">
                <a:latin typeface="Georgia"/>
                <a:cs typeface="Georgia"/>
              </a:rPr>
              <a:t>Around</a:t>
            </a:r>
            <a:r>
              <a:rPr sz="750" b="1" spc="-31" dirty="0">
                <a:latin typeface="Georgia"/>
                <a:cs typeface="Georgia"/>
              </a:rPr>
              <a:t> </a:t>
            </a:r>
            <a:r>
              <a:rPr sz="750" dirty="0">
                <a:latin typeface="Georgia"/>
                <a:cs typeface="Georgia"/>
              </a:rPr>
              <a:t>to</a:t>
            </a:r>
            <a:r>
              <a:rPr sz="750" spc="-17" dirty="0">
                <a:latin typeface="Georgia"/>
                <a:cs typeface="Georgia"/>
              </a:rPr>
              <a:t> </a:t>
            </a:r>
            <a:r>
              <a:rPr sz="750" dirty="0">
                <a:latin typeface="Georgia"/>
                <a:cs typeface="Georgia"/>
              </a:rPr>
              <a:t>give</a:t>
            </a:r>
            <a:r>
              <a:rPr sz="750" spc="-17" dirty="0">
                <a:latin typeface="Georgia"/>
                <a:cs typeface="Georgia"/>
              </a:rPr>
              <a:t> </a:t>
            </a:r>
            <a:r>
              <a:rPr sz="750" dirty="0">
                <a:latin typeface="Georgia"/>
                <a:cs typeface="Georgia"/>
              </a:rPr>
              <a:t>yourself</a:t>
            </a:r>
            <a:r>
              <a:rPr sz="750" spc="-27" dirty="0">
                <a:latin typeface="Georgia"/>
                <a:cs typeface="Georgia"/>
              </a:rPr>
              <a:t> </a:t>
            </a:r>
            <a:r>
              <a:rPr sz="750" spc="-7" dirty="0">
                <a:latin typeface="Georgia"/>
                <a:cs typeface="Georgia"/>
              </a:rPr>
              <a:t>context</a:t>
            </a:r>
            <a:endParaRPr sz="750">
              <a:latin typeface="Georgia"/>
              <a:cs typeface="Georgia"/>
            </a:endParaRPr>
          </a:p>
          <a:p>
            <a:pPr marL="943816" lvl="1" indent="-155859" algn="just">
              <a:spcBef>
                <a:spcPts val="17"/>
              </a:spcBef>
              <a:buFont typeface="Wingdings"/>
              <a:buChar char=""/>
              <a:tabLst>
                <a:tab pos="943816" algn="l"/>
              </a:tabLst>
            </a:pPr>
            <a:r>
              <a:rPr sz="750" spc="-7" dirty="0">
                <a:latin typeface="Georgia"/>
                <a:cs typeface="Georgia"/>
              </a:rPr>
              <a:t>Captions/Headings</a:t>
            </a:r>
            <a:endParaRPr sz="750">
              <a:latin typeface="Georgia"/>
              <a:cs typeface="Georgia"/>
            </a:endParaRPr>
          </a:p>
          <a:p>
            <a:pPr marL="943816" marR="99577" lvl="1" indent="-156292" algn="just">
              <a:lnSpc>
                <a:spcPct val="101800"/>
              </a:lnSpc>
              <a:buFont typeface="Wingdings"/>
              <a:buChar char=""/>
              <a:tabLst>
                <a:tab pos="943816" algn="l"/>
              </a:tabLst>
            </a:pPr>
            <a:r>
              <a:rPr sz="750" b="1" dirty="0">
                <a:latin typeface="Georgia"/>
                <a:cs typeface="Georgia"/>
              </a:rPr>
              <a:t>Table</a:t>
            </a:r>
            <a:r>
              <a:rPr sz="750" b="1" spc="-10" dirty="0">
                <a:latin typeface="Georgia"/>
                <a:cs typeface="Georgia"/>
              </a:rPr>
              <a:t> </a:t>
            </a:r>
            <a:r>
              <a:rPr sz="750" b="1" dirty="0">
                <a:latin typeface="Georgia"/>
                <a:cs typeface="Georgia"/>
              </a:rPr>
              <a:t>of</a:t>
            </a:r>
            <a:r>
              <a:rPr sz="750" b="1" spc="-17" dirty="0">
                <a:latin typeface="Georgia"/>
                <a:cs typeface="Georgia"/>
              </a:rPr>
              <a:t> </a:t>
            </a:r>
            <a:r>
              <a:rPr sz="750" b="1" dirty="0">
                <a:latin typeface="Georgia"/>
                <a:cs typeface="Georgia"/>
              </a:rPr>
              <a:t>Contents</a:t>
            </a:r>
            <a:r>
              <a:rPr sz="750" dirty="0">
                <a:latin typeface="Georgia"/>
                <a:cs typeface="Georgia"/>
              </a:rPr>
              <a:t>:</a:t>
            </a:r>
            <a:r>
              <a:rPr sz="750" spc="-20" dirty="0">
                <a:latin typeface="Georgia"/>
                <a:cs typeface="Georgia"/>
              </a:rPr>
              <a:t> </a:t>
            </a:r>
            <a:r>
              <a:rPr sz="750" spc="-7" dirty="0">
                <a:latin typeface="Georgia"/>
                <a:cs typeface="Georgia"/>
              </a:rPr>
              <a:t>remember,</a:t>
            </a:r>
            <a:r>
              <a:rPr sz="750" spc="-17" dirty="0">
                <a:latin typeface="Georgia"/>
                <a:cs typeface="Georgia"/>
              </a:rPr>
              <a:t> </a:t>
            </a:r>
            <a:r>
              <a:rPr sz="750" dirty="0">
                <a:latin typeface="Georgia"/>
                <a:cs typeface="Georgia"/>
              </a:rPr>
              <a:t>we</a:t>
            </a:r>
            <a:r>
              <a:rPr sz="750" spc="-10" dirty="0">
                <a:latin typeface="Georgia"/>
                <a:cs typeface="Georgia"/>
              </a:rPr>
              <a:t> </a:t>
            </a:r>
            <a:r>
              <a:rPr sz="750" dirty="0">
                <a:latin typeface="Georgia"/>
                <a:cs typeface="Georgia"/>
              </a:rPr>
              <a:t>are</a:t>
            </a:r>
            <a:r>
              <a:rPr sz="750" spc="-10" dirty="0">
                <a:latin typeface="Georgia"/>
                <a:cs typeface="Georgia"/>
              </a:rPr>
              <a:t> </a:t>
            </a:r>
            <a:r>
              <a:rPr sz="750" dirty="0">
                <a:latin typeface="Georgia"/>
                <a:cs typeface="Georgia"/>
              </a:rPr>
              <a:t>keeping</a:t>
            </a:r>
            <a:r>
              <a:rPr sz="750" spc="-17" dirty="0">
                <a:latin typeface="Georgia"/>
                <a:cs typeface="Georgia"/>
              </a:rPr>
              <a:t> </a:t>
            </a:r>
            <a:r>
              <a:rPr sz="750" dirty="0">
                <a:latin typeface="Georgia"/>
                <a:cs typeface="Georgia"/>
              </a:rPr>
              <a:t>a</a:t>
            </a:r>
            <a:r>
              <a:rPr sz="750" spc="-17" dirty="0">
                <a:latin typeface="Georgia"/>
                <a:cs typeface="Georgia"/>
              </a:rPr>
              <a:t> </a:t>
            </a:r>
            <a:r>
              <a:rPr sz="750" dirty="0">
                <a:latin typeface="Georgia"/>
                <a:cs typeface="Georgia"/>
              </a:rPr>
              <a:t>particular</a:t>
            </a:r>
            <a:r>
              <a:rPr sz="750" spc="-10" dirty="0">
                <a:latin typeface="Georgia"/>
                <a:cs typeface="Georgia"/>
              </a:rPr>
              <a:t> </a:t>
            </a:r>
            <a:r>
              <a:rPr sz="750" dirty="0">
                <a:latin typeface="Georgia"/>
                <a:cs typeface="Georgia"/>
              </a:rPr>
              <a:t>eye</a:t>
            </a:r>
            <a:r>
              <a:rPr sz="750" spc="-10" dirty="0">
                <a:latin typeface="Georgia"/>
                <a:cs typeface="Georgia"/>
              </a:rPr>
              <a:t> </a:t>
            </a:r>
            <a:r>
              <a:rPr sz="750" dirty="0">
                <a:latin typeface="Georgia"/>
                <a:cs typeface="Georgia"/>
              </a:rPr>
              <a:t>out</a:t>
            </a:r>
            <a:r>
              <a:rPr sz="750" spc="-7" dirty="0">
                <a:latin typeface="Georgia"/>
                <a:cs typeface="Georgia"/>
              </a:rPr>
              <a:t> </a:t>
            </a:r>
            <a:r>
              <a:rPr sz="750" spc="-17" dirty="0">
                <a:latin typeface="Georgia"/>
                <a:cs typeface="Georgia"/>
              </a:rPr>
              <a:t>for </a:t>
            </a:r>
            <a:r>
              <a:rPr sz="750" dirty="0">
                <a:latin typeface="Georgia"/>
                <a:cs typeface="Georgia"/>
              </a:rPr>
              <a:t>definitions</a:t>
            </a:r>
            <a:r>
              <a:rPr sz="750" spc="-14" dirty="0">
                <a:latin typeface="Georgia"/>
                <a:cs typeface="Georgia"/>
              </a:rPr>
              <a:t> </a:t>
            </a:r>
            <a:r>
              <a:rPr sz="750" dirty="0">
                <a:latin typeface="Georgia"/>
                <a:cs typeface="Georgia"/>
              </a:rPr>
              <a:t>sections,</a:t>
            </a:r>
            <a:r>
              <a:rPr sz="750" spc="-14" dirty="0">
                <a:latin typeface="Georgia"/>
                <a:cs typeface="Georgia"/>
              </a:rPr>
              <a:t> </a:t>
            </a:r>
            <a:r>
              <a:rPr sz="750" dirty="0">
                <a:latin typeface="Georgia"/>
                <a:cs typeface="Georgia"/>
              </a:rPr>
              <a:t>but</a:t>
            </a:r>
            <a:r>
              <a:rPr sz="750" spc="-24" dirty="0">
                <a:latin typeface="Georgia"/>
                <a:cs typeface="Georgia"/>
              </a:rPr>
              <a:t> </a:t>
            </a:r>
            <a:r>
              <a:rPr sz="750" dirty="0">
                <a:latin typeface="Georgia"/>
                <a:cs typeface="Georgia"/>
              </a:rPr>
              <a:t>also</a:t>
            </a:r>
            <a:r>
              <a:rPr sz="750" spc="-10" dirty="0">
                <a:latin typeface="Georgia"/>
                <a:cs typeface="Georgia"/>
              </a:rPr>
              <a:t> </a:t>
            </a:r>
            <a:r>
              <a:rPr sz="750" dirty="0">
                <a:latin typeface="Georgia"/>
                <a:cs typeface="Georgia"/>
              </a:rPr>
              <a:t>any</a:t>
            </a:r>
            <a:r>
              <a:rPr sz="750" spc="-17" dirty="0">
                <a:latin typeface="Georgia"/>
                <a:cs typeface="Georgia"/>
              </a:rPr>
              <a:t> </a:t>
            </a:r>
            <a:r>
              <a:rPr sz="750" dirty="0">
                <a:latin typeface="Georgia"/>
                <a:cs typeface="Georgia"/>
              </a:rPr>
              <a:t>other</a:t>
            </a:r>
            <a:r>
              <a:rPr sz="750" spc="-14" dirty="0">
                <a:latin typeface="Georgia"/>
                <a:cs typeface="Georgia"/>
              </a:rPr>
              <a:t> </a:t>
            </a:r>
            <a:r>
              <a:rPr sz="750" dirty="0">
                <a:latin typeface="Georgia"/>
                <a:cs typeface="Georgia"/>
              </a:rPr>
              <a:t>relevant</a:t>
            </a:r>
            <a:r>
              <a:rPr sz="750" spc="-20" dirty="0">
                <a:latin typeface="Georgia"/>
                <a:cs typeface="Georgia"/>
              </a:rPr>
              <a:t> </a:t>
            </a:r>
            <a:r>
              <a:rPr sz="750" spc="-7" dirty="0">
                <a:latin typeface="Georgia"/>
                <a:cs typeface="Georgia"/>
              </a:rPr>
              <a:t>sections</a:t>
            </a:r>
            <a:endParaRPr sz="750">
              <a:latin typeface="Georgia"/>
              <a:cs typeface="Georgia"/>
            </a:endParaRPr>
          </a:p>
          <a:p>
            <a:pPr marL="632097" indent="-155859" algn="just">
              <a:spcBef>
                <a:spcPts val="99"/>
              </a:spcBef>
              <a:buFont typeface="Verdana"/>
              <a:buChar char="□"/>
              <a:tabLst>
                <a:tab pos="632097" algn="l"/>
              </a:tabLst>
            </a:pPr>
            <a:r>
              <a:rPr sz="750" b="1" dirty="0">
                <a:latin typeface="Georgia"/>
                <a:cs typeface="Georgia"/>
              </a:rPr>
              <a:t>Look</a:t>
            </a:r>
            <a:r>
              <a:rPr sz="750" b="1" spc="-17" dirty="0">
                <a:latin typeface="Georgia"/>
                <a:cs typeface="Georgia"/>
              </a:rPr>
              <a:t> </a:t>
            </a:r>
            <a:r>
              <a:rPr sz="750" b="1" spc="-7" dirty="0">
                <a:latin typeface="Georgia"/>
                <a:cs typeface="Georgia"/>
              </a:rPr>
              <a:t>Backwards</a:t>
            </a:r>
            <a:endParaRPr sz="750">
              <a:latin typeface="Georgia"/>
              <a:cs typeface="Georgia"/>
            </a:endParaRPr>
          </a:p>
          <a:p>
            <a:pPr marL="943816" lvl="1" indent="-155859" algn="just">
              <a:spcBef>
                <a:spcPts val="7"/>
              </a:spcBef>
              <a:buFont typeface="Wingdings"/>
              <a:buChar char=""/>
              <a:tabLst>
                <a:tab pos="943816" algn="l"/>
              </a:tabLst>
            </a:pPr>
            <a:r>
              <a:rPr sz="750" b="1" dirty="0">
                <a:latin typeface="Georgia"/>
                <a:cs typeface="Georgia"/>
              </a:rPr>
              <a:t>Statutory</a:t>
            </a:r>
            <a:r>
              <a:rPr sz="750" b="1" spc="-20" dirty="0">
                <a:latin typeface="Georgia"/>
                <a:cs typeface="Georgia"/>
              </a:rPr>
              <a:t> </a:t>
            </a:r>
            <a:r>
              <a:rPr sz="750" b="1" dirty="0">
                <a:latin typeface="Georgia"/>
                <a:cs typeface="Georgia"/>
              </a:rPr>
              <a:t>History</a:t>
            </a:r>
            <a:r>
              <a:rPr sz="750" b="1" spc="-20" dirty="0">
                <a:latin typeface="Georgia"/>
                <a:cs typeface="Georgia"/>
              </a:rPr>
              <a:t> </a:t>
            </a:r>
            <a:r>
              <a:rPr sz="750" b="1" dirty="0">
                <a:latin typeface="Georgia"/>
                <a:cs typeface="Georgia"/>
              </a:rPr>
              <a:t>Line</a:t>
            </a:r>
            <a:r>
              <a:rPr sz="750" dirty="0">
                <a:latin typeface="Georgia"/>
                <a:cs typeface="Georgia"/>
              </a:rPr>
              <a:t>:</a:t>
            </a:r>
            <a:r>
              <a:rPr sz="750" spc="-17" dirty="0">
                <a:latin typeface="Georgia"/>
                <a:cs typeface="Georgia"/>
              </a:rPr>
              <a:t> </a:t>
            </a:r>
            <a:r>
              <a:rPr sz="750" dirty="0">
                <a:latin typeface="Georgia"/>
                <a:cs typeface="Georgia"/>
              </a:rPr>
              <a:t>when</a:t>
            </a:r>
            <a:r>
              <a:rPr sz="750" spc="-27" dirty="0">
                <a:latin typeface="Georgia"/>
                <a:cs typeface="Georgia"/>
              </a:rPr>
              <a:t> </a:t>
            </a:r>
            <a:r>
              <a:rPr sz="750" dirty="0">
                <a:latin typeface="Georgia"/>
                <a:cs typeface="Georgia"/>
              </a:rPr>
              <a:t>was</a:t>
            </a:r>
            <a:r>
              <a:rPr sz="750" spc="-17" dirty="0">
                <a:latin typeface="Georgia"/>
                <a:cs typeface="Georgia"/>
              </a:rPr>
              <a:t> </a:t>
            </a:r>
            <a:r>
              <a:rPr sz="750" dirty="0">
                <a:latin typeface="Georgia"/>
                <a:cs typeface="Georgia"/>
              </a:rPr>
              <a:t>statute</a:t>
            </a:r>
            <a:r>
              <a:rPr sz="750" spc="-24" dirty="0">
                <a:latin typeface="Georgia"/>
                <a:cs typeface="Georgia"/>
              </a:rPr>
              <a:t> </a:t>
            </a:r>
            <a:r>
              <a:rPr sz="750" dirty="0">
                <a:latin typeface="Georgia"/>
                <a:cs typeface="Georgia"/>
              </a:rPr>
              <a:t>enacted/last</a:t>
            </a:r>
            <a:r>
              <a:rPr sz="750" spc="-20" dirty="0">
                <a:latin typeface="Georgia"/>
                <a:cs typeface="Georgia"/>
              </a:rPr>
              <a:t> </a:t>
            </a:r>
            <a:r>
              <a:rPr sz="750" spc="-7" dirty="0">
                <a:latin typeface="Georgia"/>
                <a:cs typeface="Georgia"/>
              </a:rPr>
              <a:t>amended</a:t>
            </a:r>
            <a:endParaRPr sz="750">
              <a:latin typeface="Georgia"/>
              <a:cs typeface="Georgia"/>
            </a:endParaRPr>
          </a:p>
          <a:p>
            <a:pPr marL="943816" lvl="1" indent="-155859" algn="just">
              <a:spcBef>
                <a:spcPts val="27"/>
              </a:spcBef>
              <a:buFont typeface="Wingdings"/>
              <a:buChar char=""/>
              <a:tabLst>
                <a:tab pos="943816" algn="l"/>
              </a:tabLst>
            </a:pPr>
            <a:r>
              <a:rPr sz="750" dirty="0">
                <a:latin typeface="Georgia"/>
                <a:cs typeface="Georgia"/>
              </a:rPr>
              <a:t>Legislative</a:t>
            </a:r>
            <a:r>
              <a:rPr sz="750" spc="-20" dirty="0">
                <a:latin typeface="Georgia"/>
                <a:cs typeface="Georgia"/>
              </a:rPr>
              <a:t> </a:t>
            </a:r>
            <a:r>
              <a:rPr sz="750" dirty="0">
                <a:latin typeface="Georgia"/>
                <a:cs typeface="Georgia"/>
              </a:rPr>
              <a:t>History:</a:t>
            </a:r>
            <a:r>
              <a:rPr sz="750" spc="-10" dirty="0">
                <a:latin typeface="Georgia"/>
                <a:cs typeface="Georgia"/>
              </a:rPr>
              <a:t> </a:t>
            </a:r>
            <a:r>
              <a:rPr sz="750" dirty="0">
                <a:latin typeface="Georgia"/>
                <a:cs typeface="Georgia"/>
              </a:rPr>
              <a:t>see</a:t>
            </a:r>
            <a:r>
              <a:rPr sz="750" spc="-10" dirty="0">
                <a:latin typeface="Georgia"/>
                <a:cs typeface="Georgia"/>
              </a:rPr>
              <a:t> </a:t>
            </a:r>
            <a:r>
              <a:rPr sz="750" dirty="0">
                <a:latin typeface="Georgia"/>
                <a:cs typeface="Georgia"/>
              </a:rPr>
              <a:t>a</a:t>
            </a:r>
            <a:r>
              <a:rPr sz="750" spc="-24" dirty="0">
                <a:latin typeface="Georgia"/>
                <a:cs typeface="Georgia"/>
              </a:rPr>
              <a:t> </a:t>
            </a:r>
            <a:r>
              <a:rPr sz="750" dirty="0">
                <a:latin typeface="Georgia"/>
                <a:cs typeface="Georgia"/>
              </a:rPr>
              <a:t>librarian</a:t>
            </a:r>
            <a:r>
              <a:rPr sz="750" spc="-20" dirty="0">
                <a:latin typeface="Georgia"/>
                <a:cs typeface="Georgia"/>
              </a:rPr>
              <a:t> </a:t>
            </a:r>
            <a:r>
              <a:rPr sz="750" dirty="0">
                <a:latin typeface="Georgia"/>
                <a:cs typeface="Georgia"/>
              </a:rPr>
              <a:t>if</a:t>
            </a:r>
            <a:r>
              <a:rPr sz="750" spc="-14" dirty="0">
                <a:latin typeface="Georgia"/>
                <a:cs typeface="Georgia"/>
              </a:rPr>
              <a:t> </a:t>
            </a:r>
            <a:r>
              <a:rPr sz="750" dirty="0">
                <a:latin typeface="Georgia"/>
                <a:cs typeface="Georgia"/>
              </a:rPr>
              <a:t>you</a:t>
            </a:r>
            <a:r>
              <a:rPr sz="750" spc="-14" dirty="0">
                <a:latin typeface="Georgia"/>
                <a:cs typeface="Georgia"/>
              </a:rPr>
              <a:t> </a:t>
            </a:r>
            <a:r>
              <a:rPr sz="750" dirty="0">
                <a:latin typeface="Georgia"/>
                <a:cs typeface="Georgia"/>
              </a:rPr>
              <a:t>need</a:t>
            </a:r>
            <a:r>
              <a:rPr sz="750" spc="-10" dirty="0">
                <a:latin typeface="Georgia"/>
                <a:cs typeface="Georgia"/>
              </a:rPr>
              <a:t> </a:t>
            </a:r>
            <a:r>
              <a:rPr sz="750" dirty="0">
                <a:latin typeface="Georgia"/>
                <a:cs typeface="Georgia"/>
              </a:rPr>
              <a:t>to</a:t>
            </a:r>
            <a:r>
              <a:rPr sz="750" spc="-14" dirty="0">
                <a:latin typeface="Georgia"/>
                <a:cs typeface="Georgia"/>
              </a:rPr>
              <a:t> </a:t>
            </a:r>
            <a:r>
              <a:rPr sz="750" dirty="0">
                <a:latin typeface="Georgia"/>
                <a:cs typeface="Georgia"/>
              </a:rPr>
              <a:t>do</a:t>
            </a:r>
            <a:r>
              <a:rPr sz="750" spc="-10" dirty="0">
                <a:latin typeface="Georgia"/>
                <a:cs typeface="Georgia"/>
              </a:rPr>
              <a:t> </a:t>
            </a:r>
            <a:r>
              <a:rPr sz="750" spc="-7" dirty="0">
                <a:latin typeface="Georgia"/>
                <a:cs typeface="Georgia"/>
              </a:rPr>
              <a:t>this!</a:t>
            </a:r>
            <a:endParaRPr sz="750">
              <a:latin typeface="Georgia"/>
              <a:cs typeface="Georgia"/>
            </a:endParaRPr>
          </a:p>
          <a:p>
            <a:pPr marL="632097" indent="-155859" algn="just">
              <a:spcBef>
                <a:spcPts val="89"/>
              </a:spcBef>
              <a:buFont typeface="Verdana"/>
              <a:buChar char="□"/>
              <a:tabLst>
                <a:tab pos="632097" algn="l"/>
              </a:tabLst>
            </a:pPr>
            <a:r>
              <a:rPr sz="750" b="1" dirty="0">
                <a:latin typeface="Georgia"/>
                <a:cs typeface="Georgia"/>
              </a:rPr>
              <a:t>Look</a:t>
            </a:r>
            <a:r>
              <a:rPr sz="750" b="1" spc="-17" dirty="0">
                <a:latin typeface="Georgia"/>
                <a:cs typeface="Georgia"/>
              </a:rPr>
              <a:t> </a:t>
            </a:r>
            <a:r>
              <a:rPr sz="750" b="1" spc="-7" dirty="0">
                <a:latin typeface="Georgia"/>
                <a:cs typeface="Georgia"/>
              </a:rPr>
              <a:t>Forwards</a:t>
            </a:r>
            <a:endParaRPr sz="750">
              <a:latin typeface="Georgia"/>
              <a:cs typeface="Georgia"/>
            </a:endParaRPr>
          </a:p>
          <a:p>
            <a:pPr marL="943816" marR="5628" lvl="1" indent="-156292" algn="just">
              <a:lnSpc>
                <a:spcPct val="101800"/>
              </a:lnSpc>
              <a:buFont typeface="Wingdings"/>
              <a:buChar char=""/>
              <a:tabLst>
                <a:tab pos="943816" algn="l"/>
              </a:tabLst>
            </a:pPr>
            <a:r>
              <a:rPr sz="750" b="1" dirty="0">
                <a:latin typeface="Georgia"/>
                <a:cs typeface="Georgia"/>
              </a:rPr>
              <a:t>Notes</a:t>
            </a:r>
            <a:r>
              <a:rPr sz="750" b="1" spc="-14" dirty="0">
                <a:latin typeface="Georgia"/>
                <a:cs typeface="Georgia"/>
              </a:rPr>
              <a:t> </a:t>
            </a:r>
            <a:r>
              <a:rPr sz="750" b="1" dirty="0">
                <a:latin typeface="Georgia"/>
                <a:cs typeface="Georgia"/>
              </a:rPr>
              <a:t>of/to</a:t>
            </a:r>
            <a:r>
              <a:rPr sz="750" b="1" spc="-10" dirty="0">
                <a:latin typeface="Georgia"/>
                <a:cs typeface="Georgia"/>
              </a:rPr>
              <a:t> </a:t>
            </a:r>
            <a:r>
              <a:rPr sz="750" b="1" dirty="0">
                <a:latin typeface="Georgia"/>
                <a:cs typeface="Georgia"/>
              </a:rPr>
              <a:t>Decisions</a:t>
            </a:r>
            <a:r>
              <a:rPr sz="750" dirty="0">
                <a:latin typeface="Georgia"/>
                <a:cs typeface="Georgia"/>
              </a:rPr>
              <a:t>:</a:t>
            </a:r>
            <a:r>
              <a:rPr sz="750" spc="-7" dirty="0">
                <a:latin typeface="Georgia"/>
                <a:cs typeface="Georgia"/>
              </a:rPr>
              <a:t> </a:t>
            </a:r>
            <a:r>
              <a:rPr sz="750" dirty="0">
                <a:latin typeface="Georgia"/>
                <a:cs typeface="Georgia"/>
              </a:rPr>
              <a:t>the</a:t>
            </a:r>
            <a:r>
              <a:rPr sz="750" spc="-3" dirty="0">
                <a:latin typeface="Georgia"/>
                <a:cs typeface="Georgia"/>
              </a:rPr>
              <a:t> </a:t>
            </a:r>
            <a:r>
              <a:rPr sz="750" dirty="0">
                <a:latin typeface="Georgia"/>
                <a:cs typeface="Georgia"/>
              </a:rPr>
              <a:t>cases</a:t>
            </a:r>
            <a:r>
              <a:rPr sz="750" spc="-14" dirty="0">
                <a:latin typeface="Georgia"/>
                <a:cs typeface="Georgia"/>
              </a:rPr>
              <a:t> </a:t>
            </a:r>
            <a:r>
              <a:rPr sz="750" dirty="0">
                <a:latin typeface="Georgia"/>
                <a:cs typeface="Georgia"/>
              </a:rPr>
              <a:t>the</a:t>
            </a:r>
            <a:r>
              <a:rPr sz="750" spc="-7" dirty="0">
                <a:latin typeface="Georgia"/>
                <a:cs typeface="Georgia"/>
              </a:rPr>
              <a:t> attorney-</a:t>
            </a:r>
            <a:r>
              <a:rPr sz="750" dirty="0">
                <a:latin typeface="Georgia"/>
                <a:cs typeface="Georgia"/>
              </a:rPr>
              <a:t>editors</a:t>
            </a:r>
            <a:r>
              <a:rPr sz="750" spc="-3" dirty="0">
                <a:latin typeface="Georgia"/>
                <a:cs typeface="Georgia"/>
              </a:rPr>
              <a:t> </a:t>
            </a:r>
            <a:r>
              <a:rPr sz="750" dirty="0">
                <a:latin typeface="Georgia"/>
                <a:cs typeface="Georgia"/>
              </a:rPr>
              <a:t>at</a:t>
            </a:r>
            <a:r>
              <a:rPr sz="750" spc="-17" dirty="0">
                <a:latin typeface="Georgia"/>
                <a:cs typeface="Georgia"/>
              </a:rPr>
              <a:t> </a:t>
            </a:r>
            <a:r>
              <a:rPr sz="750" spc="-7" dirty="0">
                <a:latin typeface="Georgia"/>
                <a:cs typeface="Georgia"/>
              </a:rPr>
              <a:t>Westlaw/Lexis </a:t>
            </a:r>
            <a:r>
              <a:rPr sz="750" dirty="0">
                <a:latin typeface="Georgia"/>
                <a:cs typeface="Georgia"/>
              </a:rPr>
              <a:t>have</a:t>
            </a:r>
            <a:r>
              <a:rPr sz="750" spc="-17" dirty="0">
                <a:latin typeface="Georgia"/>
                <a:cs typeface="Georgia"/>
              </a:rPr>
              <a:t> </a:t>
            </a:r>
            <a:r>
              <a:rPr sz="750" dirty="0">
                <a:latin typeface="Georgia"/>
                <a:cs typeface="Georgia"/>
              </a:rPr>
              <a:t>selected</a:t>
            </a:r>
            <a:r>
              <a:rPr sz="750" spc="-14" dirty="0">
                <a:latin typeface="Georgia"/>
                <a:cs typeface="Georgia"/>
              </a:rPr>
              <a:t> </a:t>
            </a:r>
            <a:r>
              <a:rPr sz="750" dirty="0">
                <a:latin typeface="Georgia"/>
                <a:cs typeface="Georgia"/>
              </a:rPr>
              <a:t>as</a:t>
            </a:r>
            <a:r>
              <a:rPr sz="750" spc="-14" dirty="0">
                <a:latin typeface="Georgia"/>
                <a:cs typeface="Georgia"/>
              </a:rPr>
              <a:t> </a:t>
            </a:r>
            <a:r>
              <a:rPr sz="750" dirty="0">
                <a:latin typeface="Georgia"/>
                <a:cs typeface="Georgia"/>
              </a:rPr>
              <a:t>being</a:t>
            </a:r>
            <a:r>
              <a:rPr sz="750" spc="-20" dirty="0">
                <a:latin typeface="Georgia"/>
                <a:cs typeface="Georgia"/>
              </a:rPr>
              <a:t> </a:t>
            </a:r>
            <a:r>
              <a:rPr sz="750" dirty="0">
                <a:latin typeface="Georgia"/>
                <a:cs typeface="Georgia"/>
              </a:rPr>
              <a:t>the</a:t>
            </a:r>
            <a:r>
              <a:rPr sz="750" spc="-17" dirty="0">
                <a:latin typeface="Georgia"/>
                <a:cs typeface="Georgia"/>
              </a:rPr>
              <a:t> </a:t>
            </a:r>
            <a:r>
              <a:rPr sz="750" dirty="0">
                <a:latin typeface="Georgia"/>
                <a:cs typeface="Georgia"/>
              </a:rPr>
              <a:t>most</a:t>
            </a:r>
            <a:r>
              <a:rPr sz="750" spc="-20" dirty="0">
                <a:latin typeface="Georgia"/>
                <a:cs typeface="Georgia"/>
              </a:rPr>
              <a:t> </a:t>
            </a:r>
            <a:r>
              <a:rPr sz="750" dirty="0">
                <a:latin typeface="Georgia"/>
                <a:cs typeface="Georgia"/>
              </a:rPr>
              <a:t>helpful</a:t>
            </a:r>
            <a:r>
              <a:rPr sz="750" spc="-20" dirty="0">
                <a:latin typeface="Georgia"/>
                <a:cs typeface="Georgia"/>
              </a:rPr>
              <a:t> </a:t>
            </a:r>
            <a:r>
              <a:rPr sz="750" dirty="0">
                <a:latin typeface="Georgia"/>
                <a:cs typeface="Georgia"/>
              </a:rPr>
              <a:t>in</a:t>
            </a:r>
            <a:r>
              <a:rPr sz="750" spc="-20" dirty="0">
                <a:latin typeface="Georgia"/>
                <a:cs typeface="Georgia"/>
              </a:rPr>
              <a:t> </a:t>
            </a:r>
            <a:r>
              <a:rPr sz="750" dirty="0">
                <a:latin typeface="Georgia"/>
                <a:cs typeface="Georgia"/>
              </a:rPr>
              <a:t>interpreting</a:t>
            </a:r>
            <a:r>
              <a:rPr sz="750" spc="-24" dirty="0">
                <a:latin typeface="Georgia"/>
                <a:cs typeface="Georgia"/>
              </a:rPr>
              <a:t> </a:t>
            </a:r>
            <a:r>
              <a:rPr sz="750" dirty="0">
                <a:latin typeface="Georgia"/>
                <a:cs typeface="Georgia"/>
              </a:rPr>
              <a:t>the</a:t>
            </a:r>
            <a:r>
              <a:rPr sz="750" spc="-14" dirty="0">
                <a:latin typeface="Georgia"/>
                <a:cs typeface="Georgia"/>
              </a:rPr>
              <a:t> </a:t>
            </a:r>
            <a:r>
              <a:rPr sz="750" dirty="0">
                <a:latin typeface="Georgia"/>
                <a:cs typeface="Georgia"/>
              </a:rPr>
              <a:t>language</a:t>
            </a:r>
            <a:r>
              <a:rPr sz="750" spc="-14" dirty="0">
                <a:latin typeface="Georgia"/>
                <a:cs typeface="Georgia"/>
              </a:rPr>
              <a:t> </a:t>
            </a:r>
            <a:r>
              <a:rPr sz="750" dirty="0">
                <a:latin typeface="Georgia"/>
                <a:cs typeface="Georgia"/>
              </a:rPr>
              <a:t>of</a:t>
            </a:r>
            <a:r>
              <a:rPr sz="750" spc="-17" dirty="0">
                <a:latin typeface="Georgia"/>
                <a:cs typeface="Georgia"/>
              </a:rPr>
              <a:t> the </a:t>
            </a:r>
            <a:r>
              <a:rPr sz="750" spc="-7" dirty="0">
                <a:latin typeface="Georgia"/>
                <a:cs typeface="Georgia"/>
              </a:rPr>
              <a:t>statute.</a:t>
            </a:r>
            <a:endParaRPr sz="750">
              <a:latin typeface="Georgia"/>
              <a:cs typeface="Georgia"/>
            </a:endParaRPr>
          </a:p>
          <a:p>
            <a:pPr marL="1255535" marR="47191" lvl="2" indent="-156292" algn="just">
              <a:lnSpc>
                <a:spcPct val="100899"/>
              </a:lnSpc>
              <a:spcBef>
                <a:spcPts val="89"/>
              </a:spcBef>
              <a:buFont typeface="Verdana"/>
              <a:buChar char="•"/>
              <a:tabLst>
                <a:tab pos="1255535" algn="l"/>
              </a:tabLst>
            </a:pPr>
            <a:r>
              <a:rPr sz="750" dirty="0">
                <a:latin typeface="Georgia"/>
                <a:cs typeface="Georgia"/>
              </a:rPr>
              <a:t>Check</a:t>
            </a:r>
            <a:r>
              <a:rPr sz="750" spc="-14" dirty="0">
                <a:latin typeface="Georgia"/>
                <a:cs typeface="Georgia"/>
              </a:rPr>
              <a:t> </a:t>
            </a:r>
            <a:r>
              <a:rPr sz="750" dirty="0">
                <a:latin typeface="Georgia"/>
                <a:cs typeface="Georgia"/>
              </a:rPr>
              <a:t>mini</a:t>
            </a:r>
            <a:r>
              <a:rPr sz="750" spc="-14" dirty="0">
                <a:latin typeface="Georgia"/>
                <a:cs typeface="Georgia"/>
              </a:rPr>
              <a:t> </a:t>
            </a:r>
            <a:r>
              <a:rPr sz="750" dirty="0">
                <a:latin typeface="Georgia"/>
                <a:cs typeface="Georgia"/>
              </a:rPr>
              <a:t>Table</a:t>
            </a:r>
            <a:r>
              <a:rPr sz="750" spc="-17" dirty="0">
                <a:latin typeface="Georgia"/>
                <a:cs typeface="Georgia"/>
              </a:rPr>
              <a:t> </a:t>
            </a:r>
            <a:r>
              <a:rPr sz="750" dirty="0">
                <a:latin typeface="Georgia"/>
                <a:cs typeface="Georgia"/>
              </a:rPr>
              <a:t>of</a:t>
            </a:r>
            <a:r>
              <a:rPr sz="750" spc="-14" dirty="0">
                <a:latin typeface="Georgia"/>
                <a:cs typeface="Georgia"/>
              </a:rPr>
              <a:t> </a:t>
            </a:r>
            <a:r>
              <a:rPr sz="750" dirty="0">
                <a:latin typeface="Georgia"/>
                <a:cs typeface="Georgia"/>
              </a:rPr>
              <a:t>Contents</a:t>
            </a:r>
            <a:r>
              <a:rPr sz="750" spc="-10" dirty="0">
                <a:latin typeface="Georgia"/>
                <a:cs typeface="Georgia"/>
              </a:rPr>
              <a:t> </a:t>
            </a:r>
            <a:r>
              <a:rPr sz="750" dirty="0">
                <a:latin typeface="Georgia"/>
                <a:cs typeface="Georgia"/>
              </a:rPr>
              <a:t>in</a:t>
            </a:r>
            <a:r>
              <a:rPr sz="750" spc="-24" dirty="0">
                <a:latin typeface="Georgia"/>
                <a:cs typeface="Georgia"/>
              </a:rPr>
              <a:t> </a:t>
            </a:r>
            <a:r>
              <a:rPr sz="750" dirty="0">
                <a:latin typeface="Georgia"/>
                <a:cs typeface="Georgia"/>
              </a:rPr>
              <a:t>NoD</a:t>
            </a:r>
            <a:r>
              <a:rPr sz="750" spc="-14" dirty="0">
                <a:latin typeface="Georgia"/>
                <a:cs typeface="Georgia"/>
              </a:rPr>
              <a:t> </a:t>
            </a:r>
            <a:r>
              <a:rPr sz="750" dirty="0">
                <a:latin typeface="Georgia"/>
                <a:cs typeface="Georgia"/>
              </a:rPr>
              <a:t>to</a:t>
            </a:r>
            <a:r>
              <a:rPr sz="750" spc="-17" dirty="0">
                <a:latin typeface="Georgia"/>
                <a:cs typeface="Georgia"/>
              </a:rPr>
              <a:t> </a:t>
            </a:r>
            <a:r>
              <a:rPr sz="750" dirty="0">
                <a:latin typeface="Georgia"/>
                <a:cs typeface="Georgia"/>
              </a:rPr>
              <a:t>see</a:t>
            </a:r>
            <a:r>
              <a:rPr sz="750" spc="-10" dirty="0">
                <a:latin typeface="Georgia"/>
                <a:cs typeface="Georgia"/>
              </a:rPr>
              <a:t> </a:t>
            </a:r>
            <a:r>
              <a:rPr sz="750" dirty="0">
                <a:latin typeface="Georgia"/>
                <a:cs typeface="Georgia"/>
              </a:rPr>
              <a:t>if</a:t>
            </a:r>
            <a:r>
              <a:rPr sz="750" spc="-14" dirty="0">
                <a:latin typeface="Georgia"/>
                <a:cs typeface="Georgia"/>
              </a:rPr>
              <a:t> </a:t>
            </a:r>
            <a:r>
              <a:rPr sz="750" dirty="0">
                <a:latin typeface="Georgia"/>
                <a:cs typeface="Georgia"/>
              </a:rPr>
              <a:t>your</a:t>
            </a:r>
            <a:r>
              <a:rPr sz="750" spc="-14" dirty="0">
                <a:latin typeface="Georgia"/>
                <a:cs typeface="Georgia"/>
              </a:rPr>
              <a:t> </a:t>
            </a:r>
            <a:r>
              <a:rPr sz="750" dirty="0">
                <a:latin typeface="Georgia"/>
                <a:cs typeface="Georgia"/>
              </a:rPr>
              <a:t>specific</a:t>
            </a:r>
            <a:r>
              <a:rPr sz="750" spc="-10" dirty="0">
                <a:latin typeface="Georgia"/>
                <a:cs typeface="Georgia"/>
              </a:rPr>
              <a:t> </a:t>
            </a:r>
            <a:r>
              <a:rPr sz="750" spc="-7" dirty="0">
                <a:latin typeface="Georgia"/>
                <a:cs typeface="Georgia"/>
              </a:rPr>
              <a:t>issues </a:t>
            </a:r>
            <a:r>
              <a:rPr sz="750" dirty="0">
                <a:latin typeface="Georgia"/>
                <a:cs typeface="Georgia"/>
              </a:rPr>
              <a:t>are</a:t>
            </a:r>
            <a:r>
              <a:rPr sz="750" spc="-3" dirty="0">
                <a:latin typeface="Georgia"/>
                <a:cs typeface="Georgia"/>
              </a:rPr>
              <a:t> </a:t>
            </a:r>
            <a:r>
              <a:rPr sz="750" spc="-7" dirty="0">
                <a:latin typeface="Georgia"/>
                <a:cs typeface="Georgia"/>
              </a:rPr>
              <a:t>there</a:t>
            </a:r>
            <a:endParaRPr sz="750">
              <a:latin typeface="Georgia"/>
              <a:cs typeface="Georgia"/>
            </a:endParaRPr>
          </a:p>
          <a:p>
            <a:pPr marL="944249" marR="143737" lvl="1" indent="-156292">
              <a:lnSpc>
                <a:spcPct val="101800"/>
              </a:lnSpc>
              <a:spcBef>
                <a:spcPts val="10"/>
              </a:spcBef>
              <a:buFont typeface="Wingdings"/>
              <a:buChar char=""/>
              <a:tabLst>
                <a:tab pos="944249" algn="l"/>
              </a:tabLst>
            </a:pPr>
            <a:r>
              <a:rPr sz="750" dirty="0">
                <a:latin typeface="Georgia"/>
                <a:cs typeface="Georgia"/>
              </a:rPr>
              <a:t>Citing</a:t>
            </a:r>
            <a:r>
              <a:rPr sz="750" spc="-7" dirty="0">
                <a:latin typeface="Georgia"/>
                <a:cs typeface="Georgia"/>
              </a:rPr>
              <a:t> References/Citing</a:t>
            </a:r>
            <a:r>
              <a:rPr sz="750" spc="-14" dirty="0">
                <a:latin typeface="Georgia"/>
                <a:cs typeface="Georgia"/>
              </a:rPr>
              <a:t> </a:t>
            </a:r>
            <a:r>
              <a:rPr sz="750" dirty="0">
                <a:latin typeface="Georgia"/>
                <a:cs typeface="Georgia"/>
              </a:rPr>
              <a:t>Decisions:</a:t>
            </a:r>
            <a:r>
              <a:rPr sz="750" spc="-3" dirty="0">
                <a:latin typeface="Georgia"/>
                <a:cs typeface="Georgia"/>
              </a:rPr>
              <a:t> </a:t>
            </a:r>
            <a:r>
              <a:rPr sz="750" dirty="0">
                <a:latin typeface="Georgia"/>
                <a:cs typeface="Georgia"/>
              </a:rPr>
              <a:t>all</a:t>
            </a:r>
            <a:r>
              <a:rPr sz="750" spc="-10" dirty="0">
                <a:latin typeface="Georgia"/>
                <a:cs typeface="Georgia"/>
              </a:rPr>
              <a:t> </a:t>
            </a:r>
            <a:r>
              <a:rPr sz="750" dirty="0">
                <a:latin typeface="Georgia"/>
                <a:cs typeface="Georgia"/>
              </a:rPr>
              <a:t>cases</a:t>
            </a:r>
            <a:r>
              <a:rPr sz="750" spc="-3" dirty="0">
                <a:latin typeface="Georgia"/>
                <a:cs typeface="Georgia"/>
              </a:rPr>
              <a:t> </a:t>
            </a:r>
            <a:r>
              <a:rPr sz="750" dirty="0">
                <a:latin typeface="Georgia"/>
                <a:cs typeface="Georgia"/>
              </a:rPr>
              <a:t>that</a:t>
            </a:r>
            <a:r>
              <a:rPr sz="750" spc="-3" dirty="0">
                <a:latin typeface="Georgia"/>
                <a:cs typeface="Georgia"/>
              </a:rPr>
              <a:t> </a:t>
            </a:r>
            <a:r>
              <a:rPr sz="750" dirty="0">
                <a:latin typeface="Georgia"/>
                <a:cs typeface="Georgia"/>
              </a:rPr>
              <a:t>cite</a:t>
            </a:r>
            <a:r>
              <a:rPr sz="750" spc="-7" dirty="0">
                <a:latin typeface="Georgia"/>
                <a:cs typeface="Georgia"/>
              </a:rPr>
              <a:t> </a:t>
            </a:r>
            <a:r>
              <a:rPr sz="750" dirty="0">
                <a:latin typeface="Georgia"/>
                <a:cs typeface="Georgia"/>
              </a:rPr>
              <a:t>your</a:t>
            </a:r>
            <a:r>
              <a:rPr sz="750" spc="-10" dirty="0">
                <a:latin typeface="Georgia"/>
                <a:cs typeface="Georgia"/>
              </a:rPr>
              <a:t> </a:t>
            </a:r>
            <a:r>
              <a:rPr sz="750" dirty="0">
                <a:latin typeface="Georgia"/>
                <a:cs typeface="Georgia"/>
              </a:rPr>
              <a:t>statute;</a:t>
            </a:r>
            <a:r>
              <a:rPr sz="750" spc="-3" dirty="0">
                <a:latin typeface="Georgia"/>
                <a:cs typeface="Georgia"/>
              </a:rPr>
              <a:t> </a:t>
            </a:r>
            <a:r>
              <a:rPr sz="750" spc="-17" dirty="0">
                <a:latin typeface="Georgia"/>
                <a:cs typeface="Georgia"/>
              </a:rPr>
              <a:t>use </a:t>
            </a:r>
            <a:r>
              <a:rPr sz="750" dirty="0">
                <a:latin typeface="Georgia"/>
                <a:cs typeface="Georgia"/>
              </a:rPr>
              <a:t>filters</a:t>
            </a:r>
            <a:r>
              <a:rPr sz="750" spc="-10" dirty="0">
                <a:latin typeface="Georgia"/>
                <a:cs typeface="Georgia"/>
              </a:rPr>
              <a:t> </a:t>
            </a:r>
            <a:r>
              <a:rPr sz="750" dirty="0">
                <a:latin typeface="Georgia"/>
                <a:cs typeface="Georgia"/>
              </a:rPr>
              <a:t>to</a:t>
            </a:r>
            <a:r>
              <a:rPr sz="750" spc="-10" dirty="0">
                <a:latin typeface="Georgia"/>
                <a:cs typeface="Georgia"/>
              </a:rPr>
              <a:t> </a:t>
            </a:r>
            <a:r>
              <a:rPr sz="750" dirty="0">
                <a:latin typeface="Georgia"/>
                <a:cs typeface="Georgia"/>
              </a:rPr>
              <a:t>get</a:t>
            </a:r>
            <a:r>
              <a:rPr sz="750" spc="-7" dirty="0">
                <a:latin typeface="Georgia"/>
                <a:cs typeface="Georgia"/>
              </a:rPr>
              <a:t> </a:t>
            </a:r>
            <a:r>
              <a:rPr sz="750" dirty="0">
                <a:latin typeface="Georgia"/>
                <a:cs typeface="Georgia"/>
              </a:rPr>
              <a:t>to</a:t>
            </a:r>
            <a:r>
              <a:rPr sz="750" spc="-10" dirty="0">
                <a:latin typeface="Georgia"/>
                <a:cs typeface="Georgia"/>
              </a:rPr>
              <a:t> </a:t>
            </a:r>
            <a:r>
              <a:rPr sz="750" dirty="0">
                <a:latin typeface="Georgia"/>
                <a:cs typeface="Georgia"/>
              </a:rPr>
              <a:t>binding</a:t>
            </a:r>
            <a:r>
              <a:rPr sz="750" spc="-7" dirty="0">
                <a:latin typeface="Georgia"/>
                <a:cs typeface="Georgia"/>
              </a:rPr>
              <a:t> </a:t>
            </a:r>
            <a:r>
              <a:rPr sz="750" dirty="0">
                <a:latin typeface="Georgia"/>
                <a:cs typeface="Georgia"/>
              </a:rPr>
              <a:t>cases</a:t>
            </a:r>
            <a:r>
              <a:rPr sz="750" spc="-17" dirty="0">
                <a:latin typeface="Georgia"/>
                <a:cs typeface="Georgia"/>
              </a:rPr>
              <a:t> </a:t>
            </a:r>
            <a:r>
              <a:rPr sz="750" dirty="0">
                <a:latin typeface="Georgia"/>
                <a:cs typeface="Georgia"/>
              </a:rPr>
              <a:t>on</a:t>
            </a:r>
            <a:r>
              <a:rPr sz="750" spc="-17" dirty="0">
                <a:latin typeface="Georgia"/>
                <a:cs typeface="Georgia"/>
              </a:rPr>
              <a:t> </a:t>
            </a:r>
            <a:r>
              <a:rPr sz="750" dirty="0">
                <a:latin typeface="Georgia"/>
                <a:cs typeface="Georgia"/>
              </a:rPr>
              <a:t>your</a:t>
            </a:r>
            <a:r>
              <a:rPr sz="750" spc="-7" dirty="0">
                <a:latin typeface="Georgia"/>
                <a:cs typeface="Georgia"/>
              </a:rPr>
              <a:t> issues</a:t>
            </a:r>
            <a:endParaRPr sz="750">
              <a:latin typeface="Georgia"/>
              <a:cs typeface="Georgia"/>
            </a:endParaRPr>
          </a:p>
          <a:p>
            <a:pPr marL="944249" marR="116895" lvl="1" indent="-156292">
              <a:lnSpc>
                <a:spcPts val="927"/>
              </a:lnSpc>
              <a:spcBef>
                <a:spcPts val="24"/>
              </a:spcBef>
              <a:buFont typeface="Wingdings"/>
              <a:buChar char=""/>
              <a:tabLst>
                <a:tab pos="944249" algn="l"/>
              </a:tabLst>
            </a:pPr>
            <a:r>
              <a:rPr sz="750" dirty="0">
                <a:latin typeface="Georgia"/>
                <a:cs typeface="Georgia"/>
              </a:rPr>
              <a:t>Context</a:t>
            </a:r>
            <a:r>
              <a:rPr sz="750" spc="-10" dirty="0">
                <a:latin typeface="Georgia"/>
                <a:cs typeface="Georgia"/>
              </a:rPr>
              <a:t> </a:t>
            </a:r>
            <a:r>
              <a:rPr sz="750" dirty="0">
                <a:latin typeface="Georgia"/>
                <a:cs typeface="Georgia"/>
              </a:rPr>
              <a:t>&amp;</a:t>
            </a:r>
            <a:r>
              <a:rPr sz="750" spc="-17" dirty="0">
                <a:latin typeface="Georgia"/>
                <a:cs typeface="Georgia"/>
              </a:rPr>
              <a:t> </a:t>
            </a:r>
            <a:r>
              <a:rPr sz="750" dirty="0">
                <a:latin typeface="Georgia"/>
                <a:cs typeface="Georgia"/>
              </a:rPr>
              <a:t>Analysis</a:t>
            </a:r>
            <a:r>
              <a:rPr sz="750" spc="-17" dirty="0">
                <a:latin typeface="Georgia"/>
                <a:cs typeface="Georgia"/>
              </a:rPr>
              <a:t> </a:t>
            </a:r>
            <a:r>
              <a:rPr sz="750" dirty="0">
                <a:latin typeface="Georgia"/>
                <a:cs typeface="Georgia"/>
              </a:rPr>
              <a:t>(WL</a:t>
            </a:r>
            <a:r>
              <a:rPr sz="750" spc="-17" dirty="0">
                <a:latin typeface="Georgia"/>
                <a:cs typeface="Georgia"/>
              </a:rPr>
              <a:t> </a:t>
            </a:r>
            <a:r>
              <a:rPr sz="750" dirty="0">
                <a:latin typeface="Georgia"/>
                <a:cs typeface="Georgia"/>
              </a:rPr>
              <a:t>only):</a:t>
            </a:r>
            <a:r>
              <a:rPr sz="750" spc="-17" dirty="0">
                <a:latin typeface="Georgia"/>
                <a:cs typeface="Georgia"/>
              </a:rPr>
              <a:t> </a:t>
            </a:r>
            <a:r>
              <a:rPr sz="750" dirty="0">
                <a:latin typeface="Georgia"/>
                <a:cs typeface="Georgia"/>
              </a:rPr>
              <a:t>other</a:t>
            </a:r>
            <a:r>
              <a:rPr sz="750" spc="-10" dirty="0">
                <a:latin typeface="Georgia"/>
                <a:cs typeface="Georgia"/>
              </a:rPr>
              <a:t> </a:t>
            </a:r>
            <a:r>
              <a:rPr sz="750" dirty="0">
                <a:latin typeface="Georgia"/>
                <a:cs typeface="Georgia"/>
              </a:rPr>
              <a:t>sources</a:t>
            </a:r>
            <a:r>
              <a:rPr sz="750" spc="-7" dirty="0">
                <a:latin typeface="Georgia"/>
                <a:cs typeface="Georgia"/>
              </a:rPr>
              <a:t> </a:t>
            </a:r>
            <a:r>
              <a:rPr sz="750" dirty="0">
                <a:latin typeface="Georgia"/>
                <a:cs typeface="Georgia"/>
              </a:rPr>
              <a:t>that</a:t>
            </a:r>
            <a:r>
              <a:rPr sz="750" spc="-20" dirty="0">
                <a:latin typeface="Georgia"/>
                <a:cs typeface="Georgia"/>
              </a:rPr>
              <a:t> </a:t>
            </a:r>
            <a:r>
              <a:rPr sz="750" dirty="0">
                <a:latin typeface="Georgia"/>
                <a:cs typeface="Georgia"/>
              </a:rPr>
              <a:t>don’t</a:t>
            </a:r>
            <a:r>
              <a:rPr sz="750" spc="-17" dirty="0">
                <a:latin typeface="Georgia"/>
                <a:cs typeface="Georgia"/>
              </a:rPr>
              <a:t> </a:t>
            </a:r>
            <a:r>
              <a:rPr sz="750" dirty="0">
                <a:latin typeface="Georgia"/>
                <a:cs typeface="Georgia"/>
              </a:rPr>
              <a:t>cite</a:t>
            </a:r>
            <a:r>
              <a:rPr sz="750" spc="-10" dirty="0">
                <a:latin typeface="Georgia"/>
                <a:cs typeface="Georgia"/>
              </a:rPr>
              <a:t> </a:t>
            </a:r>
            <a:r>
              <a:rPr sz="750" dirty="0">
                <a:latin typeface="Georgia"/>
                <a:cs typeface="Georgia"/>
              </a:rPr>
              <a:t>your</a:t>
            </a:r>
            <a:r>
              <a:rPr sz="750" spc="-10" dirty="0">
                <a:latin typeface="Georgia"/>
                <a:cs typeface="Georgia"/>
              </a:rPr>
              <a:t> </a:t>
            </a:r>
            <a:r>
              <a:rPr sz="750" spc="-7" dirty="0">
                <a:latin typeface="Georgia"/>
                <a:cs typeface="Georgia"/>
              </a:rPr>
              <a:t>source </a:t>
            </a:r>
            <a:r>
              <a:rPr sz="750" dirty="0">
                <a:latin typeface="Georgia"/>
                <a:cs typeface="Georgia"/>
              </a:rPr>
              <a:t>that</a:t>
            </a:r>
            <a:r>
              <a:rPr sz="750" spc="-10" dirty="0">
                <a:latin typeface="Georgia"/>
                <a:cs typeface="Georgia"/>
              </a:rPr>
              <a:t> </a:t>
            </a:r>
            <a:r>
              <a:rPr sz="750" dirty="0">
                <a:latin typeface="Georgia"/>
                <a:cs typeface="Georgia"/>
              </a:rPr>
              <a:t>WL</a:t>
            </a:r>
            <a:r>
              <a:rPr sz="750" spc="-7" dirty="0">
                <a:latin typeface="Georgia"/>
                <a:cs typeface="Georgia"/>
              </a:rPr>
              <a:t> </a:t>
            </a:r>
            <a:r>
              <a:rPr sz="750" dirty="0">
                <a:latin typeface="Georgia"/>
                <a:cs typeface="Georgia"/>
              </a:rPr>
              <a:t>thinks</a:t>
            </a:r>
            <a:r>
              <a:rPr sz="750" spc="-7" dirty="0">
                <a:latin typeface="Georgia"/>
                <a:cs typeface="Georgia"/>
              </a:rPr>
              <a:t> </a:t>
            </a:r>
            <a:r>
              <a:rPr sz="750" dirty="0">
                <a:latin typeface="Georgia"/>
                <a:cs typeface="Georgia"/>
              </a:rPr>
              <a:t>may</a:t>
            </a:r>
            <a:r>
              <a:rPr sz="750" spc="-3" dirty="0">
                <a:latin typeface="Georgia"/>
                <a:cs typeface="Georgia"/>
              </a:rPr>
              <a:t> </a:t>
            </a:r>
            <a:r>
              <a:rPr sz="750" dirty="0">
                <a:latin typeface="Georgia"/>
                <a:cs typeface="Georgia"/>
              </a:rPr>
              <a:t>be</a:t>
            </a:r>
            <a:r>
              <a:rPr sz="750" spc="-3" dirty="0">
                <a:latin typeface="Georgia"/>
                <a:cs typeface="Georgia"/>
              </a:rPr>
              <a:t> </a:t>
            </a:r>
            <a:r>
              <a:rPr sz="750" spc="-7" dirty="0">
                <a:latin typeface="Georgia"/>
                <a:cs typeface="Georgia"/>
              </a:rPr>
              <a:t>helpful</a:t>
            </a:r>
            <a:endParaRPr sz="750">
              <a:latin typeface="Georgia"/>
              <a:cs typeface="Georgia"/>
            </a:endParaRPr>
          </a:p>
          <a:p>
            <a:pPr marL="943383" lvl="1" indent="-155427">
              <a:spcBef>
                <a:spcPts val="31"/>
              </a:spcBef>
              <a:buSzPct val="109090"/>
              <a:buFont typeface="Wingdings"/>
              <a:buChar char=""/>
              <a:tabLst>
                <a:tab pos="943383" algn="l"/>
              </a:tabLst>
            </a:pPr>
            <a:r>
              <a:rPr sz="750" dirty="0">
                <a:latin typeface="Georgia"/>
                <a:cs typeface="Georgia"/>
              </a:rPr>
              <a:t>Other</a:t>
            </a:r>
            <a:r>
              <a:rPr sz="750" spc="-14" dirty="0">
                <a:latin typeface="Georgia"/>
                <a:cs typeface="Georgia"/>
              </a:rPr>
              <a:t> </a:t>
            </a:r>
            <a:r>
              <a:rPr sz="750" dirty="0">
                <a:latin typeface="Georgia"/>
                <a:cs typeface="Georgia"/>
              </a:rPr>
              <a:t>Citing</a:t>
            </a:r>
            <a:r>
              <a:rPr sz="750" spc="-14" dirty="0">
                <a:latin typeface="Georgia"/>
                <a:cs typeface="Georgia"/>
              </a:rPr>
              <a:t> </a:t>
            </a:r>
            <a:r>
              <a:rPr sz="750" dirty="0">
                <a:latin typeface="Georgia"/>
                <a:cs typeface="Georgia"/>
              </a:rPr>
              <a:t>Sources</a:t>
            </a:r>
            <a:r>
              <a:rPr sz="750" spc="-14" dirty="0">
                <a:latin typeface="Georgia"/>
                <a:cs typeface="Georgia"/>
              </a:rPr>
              <a:t> </a:t>
            </a:r>
            <a:r>
              <a:rPr sz="750" dirty="0">
                <a:latin typeface="Georgia"/>
                <a:cs typeface="Georgia"/>
              </a:rPr>
              <a:t>(Lexis</a:t>
            </a:r>
            <a:r>
              <a:rPr sz="750" spc="-10" dirty="0">
                <a:latin typeface="Georgia"/>
                <a:cs typeface="Georgia"/>
              </a:rPr>
              <a:t> </a:t>
            </a:r>
            <a:r>
              <a:rPr sz="750" dirty="0">
                <a:latin typeface="Georgia"/>
                <a:cs typeface="Georgia"/>
              </a:rPr>
              <a:t>only):</a:t>
            </a:r>
            <a:r>
              <a:rPr sz="750" spc="-24" dirty="0">
                <a:latin typeface="Georgia"/>
                <a:cs typeface="Georgia"/>
              </a:rPr>
              <a:t> </a:t>
            </a:r>
            <a:r>
              <a:rPr sz="750" dirty="0">
                <a:latin typeface="Georgia"/>
                <a:cs typeface="Georgia"/>
              </a:rPr>
              <a:t>other</a:t>
            </a:r>
            <a:r>
              <a:rPr sz="750" spc="-10" dirty="0">
                <a:latin typeface="Georgia"/>
                <a:cs typeface="Georgia"/>
              </a:rPr>
              <a:t> </a:t>
            </a:r>
            <a:r>
              <a:rPr sz="750" dirty="0">
                <a:latin typeface="Georgia"/>
                <a:cs typeface="Georgia"/>
              </a:rPr>
              <a:t>sources</a:t>
            </a:r>
            <a:r>
              <a:rPr sz="750" spc="-14" dirty="0">
                <a:latin typeface="Georgia"/>
                <a:cs typeface="Georgia"/>
              </a:rPr>
              <a:t> </a:t>
            </a:r>
            <a:r>
              <a:rPr sz="750" dirty="0">
                <a:latin typeface="Georgia"/>
                <a:cs typeface="Georgia"/>
              </a:rPr>
              <a:t>that</a:t>
            </a:r>
            <a:r>
              <a:rPr sz="750" spc="-14" dirty="0">
                <a:latin typeface="Georgia"/>
                <a:cs typeface="Georgia"/>
              </a:rPr>
              <a:t> </a:t>
            </a:r>
            <a:r>
              <a:rPr sz="750" dirty="0">
                <a:latin typeface="Georgia"/>
                <a:cs typeface="Georgia"/>
              </a:rPr>
              <a:t>cite</a:t>
            </a:r>
            <a:r>
              <a:rPr sz="750" spc="-14" dirty="0">
                <a:latin typeface="Georgia"/>
                <a:cs typeface="Georgia"/>
              </a:rPr>
              <a:t> </a:t>
            </a:r>
            <a:r>
              <a:rPr sz="750" dirty="0">
                <a:latin typeface="Georgia"/>
                <a:cs typeface="Georgia"/>
              </a:rPr>
              <a:t>your</a:t>
            </a:r>
            <a:r>
              <a:rPr sz="750" spc="-17" dirty="0">
                <a:latin typeface="Georgia"/>
                <a:cs typeface="Georgia"/>
              </a:rPr>
              <a:t> </a:t>
            </a:r>
            <a:r>
              <a:rPr sz="750" spc="-7" dirty="0">
                <a:latin typeface="Georgia"/>
                <a:cs typeface="Georgia"/>
              </a:rPr>
              <a:t>statute</a:t>
            </a:r>
            <a:endParaRPr sz="750">
              <a:latin typeface="Georgia"/>
              <a:cs typeface="Georgia"/>
            </a:endParaRPr>
          </a:p>
          <a:p>
            <a:pPr lvl="1">
              <a:spcBef>
                <a:spcPts val="385"/>
              </a:spcBef>
              <a:buFont typeface="Wingdings"/>
              <a:buChar char=""/>
            </a:pPr>
            <a:endParaRPr sz="750">
              <a:latin typeface="Georgia"/>
              <a:cs typeface="Georgia"/>
            </a:endParaRPr>
          </a:p>
          <a:p>
            <a:pPr marL="8659" algn="just">
              <a:spcBef>
                <a:spcPts val="3"/>
              </a:spcBef>
            </a:pPr>
            <a:r>
              <a:rPr sz="818" b="1" dirty="0">
                <a:latin typeface="Georgia"/>
                <a:cs typeface="Georgia"/>
              </a:rPr>
              <a:t>Step</a:t>
            </a:r>
            <a:r>
              <a:rPr sz="818" b="1" spc="-10" dirty="0">
                <a:latin typeface="Georgia"/>
                <a:cs typeface="Georgia"/>
              </a:rPr>
              <a:t> </a:t>
            </a:r>
            <a:r>
              <a:rPr sz="818" b="1" dirty="0">
                <a:latin typeface="Georgia"/>
                <a:cs typeface="Georgia"/>
              </a:rPr>
              <a:t>4:</a:t>
            </a:r>
            <a:r>
              <a:rPr sz="818" b="1" spc="-7" dirty="0">
                <a:latin typeface="Georgia"/>
                <a:cs typeface="Georgia"/>
              </a:rPr>
              <a:t> </a:t>
            </a:r>
            <a:r>
              <a:rPr sz="818" b="1" dirty="0">
                <a:latin typeface="Georgia"/>
                <a:cs typeface="Georgia"/>
              </a:rPr>
              <a:t>Case</a:t>
            </a:r>
            <a:r>
              <a:rPr sz="818" b="1" spc="-10" dirty="0">
                <a:latin typeface="Georgia"/>
                <a:cs typeface="Georgia"/>
              </a:rPr>
              <a:t> </a:t>
            </a:r>
            <a:r>
              <a:rPr sz="818" b="1" spc="-7" dirty="0">
                <a:latin typeface="Georgia"/>
                <a:cs typeface="Georgia"/>
              </a:rPr>
              <a:t>Analysis</a:t>
            </a:r>
            <a:endParaRPr sz="818">
              <a:latin typeface="Georgia"/>
              <a:cs typeface="Georgia"/>
            </a:endParaRPr>
          </a:p>
          <a:p>
            <a:pPr marL="632097" marR="158890" indent="-155859">
              <a:lnSpc>
                <a:spcPct val="101800"/>
              </a:lnSpc>
              <a:spcBef>
                <a:spcPts val="631"/>
              </a:spcBef>
              <a:buFont typeface="Verdana"/>
              <a:buChar char="□"/>
              <a:tabLst>
                <a:tab pos="632097" algn="l"/>
              </a:tabLst>
            </a:pPr>
            <a:r>
              <a:rPr sz="750" dirty="0">
                <a:latin typeface="Georgia"/>
                <a:cs typeface="Georgia"/>
              </a:rPr>
              <a:t>Review</a:t>
            </a:r>
            <a:r>
              <a:rPr sz="750" spc="-10" dirty="0">
                <a:latin typeface="Georgia"/>
                <a:cs typeface="Georgia"/>
              </a:rPr>
              <a:t> </a:t>
            </a:r>
            <a:r>
              <a:rPr sz="750" dirty="0">
                <a:latin typeface="Georgia"/>
                <a:cs typeface="Georgia"/>
              </a:rPr>
              <a:t>the</a:t>
            </a:r>
            <a:r>
              <a:rPr sz="750" spc="-7" dirty="0">
                <a:latin typeface="Georgia"/>
                <a:cs typeface="Georgia"/>
              </a:rPr>
              <a:t> </a:t>
            </a:r>
            <a:r>
              <a:rPr sz="750" dirty="0">
                <a:latin typeface="Georgia"/>
                <a:cs typeface="Georgia"/>
              </a:rPr>
              <a:t>Anatomy</a:t>
            </a:r>
            <a:r>
              <a:rPr sz="750" spc="-10" dirty="0">
                <a:latin typeface="Georgia"/>
                <a:cs typeface="Georgia"/>
              </a:rPr>
              <a:t> </a:t>
            </a:r>
            <a:r>
              <a:rPr sz="750" dirty="0">
                <a:latin typeface="Georgia"/>
                <a:cs typeface="Georgia"/>
              </a:rPr>
              <a:t>of</a:t>
            </a:r>
            <a:r>
              <a:rPr sz="750" spc="-10" dirty="0">
                <a:latin typeface="Georgia"/>
                <a:cs typeface="Georgia"/>
              </a:rPr>
              <a:t> </a:t>
            </a:r>
            <a:r>
              <a:rPr sz="750" dirty="0">
                <a:latin typeface="Georgia"/>
                <a:cs typeface="Georgia"/>
              </a:rPr>
              <a:t>a</a:t>
            </a:r>
            <a:r>
              <a:rPr sz="750" spc="-20" dirty="0">
                <a:latin typeface="Georgia"/>
                <a:cs typeface="Georgia"/>
              </a:rPr>
              <a:t> </a:t>
            </a:r>
            <a:r>
              <a:rPr sz="750" dirty="0">
                <a:latin typeface="Georgia"/>
                <a:cs typeface="Georgia"/>
              </a:rPr>
              <a:t>Case</a:t>
            </a:r>
            <a:r>
              <a:rPr sz="750" spc="-7" dirty="0">
                <a:latin typeface="Georgia"/>
                <a:cs typeface="Georgia"/>
              </a:rPr>
              <a:t> </a:t>
            </a:r>
            <a:r>
              <a:rPr sz="750" dirty="0">
                <a:latin typeface="Georgia"/>
                <a:cs typeface="Georgia"/>
              </a:rPr>
              <a:t>for</a:t>
            </a:r>
            <a:r>
              <a:rPr sz="750" spc="-7" dirty="0">
                <a:latin typeface="Georgia"/>
                <a:cs typeface="Georgia"/>
              </a:rPr>
              <a:t> </a:t>
            </a:r>
            <a:r>
              <a:rPr sz="750" u="sng" dirty="0">
                <a:solidFill>
                  <a:srgbClr val="0562C1"/>
                </a:solidFill>
                <a:uFill>
                  <a:solidFill>
                    <a:srgbClr val="0562C1"/>
                  </a:solidFill>
                </a:uFill>
                <a:latin typeface="Georgia"/>
                <a:cs typeface="Georgia"/>
              </a:rPr>
              <a:t>Westlaw</a:t>
            </a:r>
            <a:r>
              <a:rPr sz="750" spc="-7" dirty="0">
                <a:solidFill>
                  <a:srgbClr val="0562C1"/>
                </a:solidFill>
                <a:latin typeface="Georgia"/>
                <a:cs typeface="Georgia"/>
              </a:rPr>
              <a:t> </a:t>
            </a:r>
            <a:r>
              <a:rPr sz="750" dirty="0">
                <a:latin typeface="Georgia"/>
                <a:cs typeface="Georgia"/>
              </a:rPr>
              <a:t>and</a:t>
            </a:r>
            <a:r>
              <a:rPr sz="750" spc="-7" dirty="0">
                <a:latin typeface="Georgia"/>
                <a:cs typeface="Georgia"/>
              </a:rPr>
              <a:t> </a:t>
            </a:r>
            <a:r>
              <a:rPr sz="750" u="sng" dirty="0">
                <a:solidFill>
                  <a:srgbClr val="0562C1"/>
                </a:solidFill>
                <a:uFill>
                  <a:solidFill>
                    <a:srgbClr val="0562C1"/>
                  </a:solidFill>
                </a:uFill>
                <a:latin typeface="Georgia"/>
                <a:cs typeface="Georgia"/>
              </a:rPr>
              <a:t>Lexis</a:t>
            </a:r>
            <a:r>
              <a:rPr sz="750" spc="-7" dirty="0">
                <a:solidFill>
                  <a:srgbClr val="0562C1"/>
                </a:solidFill>
                <a:latin typeface="Georgia"/>
                <a:cs typeface="Georgia"/>
              </a:rPr>
              <a:t> </a:t>
            </a:r>
            <a:r>
              <a:rPr sz="750" dirty="0">
                <a:latin typeface="Georgia"/>
                <a:cs typeface="Georgia"/>
              </a:rPr>
              <a:t>for</a:t>
            </a:r>
            <a:r>
              <a:rPr sz="750" spc="-7" dirty="0">
                <a:latin typeface="Georgia"/>
                <a:cs typeface="Georgia"/>
              </a:rPr>
              <a:t> </a:t>
            </a:r>
            <a:r>
              <a:rPr sz="750" dirty="0">
                <a:latin typeface="Georgia"/>
                <a:cs typeface="Georgia"/>
              </a:rPr>
              <a:t>a</a:t>
            </a:r>
            <a:r>
              <a:rPr sz="750" spc="-14" dirty="0">
                <a:latin typeface="Georgia"/>
                <a:cs typeface="Georgia"/>
              </a:rPr>
              <a:t> </a:t>
            </a:r>
            <a:r>
              <a:rPr sz="750" spc="-7" dirty="0">
                <a:latin typeface="Georgia"/>
                <a:cs typeface="Georgia"/>
              </a:rPr>
              <a:t>refresher</a:t>
            </a:r>
            <a:r>
              <a:rPr sz="750" spc="-10" dirty="0">
                <a:latin typeface="Georgia"/>
                <a:cs typeface="Georgia"/>
              </a:rPr>
              <a:t> </a:t>
            </a:r>
            <a:r>
              <a:rPr sz="750" dirty="0">
                <a:latin typeface="Georgia"/>
                <a:cs typeface="Georgia"/>
              </a:rPr>
              <a:t>on</a:t>
            </a:r>
            <a:r>
              <a:rPr sz="750" spc="-14" dirty="0">
                <a:latin typeface="Georgia"/>
                <a:cs typeface="Georgia"/>
              </a:rPr>
              <a:t> </a:t>
            </a:r>
            <a:r>
              <a:rPr sz="750" spc="-17" dirty="0">
                <a:latin typeface="Georgia"/>
                <a:cs typeface="Georgia"/>
              </a:rPr>
              <a:t>the </a:t>
            </a:r>
            <a:r>
              <a:rPr sz="750" dirty="0">
                <a:latin typeface="Georgia"/>
                <a:cs typeface="Georgia"/>
              </a:rPr>
              <a:t>different</a:t>
            </a:r>
            <a:r>
              <a:rPr sz="750" spc="-10" dirty="0">
                <a:latin typeface="Georgia"/>
                <a:cs typeface="Georgia"/>
              </a:rPr>
              <a:t> </a:t>
            </a:r>
            <a:r>
              <a:rPr sz="750" dirty="0">
                <a:latin typeface="Georgia"/>
                <a:cs typeface="Georgia"/>
              </a:rPr>
              <a:t>tools</a:t>
            </a:r>
            <a:r>
              <a:rPr sz="750" spc="-20" dirty="0">
                <a:latin typeface="Georgia"/>
                <a:cs typeface="Georgia"/>
              </a:rPr>
              <a:t> </a:t>
            </a:r>
            <a:r>
              <a:rPr sz="750" spc="-7" dirty="0">
                <a:latin typeface="Georgia"/>
                <a:cs typeface="Georgia"/>
              </a:rPr>
              <a:t>(remember,</a:t>
            </a:r>
            <a:r>
              <a:rPr sz="750" spc="-10" dirty="0">
                <a:latin typeface="Georgia"/>
                <a:cs typeface="Georgia"/>
              </a:rPr>
              <a:t> </a:t>
            </a:r>
            <a:r>
              <a:rPr sz="750" dirty="0">
                <a:latin typeface="Georgia"/>
                <a:cs typeface="Georgia"/>
              </a:rPr>
              <a:t>you</a:t>
            </a:r>
            <a:r>
              <a:rPr sz="750" spc="-14" dirty="0">
                <a:latin typeface="Georgia"/>
                <a:cs typeface="Georgia"/>
              </a:rPr>
              <a:t> </a:t>
            </a:r>
            <a:r>
              <a:rPr sz="750" dirty="0">
                <a:latin typeface="Georgia"/>
                <a:cs typeface="Georgia"/>
              </a:rPr>
              <a:t>must</a:t>
            </a:r>
            <a:r>
              <a:rPr sz="750" spc="-20" dirty="0">
                <a:latin typeface="Georgia"/>
                <a:cs typeface="Georgia"/>
              </a:rPr>
              <a:t> </a:t>
            </a:r>
            <a:r>
              <a:rPr sz="750" dirty="0">
                <a:latin typeface="Georgia"/>
                <a:cs typeface="Georgia"/>
              </a:rPr>
              <a:t>download</a:t>
            </a:r>
            <a:r>
              <a:rPr sz="750" spc="-10" dirty="0">
                <a:latin typeface="Georgia"/>
                <a:cs typeface="Georgia"/>
              </a:rPr>
              <a:t> </a:t>
            </a:r>
            <a:r>
              <a:rPr sz="750" dirty="0">
                <a:latin typeface="Georgia"/>
                <a:cs typeface="Georgia"/>
              </a:rPr>
              <a:t>it</a:t>
            </a:r>
            <a:r>
              <a:rPr sz="750" spc="-10" dirty="0">
                <a:latin typeface="Georgia"/>
                <a:cs typeface="Georgia"/>
              </a:rPr>
              <a:t> </a:t>
            </a:r>
            <a:r>
              <a:rPr sz="750" dirty="0">
                <a:latin typeface="Georgia"/>
                <a:cs typeface="Georgia"/>
              </a:rPr>
              <a:t>in</a:t>
            </a:r>
            <a:r>
              <a:rPr sz="750" spc="-17" dirty="0">
                <a:latin typeface="Georgia"/>
                <a:cs typeface="Georgia"/>
              </a:rPr>
              <a:t> </a:t>
            </a:r>
            <a:r>
              <a:rPr sz="750" dirty="0">
                <a:latin typeface="Georgia"/>
                <a:cs typeface="Georgia"/>
              </a:rPr>
              <a:t>Google</a:t>
            </a:r>
            <a:r>
              <a:rPr sz="750" spc="-10" dirty="0">
                <a:latin typeface="Georgia"/>
                <a:cs typeface="Georgia"/>
              </a:rPr>
              <a:t> </a:t>
            </a:r>
            <a:r>
              <a:rPr sz="750" dirty="0">
                <a:latin typeface="Georgia"/>
                <a:cs typeface="Georgia"/>
              </a:rPr>
              <a:t>Chrome</a:t>
            </a:r>
            <a:r>
              <a:rPr sz="750" spc="-10" dirty="0">
                <a:latin typeface="Georgia"/>
                <a:cs typeface="Georgia"/>
              </a:rPr>
              <a:t> </a:t>
            </a:r>
            <a:r>
              <a:rPr sz="750" dirty="0">
                <a:latin typeface="Georgia"/>
                <a:cs typeface="Georgia"/>
              </a:rPr>
              <a:t>to</a:t>
            </a:r>
            <a:r>
              <a:rPr sz="750" spc="-10" dirty="0">
                <a:latin typeface="Georgia"/>
                <a:cs typeface="Georgia"/>
              </a:rPr>
              <a:t> </a:t>
            </a:r>
            <a:r>
              <a:rPr sz="750" dirty="0">
                <a:latin typeface="Georgia"/>
                <a:cs typeface="Georgia"/>
              </a:rPr>
              <a:t>see</a:t>
            </a:r>
            <a:r>
              <a:rPr sz="750" spc="-17" dirty="0">
                <a:latin typeface="Georgia"/>
                <a:cs typeface="Georgia"/>
              </a:rPr>
              <a:t> the </a:t>
            </a:r>
            <a:r>
              <a:rPr sz="750" dirty="0">
                <a:latin typeface="Georgia"/>
                <a:cs typeface="Georgia"/>
              </a:rPr>
              <a:t>pop-</a:t>
            </a:r>
            <a:r>
              <a:rPr sz="750" spc="-7" dirty="0">
                <a:latin typeface="Georgia"/>
                <a:cs typeface="Georgia"/>
              </a:rPr>
              <a:t>ups!)</a:t>
            </a:r>
            <a:endParaRPr sz="750">
              <a:latin typeface="Georgia"/>
              <a:cs typeface="Georgia"/>
            </a:endParaRPr>
          </a:p>
          <a:p>
            <a:pPr marL="632097" indent="-155859">
              <a:spcBef>
                <a:spcPts val="92"/>
              </a:spcBef>
              <a:buFont typeface="Verdana"/>
              <a:buChar char="□"/>
              <a:tabLst>
                <a:tab pos="632097" algn="l"/>
              </a:tabLst>
            </a:pPr>
            <a:r>
              <a:rPr sz="750" dirty="0">
                <a:latin typeface="Georgia"/>
                <a:cs typeface="Georgia"/>
              </a:rPr>
              <a:t>Skim</a:t>
            </a:r>
            <a:r>
              <a:rPr sz="750" spc="-17" dirty="0">
                <a:latin typeface="Georgia"/>
                <a:cs typeface="Georgia"/>
              </a:rPr>
              <a:t> </a:t>
            </a:r>
            <a:r>
              <a:rPr sz="750" dirty="0">
                <a:latin typeface="Georgia"/>
                <a:cs typeface="Georgia"/>
              </a:rPr>
              <a:t>the</a:t>
            </a:r>
            <a:r>
              <a:rPr sz="750" spc="-17" dirty="0">
                <a:latin typeface="Georgia"/>
                <a:cs typeface="Georgia"/>
              </a:rPr>
              <a:t> </a:t>
            </a:r>
            <a:r>
              <a:rPr sz="750" dirty="0">
                <a:latin typeface="Georgia"/>
                <a:cs typeface="Georgia"/>
              </a:rPr>
              <a:t>case</a:t>
            </a:r>
            <a:r>
              <a:rPr sz="750" spc="-10" dirty="0">
                <a:latin typeface="Georgia"/>
                <a:cs typeface="Georgia"/>
              </a:rPr>
              <a:t> </a:t>
            </a:r>
            <a:r>
              <a:rPr sz="750" dirty="0">
                <a:latin typeface="Georgia"/>
                <a:cs typeface="Georgia"/>
              </a:rPr>
              <a:t>to</a:t>
            </a:r>
            <a:r>
              <a:rPr sz="750" spc="-17" dirty="0">
                <a:latin typeface="Georgia"/>
                <a:cs typeface="Georgia"/>
              </a:rPr>
              <a:t> </a:t>
            </a:r>
            <a:r>
              <a:rPr sz="750" spc="-7" dirty="0">
                <a:latin typeface="Georgia"/>
                <a:cs typeface="Georgia"/>
              </a:rPr>
              <a:t>determine</a:t>
            </a:r>
            <a:r>
              <a:rPr sz="750" spc="-10" dirty="0">
                <a:latin typeface="Georgia"/>
                <a:cs typeface="Georgia"/>
              </a:rPr>
              <a:t> </a:t>
            </a:r>
            <a:r>
              <a:rPr sz="750" dirty="0">
                <a:latin typeface="Georgia"/>
                <a:cs typeface="Georgia"/>
              </a:rPr>
              <a:t>its</a:t>
            </a:r>
            <a:r>
              <a:rPr sz="750" spc="-20" dirty="0">
                <a:latin typeface="Georgia"/>
                <a:cs typeface="Georgia"/>
              </a:rPr>
              <a:t> </a:t>
            </a:r>
            <a:r>
              <a:rPr sz="750" dirty="0">
                <a:latin typeface="Georgia"/>
                <a:cs typeface="Georgia"/>
              </a:rPr>
              <a:t>relevance</a:t>
            </a:r>
            <a:r>
              <a:rPr sz="750" spc="-10" dirty="0">
                <a:latin typeface="Georgia"/>
                <a:cs typeface="Georgia"/>
              </a:rPr>
              <a:t> </a:t>
            </a:r>
            <a:r>
              <a:rPr sz="750" dirty="0">
                <a:latin typeface="Georgia"/>
                <a:cs typeface="Georgia"/>
              </a:rPr>
              <a:t>to</a:t>
            </a:r>
            <a:r>
              <a:rPr sz="750" spc="-10" dirty="0">
                <a:latin typeface="Georgia"/>
                <a:cs typeface="Georgia"/>
              </a:rPr>
              <a:t> </a:t>
            </a:r>
            <a:r>
              <a:rPr sz="750" dirty="0">
                <a:latin typeface="Georgia"/>
                <a:cs typeface="Georgia"/>
              </a:rPr>
              <a:t>the</a:t>
            </a:r>
            <a:r>
              <a:rPr sz="750" spc="-17" dirty="0">
                <a:latin typeface="Georgia"/>
                <a:cs typeface="Georgia"/>
              </a:rPr>
              <a:t> </a:t>
            </a:r>
            <a:r>
              <a:rPr sz="750" dirty="0">
                <a:latin typeface="Georgia"/>
                <a:cs typeface="Georgia"/>
              </a:rPr>
              <a:t>specific</a:t>
            </a:r>
            <a:r>
              <a:rPr sz="750" spc="-10" dirty="0">
                <a:latin typeface="Georgia"/>
                <a:cs typeface="Georgia"/>
              </a:rPr>
              <a:t> </a:t>
            </a:r>
            <a:r>
              <a:rPr sz="750" dirty="0">
                <a:latin typeface="Georgia"/>
                <a:cs typeface="Georgia"/>
              </a:rPr>
              <a:t>issue</a:t>
            </a:r>
            <a:r>
              <a:rPr sz="750" spc="-10" dirty="0">
                <a:latin typeface="Georgia"/>
                <a:cs typeface="Georgia"/>
              </a:rPr>
              <a:t> </a:t>
            </a:r>
            <a:r>
              <a:rPr sz="750" dirty="0">
                <a:latin typeface="Georgia"/>
                <a:cs typeface="Georgia"/>
              </a:rPr>
              <a:t>you’ve</a:t>
            </a:r>
            <a:r>
              <a:rPr sz="750" spc="-10" dirty="0">
                <a:latin typeface="Georgia"/>
                <a:cs typeface="Georgia"/>
              </a:rPr>
              <a:t> </a:t>
            </a:r>
            <a:r>
              <a:rPr sz="750" spc="-7" dirty="0">
                <a:latin typeface="Georgia"/>
                <a:cs typeface="Georgia"/>
              </a:rPr>
              <a:t>identified</a:t>
            </a:r>
            <a:endParaRPr sz="750">
              <a:latin typeface="Georgia"/>
              <a:cs typeface="Georgia"/>
            </a:endParaRPr>
          </a:p>
          <a:p>
            <a:pPr marL="632097" indent="-155859">
              <a:spcBef>
                <a:spcPts val="89"/>
              </a:spcBef>
              <a:buFont typeface="Verdana"/>
              <a:buChar char="□"/>
              <a:tabLst>
                <a:tab pos="632097" algn="l"/>
              </a:tabLst>
            </a:pPr>
            <a:r>
              <a:rPr sz="750" dirty="0">
                <a:latin typeface="Georgia"/>
                <a:cs typeface="Georgia"/>
              </a:rPr>
              <a:t>Ensure</a:t>
            </a:r>
            <a:r>
              <a:rPr sz="750" spc="-14" dirty="0">
                <a:latin typeface="Georgia"/>
                <a:cs typeface="Georgia"/>
              </a:rPr>
              <a:t> </a:t>
            </a:r>
            <a:r>
              <a:rPr sz="750" dirty="0">
                <a:latin typeface="Georgia"/>
                <a:cs typeface="Georgia"/>
              </a:rPr>
              <a:t>case</a:t>
            </a:r>
            <a:r>
              <a:rPr sz="750" spc="-10" dirty="0">
                <a:latin typeface="Georgia"/>
                <a:cs typeface="Georgia"/>
              </a:rPr>
              <a:t> </a:t>
            </a:r>
            <a:r>
              <a:rPr sz="750" dirty="0">
                <a:latin typeface="Georgia"/>
                <a:cs typeface="Georgia"/>
              </a:rPr>
              <a:t>is</a:t>
            </a:r>
            <a:r>
              <a:rPr sz="750" spc="-20" dirty="0">
                <a:latin typeface="Georgia"/>
                <a:cs typeface="Georgia"/>
              </a:rPr>
              <a:t> </a:t>
            </a:r>
            <a:r>
              <a:rPr sz="750" dirty="0">
                <a:latin typeface="Georgia"/>
                <a:cs typeface="Georgia"/>
              </a:rPr>
              <a:t>still</a:t>
            </a:r>
            <a:r>
              <a:rPr sz="750" spc="-17" dirty="0">
                <a:latin typeface="Georgia"/>
                <a:cs typeface="Georgia"/>
              </a:rPr>
              <a:t> </a:t>
            </a:r>
            <a:r>
              <a:rPr sz="750" dirty="0">
                <a:latin typeface="Georgia"/>
                <a:cs typeface="Georgia"/>
              </a:rPr>
              <a:t>good</a:t>
            </a:r>
            <a:r>
              <a:rPr sz="750" spc="-10" dirty="0">
                <a:latin typeface="Georgia"/>
                <a:cs typeface="Georgia"/>
              </a:rPr>
              <a:t> </a:t>
            </a:r>
            <a:r>
              <a:rPr sz="750" dirty="0">
                <a:latin typeface="Georgia"/>
                <a:cs typeface="Georgia"/>
              </a:rPr>
              <a:t>law</a:t>
            </a:r>
            <a:r>
              <a:rPr sz="750" spc="-14" dirty="0">
                <a:latin typeface="Georgia"/>
                <a:cs typeface="Georgia"/>
              </a:rPr>
              <a:t> </a:t>
            </a:r>
            <a:r>
              <a:rPr sz="750" u="sng" dirty="0">
                <a:solidFill>
                  <a:srgbClr val="0562C1"/>
                </a:solidFill>
                <a:uFill>
                  <a:solidFill>
                    <a:srgbClr val="0562C1"/>
                  </a:solidFill>
                </a:uFill>
                <a:latin typeface="Georgia"/>
                <a:cs typeface="Georgia"/>
              </a:rPr>
              <a:t>(see</a:t>
            </a:r>
            <a:r>
              <a:rPr sz="750" u="sng" spc="-17"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Citator</a:t>
            </a:r>
            <a:r>
              <a:rPr sz="750" u="sng" spc="-10" dirty="0">
                <a:solidFill>
                  <a:srgbClr val="0562C1"/>
                </a:solidFill>
                <a:uFill>
                  <a:solidFill>
                    <a:srgbClr val="0562C1"/>
                  </a:solidFill>
                </a:uFill>
                <a:latin typeface="Georgia"/>
                <a:cs typeface="Georgia"/>
              </a:rPr>
              <a:t> </a:t>
            </a:r>
            <a:r>
              <a:rPr sz="750" u="sng" dirty="0">
                <a:solidFill>
                  <a:srgbClr val="0562C1"/>
                </a:solidFill>
                <a:uFill>
                  <a:solidFill>
                    <a:srgbClr val="0562C1"/>
                  </a:solidFill>
                </a:uFill>
                <a:latin typeface="Georgia"/>
                <a:cs typeface="Georgia"/>
              </a:rPr>
              <a:t>symbols</a:t>
            </a:r>
            <a:r>
              <a:rPr sz="750" u="sng" spc="-20" dirty="0">
                <a:solidFill>
                  <a:srgbClr val="0562C1"/>
                </a:solidFill>
                <a:uFill>
                  <a:solidFill>
                    <a:srgbClr val="0562C1"/>
                  </a:solidFill>
                </a:uFill>
                <a:latin typeface="Georgia"/>
                <a:cs typeface="Georgia"/>
              </a:rPr>
              <a:t> </a:t>
            </a:r>
            <a:r>
              <a:rPr sz="750" u="sng" spc="-7" dirty="0">
                <a:solidFill>
                  <a:srgbClr val="0562C1"/>
                </a:solidFill>
                <a:uFill>
                  <a:solidFill>
                    <a:srgbClr val="0562C1"/>
                  </a:solidFill>
                </a:uFill>
                <a:latin typeface="Georgia"/>
                <a:cs typeface="Georgia"/>
              </a:rPr>
              <a:t>here)</a:t>
            </a:r>
            <a:endParaRPr sz="750">
              <a:latin typeface="Georgia"/>
              <a:cs typeface="Georgia"/>
            </a:endParaRPr>
          </a:p>
          <a:p>
            <a:pPr marL="632097" indent="-155859">
              <a:spcBef>
                <a:spcPts val="82"/>
              </a:spcBef>
              <a:buFont typeface="Verdana"/>
              <a:buChar char="□"/>
              <a:tabLst>
                <a:tab pos="632097" algn="l"/>
              </a:tabLst>
            </a:pPr>
            <a:r>
              <a:rPr sz="750" dirty="0">
                <a:latin typeface="Georgia"/>
                <a:cs typeface="Georgia"/>
              </a:rPr>
              <a:t>Use</a:t>
            </a:r>
            <a:r>
              <a:rPr sz="750" spc="-10" dirty="0">
                <a:latin typeface="Georgia"/>
                <a:cs typeface="Georgia"/>
              </a:rPr>
              <a:t> </a:t>
            </a:r>
            <a:r>
              <a:rPr sz="750" dirty="0">
                <a:latin typeface="Georgia"/>
                <a:cs typeface="Georgia"/>
              </a:rPr>
              <a:t>the</a:t>
            </a:r>
            <a:r>
              <a:rPr sz="750" spc="-17" dirty="0">
                <a:latin typeface="Georgia"/>
                <a:cs typeface="Georgia"/>
              </a:rPr>
              <a:t> </a:t>
            </a:r>
            <a:r>
              <a:rPr sz="750" b="1" dirty="0">
                <a:latin typeface="Georgia"/>
                <a:cs typeface="Georgia"/>
              </a:rPr>
              <a:t>Any</a:t>
            </a:r>
            <a:r>
              <a:rPr sz="750" b="1" spc="-10" dirty="0">
                <a:latin typeface="Georgia"/>
                <a:cs typeface="Georgia"/>
              </a:rPr>
              <a:t> </a:t>
            </a:r>
            <a:r>
              <a:rPr sz="750" b="1" dirty="0">
                <a:latin typeface="Georgia"/>
                <a:cs typeface="Georgia"/>
              </a:rPr>
              <a:t>Good</a:t>
            </a:r>
            <a:r>
              <a:rPr sz="750" b="1" spc="-14" dirty="0">
                <a:latin typeface="Georgia"/>
                <a:cs typeface="Georgia"/>
              </a:rPr>
              <a:t> </a:t>
            </a:r>
            <a:r>
              <a:rPr sz="750" b="1" dirty="0">
                <a:latin typeface="Georgia"/>
                <a:cs typeface="Georgia"/>
              </a:rPr>
              <a:t>Case</a:t>
            </a:r>
            <a:r>
              <a:rPr sz="750" b="1" spc="-7" dirty="0">
                <a:latin typeface="Georgia"/>
                <a:cs typeface="Georgia"/>
              </a:rPr>
              <a:t> </a:t>
            </a:r>
            <a:r>
              <a:rPr sz="750" b="1" dirty="0">
                <a:latin typeface="Georgia"/>
                <a:cs typeface="Georgia"/>
              </a:rPr>
              <a:t>Method</a:t>
            </a:r>
            <a:r>
              <a:rPr sz="750" b="1" spc="-24" dirty="0">
                <a:latin typeface="Georgia"/>
                <a:cs typeface="Georgia"/>
              </a:rPr>
              <a:t> </a:t>
            </a:r>
            <a:r>
              <a:rPr sz="750" dirty="0">
                <a:latin typeface="Georgia"/>
                <a:cs typeface="Georgia"/>
              </a:rPr>
              <a:t>to</a:t>
            </a:r>
            <a:r>
              <a:rPr sz="750" spc="-10" dirty="0">
                <a:latin typeface="Georgia"/>
                <a:cs typeface="Georgia"/>
              </a:rPr>
              <a:t> </a:t>
            </a:r>
            <a:r>
              <a:rPr sz="750" dirty="0">
                <a:latin typeface="Georgia"/>
                <a:cs typeface="Georgia"/>
              </a:rPr>
              <a:t>find</a:t>
            </a:r>
            <a:r>
              <a:rPr sz="750" spc="-17" dirty="0">
                <a:latin typeface="Georgia"/>
                <a:cs typeface="Georgia"/>
              </a:rPr>
              <a:t> </a:t>
            </a:r>
            <a:r>
              <a:rPr sz="750" dirty="0">
                <a:latin typeface="Georgia"/>
                <a:cs typeface="Georgia"/>
              </a:rPr>
              <a:t>more</a:t>
            </a:r>
            <a:r>
              <a:rPr sz="750" spc="-17" dirty="0">
                <a:latin typeface="Georgia"/>
                <a:cs typeface="Georgia"/>
              </a:rPr>
              <a:t> </a:t>
            </a:r>
            <a:r>
              <a:rPr sz="750" dirty="0">
                <a:latin typeface="Georgia"/>
                <a:cs typeface="Georgia"/>
              </a:rPr>
              <a:t>binding</a:t>
            </a:r>
            <a:r>
              <a:rPr sz="750" spc="-20" dirty="0">
                <a:latin typeface="Georgia"/>
                <a:cs typeface="Georgia"/>
              </a:rPr>
              <a:t> </a:t>
            </a:r>
            <a:r>
              <a:rPr sz="750" dirty="0">
                <a:latin typeface="Georgia"/>
                <a:cs typeface="Georgia"/>
              </a:rPr>
              <a:t>cases</a:t>
            </a:r>
            <a:r>
              <a:rPr sz="750" spc="-7" dirty="0">
                <a:latin typeface="Georgia"/>
                <a:cs typeface="Georgia"/>
              </a:rPr>
              <a:t> </a:t>
            </a:r>
            <a:r>
              <a:rPr sz="750" dirty="0">
                <a:latin typeface="Georgia"/>
                <a:cs typeface="Georgia"/>
              </a:rPr>
              <a:t>on</a:t>
            </a:r>
            <a:r>
              <a:rPr sz="750" spc="-17" dirty="0">
                <a:latin typeface="Georgia"/>
                <a:cs typeface="Georgia"/>
              </a:rPr>
              <a:t> </a:t>
            </a:r>
            <a:r>
              <a:rPr sz="750" dirty="0">
                <a:latin typeface="Georgia"/>
                <a:cs typeface="Georgia"/>
              </a:rPr>
              <a:t>your</a:t>
            </a:r>
            <a:r>
              <a:rPr sz="750" spc="-10" dirty="0">
                <a:latin typeface="Georgia"/>
                <a:cs typeface="Georgia"/>
              </a:rPr>
              <a:t> </a:t>
            </a:r>
            <a:r>
              <a:rPr sz="750" spc="-7" dirty="0">
                <a:latin typeface="Georgia"/>
                <a:cs typeface="Georgia"/>
              </a:rPr>
              <a:t>issue</a:t>
            </a:r>
            <a:endParaRPr sz="750">
              <a:latin typeface="Georgia"/>
              <a:cs typeface="Georgia"/>
            </a:endParaRPr>
          </a:p>
          <a:p>
            <a:pPr marL="943816" marR="216039" lvl="1" indent="-156292">
              <a:lnSpc>
                <a:spcPct val="101800"/>
              </a:lnSpc>
              <a:buFont typeface="Wingdings"/>
              <a:buChar char=""/>
              <a:tabLst>
                <a:tab pos="943816" algn="l"/>
              </a:tabLst>
            </a:pPr>
            <a:r>
              <a:rPr sz="750" dirty="0">
                <a:latin typeface="Georgia"/>
                <a:cs typeface="Georgia"/>
              </a:rPr>
              <a:t>Identify</a:t>
            </a:r>
            <a:r>
              <a:rPr sz="750" spc="-17" dirty="0">
                <a:latin typeface="Georgia"/>
                <a:cs typeface="Georgia"/>
              </a:rPr>
              <a:t> </a:t>
            </a:r>
            <a:r>
              <a:rPr sz="750" dirty="0">
                <a:latin typeface="Georgia"/>
                <a:cs typeface="Georgia"/>
              </a:rPr>
              <a:t>the</a:t>
            </a:r>
            <a:r>
              <a:rPr sz="750" spc="-20" dirty="0">
                <a:latin typeface="Georgia"/>
                <a:cs typeface="Georgia"/>
              </a:rPr>
              <a:t> </a:t>
            </a:r>
            <a:r>
              <a:rPr sz="750" dirty="0">
                <a:latin typeface="Georgia"/>
                <a:cs typeface="Georgia"/>
              </a:rPr>
              <a:t>relevant</a:t>
            </a:r>
            <a:r>
              <a:rPr sz="750" spc="-24" dirty="0">
                <a:latin typeface="Georgia"/>
                <a:cs typeface="Georgia"/>
              </a:rPr>
              <a:t> </a:t>
            </a:r>
            <a:r>
              <a:rPr sz="750" dirty="0">
                <a:latin typeface="Georgia"/>
                <a:cs typeface="Georgia"/>
              </a:rPr>
              <a:t>headnotes</a:t>
            </a:r>
            <a:r>
              <a:rPr sz="750" spc="-17" dirty="0">
                <a:latin typeface="Georgia"/>
                <a:cs typeface="Georgia"/>
              </a:rPr>
              <a:t> </a:t>
            </a:r>
            <a:r>
              <a:rPr sz="750" dirty="0">
                <a:latin typeface="Georgia"/>
                <a:cs typeface="Georgia"/>
              </a:rPr>
              <a:t>for</a:t>
            </a:r>
            <a:r>
              <a:rPr sz="750" spc="-20" dirty="0">
                <a:latin typeface="Georgia"/>
                <a:cs typeface="Georgia"/>
              </a:rPr>
              <a:t> </a:t>
            </a:r>
            <a:r>
              <a:rPr sz="750" dirty="0">
                <a:latin typeface="Georgia"/>
                <a:cs typeface="Georgia"/>
              </a:rPr>
              <a:t>each</a:t>
            </a:r>
            <a:r>
              <a:rPr sz="750" spc="-14" dirty="0">
                <a:latin typeface="Georgia"/>
                <a:cs typeface="Georgia"/>
              </a:rPr>
              <a:t> </a:t>
            </a:r>
            <a:r>
              <a:rPr sz="750" dirty="0">
                <a:latin typeface="Georgia"/>
                <a:cs typeface="Georgia"/>
              </a:rPr>
              <a:t>of</a:t>
            </a:r>
            <a:r>
              <a:rPr sz="750" spc="-24" dirty="0">
                <a:latin typeface="Georgia"/>
                <a:cs typeface="Georgia"/>
              </a:rPr>
              <a:t> </a:t>
            </a:r>
            <a:r>
              <a:rPr sz="750" dirty="0">
                <a:latin typeface="Georgia"/>
                <a:cs typeface="Georgia"/>
              </a:rPr>
              <a:t>the</a:t>
            </a:r>
            <a:r>
              <a:rPr sz="750" spc="-14" dirty="0">
                <a:latin typeface="Georgia"/>
                <a:cs typeface="Georgia"/>
              </a:rPr>
              <a:t> </a:t>
            </a:r>
            <a:r>
              <a:rPr sz="750" dirty="0">
                <a:latin typeface="Georgia"/>
                <a:cs typeface="Georgia"/>
              </a:rPr>
              <a:t>research</a:t>
            </a:r>
            <a:r>
              <a:rPr sz="750" spc="-14" dirty="0">
                <a:latin typeface="Georgia"/>
                <a:cs typeface="Georgia"/>
              </a:rPr>
              <a:t> </a:t>
            </a:r>
            <a:r>
              <a:rPr sz="750" dirty="0">
                <a:latin typeface="Georgia"/>
                <a:cs typeface="Georgia"/>
              </a:rPr>
              <a:t>issues</a:t>
            </a:r>
            <a:r>
              <a:rPr sz="750" spc="-14" dirty="0">
                <a:latin typeface="Georgia"/>
                <a:cs typeface="Georgia"/>
              </a:rPr>
              <a:t> </a:t>
            </a:r>
            <a:r>
              <a:rPr sz="750" spc="-7" dirty="0">
                <a:latin typeface="Georgia"/>
                <a:cs typeface="Georgia"/>
              </a:rPr>
              <a:t>you’ve identified</a:t>
            </a:r>
            <a:endParaRPr sz="750">
              <a:latin typeface="Georgia"/>
              <a:cs typeface="Georgia"/>
            </a:endParaRPr>
          </a:p>
          <a:p>
            <a:pPr marL="943816" marR="3464" lvl="1" indent="-156292">
              <a:lnSpc>
                <a:spcPts val="927"/>
              </a:lnSpc>
              <a:spcBef>
                <a:spcPts val="24"/>
              </a:spcBef>
              <a:buFont typeface="Wingdings"/>
              <a:buChar char=""/>
              <a:tabLst>
                <a:tab pos="943816" algn="l"/>
              </a:tabLst>
            </a:pPr>
            <a:r>
              <a:rPr sz="750" b="1" dirty="0">
                <a:latin typeface="Georgia"/>
                <a:cs typeface="Georgia"/>
              </a:rPr>
              <a:t>Look</a:t>
            </a:r>
            <a:r>
              <a:rPr sz="750" b="1" spc="-14" dirty="0">
                <a:latin typeface="Georgia"/>
                <a:cs typeface="Georgia"/>
              </a:rPr>
              <a:t> </a:t>
            </a:r>
            <a:r>
              <a:rPr sz="750" b="1" spc="-7" dirty="0">
                <a:latin typeface="Georgia"/>
                <a:cs typeface="Georgia"/>
              </a:rPr>
              <a:t>Backwards</a:t>
            </a:r>
            <a:r>
              <a:rPr sz="750" spc="-7" dirty="0">
                <a:latin typeface="Georgia"/>
                <a:cs typeface="Georgia"/>
              </a:rPr>
              <a:t>: </a:t>
            </a:r>
            <a:r>
              <a:rPr sz="750" dirty="0">
                <a:latin typeface="Georgia"/>
                <a:cs typeface="Georgia"/>
              </a:rPr>
              <a:t>click</a:t>
            </a:r>
            <a:r>
              <a:rPr sz="750" spc="-20" dirty="0">
                <a:latin typeface="Georgia"/>
                <a:cs typeface="Georgia"/>
              </a:rPr>
              <a:t> </a:t>
            </a:r>
            <a:r>
              <a:rPr sz="750" dirty="0">
                <a:latin typeface="Georgia"/>
                <a:cs typeface="Georgia"/>
              </a:rPr>
              <a:t>at</a:t>
            </a:r>
            <a:r>
              <a:rPr sz="750" spc="-7" dirty="0">
                <a:latin typeface="Georgia"/>
                <a:cs typeface="Georgia"/>
              </a:rPr>
              <a:t> </a:t>
            </a:r>
            <a:r>
              <a:rPr sz="750" dirty="0">
                <a:latin typeface="Georgia"/>
                <a:cs typeface="Georgia"/>
              </a:rPr>
              <a:t>headnote</a:t>
            </a:r>
            <a:r>
              <a:rPr sz="750" spc="-7" dirty="0">
                <a:latin typeface="Georgia"/>
                <a:cs typeface="Georgia"/>
              </a:rPr>
              <a:t> </a:t>
            </a:r>
            <a:r>
              <a:rPr sz="750" dirty="0">
                <a:latin typeface="Georgia"/>
                <a:cs typeface="Georgia"/>
              </a:rPr>
              <a:t>number</a:t>
            </a:r>
            <a:r>
              <a:rPr sz="750" spc="-7" dirty="0">
                <a:latin typeface="Georgia"/>
                <a:cs typeface="Georgia"/>
              </a:rPr>
              <a:t> </a:t>
            </a:r>
            <a:r>
              <a:rPr sz="750" dirty="0">
                <a:latin typeface="Georgia"/>
                <a:cs typeface="Georgia"/>
              </a:rPr>
              <a:t>&amp;</a:t>
            </a:r>
            <a:r>
              <a:rPr sz="750" spc="-10" dirty="0">
                <a:latin typeface="Georgia"/>
                <a:cs typeface="Georgia"/>
              </a:rPr>
              <a:t> </a:t>
            </a:r>
            <a:r>
              <a:rPr sz="750" dirty="0">
                <a:latin typeface="Georgia"/>
                <a:cs typeface="Georgia"/>
              </a:rPr>
              <a:t>look</a:t>
            </a:r>
            <a:r>
              <a:rPr sz="750" spc="-10" dirty="0">
                <a:latin typeface="Georgia"/>
                <a:cs typeface="Georgia"/>
              </a:rPr>
              <a:t> </a:t>
            </a:r>
            <a:r>
              <a:rPr sz="750" dirty="0">
                <a:latin typeface="Georgia"/>
                <a:cs typeface="Georgia"/>
              </a:rPr>
              <a:t>at</a:t>
            </a:r>
            <a:r>
              <a:rPr sz="750" spc="-7" dirty="0">
                <a:latin typeface="Georgia"/>
                <a:cs typeface="Georgia"/>
              </a:rPr>
              <a:t> </a:t>
            </a:r>
            <a:r>
              <a:rPr sz="750" dirty="0">
                <a:latin typeface="Georgia"/>
                <a:cs typeface="Georgia"/>
              </a:rPr>
              <a:t>cases</a:t>
            </a:r>
            <a:r>
              <a:rPr sz="750" spc="-7" dirty="0">
                <a:latin typeface="Georgia"/>
                <a:cs typeface="Georgia"/>
              </a:rPr>
              <a:t> </a:t>
            </a:r>
            <a:r>
              <a:rPr sz="750" dirty="0">
                <a:latin typeface="Georgia"/>
                <a:cs typeface="Georgia"/>
              </a:rPr>
              <a:t>cited</a:t>
            </a:r>
            <a:r>
              <a:rPr sz="750" spc="-17" dirty="0">
                <a:latin typeface="Georgia"/>
                <a:cs typeface="Georgia"/>
              </a:rPr>
              <a:t> </a:t>
            </a:r>
            <a:r>
              <a:rPr sz="750" spc="-7" dirty="0">
                <a:latin typeface="Georgia"/>
                <a:cs typeface="Georgia"/>
              </a:rPr>
              <a:t>within </a:t>
            </a:r>
            <a:r>
              <a:rPr sz="750" dirty="0">
                <a:latin typeface="Georgia"/>
                <a:cs typeface="Georgia"/>
              </a:rPr>
              <a:t>your</a:t>
            </a:r>
            <a:r>
              <a:rPr sz="750" spc="-14" dirty="0">
                <a:latin typeface="Georgia"/>
                <a:cs typeface="Georgia"/>
              </a:rPr>
              <a:t> </a:t>
            </a:r>
            <a:r>
              <a:rPr sz="750" dirty="0">
                <a:latin typeface="Georgia"/>
                <a:cs typeface="Georgia"/>
              </a:rPr>
              <a:t>case</a:t>
            </a:r>
            <a:r>
              <a:rPr sz="750" spc="-17" dirty="0">
                <a:latin typeface="Georgia"/>
                <a:cs typeface="Georgia"/>
              </a:rPr>
              <a:t> </a:t>
            </a:r>
            <a:r>
              <a:rPr sz="750" dirty="0">
                <a:latin typeface="Georgia"/>
                <a:cs typeface="Georgia"/>
              </a:rPr>
              <a:t>(looking</a:t>
            </a:r>
            <a:r>
              <a:rPr sz="750" spc="-14" dirty="0">
                <a:latin typeface="Georgia"/>
                <a:cs typeface="Georgia"/>
              </a:rPr>
              <a:t> </a:t>
            </a:r>
            <a:r>
              <a:rPr sz="750" dirty="0">
                <a:latin typeface="Georgia"/>
                <a:cs typeface="Georgia"/>
              </a:rPr>
              <a:t>backward</a:t>
            </a:r>
            <a:r>
              <a:rPr sz="750" spc="-10" dirty="0">
                <a:latin typeface="Georgia"/>
                <a:cs typeface="Georgia"/>
              </a:rPr>
              <a:t> </a:t>
            </a:r>
            <a:r>
              <a:rPr sz="750" dirty="0">
                <a:latin typeface="Georgia"/>
                <a:cs typeface="Georgia"/>
              </a:rPr>
              <a:t>in</a:t>
            </a:r>
            <a:r>
              <a:rPr sz="750" spc="-17" dirty="0">
                <a:latin typeface="Georgia"/>
                <a:cs typeface="Georgia"/>
              </a:rPr>
              <a:t> </a:t>
            </a:r>
            <a:r>
              <a:rPr sz="750" dirty="0">
                <a:latin typeface="Georgia"/>
                <a:cs typeface="Georgia"/>
              </a:rPr>
              <a:t>time</a:t>
            </a:r>
            <a:r>
              <a:rPr sz="750" spc="-14" dirty="0">
                <a:latin typeface="Georgia"/>
                <a:cs typeface="Georgia"/>
              </a:rPr>
              <a:t> </a:t>
            </a:r>
            <a:r>
              <a:rPr sz="750" dirty="0">
                <a:latin typeface="Georgia"/>
                <a:cs typeface="Georgia"/>
              </a:rPr>
              <a:t>at</a:t>
            </a:r>
            <a:r>
              <a:rPr sz="750" spc="-10" dirty="0">
                <a:latin typeface="Georgia"/>
                <a:cs typeface="Georgia"/>
              </a:rPr>
              <a:t> </a:t>
            </a:r>
            <a:r>
              <a:rPr sz="750" dirty="0">
                <a:latin typeface="Georgia"/>
                <a:cs typeface="Georgia"/>
              </a:rPr>
              <a:t>cases</a:t>
            </a:r>
            <a:r>
              <a:rPr sz="750" spc="-14" dirty="0">
                <a:latin typeface="Georgia"/>
                <a:cs typeface="Georgia"/>
              </a:rPr>
              <a:t> </a:t>
            </a:r>
            <a:r>
              <a:rPr sz="750" dirty="0">
                <a:latin typeface="Georgia"/>
                <a:cs typeface="Georgia"/>
              </a:rPr>
              <a:t>your</a:t>
            </a:r>
            <a:r>
              <a:rPr sz="750" spc="-17" dirty="0">
                <a:latin typeface="Georgia"/>
                <a:cs typeface="Georgia"/>
              </a:rPr>
              <a:t> </a:t>
            </a:r>
            <a:r>
              <a:rPr sz="750" dirty="0">
                <a:latin typeface="Georgia"/>
                <a:cs typeface="Georgia"/>
              </a:rPr>
              <a:t>case</a:t>
            </a:r>
            <a:r>
              <a:rPr sz="750" spc="-10" dirty="0">
                <a:latin typeface="Georgia"/>
                <a:cs typeface="Georgia"/>
              </a:rPr>
              <a:t> </a:t>
            </a:r>
            <a:r>
              <a:rPr sz="750" dirty="0">
                <a:latin typeface="Georgia"/>
                <a:cs typeface="Georgia"/>
              </a:rPr>
              <a:t>is</a:t>
            </a:r>
            <a:r>
              <a:rPr sz="750" spc="-14" dirty="0">
                <a:latin typeface="Georgia"/>
                <a:cs typeface="Georgia"/>
              </a:rPr>
              <a:t> </a:t>
            </a:r>
            <a:r>
              <a:rPr sz="750" dirty="0">
                <a:latin typeface="Georgia"/>
                <a:cs typeface="Georgia"/>
              </a:rPr>
              <a:t>building</a:t>
            </a:r>
            <a:r>
              <a:rPr sz="750" spc="-20" dirty="0">
                <a:latin typeface="Georgia"/>
                <a:cs typeface="Georgia"/>
              </a:rPr>
              <a:t> </a:t>
            </a:r>
            <a:r>
              <a:rPr sz="750" spc="-17" dirty="0">
                <a:latin typeface="Georgia"/>
                <a:cs typeface="Georgia"/>
              </a:rPr>
              <a:t>on)</a:t>
            </a:r>
            <a:endParaRPr sz="750">
              <a:latin typeface="Georgia"/>
              <a:cs typeface="Georgia"/>
            </a:endParaRPr>
          </a:p>
          <a:p>
            <a:pPr marL="943816" lvl="1" indent="-155859">
              <a:lnSpc>
                <a:spcPts val="876"/>
              </a:lnSpc>
              <a:buFont typeface="Wingdings"/>
              <a:buChar char=""/>
              <a:tabLst>
                <a:tab pos="943816" algn="l"/>
              </a:tabLst>
            </a:pPr>
            <a:r>
              <a:rPr sz="750" b="1" dirty="0">
                <a:latin typeface="Georgia"/>
                <a:cs typeface="Georgia"/>
              </a:rPr>
              <a:t>Look</a:t>
            </a:r>
            <a:r>
              <a:rPr sz="750" b="1" spc="-10" dirty="0">
                <a:latin typeface="Georgia"/>
                <a:cs typeface="Georgia"/>
              </a:rPr>
              <a:t> </a:t>
            </a:r>
            <a:r>
              <a:rPr sz="750" b="1" dirty="0">
                <a:latin typeface="Georgia"/>
                <a:cs typeface="Georgia"/>
              </a:rPr>
              <a:t>Forwards</a:t>
            </a:r>
            <a:r>
              <a:rPr sz="750" dirty="0">
                <a:latin typeface="Georgia"/>
                <a:cs typeface="Georgia"/>
              </a:rPr>
              <a:t>:</a:t>
            </a:r>
            <a:r>
              <a:rPr sz="750" spc="-7" dirty="0">
                <a:latin typeface="Georgia"/>
                <a:cs typeface="Georgia"/>
              </a:rPr>
              <a:t> </a:t>
            </a:r>
            <a:r>
              <a:rPr sz="750" dirty="0">
                <a:latin typeface="Georgia"/>
                <a:cs typeface="Georgia"/>
              </a:rPr>
              <a:t>go</a:t>
            </a:r>
            <a:r>
              <a:rPr sz="750" spc="-3" dirty="0">
                <a:latin typeface="Georgia"/>
                <a:cs typeface="Georgia"/>
              </a:rPr>
              <a:t> </a:t>
            </a:r>
            <a:r>
              <a:rPr sz="750" dirty="0">
                <a:latin typeface="Georgia"/>
                <a:cs typeface="Georgia"/>
              </a:rPr>
              <a:t>to</a:t>
            </a:r>
            <a:r>
              <a:rPr sz="750" spc="-14" dirty="0">
                <a:latin typeface="Georgia"/>
                <a:cs typeface="Georgia"/>
              </a:rPr>
              <a:t> </a:t>
            </a:r>
            <a:r>
              <a:rPr sz="750" dirty="0">
                <a:latin typeface="Georgia"/>
                <a:cs typeface="Georgia"/>
              </a:rPr>
              <a:t>Citing</a:t>
            </a:r>
            <a:r>
              <a:rPr sz="750" spc="-7" dirty="0">
                <a:latin typeface="Georgia"/>
                <a:cs typeface="Georgia"/>
              </a:rPr>
              <a:t> References/Citing</a:t>
            </a:r>
            <a:r>
              <a:rPr sz="750" spc="-14" dirty="0">
                <a:latin typeface="Georgia"/>
                <a:cs typeface="Georgia"/>
              </a:rPr>
              <a:t> </a:t>
            </a:r>
            <a:r>
              <a:rPr sz="750" dirty="0">
                <a:latin typeface="Georgia"/>
                <a:cs typeface="Georgia"/>
              </a:rPr>
              <a:t>Decisions</a:t>
            </a:r>
            <a:r>
              <a:rPr sz="750" spc="-7" dirty="0">
                <a:latin typeface="Georgia"/>
                <a:cs typeface="Georgia"/>
              </a:rPr>
              <a:t> </a:t>
            </a:r>
            <a:r>
              <a:rPr sz="750" dirty="0">
                <a:latin typeface="Georgia"/>
                <a:cs typeface="Georgia"/>
              </a:rPr>
              <a:t>and</a:t>
            </a:r>
            <a:r>
              <a:rPr sz="750" spc="-3" dirty="0">
                <a:latin typeface="Georgia"/>
                <a:cs typeface="Georgia"/>
              </a:rPr>
              <a:t> </a:t>
            </a:r>
            <a:r>
              <a:rPr sz="750" dirty="0">
                <a:latin typeface="Georgia"/>
                <a:cs typeface="Georgia"/>
              </a:rPr>
              <a:t>look</a:t>
            </a:r>
            <a:r>
              <a:rPr sz="750" spc="-10" dirty="0">
                <a:latin typeface="Georgia"/>
                <a:cs typeface="Georgia"/>
              </a:rPr>
              <a:t> </a:t>
            </a:r>
            <a:r>
              <a:rPr sz="750" spc="-17" dirty="0">
                <a:latin typeface="Georgia"/>
                <a:cs typeface="Georgia"/>
              </a:rPr>
              <a:t>at</a:t>
            </a:r>
            <a:endParaRPr sz="750">
              <a:latin typeface="Georgia"/>
              <a:cs typeface="Georgia"/>
            </a:endParaRPr>
          </a:p>
          <a:p>
            <a:pPr marL="943816" marR="315615">
              <a:lnSpc>
                <a:spcPct val="101800"/>
              </a:lnSpc>
              <a:spcBef>
                <a:spcPts val="10"/>
              </a:spcBef>
            </a:pPr>
            <a:r>
              <a:rPr sz="750" dirty="0">
                <a:latin typeface="Georgia"/>
                <a:cs typeface="Georgia"/>
              </a:rPr>
              <a:t>cases</a:t>
            </a:r>
            <a:r>
              <a:rPr sz="750" spc="-20" dirty="0">
                <a:latin typeface="Georgia"/>
                <a:cs typeface="Georgia"/>
              </a:rPr>
              <a:t> </a:t>
            </a:r>
            <a:r>
              <a:rPr sz="750" dirty="0">
                <a:latin typeface="Georgia"/>
                <a:cs typeface="Georgia"/>
              </a:rPr>
              <a:t>that</a:t>
            </a:r>
            <a:r>
              <a:rPr sz="750" spc="-10" dirty="0">
                <a:latin typeface="Georgia"/>
                <a:cs typeface="Georgia"/>
              </a:rPr>
              <a:t> </a:t>
            </a:r>
            <a:r>
              <a:rPr sz="750" dirty="0">
                <a:latin typeface="Georgia"/>
                <a:cs typeface="Georgia"/>
              </a:rPr>
              <a:t>have</a:t>
            </a:r>
            <a:r>
              <a:rPr sz="750" spc="-10" dirty="0">
                <a:latin typeface="Georgia"/>
                <a:cs typeface="Georgia"/>
              </a:rPr>
              <a:t> </a:t>
            </a:r>
            <a:r>
              <a:rPr sz="750" dirty="0">
                <a:latin typeface="Georgia"/>
                <a:cs typeface="Georgia"/>
              </a:rPr>
              <a:t>cited</a:t>
            </a:r>
            <a:r>
              <a:rPr sz="750" spc="-10" dirty="0">
                <a:latin typeface="Georgia"/>
                <a:cs typeface="Georgia"/>
              </a:rPr>
              <a:t> </a:t>
            </a:r>
            <a:r>
              <a:rPr sz="750" dirty="0">
                <a:latin typeface="Georgia"/>
                <a:cs typeface="Georgia"/>
              </a:rPr>
              <a:t>your</a:t>
            </a:r>
            <a:r>
              <a:rPr sz="750" spc="-10" dirty="0">
                <a:latin typeface="Georgia"/>
                <a:cs typeface="Georgia"/>
              </a:rPr>
              <a:t> </a:t>
            </a:r>
            <a:r>
              <a:rPr sz="750" dirty="0">
                <a:latin typeface="Georgia"/>
                <a:cs typeface="Georgia"/>
              </a:rPr>
              <a:t>case</a:t>
            </a:r>
            <a:r>
              <a:rPr sz="750" spc="-10" dirty="0">
                <a:latin typeface="Georgia"/>
                <a:cs typeface="Georgia"/>
              </a:rPr>
              <a:t> </a:t>
            </a:r>
            <a:r>
              <a:rPr sz="750" dirty="0">
                <a:latin typeface="Georgia"/>
                <a:cs typeface="Georgia"/>
              </a:rPr>
              <a:t>on</a:t>
            </a:r>
            <a:r>
              <a:rPr sz="750" spc="-17" dirty="0">
                <a:latin typeface="Georgia"/>
                <a:cs typeface="Georgia"/>
              </a:rPr>
              <a:t> </a:t>
            </a:r>
            <a:r>
              <a:rPr sz="750" dirty="0">
                <a:latin typeface="Georgia"/>
                <a:cs typeface="Georgia"/>
              </a:rPr>
              <a:t>your</a:t>
            </a:r>
            <a:r>
              <a:rPr sz="750" spc="-10" dirty="0">
                <a:latin typeface="Georgia"/>
                <a:cs typeface="Georgia"/>
              </a:rPr>
              <a:t> </a:t>
            </a:r>
            <a:r>
              <a:rPr sz="750" dirty="0">
                <a:latin typeface="Georgia"/>
                <a:cs typeface="Georgia"/>
              </a:rPr>
              <a:t>issue</a:t>
            </a:r>
            <a:r>
              <a:rPr sz="750" spc="-10" dirty="0">
                <a:latin typeface="Georgia"/>
                <a:cs typeface="Georgia"/>
              </a:rPr>
              <a:t> </a:t>
            </a:r>
            <a:r>
              <a:rPr sz="750" dirty="0">
                <a:latin typeface="Georgia"/>
                <a:cs typeface="Georgia"/>
              </a:rPr>
              <a:t>(use</a:t>
            </a:r>
            <a:r>
              <a:rPr sz="750" spc="-10" dirty="0">
                <a:latin typeface="Georgia"/>
                <a:cs typeface="Georgia"/>
              </a:rPr>
              <a:t> </a:t>
            </a:r>
            <a:r>
              <a:rPr sz="750" dirty="0">
                <a:latin typeface="Georgia"/>
                <a:cs typeface="Georgia"/>
              </a:rPr>
              <a:t>the</a:t>
            </a:r>
            <a:r>
              <a:rPr sz="750" spc="-10" dirty="0">
                <a:latin typeface="Georgia"/>
                <a:cs typeface="Georgia"/>
              </a:rPr>
              <a:t> </a:t>
            </a:r>
            <a:r>
              <a:rPr sz="750" dirty="0">
                <a:latin typeface="Georgia"/>
                <a:cs typeface="Georgia"/>
              </a:rPr>
              <a:t>filters</a:t>
            </a:r>
            <a:r>
              <a:rPr sz="750" spc="-10" dirty="0">
                <a:latin typeface="Georgia"/>
                <a:cs typeface="Georgia"/>
              </a:rPr>
              <a:t> </a:t>
            </a:r>
            <a:r>
              <a:rPr sz="750" dirty="0">
                <a:latin typeface="Georgia"/>
                <a:cs typeface="Georgia"/>
              </a:rPr>
              <a:t>to</a:t>
            </a:r>
            <a:r>
              <a:rPr sz="750" spc="-10" dirty="0">
                <a:latin typeface="Georgia"/>
                <a:cs typeface="Georgia"/>
              </a:rPr>
              <a:t> </a:t>
            </a:r>
            <a:r>
              <a:rPr sz="750" spc="-14" dirty="0">
                <a:latin typeface="Georgia"/>
                <a:cs typeface="Georgia"/>
              </a:rPr>
              <a:t>find </a:t>
            </a:r>
            <a:r>
              <a:rPr sz="750" dirty="0">
                <a:latin typeface="Georgia"/>
                <a:cs typeface="Georgia"/>
              </a:rPr>
              <a:t>binding</a:t>
            </a:r>
            <a:r>
              <a:rPr sz="750" spc="-24" dirty="0">
                <a:latin typeface="Georgia"/>
                <a:cs typeface="Georgia"/>
              </a:rPr>
              <a:t> </a:t>
            </a:r>
            <a:r>
              <a:rPr sz="750" dirty="0">
                <a:latin typeface="Georgia"/>
                <a:cs typeface="Georgia"/>
              </a:rPr>
              <a:t>cases</a:t>
            </a:r>
            <a:r>
              <a:rPr sz="750" spc="-14" dirty="0">
                <a:latin typeface="Georgia"/>
                <a:cs typeface="Georgia"/>
              </a:rPr>
              <a:t> </a:t>
            </a:r>
            <a:r>
              <a:rPr sz="750" dirty="0">
                <a:latin typeface="Georgia"/>
                <a:cs typeface="Georgia"/>
              </a:rPr>
              <a:t>that</a:t>
            </a:r>
            <a:r>
              <a:rPr sz="750" spc="-14" dirty="0">
                <a:latin typeface="Georgia"/>
                <a:cs typeface="Georgia"/>
              </a:rPr>
              <a:t> </a:t>
            </a:r>
            <a:r>
              <a:rPr sz="750" dirty="0">
                <a:latin typeface="Georgia"/>
                <a:cs typeface="Georgia"/>
              </a:rPr>
              <a:t>discuss</a:t>
            </a:r>
            <a:r>
              <a:rPr sz="750" spc="-14" dirty="0">
                <a:latin typeface="Georgia"/>
                <a:cs typeface="Georgia"/>
              </a:rPr>
              <a:t> </a:t>
            </a:r>
            <a:r>
              <a:rPr sz="750" dirty="0">
                <a:latin typeface="Georgia"/>
                <a:cs typeface="Georgia"/>
              </a:rPr>
              <a:t>your</a:t>
            </a:r>
            <a:r>
              <a:rPr sz="750" spc="-14" dirty="0">
                <a:latin typeface="Georgia"/>
                <a:cs typeface="Georgia"/>
              </a:rPr>
              <a:t> </a:t>
            </a:r>
            <a:r>
              <a:rPr sz="750" spc="-7" dirty="0">
                <a:latin typeface="Georgia"/>
                <a:cs typeface="Georgia"/>
              </a:rPr>
              <a:t>issue)</a:t>
            </a:r>
            <a:endParaRPr sz="750">
              <a:latin typeface="Georgia"/>
              <a:cs typeface="Georgia"/>
            </a:endParaRPr>
          </a:p>
          <a:p>
            <a:pPr marL="943816" marR="253272" lvl="1" indent="-156292">
              <a:lnSpc>
                <a:spcPts val="927"/>
              </a:lnSpc>
              <a:spcBef>
                <a:spcPts val="24"/>
              </a:spcBef>
              <a:buFont typeface="Wingdings"/>
              <a:buChar char=""/>
              <a:tabLst>
                <a:tab pos="943816" algn="l"/>
              </a:tabLst>
            </a:pPr>
            <a:r>
              <a:rPr sz="750" b="1" dirty="0">
                <a:latin typeface="Georgia"/>
                <a:cs typeface="Georgia"/>
              </a:rPr>
              <a:t>Look</a:t>
            </a:r>
            <a:r>
              <a:rPr sz="750" b="1" spc="-14" dirty="0">
                <a:latin typeface="Georgia"/>
                <a:cs typeface="Georgia"/>
              </a:rPr>
              <a:t> </a:t>
            </a:r>
            <a:r>
              <a:rPr sz="750" b="1" spc="-7" dirty="0">
                <a:latin typeface="Georgia"/>
                <a:cs typeface="Georgia"/>
              </a:rPr>
              <a:t>Side-to-</a:t>
            </a:r>
            <a:r>
              <a:rPr sz="750" b="1" dirty="0">
                <a:latin typeface="Georgia"/>
                <a:cs typeface="Georgia"/>
              </a:rPr>
              <a:t>Side</a:t>
            </a:r>
            <a:r>
              <a:rPr sz="750" dirty="0">
                <a:latin typeface="Georgia"/>
                <a:cs typeface="Georgia"/>
              </a:rPr>
              <a:t>:</a:t>
            </a:r>
            <a:r>
              <a:rPr sz="750" spc="167" dirty="0">
                <a:latin typeface="Georgia"/>
                <a:cs typeface="Georgia"/>
              </a:rPr>
              <a:t> </a:t>
            </a:r>
            <a:r>
              <a:rPr sz="750" dirty="0">
                <a:latin typeface="Georgia"/>
                <a:cs typeface="Georgia"/>
              </a:rPr>
              <a:t>use</a:t>
            </a:r>
            <a:r>
              <a:rPr sz="750" spc="-7" dirty="0">
                <a:latin typeface="Georgia"/>
                <a:cs typeface="Georgia"/>
              </a:rPr>
              <a:t> </a:t>
            </a:r>
            <a:r>
              <a:rPr sz="750" dirty="0">
                <a:latin typeface="Georgia"/>
                <a:cs typeface="Georgia"/>
              </a:rPr>
              <a:t>Topic</a:t>
            </a:r>
            <a:r>
              <a:rPr sz="750" spc="-7" dirty="0">
                <a:latin typeface="Georgia"/>
                <a:cs typeface="Georgia"/>
              </a:rPr>
              <a:t> </a:t>
            </a:r>
            <a:r>
              <a:rPr sz="750" dirty="0">
                <a:latin typeface="Georgia"/>
                <a:cs typeface="Georgia"/>
              </a:rPr>
              <a:t>&amp;</a:t>
            </a:r>
            <a:r>
              <a:rPr sz="750" spc="-14" dirty="0">
                <a:latin typeface="Georgia"/>
                <a:cs typeface="Georgia"/>
              </a:rPr>
              <a:t> </a:t>
            </a:r>
            <a:r>
              <a:rPr sz="750" dirty="0">
                <a:latin typeface="Georgia"/>
                <a:cs typeface="Georgia"/>
              </a:rPr>
              <a:t>Key</a:t>
            </a:r>
            <a:r>
              <a:rPr sz="750" spc="-20" dirty="0">
                <a:latin typeface="Georgia"/>
                <a:cs typeface="Georgia"/>
              </a:rPr>
              <a:t> </a:t>
            </a:r>
            <a:r>
              <a:rPr sz="750" dirty="0">
                <a:latin typeface="Georgia"/>
                <a:cs typeface="Georgia"/>
              </a:rPr>
              <a:t>Numbers</a:t>
            </a:r>
            <a:r>
              <a:rPr sz="750" spc="-17" dirty="0">
                <a:latin typeface="Georgia"/>
                <a:cs typeface="Georgia"/>
              </a:rPr>
              <a:t> </a:t>
            </a:r>
            <a:r>
              <a:rPr sz="750" dirty="0">
                <a:latin typeface="Georgia"/>
                <a:cs typeface="Georgia"/>
              </a:rPr>
              <a:t>(WL)</a:t>
            </a:r>
            <a:r>
              <a:rPr sz="750" spc="-7" dirty="0">
                <a:latin typeface="Georgia"/>
                <a:cs typeface="Georgia"/>
              </a:rPr>
              <a:t> </a:t>
            </a:r>
            <a:r>
              <a:rPr sz="750" dirty="0">
                <a:latin typeface="Georgia"/>
                <a:cs typeface="Georgia"/>
              </a:rPr>
              <a:t>or</a:t>
            </a:r>
            <a:r>
              <a:rPr sz="750" spc="-7" dirty="0">
                <a:latin typeface="Georgia"/>
                <a:cs typeface="Georgia"/>
              </a:rPr>
              <a:t> headnotes </a:t>
            </a:r>
            <a:r>
              <a:rPr sz="750" dirty="0">
                <a:latin typeface="Georgia"/>
                <a:cs typeface="Georgia"/>
              </a:rPr>
              <a:t>(Lexis)</a:t>
            </a:r>
            <a:r>
              <a:rPr sz="750" spc="-17" dirty="0">
                <a:latin typeface="Georgia"/>
                <a:cs typeface="Georgia"/>
              </a:rPr>
              <a:t> </a:t>
            </a:r>
            <a:r>
              <a:rPr sz="750" dirty="0">
                <a:latin typeface="Georgia"/>
                <a:cs typeface="Georgia"/>
              </a:rPr>
              <a:t>to</a:t>
            </a:r>
            <a:r>
              <a:rPr sz="750" spc="-17" dirty="0">
                <a:latin typeface="Georgia"/>
                <a:cs typeface="Georgia"/>
              </a:rPr>
              <a:t> </a:t>
            </a:r>
            <a:r>
              <a:rPr sz="750" dirty="0">
                <a:latin typeface="Georgia"/>
                <a:cs typeface="Georgia"/>
              </a:rPr>
              <a:t>find</a:t>
            </a:r>
            <a:r>
              <a:rPr sz="750" spc="-17" dirty="0">
                <a:latin typeface="Georgia"/>
                <a:cs typeface="Georgia"/>
              </a:rPr>
              <a:t> </a:t>
            </a:r>
            <a:r>
              <a:rPr sz="750" dirty="0">
                <a:latin typeface="Georgia"/>
                <a:cs typeface="Georgia"/>
              </a:rPr>
              <a:t>all</a:t>
            </a:r>
            <a:r>
              <a:rPr sz="750" spc="-24" dirty="0">
                <a:latin typeface="Georgia"/>
                <a:cs typeface="Georgia"/>
              </a:rPr>
              <a:t> </a:t>
            </a:r>
            <a:r>
              <a:rPr sz="750" dirty="0">
                <a:latin typeface="Georgia"/>
                <a:cs typeface="Georgia"/>
              </a:rPr>
              <a:t>cases</a:t>
            </a:r>
            <a:r>
              <a:rPr sz="750" spc="-17" dirty="0">
                <a:latin typeface="Georgia"/>
                <a:cs typeface="Georgia"/>
              </a:rPr>
              <a:t> </a:t>
            </a:r>
            <a:r>
              <a:rPr sz="750" dirty="0">
                <a:latin typeface="Georgia"/>
                <a:cs typeface="Georgia"/>
              </a:rPr>
              <a:t>discussing</a:t>
            </a:r>
            <a:r>
              <a:rPr sz="750" spc="-17" dirty="0">
                <a:latin typeface="Georgia"/>
                <a:cs typeface="Georgia"/>
              </a:rPr>
              <a:t> </a:t>
            </a:r>
            <a:r>
              <a:rPr sz="750" dirty="0">
                <a:latin typeface="Georgia"/>
                <a:cs typeface="Georgia"/>
              </a:rPr>
              <a:t>the</a:t>
            </a:r>
            <a:r>
              <a:rPr sz="750" spc="-17" dirty="0">
                <a:latin typeface="Georgia"/>
                <a:cs typeface="Georgia"/>
              </a:rPr>
              <a:t> </a:t>
            </a:r>
            <a:r>
              <a:rPr sz="750" dirty="0">
                <a:latin typeface="Georgia"/>
                <a:cs typeface="Georgia"/>
              </a:rPr>
              <a:t>same</a:t>
            </a:r>
            <a:r>
              <a:rPr sz="750" spc="-17" dirty="0">
                <a:latin typeface="Georgia"/>
                <a:cs typeface="Georgia"/>
              </a:rPr>
              <a:t> </a:t>
            </a:r>
            <a:r>
              <a:rPr sz="750" dirty="0">
                <a:latin typeface="Georgia"/>
                <a:cs typeface="Georgia"/>
              </a:rPr>
              <a:t>issue</a:t>
            </a:r>
            <a:r>
              <a:rPr sz="750" spc="-17" dirty="0">
                <a:latin typeface="Georgia"/>
                <a:cs typeface="Georgia"/>
              </a:rPr>
              <a:t> </a:t>
            </a:r>
            <a:r>
              <a:rPr sz="750" dirty="0">
                <a:latin typeface="Georgia"/>
                <a:cs typeface="Georgia"/>
              </a:rPr>
              <a:t>you’re</a:t>
            </a:r>
            <a:r>
              <a:rPr sz="750" spc="-17" dirty="0">
                <a:latin typeface="Georgia"/>
                <a:cs typeface="Georgia"/>
              </a:rPr>
              <a:t> </a:t>
            </a:r>
            <a:r>
              <a:rPr sz="750" dirty="0">
                <a:latin typeface="Georgia"/>
                <a:cs typeface="Georgia"/>
              </a:rPr>
              <a:t>working</a:t>
            </a:r>
            <a:r>
              <a:rPr sz="750" spc="-17" dirty="0">
                <a:latin typeface="Georgia"/>
                <a:cs typeface="Georgia"/>
              </a:rPr>
              <a:t> on</a:t>
            </a:r>
            <a:endParaRPr sz="750">
              <a:latin typeface="Georgia"/>
              <a:cs typeface="Georgia"/>
            </a:endParaRPr>
          </a:p>
          <a:p>
            <a:pPr marL="8659" marR="64509" algn="just">
              <a:lnSpc>
                <a:spcPct val="102200"/>
              </a:lnSpc>
              <a:spcBef>
                <a:spcPts val="505"/>
              </a:spcBef>
            </a:pPr>
            <a:r>
              <a:rPr sz="750" b="1" dirty="0">
                <a:latin typeface="Georgia"/>
                <a:cs typeface="Georgia"/>
              </a:rPr>
              <a:t>Remember</a:t>
            </a:r>
            <a:r>
              <a:rPr sz="750" dirty="0">
                <a:latin typeface="Georgia"/>
                <a:cs typeface="Georgia"/>
              </a:rPr>
              <a:t>:</a:t>
            </a:r>
            <a:r>
              <a:rPr sz="750" spc="156" dirty="0">
                <a:latin typeface="Georgia"/>
                <a:cs typeface="Georgia"/>
              </a:rPr>
              <a:t> </a:t>
            </a:r>
            <a:r>
              <a:rPr sz="750" dirty="0">
                <a:latin typeface="Georgia"/>
                <a:cs typeface="Georgia"/>
              </a:rPr>
              <a:t>you’ll</a:t>
            </a:r>
            <a:r>
              <a:rPr sz="750" spc="-14" dirty="0">
                <a:latin typeface="Georgia"/>
                <a:cs typeface="Georgia"/>
              </a:rPr>
              <a:t> </a:t>
            </a:r>
            <a:r>
              <a:rPr sz="750" b="1" dirty="0">
                <a:latin typeface="Georgia"/>
                <a:cs typeface="Georgia"/>
              </a:rPr>
              <a:t>repeat</a:t>
            </a:r>
            <a:r>
              <a:rPr sz="750" b="1" spc="-20" dirty="0">
                <a:latin typeface="Georgia"/>
                <a:cs typeface="Georgia"/>
              </a:rPr>
              <a:t> </a:t>
            </a:r>
            <a:r>
              <a:rPr sz="750" dirty="0">
                <a:latin typeface="Georgia"/>
                <a:cs typeface="Georgia"/>
              </a:rPr>
              <a:t>many</a:t>
            </a:r>
            <a:r>
              <a:rPr sz="750" spc="-14" dirty="0">
                <a:latin typeface="Georgia"/>
                <a:cs typeface="Georgia"/>
              </a:rPr>
              <a:t> </a:t>
            </a:r>
            <a:r>
              <a:rPr sz="750" dirty="0">
                <a:latin typeface="Georgia"/>
                <a:cs typeface="Georgia"/>
              </a:rPr>
              <a:t>of</a:t>
            </a:r>
            <a:r>
              <a:rPr sz="750" spc="-14" dirty="0">
                <a:latin typeface="Georgia"/>
                <a:cs typeface="Georgia"/>
              </a:rPr>
              <a:t> </a:t>
            </a:r>
            <a:r>
              <a:rPr sz="750" dirty="0">
                <a:latin typeface="Georgia"/>
                <a:cs typeface="Georgia"/>
              </a:rPr>
              <a:t>these</a:t>
            </a:r>
            <a:r>
              <a:rPr sz="750" spc="-17" dirty="0">
                <a:latin typeface="Georgia"/>
                <a:cs typeface="Georgia"/>
              </a:rPr>
              <a:t> </a:t>
            </a:r>
            <a:r>
              <a:rPr sz="750" dirty="0">
                <a:latin typeface="Georgia"/>
                <a:cs typeface="Georgia"/>
              </a:rPr>
              <a:t>steps</a:t>
            </a:r>
            <a:r>
              <a:rPr sz="750" spc="-20" dirty="0">
                <a:latin typeface="Georgia"/>
                <a:cs typeface="Georgia"/>
              </a:rPr>
              <a:t> </a:t>
            </a:r>
            <a:r>
              <a:rPr sz="750" dirty="0">
                <a:latin typeface="Georgia"/>
                <a:cs typeface="Georgia"/>
              </a:rPr>
              <a:t>again</a:t>
            </a:r>
            <a:r>
              <a:rPr sz="750" spc="-17" dirty="0">
                <a:latin typeface="Georgia"/>
                <a:cs typeface="Georgia"/>
              </a:rPr>
              <a:t> </a:t>
            </a:r>
            <a:r>
              <a:rPr sz="750" dirty="0">
                <a:latin typeface="Georgia"/>
                <a:cs typeface="Georgia"/>
              </a:rPr>
              <a:t>and</a:t>
            </a:r>
            <a:r>
              <a:rPr sz="750" spc="-10" dirty="0">
                <a:latin typeface="Georgia"/>
                <a:cs typeface="Georgia"/>
              </a:rPr>
              <a:t> </a:t>
            </a:r>
            <a:r>
              <a:rPr sz="750" dirty="0">
                <a:latin typeface="Georgia"/>
                <a:cs typeface="Georgia"/>
              </a:rPr>
              <a:t>again,</a:t>
            </a:r>
            <a:r>
              <a:rPr sz="750" spc="-10" dirty="0">
                <a:latin typeface="Georgia"/>
                <a:cs typeface="Georgia"/>
              </a:rPr>
              <a:t> </a:t>
            </a:r>
            <a:r>
              <a:rPr sz="750" dirty="0">
                <a:latin typeface="Georgia"/>
                <a:cs typeface="Georgia"/>
              </a:rPr>
              <a:t>as</a:t>
            </a:r>
            <a:r>
              <a:rPr sz="750" spc="-10" dirty="0">
                <a:latin typeface="Georgia"/>
                <a:cs typeface="Georgia"/>
              </a:rPr>
              <a:t> </a:t>
            </a:r>
            <a:r>
              <a:rPr sz="750" dirty="0">
                <a:latin typeface="Georgia"/>
                <a:cs typeface="Georgia"/>
              </a:rPr>
              <a:t>you</a:t>
            </a:r>
            <a:r>
              <a:rPr sz="750" spc="-14" dirty="0">
                <a:latin typeface="Georgia"/>
                <a:cs typeface="Georgia"/>
              </a:rPr>
              <a:t> </a:t>
            </a:r>
            <a:r>
              <a:rPr sz="750" dirty="0">
                <a:latin typeface="Georgia"/>
                <a:cs typeface="Georgia"/>
              </a:rPr>
              <a:t>work</a:t>
            </a:r>
            <a:r>
              <a:rPr sz="750" spc="-24" dirty="0">
                <a:latin typeface="Georgia"/>
                <a:cs typeface="Georgia"/>
              </a:rPr>
              <a:t> </a:t>
            </a:r>
            <a:r>
              <a:rPr sz="750" dirty="0">
                <a:latin typeface="Georgia"/>
                <a:cs typeface="Georgia"/>
              </a:rPr>
              <a:t>through</a:t>
            </a:r>
            <a:r>
              <a:rPr sz="750" spc="-10" dirty="0">
                <a:latin typeface="Georgia"/>
                <a:cs typeface="Georgia"/>
              </a:rPr>
              <a:t> </a:t>
            </a:r>
            <a:r>
              <a:rPr sz="750" dirty="0">
                <a:latin typeface="Georgia"/>
                <a:cs typeface="Georgia"/>
              </a:rPr>
              <a:t>all</a:t>
            </a:r>
            <a:r>
              <a:rPr sz="750" spc="-17" dirty="0">
                <a:latin typeface="Georgia"/>
                <a:cs typeface="Georgia"/>
              </a:rPr>
              <a:t> </a:t>
            </a:r>
            <a:r>
              <a:rPr sz="750" spc="-14" dirty="0">
                <a:latin typeface="Georgia"/>
                <a:cs typeface="Georgia"/>
              </a:rPr>
              <a:t>your </a:t>
            </a:r>
            <a:r>
              <a:rPr sz="750" dirty="0">
                <a:latin typeface="Georgia"/>
                <a:cs typeface="Georgia"/>
              </a:rPr>
              <a:t>specific</a:t>
            </a:r>
            <a:r>
              <a:rPr sz="750" spc="-14" dirty="0">
                <a:latin typeface="Georgia"/>
                <a:cs typeface="Georgia"/>
              </a:rPr>
              <a:t> </a:t>
            </a:r>
            <a:r>
              <a:rPr sz="750" spc="-7" dirty="0">
                <a:latin typeface="Georgia"/>
                <a:cs typeface="Georgia"/>
              </a:rPr>
              <a:t>sub-</a:t>
            </a:r>
            <a:r>
              <a:rPr sz="750" dirty="0">
                <a:latin typeface="Georgia"/>
                <a:cs typeface="Georgia"/>
              </a:rPr>
              <a:t>issues,</a:t>
            </a:r>
            <a:r>
              <a:rPr sz="750" spc="-10" dirty="0">
                <a:latin typeface="Georgia"/>
                <a:cs typeface="Georgia"/>
              </a:rPr>
              <a:t> </a:t>
            </a:r>
            <a:r>
              <a:rPr sz="750" dirty="0">
                <a:latin typeface="Georgia"/>
                <a:cs typeface="Georgia"/>
              </a:rPr>
              <a:t>and</a:t>
            </a:r>
            <a:r>
              <a:rPr sz="750" spc="-14" dirty="0">
                <a:latin typeface="Georgia"/>
                <a:cs typeface="Georgia"/>
              </a:rPr>
              <a:t> </a:t>
            </a:r>
            <a:r>
              <a:rPr sz="750" dirty="0">
                <a:latin typeface="Georgia"/>
                <a:cs typeface="Georgia"/>
              </a:rPr>
              <a:t>you’ll</a:t>
            </a:r>
            <a:r>
              <a:rPr sz="750" spc="-17" dirty="0">
                <a:latin typeface="Georgia"/>
                <a:cs typeface="Georgia"/>
              </a:rPr>
              <a:t> </a:t>
            </a:r>
            <a:r>
              <a:rPr sz="750" dirty="0">
                <a:latin typeface="Georgia"/>
                <a:cs typeface="Georgia"/>
              </a:rPr>
              <a:t>do</a:t>
            </a:r>
            <a:r>
              <a:rPr sz="750" spc="-17" dirty="0">
                <a:latin typeface="Georgia"/>
                <a:cs typeface="Georgia"/>
              </a:rPr>
              <a:t> </a:t>
            </a:r>
            <a:r>
              <a:rPr sz="750" dirty="0">
                <a:latin typeface="Georgia"/>
                <a:cs typeface="Georgia"/>
              </a:rPr>
              <a:t>the</a:t>
            </a:r>
            <a:r>
              <a:rPr sz="750" spc="-14" dirty="0">
                <a:latin typeface="Georgia"/>
                <a:cs typeface="Georgia"/>
              </a:rPr>
              <a:t> </a:t>
            </a:r>
            <a:r>
              <a:rPr sz="750" dirty="0">
                <a:latin typeface="Georgia"/>
                <a:cs typeface="Georgia"/>
              </a:rPr>
              <a:t>Any</a:t>
            </a:r>
            <a:r>
              <a:rPr sz="750" spc="-24" dirty="0">
                <a:latin typeface="Georgia"/>
                <a:cs typeface="Georgia"/>
              </a:rPr>
              <a:t> </a:t>
            </a:r>
            <a:r>
              <a:rPr sz="750" dirty="0">
                <a:latin typeface="Georgia"/>
                <a:cs typeface="Georgia"/>
              </a:rPr>
              <a:t>Good</a:t>
            </a:r>
            <a:r>
              <a:rPr sz="750" spc="-10" dirty="0">
                <a:latin typeface="Georgia"/>
                <a:cs typeface="Georgia"/>
              </a:rPr>
              <a:t> </a:t>
            </a:r>
            <a:r>
              <a:rPr sz="750" dirty="0">
                <a:latin typeface="Georgia"/>
                <a:cs typeface="Georgia"/>
              </a:rPr>
              <a:t>Case</a:t>
            </a:r>
            <a:r>
              <a:rPr sz="750" spc="-14" dirty="0">
                <a:latin typeface="Georgia"/>
                <a:cs typeface="Georgia"/>
              </a:rPr>
              <a:t> </a:t>
            </a:r>
            <a:r>
              <a:rPr sz="750" dirty="0">
                <a:latin typeface="Georgia"/>
                <a:cs typeface="Georgia"/>
              </a:rPr>
              <a:t>method</a:t>
            </a:r>
            <a:r>
              <a:rPr sz="750" spc="-10" dirty="0">
                <a:latin typeface="Georgia"/>
                <a:cs typeface="Georgia"/>
              </a:rPr>
              <a:t> </a:t>
            </a:r>
            <a:r>
              <a:rPr sz="750" dirty="0">
                <a:latin typeface="Georgia"/>
                <a:cs typeface="Georgia"/>
              </a:rPr>
              <a:t>especially</a:t>
            </a:r>
            <a:r>
              <a:rPr sz="750" spc="-17" dirty="0">
                <a:latin typeface="Georgia"/>
                <a:cs typeface="Georgia"/>
              </a:rPr>
              <a:t> </a:t>
            </a:r>
            <a:r>
              <a:rPr sz="750" dirty="0">
                <a:latin typeface="Georgia"/>
                <a:cs typeface="Georgia"/>
              </a:rPr>
              <a:t>over</a:t>
            </a:r>
            <a:r>
              <a:rPr sz="750" spc="-10" dirty="0">
                <a:latin typeface="Georgia"/>
                <a:cs typeface="Georgia"/>
              </a:rPr>
              <a:t> </a:t>
            </a:r>
            <a:r>
              <a:rPr sz="750" dirty="0">
                <a:latin typeface="Georgia"/>
                <a:cs typeface="Georgia"/>
              </a:rPr>
              <a:t>and</a:t>
            </a:r>
            <a:r>
              <a:rPr sz="750" spc="-14" dirty="0">
                <a:latin typeface="Georgia"/>
                <a:cs typeface="Georgia"/>
              </a:rPr>
              <a:t> </a:t>
            </a:r>
            <a:r>
              <a:rPr sz="750" dirty="0">
                <a:latin typeface="Georgia"/>
                <a:cs typeface="Georgia"/>
              </a:rPr>
              <a:t>over</a:t>
            </a:r>
            <a:r>
              <a:rPr sz="750" spc="-17" dirty="0">
                <a:latin typeface="Georgia"/>
                <a:cs typeface="Georgia"/>
              </a:rPr>
              <a:t> </a:t>
            </a:r>
            <a:r>
              <a:rPr sz="750" dirty="0">
                <a:latin typeface="Georgia"/>
                <a:cs typeface="Georgia"/>
              </a:rPr>
              <a:t>until</a:t>
            </a:r>
            <a:r>
              <a:rPr sz="750" spc="-17" dirty="0">
                <a:latin typeface="Georgia"/>
                <a:cs typeface="Georgia"/>
              </a:rPr>
              <a:t> you </a:t>
            </a:r>
            <a:r>
              <a:rPr sz="750" dirty="0">
                <a:latin typeface="Georgia"/>
                <a:cs typeface="Georgia"/>
              </a:rPr>
              <a:t>start</a:t>
            </a:r>
            <a:r>
              <a:rPr sz="750" spc="-20" dirty="0">
                <a:latin typeface="Georgia"/>
                <a:cs typeface="Georgia"/>
              </a:rPr>
              <a:t> </a:t>
            </a:r>
            <a:r>
              <a:rPr sz="750" dirty="0">
                <a:latin typeface="Georgia"/>
                <a:cs typeface="Georgia"/>
              </a:rPr>
              <a:t>coming</a:t>
            </a:r>
            <a:r>
              <a:rPr sz="750" spc="-10" dirty="0">
                <a:latin typeface="Georgia"/>
                <a:cs typeface="Georgia"/>
              </a:rPr>
              <a:t> </a:t>
            </a:r>
            <a:r>
              <a:rPr sz="750" dirty="0">
                <a:latin typeface="Georgia"/>
                <a:cs typeface="Georgia"/>
              </a:rPr>
              <a:t>across</a:t>
            </a:r>
            <a:r>
              <a:rPr sz="750" spc="-10" dirty="0">
                <a:latin typeface="Georgia"/>
                <a:cs typeface="Georgia"/>
              </a:rPr>
              <a:t> </a:t>
            </a:r>
            <a:r>
              <a:rPr sz="750" dirty="0">
                <a:latin typeface="Georgia"/>
                <a:cs typeface="Georgia"/>
              </a:rPr>
              <a:t>the</a:t>
            </a:r>
            <a:r>
              <a:rPr sz="750" spc="-10" dirty="0">
                <a:latin typeface="Georgia"/>
                <a:cs typeface="Georgia"/>
              </a:rPr>
              <a:t> </a:t>
            </a:r>
            <a:r>
              <a:rPr sz="750" dirty="0">
                <a:latin typeface="Georgia"/>
                <a:cs typeface="Georgia"/>
              </a:rPr>
              <a:t>same</a:t>
            </a:r>
            <a:r>
              <a:rPr sz="750" spc="-10" dirty="0">
                <a:latin typeface="Georgia"/>
                <a:cs typeface="Georgia"/>
              </a:rPr>
              <a:t> </a:t>
            </a:r>
            <a:r>
              <a:rPr sz="750" dirty="0">
                <a:latin typeface="Georgia"/>
                <a:cs typeface="Georgia"/>
              </a:rPr>
              <a:t>cases</a:t>
            </a:r>
            <a:r>
              <a:rPr sz="750" spc="-10" dirty="0">
                <a:latin typeface="Georgia"/>
                <a:cs typeface="Georgia"/>
              </a:rPr>
              <a:t> </a:t>
            </a:r>
            <a:r>
              <a:rPr sz="750" dirty="0">
                <a:latin typeface="Georgia"/>
                <a:cs typeface="Georgia"/>
              </a:rPr>
              <a:t>again</a:t>
            </a:r>
            <a:r>
              <a:rPr sz="750" spc="-17" dirty="0">
                <a:latin typeface="Georgia"/>
                <a:cs typeface="Georgia"/>
              </a:rPr>
              <a:t> </a:t>
            </a:r>
            <a:r>
              <a:rPr sz="750" dirty="0">
                <a:latin typeface="Georgia"/>
                <a:cs typeface="Georgia"/>
              </a:rPr>
              <a:t>and</a:t>
            </a:r>
            <a:r>
              <a:rPr sz="750" spc="-10" dirty="0">
                <a:latin typeface="Georgia"/>
                <a:cs typeface="Georgia"/>
              </a:rPr>
              <a:t> </a:t>
            </a:r>
            <a:r>
              <a:rPr sz="750" spc="-7" dirty="0">
                <a:latin typeface="Georgia"/>
                <a:cs typeface="Georgia"/>
              </a:rPr>
              <a:t>again.</a:t>
            </a:r>
            <a:endParaRPr sz="750">
              <a:latin typeface="Georgia"/>
              <a:cs typeface="Georgia"/>
            </a:endParaRPr>
          </a:p>
          <a:p>
            <a:pPr marL="8659" marR="501348">
              <a:lnSpc>
                <a:spcPct val="101800"/>
              </a:lnSpc>
              <a:spcBef>
                <a:spcPts val="549"/>
              </a:spcBef>
            </a:pPr>
            <a:r>
              <a:rPr sz="750" dirty="0">
                <a:latin typeface="Georgia"/>
                <a:cs typeface="Georgia"/>
              </a:rPr>
              <a:t>Stop</a:t>
            </a:r>
            <a:r>
              <a:rPr sz="750" spc="-20" dirty="0">
                <a:latin typeface="Georgia"/>
                <a:cs typeface="Georgia"/>
              </a:rPr>
              <a:t> </a:t>
            </a:r>
            <a:r>
              <a:rPr sz="750" dirty="0">
                <a:latin typeface="Georgia"/>
                <a:cs typeface="Georgia"/>
              </a:rPr>
              <a:t>by</a:t>
            </a:r>
            <a:r>
              <a:rPr sz="750" spc="-14" dirty="0">
                <a:latin typeface="Georgia"/>
                <a:cs typeface="Georgia"/>
              </a:rPr>
              <a:t> </a:t>
            </a:r>
            <a:r>
              <a:rPr sz="750" dirty="0">
                <a:latin typeface="Georgia"/>
                <a:cs typeface="Georgia"/>
              </a:rPr>
              <a:t>the</a:t>
            </a:r>
            <a:r>
              <a:rPr sz="750" spc="-10" dirty="0">
                <a:latin typeface="Georgia"/>
                <a:cs typeface="Georgia"/>
              </a:rPr>
              <a:t> </a:t>
            </a:r>
            <a:r>
              <a:rPr sz="750" spc="-7" dirty="0">
                <a:latin typeface="Georgia"/>
                <a:cs typeface="Georgia"/>
              </a:rPr>
              <a:t>reference</a:t>
            </a:r>
            <a:r>
              <a:rPr sz="750" spc="-10" dirty="0">
                <a:latin typeface="Georgia"/>
                <a:cs typeface="Georgia"/>
              </a:rPr>
              <a:t> </a:t>
            </a:r>
            <a:r>
              <a:rPr sz="750" dirty="0">
                <a:latin typeface="Georgia"/>
                <a:cs typeface="Georgia"/>
              </a:rPr>
              <a:t>desk,</a:t>
            </a:r>
            <a:r>
              <a:rPr sz="750" spc="-14" dirty="0">
                <a:latin typeface="Georgia"/>
                <a:cs typeface="Georgia"/>
              </a:rPr>
              <a:t> </a:t>
            </a:r>
            <a:r>
              <a:rPr sz="750" dirty="0">
                <a:latin typeface="Georgia"/>
                <a:cs typeface="Georgia"/>
              </a:rPr>
              <a:t>the</a:t>
            </a:r>
            <a:r>
              <a:rPr sz="750" spc="-10" dirty="0">
                <a:latin typeface="Georgia"/>
                <a:cs typeface="Georgia"/>
              </a:rPr>
              <a:t> </a:t>
            </a:r>
            <a:r>
              <a:rPr sz="750" dirty="0">
                <a:latin typeface="Georgia"/>
                <a:cs typeface="Georgia"/>
              </a:rPr>
              <a:t>research</a:t>
            </a:r>
            <a:r>
              <a:rPr sz="750" spc="-10" dirty="0">
                <a:latin typeface="Georgia"/>
                <a:cs typeface="Georgia"/>
              </a:rPr>
              <a:t> </a:t>
            </a:r>
            <a:r>
              <a:rPr sz="750" dirty="0">
                <a:latin typeface="Georgia"/>
                <a:cs typeface="Georgia"/>
              </a:rPr>
              <a:t>fellows’</a:t>
            </a:r>
            <a:r>
              <a:rPr sz="750" spc="-10" dirty="0">
                <a:latin typeface="Georgia"/>
                <a:cs typeface="Georgia"/>
              </a:rPr>
              <a:t> </a:t>
            </a:r>
            <a:r>
              <a:rPr sz="750" dirty="0">
                <a:latin typeface="Georgia"/>
                <a:cs typeface="Georgia"/>
              </a:rPr>
              <a:t>office</a:t>
            </a:r>
            <a:r>
              <a:rPr sz="750" spc="-20" dirty="0">
                <a:latin typeface="Georgia"/>
                <a:cs typeface="Georgia"/>
              </a:rPr>
              <a:t> </a:t>
            </a:r>
            <a:r>
              <a:rPr sz="750" dirty="0">
                <a:latin typeface="Georgia"/>
                <a:cs typeface="Georgia"/>
              </a:rPr>
              <a:t>hours,</a:t>
            </a:r>
            <a:r>
              <a:rPr sz="750" spc="-10" dirty="0">
                <a:latin typeface="Georgia"/>
                <a:cs typeface="Georgia"/>
              </a:rPr>
              <a:t> </a:t>
            </a:r>
            <a:r>
              <a:rPr sz="750" dirty="0">
                <a:latin typeface="Georgia"/>
                <a:cs typeface="Georgia"/>
              </a:rPr>
              <a:t>or</a:t>
            </a:r>
            <a:r>
              <a:rPr sz="750" spc="-10" dirty="0">
                <a:latin typeface="Georgia"/>
                <a:cs typeface="Georgia"/>
              </a:rPr>
              <a:t> </a:t>
            </a:r>
            <a:r>
              <a:rPr sz="750" dirty="0">
                <a:latin typeface="Georgia"/>
                <a:cs typeface="Georgia"/>
              </a:rPr>
              <a:t>email</a:t>
            </a:r>
            <a:r>
              <a:rPr sz="750" spc="-17" dirty="0">
                <a:latin typeface="Georgia"/>
                <a:cs typeface="Georgia"/>
              </a:rPr>
              <a:t> </a:t>
            </a:r>
            <a:r>
              <a:rPr sz="750" dirty="0">
                <a:latin typeface="Georgia"/>
                <a:cs typeface="Georgia"/>
              </a:rPr>
              <a:t>Prof.</a:t>
            </a:r>
            <a:r>
              <a:rPr sz="750" spc="-20" dirty="0">
                <a:latin typeface="Georgia"/>
                <a:cs typeface="Georgia"/>
              </a:rPr>
              <a:t> </a:t>
            </a:r>
            <a:r>
              <a:rPr sz="750" dirty="0">
                <a:latin typeface="Georgia"/>
                <a:cs typeface="Georgia"/>
              </a:rPr>
              <a:t>Drake</a:t>
            </a:r>
            <a:r>
              <a:rPr sz="750" spc="-14" dirty="0">
                <a:latin typeface="Georgia"/>
                <a:cs typeface="Georgia"/>
              </a:rPr>
              <a:t> </a:t>
            </a:r>
            <a:r>
              <a:rPr sz="750" spc="-17" dirty="0">
                <a:latin typeface="Georgia"/>
                <a:cs typeface="Georgia"/>
              </a:rPr>
              <a:t>at </a:t>
            </a:r>
            <a:r>
              <a:rPr sz="750" u="sng" spc="-7" dirty="0">
                <a:solidFill>
                  <a:srgbClr val="0562C1"/>
                </a:solidFill>
                <a:uFill>
                  <a:solidFill>
                    <a:srgbClr val="0562C1"/>
                  </a:solidFill>
                </a:uFill>
                <a:latin typeface="Georgia"/>
                <a:cs typeface="Georgia"/>
                <a:hlinkClick r:id="rId3"/>
              </a:rPr>
              <a:t>adrake2@central.uh.edu</a:t>
            </a:r>
            <a:r>
              <a:rPr sz="750" dirty="0">
                <a:solidFill>
                  <a:srgbClr val="0562C1"/>
                </a:solidFill>
                <a:latin typeface="Georgia"/>
                <a:cs typeface="Georgia"/>
              </a:rPr>
              <a:t> </a:t>
            </a:r>
            <a:r>
              <a:rPr sz="750" dirty="0">
                <a:latin typeface="Georgia"/>
                <a:cs typeface="Georgia"/>
              </a:rPr>
              <a:t>for</a:t>
            </a:r>
            <a:r>
              <a:rPr sz="750" spc="3" dirty="0">
                <a:latin typeface="Georgia"/>
                <a:cs typeface="Georgia"/>
              </a:rPr>
              <a:t> </a:t>
            </a:r>
            <a:r>
              <a:rPr sz="750" dirty="0">
                <a:latin typeface="Georgia"/>
                <a:cs typeface="Georgia"/>
              </a:rPr>
              <a:t>help</a:t>
            </a:r>
            <a:r>
              <a:rPr sz="750" spc="14" dirty="0">
                <a:latin typeface="Georgia"/>
                <a:cs typeface="Georgia"/>
              </a:rPr>
              <a:t> </a:t>
            </a:r>
            <a:r>
              <a:rPr sz="750" dirty="0">
                <a:latin typeface="Georgia"/>
                <a:cs typeface="Georgia"/>
              </a:rPr>
              <a:t>with</a:t>
            </a:r>
            <a:r>
              <a:rPr sz="750" spc="10" dirty="0">
                <a:latin typeface="Georgia"/>
                <a:cs typeface="Georgia"/>
              </a:rPr>
              <a:t> </a:t>
            </a:r>
            <a:r>
              <a:rPr sz="750" dirty="0">
                <a:latin typeface="Georgia"/>
                <a:cs typeface="Georgia"/>
              </a:rPr>
              <a:t>your</a:t>
            </a:r>
            <a:r>
              <a:rPr sz="750" spc="3" dirty="0">
                <a:latin typeface="Georgia"/>
                <a:cs typeface="Georgia"/>
              </a:rPr>
              <a:t> </a:t>
            </a:r>
            <a:r>
              <a:rPr sz="750" spc="-7" dirty="0">
                <a:latin typeface="Georgia"/>
                <a:cs typeface="Georgia"/>
              </a:rPr>
              <a:t>research!</a:t>
            </a:r>
            <a:endParaRPr sz="750">
              <a:latin typeface="Georgia"/>
              <a:cs typeface="Georgia"/>
            </a:endParaRPr>
          </a:p>
        </p:txBody>
      </p:sp>
      <p:pic>
        <p:nvPicPr>
          <p:cNvPr id="3" name="object 3"/>
          <p:cNvPicPr/>
          <p:nvPr/>
        </p:nvPicPr>
        <p:blipFill>
          <a:blip r:embed="rId4" cstate="print"/>
          <a:stretch>
            <a:fillRect/>
          </a:stretch>
        </p:blipFill>
        <p:spPr>
          <a:xfrm>
            <a:off x="4069773" y="3154508"/>
            <a:ext cx="361516" cy="3615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06FB6-CE32-5A9C-7D6B-36F0973AF9B2}"/>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E3BF0491-6F7D-D8FA-BEC0-6E7F5418F68F}"/>
              </a:ext>
            </a:extLst>
          </p:cNvPr>
          <p:cNvSpPr>
            <a:spLocks noGrp="1"/>
          </p:cNvSpPr>
          <p:nvPr>
            <p:ph idx="1"/>
          </p:nvPr>
        </p:nvSpPr>
        <p:spPr/>
        <p:txBody>
          <a:bodyPr/>
          <a:lstStyle/>
          <a:p>
            <a:pPr lvl="0"/>
            <a:r>
              <a:rPr lang="en-US" b="1" dirty="0"/>
              <a:t>Complete Legal Research Modules 4.5 -4.9 by CLASS TIME Tuesday, 10/6</a:t>
            </a:r>
            <a:endParaRPr lang="en-US" dirty="0"/>
          </a:p>
          <a:p>
            <a:pPr lvl="0"/>
            <a:r>
              <a:rPr lang="en-US" b="1" dirty="0"/>
              <a:t>Graded Research Assessment, In-Class Thursday, 10/8</a:t>
            </a:r>
            <a:endParaRPr lang="en-US" dirty="0"/>
          </a:p>
        </p:txBody>
      </p:sp>
    </p:spTree>
    <p:extLst>
      <p:ext uri="{BB962C8B-B14F-4D97-AF65-F5344CB8AC3E}">
        <p14:creationId xmlns:p14="http://schemas.microsoft.com/office/powerpoint/2010/main" val="1623937882"/>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60</TotalTime>
  <Words>1539</Words>
  <Application>Microsoft Office PowerPoint</Application>
  <PresentationFormat>Widescreen</PresentationFormat>
  <Paragraphs>122</Paragraphs>
  <Slides>12</Slides>
  <Notes>1</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12</vt:i4>
      </vt:variant>
    </vt:vector>
  </HeadingPairs>
  <TitlesOfParts>
    <vt:vector size="25" baseType="lpstr">
      <vt:lpstr>Aptos</vt:lpstr>
      <vt:lpstr>Aptos Display</vt:lpstr>
      <vt:lpstr>Arial</vt:lpstr>
      <vt:lpstr>Arial Narrow</vt:lpstr>
      <vt:lpstr>Century Gothic</vt:lpstr>
      <vt:lpstr>Georgia</vt:lpstr>
      <vt:lpstr>Gill Sans MT</vt:lpstr>
      <vt:lpstr>Times New Roman</vt:lpstr>
      <vt:lpstr>Verdana</vt:lpstr>
      <vt:lpstr>Wingdings</vt:lpstr>
      <vt:lpstr>Wingdings 3</vt:lpstr>
      <vt:lpstr>Office Theme</vt:lpstr>
      <vt:lpstr>Ion</vt:lpstr>
      <vt:lpstr>Warmup – 5 mins</vt:lpstr>
      <vt:lpstr>Today in LSS – Cases and Citators</vt:lpstr>
      <vt:lpstr>What to Study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Homework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Truskett, Harve A</dc:creator>
  <cp:lastModifiedBy>Truskett, Harve A</cp:lastModifiedBy>
  <cp:revision>1</cp:revision>
  <dcterms:created xsi:type="dcterms:W3CDTF">2026-10-01T14:16:19Z</dcterms:created>
  <dcterms:modified xsi:type="dcterms:W3CDTF">2026-10-01T15:16:21Z</dcterms:modified>
</cp:coreProperties>
</file>