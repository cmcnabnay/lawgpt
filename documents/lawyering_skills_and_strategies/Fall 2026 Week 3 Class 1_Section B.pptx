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411" r:id="rId2"/>
    <p:sldId id="256" r:id="rId3"/>
    <p:sldId id="415" r:id="rId4"/>
    <p:sldId id="412" r:id="rId5"/>
    <p:sldId id="413" r:id="rId6"/>
    <p:sldId id="260" r:id="rId7"/>
    <p:sldId id="262" r:id="rId8"/>
    <p:sldId id="410" r:id="rId9"/>
    <p:sldId id="258" r:id="rId10"/>
    <p:sldId id="259" r:id="rId11"/>
    <p:sldId id="401" r:id="rId12"/>
    <p:sldId id="402" r:id="rId13"/>
    <p:sldId id="408" r:id="rId14"/>
    <p:sldId id="409" r:id="rId15"/>
    <p:sldId id="405" r:id="rId16"/>
    <p:sldId id="406" r:id="rId17"/>
    <p:sldId id="400" r:id="rId18"/>
    <p:sldId id="264" r:id="rId19"/>
    <p:sldId id="333" r:id="rId20"/>
    <p:sldId id="331" r:id="rId21"/>
    <p:sldId id="398" r:id="rId22"/>
    <p:sldId id="325" r:id="rId23"/>
    <p:sldId id="41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0" autoAdjust="0"/>
    <p:restoredTop sz="96104"/>
  </p:normalViewPr>
  <p:slideViewPr>
    <p:cSldViewPr snapToGrid="0">
      <p:cViewPr varScale="1">
        <p:scale>
          <a:sx n="70" d="100"/>
          <a:sy n="70" d="100"/>
        </p:scale>
        <p:origin x="7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modSld">
      <pc:chgData name="Truskett, Harve A" userId="213d60ac-aef1-4d38-a1a1-cc3530dfbff5" providerId="ADAL" clId="{46A6D219-DC58-45E8-8D58-021ACE409CDA}" dt="2026-09-08T21:10:27.715" v="10" actId="20577"/>
      <pc:docMkLst>
        <pc:docMk/>
      </pc:docMkLst>
      <pc:sldChg chg="modSp mod">
        <pc:chgData name="Truskett, Harve A" userId="213d60ac-aef1-4d38-a1a1-cc3530dfbff5" providerId="ADAL" clId="{46A6D219-DC58-45E8-8D58-021ACE409CDA}" dt="2026-09-08T21:10:27.715" v="10" actId="20577"/>
        <pc:sldMkLst>
          <pc:docMk/>
          <pc:sldMk cId="4092980690" sldId="414"/>
        </pc:sldMkLst>
        <pc:spChg chg="mod">
          <ac:chgData name="Truskett, Harve A" userId="213d60ac-aef1-4d38-a1a1-cc3530dfbff5" providerId="ADAL" clId="{46A6D219-DC58-45E8-8D58-021ACE409CDA}" dt="2026-09-08T21:10:27.715" v="10" actId="20577"/>
          <ac:spMkLst>
            <pc:docMk/>
            <pc:sldMk cId="4092980690" sldId="414"/>
            <ac:spMk id="4" creationId="{20E93C93-A92B-CB49-A358-983AFC3842E2}"/>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ata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D5C943-D3C3-40CD-92AD-15C649834CD2}" type="doc">
      <dgm:prSet loTypeId="urn:microsoft.com/office/officeart/2005/8/layout/vList2" loCatId="list" qsTypeId="urn:microsoft.com/office/officeart/2005/8/quickstyle/simple1#6" qsCatId="simple" csTypeId="urn:microsoft.com/office/officeart/2005/8/colors/colorful2#1" csCatId="colorful" phldr="1"/>
      <dgm:spPr/>
      <dgm:t>
        <a:bodyPr/>
        <a:lstStyle/>
        <a:p>
          <a:endParaRPr lang="en-US"/>
        </a:p>
      </dgm:t>
    </dgm:pt>
    <dgm:pt modelId="{1384E768-A962-4F28-BF41-2CD42C652AF7}">
      <dgm:prSet custT="1"/>
      <dgm:spPr/>
      <dgm:t>
        <a:bodyPr/>
        <a:lstStyle/>
        <a:p>
          <a:r>
            <a:rPr lang="en-US" sz="2400" b="0" i="0" dirty="0"/>
            <a:t>Love, Price, Whitehurst, and Tran LLP</a:t>
          </a:r>
          <a:r>
            <a:rPr lang="en-US" sz="2400" dirty="0"/>
            <a:t> Presentations</a:t>
          </a:r>
        </a:p>
      </dgm:t>
    </dgm:pt>
    <dgm:pt modelId="{7291578F-051B-44C5-85A0-E152047FA594}" type="parTrans" cxnId="{32087096-828C-435C-B362-6DC094021134}">
      <dgm:prSet/>
      <dgm:spPr/>
      <dgm:t>
        <a:bodyPr/>
        <a:lstStyle/>
        <a:p>
          <a:endParaRPr lang="en-US"/>
        </a:p>
      </dgm:t>
    </dgm:pt>
    <dgm:pt modelId="{A4CE74A9-154D-48AE-866C-85C7A90BB287}" type="sibTrans" cxnId="{32087096-828C-435C-B362-6DC094021134}">
      <dgm:prSet/>
      <dgm:spPr/>
      <dgm:t>
        <a:bodyPr/>
        <a:lstStyle/>
        <a:p>
          <a:endParaRPr lang="en-US"/>
        </a:p>
      </dgm:t>
    </dgm:pt>
    <dgm:pt modelId="{A4253FBA-6F2D-4C6E-9F51-790B08C73EB5}">
      <dgm:prSet custT="1"/>
      <dgm:spPr/>
      <dgm:t>
        <a:bodyPr/>
        <a:lstStyle/>
        <a:p>
          <a:r>
            <a:rPr lang="en-US" sz="2400" dirty="0"/>
            <a:t>Synthesizing and Drafting Rules</a:t>
          </a:r>
        </a:p>
      </dgm:t>
    </dgm:pt>
    <dgm:pt modelId="{68911964-9A45-4299-8939-BA96F7D52D77}" type="parTrans" cxnId="{13046753-453D-421B-9993-944B8B6BBC36}">
      <dgm:prSet/>
      <dgm:spPr/>
      <dgm:t>
        <a:bodyPr/>
        <a:lstStyle/>
        <a:p>
          <a:endParaRPr lang="en-US"/>
        </a:p>
      </dgm:t>
    </dgm:pt>
    <dgm:pt modelId="{FD2B7E39-3028-4C53-8B64-A0E6D96EBD4A}" type="sibTrans" cxnId="{13046753-453D-421B-9993-944B8B6BBC36}">
      <dgm:prSet/>
      <dgm:spPr/>
      <dgm:t>
        <a:bodyPr/>
        <a:lstStyle/>
        <a:p>
          <a:endParaRPr lang="en-US"/>
        </a:p>
      </dgm:t>
    </dgm:pt>
    <dgm:pt modelId="{B120AED6-0BCE-44D1-919C-03B0990DB9D2}">
      <dgm:prSet phldrT="[Text]" phldr="0" custT="1"/>
      <dgm:spPr/>
      <dgm:t>
        <a:bodyPr/>
        <a:lstStyle/>
        <a:p>
          <a:r>
            <a:rPr lang="en-US" sz="2400" b="1" dirty="0"/>
            <a:t>Don’t forget:</a:t>
          </a:r>
        </a:p>
        <a:p>
          <a:r>
            <a:rPr lang="en-US" sz="2400" b="1" dirty="0"/>
            <a:t>- -</a:t>
          </a:r>
          <a:r>
            <a:rPr lang="en-US" sz="2400" b="1" i="0" dirty="0"/>
            <a:t>Complete Legal Research Modules 1.1-1.3 by 5:00 p.m. Today</a:t>
          </a:r>
          <a:endParaRPr lang="en-US" sz="2400" b="1" dirty="0"/>
        </a:p>
      </dgm:t>
    </dgm:pt>
    <dgm:pt modelId="{EC03ADD7-22FE-43ED-A476-FB8AAA3D52DE}" type="parTrans" cxnId="{C89BB6C1-F5C4-41A3-BA87-CD526BD3007F}">
      <dgm:prSet/>
      <dgm:spPr/>
      <dgm:t>
        <a:bodyPr/>
        <a:lstStyle/>
        <a:p>
          <a:endParaRPr lang="en-US"/>
        </a:p>
      </dgm:t>
    </dgm:pt>
    <dgm:pt modelId="{80B076AD-50C5-4944-85F6-B31895E8C8AF}" type="sibTrans" cxnId="{C89BB6C1-F5C4-41A3-BA87-CD526BD3007F}">
      <dgm:prSet/>
      <dgm:spPr/>
      <dgm:t>
        <a:bodyPr/>
        <a:lstStyle/>
        <a:p>
          <a:endParaRPr lang="en-US"/>
        </a:p>
      </dgm:t>
    </dgm:pt>
    <dgm:pt modelId="{F2C40259-3C1E-43BD-9A07-C8CC2BFDFCC1}">
      <dgm:prSet custT="1"/>
      <dgm:spPr/>
      <dgm:t>
        <a:bodyPr/>
        <a:lstStyle/>
        <a:p>
          <a:r>
            <a:rPr lang="en-US" sz="2400" dirty="0">
              <a:solidFill>
                <a:srgbClr val="FFFFFF"/>
              </a:solidFill>
              <a:latin typeface="+mj-lt"/>
              <a:ea typeface="+mj-ea"/>
              <a:cs typeface="+mj-cs"/>
            </a:rPr>
            <a:t>Becoming a Legal Writer Ch. 4, ex. 4.1 and 4.4</a:t>
          </a:r>
          <a:endParaRPr lang="en-US" sz="2400" dirty="0"/>
        </a:p>
      </dgm:t>
    </dgm:pt>
    <dgm:pt modelId="{1FF4B83D-A16B-4C90-8663-2E44744749CC}" type="parTrans" cxnId="{B6403D61-F380-4815-AF9B-1F34114E0421}">
      <dgm:prSet/>
      <dgm:spPr/>
      <dgm:t>
        <a:bodyPr/>
        <a:lstStyle/>
        <a:p>
          <a:endParaRPr lang="en-US"/>
        </a:p>
      </dgm:t>
    </dgm:pt>
    <dgm:pt modelId="{C7DB8512-54E8-4BAB-A089-E3BEE3587A5C}" type="sibTrans" cxnId="{B6403D61-F380-4815-AF9B-1F34114E0421}">
      <dgm:prSet/>
      <dgm:spPr/>
      <dgm:t>
        <a:bodyPr/>
        <a:lstStyle/>
        <a:p>
          <a:endParaRPr lang="en-US"/>
        </a:p>
      </dgm:t>
    </dgm:pt>
    <dgm:pt modelId="{FB70855E-09F8-4E90-A794-8D85F8CB0450}" type="pres">
      <dgm:prSet presAssocID="{80D5C943-D3C3-40CD-92AD-15C649834CD2}" presName="linear" presStyleCnt="0">
        <dgm:presLayoutVars>
          <dgm:animLvl val="lvl"/>
          <dgm:resizeHandles val="exact"/>
        </dgm:presLayoutVars>
      </dgm:prSet>
      <dgm:spPr/>
    </dgm:pt>
    <dgm:pt modelId="{14426F71-3EB1-450C-BF7D-C1F2F2AF2DE2}" type="pres">
      <dgm:prSet presAssocID="{1384E768-A962-4F28-BF41-2CD42C652AF7}" presName="parentText" presStyleLbl="node1" presStyleIdx="0" presStyleCnt="4">
        <dgm:presLayoutVars>
          <dgm:chMax val="0"/>
          <dgm:bulletEnabled val="1"/>
        </dgm:presLayoutVars>
      </dgm:prSet>
      <dgm:spPr/>
    </dgm:pt>
    <dgm:pt modelId="{0ABD3F46-D430-44AC-82F2-5E2A92F42477}" type="pres">
      <dgm:prSet presAssocID="{A4CE74A9-154D-48AE-866C-85C7A90BB287}" presName="spacer" presStyleCnt="0"/>
      <dgm:spPr/>
    </dgm:pt>
    <dgm:pt modelId="{0F5DA5D8-6737-4D70-B026-BBB1FD192DCB}" type="pres">
      <dgm:prSet presAssocID="{F2C40259-3C1E-43BD-9A07-C8CC2BFDFCC1}" presName="parentText" presStyleLbl="node1" presStyleIdx="1" presStyleCnt="4">
        <dgm:presLayoutVars>
          <dgm:chMax val="0"/>
          <dgm:bulletEnabled val="1"/>
        </dgm:presLayoutVars>
      </dgm:prSet>
      <dgm:spPr/>
    </dgm:pt>
    <dgm:pt modelId="{CCAB4AEC-686C-4AD9-B573-3CE0810A7E27}" type="pres">
      <dgm:prSet presAssocID="{C7DB8512-54E8-4BAB-A089-E3BEE3587A5C}" presName="spacer" presStyleCnt="0"/>
      <dgm:spPr/>
    </dgm:pt>
    <dgm:pt modelId="{AE529DE4-4E33-4BAC-9617-DD4DD4B51DEC}" type="pres">
      <dgm:prSet presAssocID="{A4253FBA-6F2D-4C6E-9F51-790B08C73EB5}" presName="parentText" presStyleLbl="node1" presStyleIdx="2" presStyleCnt="4">
        <dgm:presLayoutVars>
          <dgm:chMax val="0"/>
          <dgm:bulletEnabled val="1"/>
        </dgm:presLayoutVars>
      </dgm:prSet>
      <dgm:spPr/>
    </dgm:pt>
    <dgm:pt modelId="{D71E41F9-C8BD-4F45-982B-DA2BA7A4B056}" type="pres">
      <dgm:prSet presAssocID="{FD2B7E39-3028-4C53-8B64-A0E6D96EBD4A}" presName="spacer" presStyleCnt="0"/>
      <dgm:spPr/>
    </dgm:pt>
    <dgm:pt modelId="{EC7E6824-AAD7-4EE6-B36D-8B498D6854A4}" type="pres">
      <dgm:prSet presAssocID="{B120AED6-0BCE-44D1-919C-03B0990DB9D2}" presName="parentText" presStyleLbl="node1" presStyleIdx="3" presStyleCnt="4">
        <dgm:presLayoutVars>
          <dgm:chMax val="0"/>
          <dgm:bulletEnabled val="1"/>
        </dgm:presLayoutVars>
      </dgm:prSet>
      <dgm:spPr/>
    </dgm:pt>
  </dgm:ptLst>
  <dgm:cxnLst>
    <dgm:cxn modelId="{28B90D35-7302-40B9-B1D5-2597D68E8F8B}" type="presOf" srcId="{1384E768-A962-4F28-BF41-2CD42C652AF7}" destId="{14426F71-3EB1-450C-BF7D-C1F2F2AF2DE2}" srcOrd="0" destOrd="0" presId="urn:microsoft.com/office/officeart/2005/8/layout/vList2"/>
    <dgm:cxn modelId="{2CD6D13B-7E3B-49F5-B48D-524AA638F622}" type="presOf" srcId="{F2C40259-3C1E-43BD-9A07-C8CC2BFDFCC1}" destId="{0F5DA5D8-6737-4D70-B026-BBB1FD192DCB}" srcOrd="0" destOrd="0" presId="urn:microsoft.com/office/officeart/2005/8/layout/vList2"/>
    <dgm:cxn modelId="{D18A415E-BA1B-4EE4-8A7C-9A0F2BF7360F}" type="presOf" srcId="{B120AED6-0BCE-44D1-919C-03B0990DB9D2}" destId="{EC7E6824-AAD7-4EE6-B36D-8B498D6854A4}" srcOrd="0" destOrd="0" presId="urn:microsoft.com/office/officeart/2005/8/layout/vList2"/>
    <dgm:cxn modelId="{B6403D61-F380-4815-AF9B-1F34114E0421}" srcId="{80D5C943-D3C3-40CD-92AD-15C649834CD2}" destId="{F2C40259-3C1E-43BD-9A07-C8CC2BFDFCC1}" srcOrd="1" destOrd="0" parTransId="{1FF4B83D-A16B-4C90-8663-2E44744749CC}" sibTransId="{C7DB8512-54E8-4BAB-A089-E3BEE3587A5C}"/>
    <dgm:cxn modelId="{13046753-453D-421B-9993-944B8B6BBC36}" srcId="{80D5C943-D3C3-40CD-92AD-15C649834CD2}" destId="{A4253FBA-6F2D-4C6E-9F51-790B08C73EB5}" srcOrd="2" destOrd="0" parTransId="{68911964-9A45-4299-8939-BA96F7D52D77}" sibTransId="{FD2B7E39-3028-4C53-8B64-A0E6D96EBD4A}"/>
    <dgm:cxn modelId="{32087096-828C-435C-B362-6DC094021134}" srcId="{80D5C943-D3C3-40CD-92AD-15C649834CD2}" destId="{1384E768-A962-4F28-BF41-2CD42C652AF7}" srcOrd="0" destOrd="0" parTransId="{7291578F-051B-44C5-85A0-E152047FA594}" sibTransId="{A4CE74A9-154D-48AE-866C-85C7A90BB287}"/>
    <dgm:cxn modelId="{15E72B9A-1683-4781-ACCA-7FCFFFEA5BB3}" type="presOf" srcId="{A4253FBA-6F2D-4C6E-9F51-790B08C73EB5}" destId="{AE529DE4-4E33-4BAC-9617-DD4DD4B51DEC}" srcOrd="0" destOrd="0" presId="urn:microsoft.com/office/officeart/2005/8/layout/vList2"/>
    <dgm:cxn modelId="{C89BB6C1-F5C4-41A3-BA87-CD526BD3007F}" srcId="{80D5C943-D3C3-40CD-92AD-15C649834CD2}" destId="{B120AED6-0BCE-44D1-919C-03B0990DB9D2}" srcOrd="3" destOrd="0" parTransId="{EC03ADD7-22FE-43ED-A476-FB8AAA3D52DE}" sibTransId="{80B076AD-50C5-4944-85F6-B31895E8C8AF}"/>
    <dgm:cxn modelId="{2F2341E4-73D7-47AE-A027-9A784BA56C08}" type="presOf" srcId="{80D5C943-D3C3-40CD-92AD-15C649834CD2}" destId="{FB70855E-09F8-4E90-A794-8D85F8CB0450}" srcOrd="0" destOrd="0" presId="urn:microsoft.com/office/officeart/2005/8/layout/vList2"/>
    <dgm:cxn modelId="{6F506C82-BBB2-498B-A446-9B8F8E0393F2}" type="presParOf" srcId="{FB70855E-09F8-4E90-A794-8D85F8CB0450}" destId="{14426F71-3EB1-450C-BF7D-C1F2F2AF2DE2}" srcOrd="0" destOrd="0" presId="urn:microsoft.com/office/officeart/2005/8/layout/vList2"/>
    <dgm:cxn modelId="{8B7C3FBD-1719-47B3-87E1-F71E8FA2AFF3}" type="presParOf" srcId="{FB70855E-09F8-4E90-A794-8D85F8CB0450}" destId="{0ABD3F46-D430-44AC-82F2-5E2A92F42477}" srcOrd="1" destOrd="0" presId="urn:microsoft.com/office/officeart/2005/8/layout/vList2"/>
    <dgm:cxn modelId="{F8B50CC1-21F4-4043-8D39-E3315F5757FC}" type="presParOf" srcId="{FB70855E-09F8-4E90-A794-8D85F8CB0450}" destId="{0F5DA5D8-6737-4D70-B026-BBB1FD192DCB}" srcOrd="2" destOrd="0" presId="urn:microsoft.com/office/officeart/2005/8/layout/vList2"/>
    <dgm:cxn modelId="{04317F9A-96EC-4FDB-A463-B59E0269A776}" type="presParOf" srcId="{FB70855E-09F8-4E90-A794-8D85F8CB0450}" destId="{CCAB4AEC-686C-4AD9-B573-3CE0810A7E27}" srcOrd="3" destOrd="0" presId="urn:microsoft.com/office/officeart/2005/8/layout/vList2"/>
    <dgm:cxn modelId="{C12ECB40-4205-408E-BD0E-5487CA3FDD9C}" type="presParOf" srcId="{FB70855E-09F8-4E90-A794-8D85F8CB0450}" destId="{AE529DE4-4E33-4BAC-9617-DD4DD4B51DEC}" srcOrd="4" destOrd="0" presId="urn:microsoft.com/office/officeart/2005/8/layout/vList2"/>
    <dgm:cxn modelId="{ED67BAC0-3EE1-4ADA-B899-74C16D745EA0}" type="presParOf" srcId="{FB70855E-09F8-4E90-A794-8D85F8CB0450}" destId="{D71E41F9-C8BD-4F45-982B-DA2BA7A4B056}" srcOrd="5" destOrd="0" presId="urn:microsoft.com/office/officeart/2005/8/layout/vList2"/>
    <dgm:cxn modelId="{605F7522-A0D4-44FA-B106-BE6C056260DD}" type="presParOf" srcId="{FB70855E-09F8-4E90-A794-8D85F8CB0450}" destId="{EC7E6824-AAD7-4EE6-B36D-8B498D6854A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633A2D-70B3-4759-8DD4-71F033F5D147}" type="doc">
      <dgm:prSet loTypeId="urn:microsoft.com/office/officeart/2005/8/layout/default" loCatId="list" qsTypeId="urn:microsoft.com/office/officeart/2005/8/quickstyle/simple1#1" qsCatId="simple" csTypeId="urn:microsoft.com/office/officeart/2005/8/colors/colorful5#1" csCatId="colorful"/>
      <dgm:spPr/>
      <dgm:t>
        <a:bodyPr/>
        <a:lstStyle/>
        <a:p>
          <a:endParaRPr lang="en-US"/>
        </a:p>
      </dgm:t>
    </dgm:pt>
    <dgm:pt modelId="{71CCCD3F-8BAD-4780-8AE2-82B086624A2D}">
      <dgm:prSet/>
      <dgm:spPr/>
      <dgm:t>
        <a:bodyPr/>
        <a:lstStyle/>
        <a:p>
          <a:r>
            <a:rPr lang="en-US" baseline="0"/>
            <a:t>What are we initially looking at for the preliminary analysis of a case?</a:t>
          </a:r>
          <a:endParaRPr lang="en-US"/>
        </a:p>
      </dgm:t>
    </dgm:pt>
    <dgm:pt modelId="{770E2876-6042-47E7-A9B1-C045973849D9}" type="parTrans" cxnId="{3ECBFA4C-7B9D-4C70-AB0D-BD276A093B1B}">
      <dgm:prSet/>
      <dgm:spPr/>
      <dgm:t>
        <a:bodyPr/>
        <a:lstStyle/>
        <a:p>
          <a:endParaRPr lang="en-US"/>
        </a:p>
      </dgm:t>
    </dgm:pt>
    <dgm:pt modelId="{0190C004-0641-4E43-8A3A-B1D127B81660}" type="sibTrans" cxnId="{3ECBFA4C-7B9D-4C70-AB0D-BD276A093B1B}">
      <dgm:prSet/>
      <dgm:spPr/>
      <dgm:t>
        <a:bodyPr/>
        <a:lstStyle/>
        <a:p>
          <a:endParaRPr lang="en-US"/>
        </a:p>
      </dgm:t>
    </dgm:pt>
    <dgm:pt modelId="{57469FF0-C86B-413A-94C0-8C0E794A2918}">
      <dgm:prSet/>
      <dgm:spPr/>
      <dgm:t>
        <a:bodyPr/>
        <a:lstStyle/>
        <a:p>
          <a:r>
            <a:rPr lang="en-US" baseline="0"/>
            <a:t>What authorities do you have and what is the order of weightiness of them?</a:t>
          </a:r>
          <a:endParaRPr lang="en-US"/>
        </a:p>
      </dgm:t>
    </dgm:pt>
    <dgm:pt modelId="{93D45867-8E3F-4D54-B871-6284655FDDC1}" type="parTrans" cxnId="{CB43EA1A-4B5D-4273-BC11-8A80AFBD6C2B}">
      <dgm:prSet/>
      <dgm:spPr/>
      <dgm:t>
        <a:bodyPr/>
        <a:lstStyle/>
        <a:p>
          <a:endParaRPr lang="en-US"/>
        </a:p>
      </dgm:t>
    </dgm:pt>
    <dgm:pt modelId="{7268079B-88BF-466D-9981-635FC2C93862}" type="sibTrans" cxnId="{CB43EA1A-4B5D-4273-BC11-8A80AFBD6C2B}">
      <dgm:prSet/>
      <dgm:spPr/>
      <dgm:t>
        <a:bodyPr/>
        <a:lstStyle/>
        <a:p>
          <a:endParaRPr lang="en-US"/>
        </a:p>
      </dgm:t>
    </dgm:pt>
    <dgm:pt modelId="{DDD500E2-7509-4E99-B038-2A418BF40976}">
      <dgm:prSet/>
      <dgm:spPr/>
      <dgm:t>
        <a:bodyPr/>
        <a:lstStyle/>
        <a:p>
          <a:r>
            <a:rPr lang="en-US" baseline="0"/>
            <a:t>What is the issue presented?</a:t>
          </a:r>
          <a:endParaRPr lang="en-US"/>
        </a:p>
      </dgm:t>
    </dgm:pt>
    <dgm:pt modelId="{E20E61BD-E02F-4DDD-BD87-53ECC03EC6A3}" type="parTrans" cxnId="{86B36319-F561-4AE9-AE96-D020882FC2F5}">
      <dgm:prSet/>
      <dgm:spPr/>
      <dgm:t>
        <a:bodyPr/>
        <a:lstStyle/>
        <a:p>
          <a:endParaRPr lang="en-US"/>
        </a:p>
      </dgm:t>
    </dgm:pt>
    <dgm:pt modelId="{7388EBB0-627D-4043-9F11-28457DC27232}" type="sibTrans" cxnId="{86B36319-F561-4AE9-AE96-D020882FC2F5}">
      <dgm:prSet/>
      <dgm:spPr/>
      <dgm:t>
        <a:bodyPr/>
        <a:lstStyle/>
        <a:p>
          <a:endParaRPr lang="en-US"/>
        </a:p>
      </dgm:t>
    </dgm:pt>
    <dgm:pt modelId="{CBDB80A0-140A-4362-8435-A64E96F7B8E3}" type="pres">
      <dgm:prSet presAssocID="{0C633A2D-70B3-4759-8DD4-71F033F5D147}" presName="diagram" presStyleCnt="0">
        <dgm:presLayoutVars>
          <dgm:dir/>
          <dgm:resizeHandles val="exact"/>
        </dgm:presLayoutVars>
      </dgm:prSet>
      <dgm:spPr/>
    </dgm:pt>
    <dgm:pt modelId="{0965F93A-22F7-4D79-8444-6AA8DF47D712}" type="pres">
      <dgm:prSet presAssocID="{71CCCD3F-8BAD-4780-8AE2-82B086624A2D}" presName="node" presStyleLbl="node1" presStyleIdx="0" presStyleCnt="3">
        <dgm:presLayoutVars>
          <dgm:bulletEnabled val="1"/>
        </dgm:presLayoutVars>
      </dgm:prSet>
      <dgm:spPr/>
    </dgm:pt>
    <dgm:pt modelId="{42B7475C-6AFF-47A2-87F9-7BCD9CEA0808}" type="pres">
      <dgm:prSet presAssocID="{0190C004-0641-4E43-8A3A-B1D127B81660}" presName="sibTrans" presStyleCnt="0"/>
      <dgm:spPr/>
    </dgm:pt>
    <dgm:pt modelId="{4E0D83E0-EA2C-4D26-AD7C-56B701DE285E}" type="pres">
      <dgm:prSet presAssocID="{57469FF0-C86B-413A-94C0-8C0E794A2918}" presName="node" presStyleLbl="node1" presStyleIdx="1" presStyleCnt="3">
        <dgm:presLayoutVars>
          <dgm:bulletEnabled val="1"/>
        </dgm:presLayoutVars>
      </dgm:prSet>
      <dgm:spPr/>
    </dgm:pt>
    <dgm:pt modelId="{17B4882A-11DC-4A31-9CD2-43171BBDB1E9}" type="pres">
      <dgm:prSet presAssocID="{7268079B-88BF-466D-9981-635FC2C93862}" presName="sibTrans" presStyleCnt="0"/>
      <dgm:spPr/>
    </dgm:pt>
    <dgm:pt modelId="{7C159276-BBB9-443E-BFC2-0E6884BF636F}" type="pres">
      <dgm:prSet presAssocID="{DDD500E2-7509-4E99-B038-2A418BF40976}" presName="node" presStyleLbl="node1" presStyleIdx="2" presStyleCnt="3">
        <dgm:presLayoutVars>
          <dgm:bulletEnabled val="1"/>
        </dgm:presLayoutVars>
      </dgm:prSet>
      <dgm:spPr/>
    </dgm:pt>
  </dgm:ptLst>
  <dgm:cxnLst>
    <dgm:cxn modelId="{86B36319-F561-4AE9-AE96-D020882FC2F5}" srcId="{0C633A2D-70B3-4759-8DD4-71F033F5D147}" destId="{DDD500E2-7509-4E99-B038-2A418BF40976}" srcOrd="2" destOrd="0" parTransId="{E20E61BD-E02F-4DDD-BD87-53ECC03EC6A3}" sibTransId="{7388EBB0-627D-4043-9F11-28457DC27232}"/>
    <dgm:cxn modelId="{CB43EA1A-4B5D-4273-BC11-8A80AFBD6C2B}" srcId="{0C633A2D-70B3-4759-8DD4-71F033F5D147}" destId="{57469FF0-C86B-413A-94C0-8C0E794A2918}" srcOrd="1" destOrd="0" parTransId="{93D45867-8E3F-4D54-B871-6284655FDDC1}" sibTransId="{7268079B-88BF-466D-9981-635FC2C93862}"/>
    <dgm:cxn modelId="{14B74645-E1BA-4F09-ADAA-0154BD8903F7}" type="presOf" srcId="{DDD500E2-7509-4E99-B038-2A418BF40976}" destId="{7C159276-BBB9-443E-BFC2-0E6884BF636F}" srcOrd="0" destOrd="0" presId="urn:microsoft.com/office/officeart/2005/8/layout/default"/>
    <dgm:cxn modelId="{E6547A6B-9EDB-465C-9618-EB79F2240535}" type="presOf" srcId="{0C633A2D-70B3-4759-8DD4-71F033F5D147}" destId="{CBDB80A0-140A-4362-8435-A64E96F7B8E3}" srcOrd="0" destOrd="0" presId="urn:microsoft.com/office/officeart/2005/8/layout/default"/>
    <dgm:cxn modelId="{3ECBFA4C-7B9D-4C70-AB0D-BD276A093B1B}" srcId="{0C633A2D-70B3-4759-8DD4-71F033F5D147}" destId="{71CCCD3F-8BAD-4780-8AE2-82B086624A2D}" srcOrd="0" destOrd="0" parTransId="{770E2876-6042-47E7-A9B1-C045973849D9}" sibTransId="{0190C004-0641-4E43-8A3A-B1D127B81660}"/>
    <dgm:cxn modelId="{45BF7B70-8B96-4D8B-80FB-DE28BCDC5D7A}" type="presOf" srcId="{57469FF0-C86B-413A-94C0-8C0E794A2918}" destId="{4E0D83E0-EA2C-4D26-AD7C-56B701DE285E}" srcOrd="0" destOrd="0" presId="urn:microsoft.com/office/officeart/2005/8/layout/default"/>
    <dgm:cxn modelId="{5A8C72DE-26C8-4752-AE7F-5DF58D0F9062}" type="presOf" srcId="{71CCCD3F-8BAD-4780-8AE2-82B086624A2D}" destId="{0965F93A-22F7-4D79-8444-6AA8DF47D712}" srcOrd="0" destOrd="0" presId="urn:microsoft.com/office/officeart/2005/8/layout/default"/>
    <dgm:cxn modelId="{A37CC0E8-9CFE-4D22-8DB6-78E1B1794783}" type="presParOf" srcId="{CBDB80A0-140A-4362-8435-A64E96F7B8E3}" destId="{0965F93A-22F7-4D79-8444-6AA8DF47D712}" srcOrd="0" destOrd="0" presId="urn:microsoft.com/office/officeart/2005/8/layout/default"/>
    <dgm:cxn modelId="{12E8FC25-EDF5-4A5D-BC70-51BE915F93FD}" type="presParOf" srcId="{CBDB80A0-140A-4362-8435-A64E96F7B8E3}" destId="{42B7475C-6AFF-47A2-87F9-7BCD9CEA0808}" srcOrd="1" destOrd="0" presId="urn:microsoft.com/office/officeart/2005/8/layout/default"/>
    <dgm:cxn modelId="{CE61E902-DF57-4AD0-ABDE-5725437B9893}" type="presParOf" srcId="{CBDB80A0-140A-4362-8435-A64E96F7B8E3}" destId="{4E0D83E0-EA2C-4D26-AD7C-56B701DE285E}" srcOrd="2" destOrd="0" presId="urn:microsoft.com/office/officeart/2005/8/layout/default"/>
    <dgm:cxn modelId="{34CEAAE6-523D-4512-ADB3-C8CF99111543}" type="presParOf" srcId="{CBDB80A0-140A-4362-8435-A64E96F7B8E3}" destId="{17B4882A-11DC-4A31-9CD2-43171BBDB1E9}" srcOrd="3" destOrd="0" presId="urn:microsoft.com/office/officeart/2005/8/layout/default"/>
    <dgm:cxn modelId="{B936BCED-05C1-4C1F-996E-D73B46851DDE}" type="presParOf" srcId="{CBDB80A0-140A-4362-8435-A64E96F7B8E3}" destId="{7C159276-BBB9-443E-BFC2-0E6884BF636F}"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E5E7B9-EF78-40E1-8257-08BBAC77A804}" type="doc">
      <dgm:prSet loTypeId="urn:microsoft.com/office/officeart/2018/2/layout/IconLabelList" loCatId="icon" qsTypeId="urn:microsoft.com/office/officeart/2005/8/quickstyle/simple1#2" qsCatId="simple" csTypeId="urn:microsoft.com/office/officeart/2018/5/colors/Iconchunking_neutralbg_colorful2" csCatId="colorful" phldr="1"/>
      <dgm:spPr/>
      <dgm:t>
        <a:bodyPr/>
        <a:lstStyle/>
        <a:p>
          <a:endParaRPr lang="en-US"/>
        </a:p>
      </dgm:t>
    </dgm:pt>
    <dgm:pt modelId="{16D8BD72-AEA7-4BBC-9DAE-93C8658EC719}">
      <dgm:prSet/>
      <dgm:spPr/>
      <dgm:t>
        <a:bodyPr/>
        <a:lstStyle/>
        <a:p>
          <a:r>
            <a:rPr lang="en-US"/>
            <a:t>Where should you start?</a:t>
          </a:r>
        </a:p>
      </dgm:t>
    </dgm:pt>
    <dgm:pt modelId="{1F314A5B-CD4C-40D5-9DC3-483D0EDD3A56}" type="parTrans" cxnId="{1041F321-61B3-4D94-92B0-39978431D758}">
      <dgm:prSet/>
      <dgm:spPr/>
      <dgm:t>
        <a:bodyPr/>
        <a:lstStyle/>
        <a:p>
          <a:endParaRPr lang="en-US"/>
        </a:p>
      </dgm:t>
    </dgm:pt>
    <dgm:pt modelId="{600DD5B5-D3C3-4438-92F0-9EDB1FD3284D}" type="sibTrans" cxnId="{1041F321-61B3-4D94-92B0-39978431D758}">
      <dgm:prSet/>
      <dgm:spPr/>
      <dgm:t>
        <a:bodyPr/>
        <a:lstStyle/>
        <a:p>
          <a:endParaRPr lang="en-US"/>
        </a:p>
      </dgm:t>
    </dgm:pt>
    <dgm:pt modelId="{E98BD6EA-E99A-4F95-80E4-3D8C3612AB67}">
      <dgm:prSet/>
      <dgm:spPr/>
      <dgm:t>
        <a:bodyPr/>
        <a:lstStyle/>
        <a:p>
          <a:r>
            <a:rPr lang="en-US"/>
            <a:t>What is the first section of your CREAC you should write?</a:t>
          </a:r>
        </a:p>
      </dgm:t>
    </dgm:pt>
    <dgm:pt modelId="{97D59A59-DA0D-4475-A695-627BCE27B4F2}" type="parTrans" cxnId="{C969CD4C-EC86-4838-B5DD-8F8FD49E05D8}">
      <dgm:prSet/>
      <dgm:spPr/>
      <dgm:t>
        <a:bodyPr/>
        <a:lstStyle/>
        <a:p>
          <a:endParaRPr lang="en-US"/>
        </a:p>
      </dgm:t>
    </dgm:pt>
    <dgm:pt modelId="{DABAC637-C67E-418F-AB16-9DD7374C2B94}" type="sibTrans" cxnId="{C969CD4C-EC86-4838-B5DD-8F8FD49E05D8}">
      <dgm:prSet/>
      <dgm:spPr/>
      <dgm:t>
        <a:bodyPr/>
        <a:lstStyle/>
        <a:p>
          <a:endParaRPr lang="en-US"/>
        </a:p>
      </dgm:t>
    </dgm:pt>
    <dgm:pt modelId="{AB7D30D4-FDCF-4D7C-AF86-2D83ACE793E0}" type="pres">
      <dgm:prSet presAssocID="{69E5E7B9-EF78-40E1-8257-08BBAC77A804}" presName="root" presStyleCnt="0">
        <dgm:presLayoutVars>
          <dgm:dir/>
          <dgm:resizeHandles val="exact"/>
        </dgm:presLayoutVars>
      </dgm:prSet>
      <dgm:spPr/>
    </dgm:pt>
    <dgm:pt modelId="{83C48479-9257-452A-A54B-AA0E4025DCEE}" type="pres">
      <dgm:prSet presAssocID="{16D8BD72-AEA7-4BBC-9DAE-93C8658EC719}" presName="compNode" presStyleCnt="0"/>
      <dgm:spPr/>
    </dgm:pt>
    <dgm:pt modelId="{E8535358-B0B0-422E-8803-00F08C4D927A}" type="pres">
      <dgm:prSet presAssocID="{16D8BD72-AEA7-4BBC-9DAE-93C8658EC71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rker"/>
        </a:ext>
      </dgm:extLst>
    </dgm:pt>
    <dgm:pt modelId="{6F363DFB-800A-443D-85C7-07940A6185B2}" type="pres">
      <dgm:prSet presAssocID="{16D8BD72-AEA7-4BBC-9DAE-93C8658EC719}" presName="spaceRect" presStyleCnt="0"/>
      <dgm:spPr/>
    </dgm:pt>
    <dgm:pt modelId="{9109C94D-0C1F-458B-B71C-FC2F9E1F34A3}" type="pres">
      <dgm:prSet presAssocID="{16D8BD72-AEA7-4BBC-9DAE-93C8658EC719}" presName="textRect" presStyleLbl="revTx" presStyleIdx="0" presStyleCnt="2">
        <dgm:presLayoutVars>
          <dgm:chMax val="1"/>
          <dgm:chPref val="1"/>
        </dgm:presLayoutVars>
      </dgm:prSet>
      <dgm:spPr/>
    </dgm:pt>
    <dgm:pt modelId="{925FFA4A-8550-4054-BCE7-889352D0AF08}" type="pres">
      <dgm:prSet presAssocID="{600DD5B5-D3C3-4438-92F0-9EDB1FD3284D}" presName="sibTrans" presStyleCnt="0"/>
      <dgm:spPr/>
    </dgm:pt>
    <dgm:pt modelId="{4FC34152-6A6F-49E0-A759-DB56F03DDB25}" type="pres">
      <dgm:prSet presAssocID="{E98BD6EA-E99A-4F95-80E4-3D8C3612AB67}" presName="compNode" presStyleCnt="0"/>
      <dgm:spPr/>
    </dgm:pt>
    <dgm:pt modelId="{781053B2-7F3D-4B5B-9314-A50ECF29B849}" type="pres">
      <dgm:prSet presAssocID="{E98BD6EA-E99A-4F95-80E4-3D8C3612AB6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0D77282D-8FF3-40D6-8D16-598A2E4F7E20}" type="pres">
      <dgm:prSet presAssocID="{E98BD6EA-E99A-4F95-80E4-3D8C3612AB67}" presName="spaceRect" presStyleCnt="0"/>
      <dgm:spPr/>
    </dgm:pt>
    <dgm:pt modelId="{A554DDBD-C87D-49B6-80D2-66D592882AD8}" type="pres">
      <dgm:prSet presAssocID="{E98BD6EA-E99A-4F95-80E4-3D8C3612AB67}" presName="textRect" presStyleLbl="revTx" presStyleIdx="1" presStyleCnt="2">
        <dgm:presLayoutVars>
          <dgm:chMax val="1"/>
          <dgm:chPref val="1"/>
        </dgm:presLayoutVars>
      </dgm:prSet>
      <dgm:spPr/>
    </dgm:pt>
  </dgm:ptLst>
  <dgm:cxnLst>
    <dgm:cxn modelId="{1041F321-61B3-4D94-92B0-39978431D758}" srcId="{69E5E7B9-EF78-40E1-8257-08BBAC77A804}" destId="{16D8BD72-AEA7-4BBC-9DAE-93C8658EC719}" srcOrd="0" destOrd="0" parTransId="{1F314A5B-CD4C-40D5-9DC3-483D0EDD3A56}" sibTransId="{600DD5B5-D3C3-4438-92F0-9EDB1FD3284D}"/>
    <dgm:cxn modelId="{73512846-1628-4AF0-806E-606D1166D846}" type="presOf" srcId="{69E5E7B9-EF78-40E1-8257-08BBAC77A804}" destId="{AB7D30D4-FDCF-4D7C-AF86-2D83ACE793E0}" srcOrd="0" destOrd="0" presId="urn:microsoft.com/office/officeart/2018/2/layout/IconLabelList"/>
    <dgm:cxn modelId="{C969CD4C-EC86-4838-B5DD-8F8FD49E05D8}" srcId="{69E5E7B9-EF78-40E1-8257-08BBAC77A804}" destId="{E98BD6EA-E99A-4F95-80E4-3D8C3612AB67}" srcOrd="1" destOrd="0" parTransId="{97D59A59-DA0D-4475-A695-627BCE27B4F2}" sibTransId="{DABAC637-C67E-418F-AB16-9DD7374C2B94}"/>
    <dgm:cxn modelId="{B1FAC28E-4D48-4EB7-AF0B-4184EC417587}" type="presOf" srcId="{16D8BD72-AEA7-4BBC-9DAE-93C8658EC719}" destId="{9109C94D-0C1F-458B-B71C-FC2F9E1F34A3}" srcOrd="0" destOrd="0" presId="urn:microsoft.com/office/officeart/2018/2/layout/IconLabelList"/>
    <dgm:cxn modelId="{1C4968F5-E81E-4C43-8208-C8533808781C}" type="presOf" srcId="{E98BD6EA-E99A-4F95-80E4-3D8C3612AB67}" destId="{A554DDBD-C87D-49B6-80D2-66D592882AD8}" srcOrd="0" destOrd="0" presId="urn:microsoft.com/office/officeart/2018/2/layout/IconLabelList"/>
    <dgm:cxn modelId="{A434FC54-E94A-4FAD-BBB6-05F2245F1D61}" type="presParOf" srcId="{AB7D30D4-FDCF-4D7C-AF86-2D83ACE793E0}" destId="{83C48479-9257-452A-A54B-AA0E4025DCEE}" srcOrd="0" destOrd="0" presId="urn:microsoft.com/office/officeart/2018/2/layout/IconLabelList"/>
    <dgm:cxn modelId="{2A91EE1F-B089-4497-BACD-FF428AE0D9EB}" type="presParOf" srcId="{83C48479-9257-452A-A54B-AA0E4025DCEE}" destId="{E8535358-B0B0-422E-8803-00F08C4D927A}" srcOrd="0" destOrd="0" presId="urn:microsoft.com/office/officeart/2018/2/layout/IconLabelList"/>
    <dgm:cxn modelId="{6D377A35-ABA7-4937-A5BB-851472B0AA10}" type="presParOf" srcId="{83C48479-9257-452A-A54B-AA0E4025DCEE}" destId="{6F363DFB-800A-443D-85C7-07940A6185B2}" srcOrd="1" destOrd="0" presId="urn:microsoft.com/office/officeart/2018/2/layout/IconLabelList"/>
    <dgm:cxn modelId="{FDA3F00A-5815-4D8B-B9B3-C499EDE4E9FC}" type="presParOf" srcId="{83C48479-9257-452A-A54B-AA0E4025DCEE}" destId="{9109C94D-0C1F-458B-B71C-FC2F9E1F34A3}" srcOrd="2" destOrd="0" presId="urn:microsoft.com/office/officeart/2018/2/layout/IconLabelList"/>
    <dgm:cxn modelId="{FA918CCF-9C70-438A-9FE5-DD4009BC9F3D}" type="presParOf" srcId="{AB7D30D4-FDCF-4D7C-AF86-2D83ACE793E0}" destId="{925FFA4A-8550-4054-BCE7-889352D0AF08}" srcOrd="1" destOrd="0" presId="urn:microsoft.com/office/officeart/2018/2/layout/IconLabelList"/>
    <dgm:cxn modelId="{C96E2A39-ABA4-4260-A86B-880328CE4307}" type="presParOf" srcId="{AB7D30D4-FDCF-4D7C-AF86-2D83ACE793E0}" destId="{4FC34152-6A6F-49E0-A759-DB56F03DDB25}" srcOrd="2" destOrd="0" presId="urn:microsoft.com/office/officeart/2018/2/layout/IconLabelList"/>
    <dgm:cxn modelId="{09D84D70-823B-4D24-89AE-1CA965EF8395}" type="presParOf" srcId="{4FC34152-6A6F-49E0-A759-DB56F03DDB25}" destId="{781053B2-7F3D-4B5B-9314-A50ECF29B849}" srcOrd="0" destOrd="0" presId="urn:microsoft.com/office/officeart/2018/2/layout/IconLabelList"/>
    <dgm:cxn modelId="{65B1B254-2483-496A-8080-78F79B13DE14}" type="presParOf" srcId="{4FC34152-6A6F-49E0-A759-DB56F03DDB25}" destId="{0D77282D-8FF3-40D6-8D16-598A2E4F7E20}" srcOrd="1" destOrd="0" presId="urn:microsoft.com/office/officeart/2018/2/layout/IconLabelList"/>
    <dgm:cxn modelId="{17D9CD4D-F671-48A1-B46A-37403241CEF8}" type="presParOf" srcId="{4FC34152-6A6F-49E0-A759-DB56F03DDB25}" destId="{A554DDBD-C87D-49B6-80D2-66D592882AD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B6665A-ED5B-4CB8-AC23-A27E991182B7}" type="doc">
      <dgm:prSet loTypeId="urn:microsoft.com/office/officeart/2018/2/layout/IconVerticalSolidList" loCatId="icon" qsTypeId="urn:microsoft.com/office/officeart/2005/8/quickstyle/simple4#1" qsCatId="simple" csTypeId="urn:microsoft.com/office/officeart/2005/8/colors/accent6_1#1" csCatId="accent6" phldr="1"/>
      <dgm:spPr/>
      <dgm:t>
        <a:bodyPr/>
        <a:lstStyle/>
        <a:p>
          <a:endParaRPr lang="en-US"/>
        </a:p>
      </dgm:t>
    </dgm:pt>
    <dgm:pt modelId="{A0FF176F-D0FF-4E52-9CBF-91F513CD9CF6}">
      <dgm:prSet custT="1"/>
      <dgm:spPr/>
      <dgm:t>
        <a:bodyPr/>
        <a:lstStyle/>
        <a:p>
          <a:pPr>
            <a:lnSpc>
              <a:spcPct val="100000"/>
            </a:lnSpc>
          </a:pPr>
          <a:r>
            <a:rPr lang="en-US" sz="2800" dirty="0">
              <a:solidFill>
                <a:schemeClr val="bg2"/>
              </a:solidFill>
            </a:rPr>
            <a:t>Standards/tests/elements/factors that relate to your specific </a:t>
          </a:r>
          <a:r>
            <a:rPr lang="en-US" sz="2800" b="1" dirty="0">
              <a:solidFill>
                <a:schemeClr val="bg2"/>
              </a:solidFill>
            </a:rPr>
            <a:t>issue</a:t>
          </a:r>
          <a:endParaRPr lang="en-US" sz="2800" dirty="0">
            <a:solidFill>
              <a:schemeClr val="bg2"/>
            </a:solidFill>
          </a:endParaRPr>
        </a:p>
      </dgm:t>
    </dgm:pt>
    <dgm:pt modelId="{CF50912B-5E4E-4D0F-8413-A1719B668071}" type="parTrans" cxnId="{DAFEFB17-A59F-4402-98E5-96A1CD4B6CFE}">
      <dgm:prSet/>
      <dgm:spPr/>
      <dgm:t>
        <a:bodyPr/>
        <a:lstStyle/>
        <a:p>
          <a:endParaRPr lang="en-US"/>
        </a:p>
      </dgm:t>
    </dgm:pt>
    <dgm:pt modelId="{880C2067-82A5-4B35-9E75-51F27A92AEC0}" type="sibTrans" cxnId="{DAFEFB17-A59F-4402-98E5-96A1CD4B6CFE}">
      <dgm:prSet/>
      <dgm:spPr/>
      <dgm:t>
        <a:bodyPr/>
        <a:lstStyle/>
        <a:p>
          <a:endParaRPr lang="en-US"/>
        </a:p>
      </dgm:t>
    </dgm:pt>
    <dgm:pt modelId="{63847FF4-0F4A-470E-9BE6-FB4A0E6D59C4}">
      <dgm:prSet custT="1"/>
      <dgm:spPr/>
      <dgm:t>
        <a:bodyPr/>
        <a:lstStyle/>
        <a:p>
          <a:pPr>
            <a:lnSpc>
              <a:spcPct val="100000"/>
            </a:lnSpc>
          </a:pPr>
          <a:r>
            <a:rPr lang="en-US" sz="2800" b="1" dirty="0">
              <a:solidFill>
                <a:schemeClr val="bg2"/>
              </a:solidFill>
            </a:rPr>
            <a:t>Explicit rules </a:t>
          </a:r>
          <a:r>
            <a:rPr lang="en-US" sz="2800" dirty="0">
              <a:solidFill>
                <a:schemeClr val="bg2"/>
              </a:solidFill>
            </a:rPr>
            <a:t>(quotes are fine) when stated well or consistently by the courts</a:t>
          </a:r>
        </a:p>
      </dgm:t>
    </dgm:pt>
    <dgm:pt modelId="{2B77B52C-FD81-4B76-ABE3-F2B44D84EFE3}" type="parTrans" cxnId="{7124F5BD-7A3C-4D6E-8F30-6219C1EC3F70}">
      <dgm:prSet/>
      <dgm:spPr/>
      <dgm:t>
        <a:bodyPr/>
        <a:lstStyle/>
        <a:p>
          <a:endParaRPr lang="en-US"/>
        </a:p>
      </dgm:t>
    </dgm:pt>
    <dgm:pt modelId="{6DECA11A-CB07-4C00-8F23-20F10041AD36}" type="sibTrans" cxnId="{7124F5BD-7A3C-4D6E-8F30-6219C1EC3F70}">
      <dgm:prSet/>
      <dgm:spPr/>
      <dgm:t>
        <a:bodyPr/>
        <a:lstStyle/>
        <a:p>
          <a:endParaRPr lang="en-US"/>
        </a:p>
      </dgm:t>
    </dgm:pt>
    <dgm:pt modelId="{85F1AC51-CFFC-40D1-A530-2AD7EF6F6E1E}">
      <dgm:prSet custT="1"/>
      <dgm:spPr/>
      <dgm:t>
        <a:bodyPr/>
        <a:lstStyle/>
        <a:p>
          <a:pPr>
            <a:lnSpc>
              <a:spcPct val="100000"/>
            </a:lnSpc>
          </a:pPr>
          <a:r>
            <a:rPr lang="en-US" sz="2800" b="1" dirty="0">
              <a:solidFill>
                <a:schemeClr val="bg2"/>
              </a:solidFill>
            </a:rPr>
            <a:t>Implicit rules </a:t>
          </a:r>
          <a:r>
            <a:rPr lang="en-US" sz="2800" dirty="0">
              <a:solidFill>
                <a:schemeClr val="bg2"/>
              </a:solidFill>
            </a:rPr>
            <a:t>(what you observe courts doing) when necessary to fill in the gaps, so your reader has the whole picture</a:t>
          </a:r>
        </a:p>
      </dgm:t>
    </dgm:pt>
    <dgm:pt modelId="{EC31D8BD-6A25-45EC-B458-C62CF93D4A3E}" type="parTrans" cxnId="{3B4C51E1-E1E6-482B-B67E-DC0FF53519B8}">
      <dgm:prSet/>
      <dgm:spPr/>
      <dgm:t>
        <a:bodyPr/>
        <a:lstStyle/>
        <a:p>
          <a:endParaRPr lang="en-US"/>
        </a:p>
      </dgm:t>
    </dgm:pt>
    <dgm:pt modelId="{FBBE1A40-4892-4346-B360-06CA9ABE5056}" type="sibTrans" cxnId="{3B4C51E1-E1E6-482B-B67E-DC0FF53519B8}">
      <dgm:prSet/>
      <dgm:spPr/>
      <dgm:t>
        <a:bodyPr/>
        <a:lstStyle/>
        <a:p>
          <a:endParaRPr lang="en-US"/>
        </a:p>
      </dgm:t>
    </dgm:pt>
    <dgm:pt modelId="{893E2506-E520-4EEC-A72B-D6EA1E05B98E}" type="pres">
      <dgm:prSet presAssocID="{80B6665A-ED5B-4CB8-AC23-A27E991182B7}" presName="root" presStyleCnt="0">
        <dgm:presLayoutVars>
          <dgm:dir/>
          <dgm:resizeHandles val="exact"/>
        </dgm:presLayoutVars>
      </dgm:prSet>
      <dgm:spPr/>
    </dgm:pt>
    <dgm:pt modelId="{C64F503E-7258-40BA-9F47-8F587614AF06}" type="pres">
      <dgm:prSet presAssocID="{A0FF176F-D0FF-4E52-9CBF-91F513CD9CF6}" presName="compNode" presStyleCnt="0"/>
      <dgm:spPr/>
    </dgm:pt>
    <dgm:pt modelId="{50810D22-4184-425C-986B-1B3AD75AE93C}" type="pres">
      <dgm:prSet presAssocID="{A0FF176F-D0FF-4E52-9CBF-91F513CD9CF6}" presName="bgRect" presStyleLbl="bgShp" presStyleIdx="0" presStyleCnt="3"/>
      <dgm:spPr/>
    </dgm:pt>
    <dgm:pt modelId="{F8974FF0-7D4D-4D68-B2EF-21756555AB46}" type="pres">
      <dgm:prSet presAssocID="{A0FF176F-D0FF-4E52-9CBF-91F513CD9CF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esentation with Checklist"/>
        </a:ext>
      </dgm:extLst>
    </dgm:pt>
    <dgm:pt modelId="{1594D25B-C19B-44AF-BA3A-6F112B4325CA}" type="pres">
      <dgm:prSet presAssocID="{A0FF176F-D0FF-4E52-9CBF-91F513CD9CF6}" presName="spaceRect" presStyleCnt="0"/>
      <dgm:spPr/>
    </dgm:pt>
    <dgm:pt modelId="{A5DABDA2-2702-4F52-A20F-8F14A6063069}" type="pres">
      <dgm:prSet presAssocID="{A0FF176F-D0FF-4E52-9CBF-91F513CD9CF6}" presName="parTx" presStyleLbl="revTx" presStyleIdx="0" presStyleCnt="3">
        <dgm:presLayoutVars>
          <dgm:chMax val="0"/>
          <dgm:chPref val="0"/>
        </dgm:presLayoutVars>
      </dgm:prSet>
      <dgm:spPr/>
    </dgm:pt>
    <dgm:pt modelId="{55EDA385-DBDD-4C48-ABD9-3D5582627500}" type="pres">
      <dgm:prSet presAssocID="{880C2067-82A5-4B35-9E75-51F27A92AEC0}" presName="sibTrans" presStyleCnt="0"/>
      <dgm:spPr/>
    </dgm:pt>
    <dgm:pt modelId="{E145B5C8-591F-4FFF-AB58-01F44B8F20FA}" type="pres">
      <dgm:prSet presAssocID="{63847FF4-0F4A-470E-9BE6-FB4A0E6D59C4}" presName="compNode" presStyleCnt="0"/>
      <dgm:spPr/>
    </dgm:pt>
    <dgm:pt modelId="{66AC92A5-D272-4E41-B342-EA2846BDB950}" type="pres">
      <dgm:prSet presAssocID="{63847FF4-0F4A-470E-9BE6-FB4A0E6D59C4}" presName="bgRect" presStyleLbl="bgShp" presStyleIdx="1" presStyleCnt="3"/>
      <dgm:spPr/>
    </dgm:pt>
    <dgm:pt modelId="{DDBCA3B9-D922-4FC4-AC4B-5E088A9FA271}" type="pres">
      <dgm:prSet presAssocID="{63847FF4-0F4A-470E-9BE6-FB4A0E6D59C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otes"/>
        </a:ext>
      </dgm:extLst>
    </dgm:pt>
    <dgm:pt modelId="{70608E3D-DBD3-4D3E-B4C3-96AD141D79A1}" type="pres">
      <dgm:prSet presAssocID="{63847FF4-0F4A-470E-9BE6-FB4A0E6D59C4}" presName="spaceRect" presStyleCnt="0"/>
      <dgm:spPr/>
    </dgm:pt>
    <dgm:pt modelId="{B75C16F8-FF07-456A-B38A-A97519434F01}" type="pres">
      <dgm:prSet presAssocID="{63847FF4-0F4A-470E-9BE6-FB4A0E6D59C4}" presName="parTx" presStyleLbl="revTx" presStyleIdx="1" presStyleCnt="3">
        <dgm:presLayoutVars>
          <dgm:chMax val="0"/>
          <dgm:chPref val="0"/>
        </dgm:presLayoutVars>
      </dgm:prSet>
      <dgm:spPr/>
    </dgm:pt>
    <dgm:pt modelId="{6E3D9AEE-747B-4D85-8B8E-5CB3B3ACA7CB}" type="pres">
      <dgm:prSet presAssocID="{6DECA11A-CB07-4C00-8F23-20F10041AD36}" presName="sibTrans" presStyleCnt="0"/>
      <dgm:spPr/>
    </dgm:pt>
    <dgm:pt modelId="{B54241B0-2D4F-48B1-9AD0-46EA8F9A3AFD}" type="pres">
      <dgm:prSet presAssocID="{85F1AC51-CFFC-40D1-A530-2AD7EF6F6E1E}" presName="compNode" presStyleCnt="0"/>
      <dgm:spPr/>
    </dgm:pt>
    <dgm:pt modelId="{FF7384F2-73FB-445B-A810-1CB5443D0776}" type="pres">
      <dgm:prSet presAssocID="{85F1AC51-CFFC-40D1-A530-2AD7EF6F6E1E}" presName="bgRect" presStyleLbl="bgShp" presStyleIdx="2" presStyleCnt="3"/>
      <dgm:spPr/>
    </dgm:pt>
    <dgm:pt modelId="{C4DED1FE-C6B5-4D3B-A17C-E43D6C6DD203}" type="pres">
      <dgm:prSet presAssocID="{85F1AC51-CFFC-40D1-A530-2AD7EF6F6E1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Gavel"/>
        </a:ext>
      </dgm:extLst>
    </dgm:pt>
    <dgm:pt modelId="{6CCCDDC7-07AE-4E9F-A173-0ADEC3B1F711}" type="pres">
      <dgm:prSet presAssocID="{85F1AC51-CFFC-40D1-A530-2AD7EF6F6E1E}" presName="spaceRect" presStyleCnt="0"/>
      <dgm:spPr/>
    </dgm:pt>
    <dgm:pt modelId="{0325F96A-B5B9-49F3-86EB-65E98B713CE6}" type="pres">
      <dgm:prSet presAssocID="{85F1AC51-CFFC-40D1-A530-2AD7EF6F6E1E}" presName="parTx" presStyleLbl="revTx" presStyleIdx="2" presStyleCnt="3">
        <dgm:presLayoutVars>
          <dgm:chMax val="0"/>
          <dgm:chPref val="0"/>
        </dgm:presLayoutVars>
      </dgm:prSet>
      <dgm:spPr/>
    </dgm:pt>
  </dgm:ptLst>
  <dgm:cxnLst>
    <dgm:cxn modelId="{DAFEFB17-A59F-4402-98E5-96A1CD4B6CFE}" srcId="{80B6665A-ED5B-4CB8-AC23-A27E991182B7}" destId="{A0FF176F-D0FF-4E52-9CBF-91F513CD9CF6}" srcOrd="0" destOrd="0" parTransId="{CF50912B-5E4E-4D0F-8413-A1719B668071}" sibTransId="{880C2067-82A5-4B35-9E75-51F27A92AEC0}"/>
    <dgm:cxn modelId="{CE32983F-531D-4EED-B81F-81AB943C6AED}" type="presOf" srcId="{85F1AC51-CFFC-40D1-A530-2AD7EF6F6E1E}" destId="{0325F96A-B5B9-49F3-86EB-65E98B713CE6}" srcOrd="0" destOrd="0" presId="urn:microsoft.com/office/officeart/2018/2/layout/IconVerticalSolidList"/>
    <dgm:cxn modelId="{9FCCCA52-93E4-4E7E-8982-FCEEA3E7A353}" type="presOf" srcId="{63847FF4-0F4A-470E-9BE6-FB4A0E6D59C4}" destId="{B75C16F8-FF07-456A-B38A-A97519434F01}" srcOrd="0" destOrd="0" presId="urn:microsoft.com/office/officeart/2018/2/layout/IconVerticalSolidList"/>
    <dgm:cxn modelId="{34C460B8-160A-4645-9505-50DF61764E29}" type="presOf" srcId="{A0FF176F-D0FF-4E52-9CBF-91F513CD9CF6}" destId="{A5DABDA2-2702-4F52-A20F-8F14A6063069}" srcOrd="0" destOrd="0" presId="urn:microsoft.com/office/officeart/2018/2/layout/IconVerticalSolidList"/>
    <dgm:cxn modelId="{7124F5BD-7A3C-4D6E-8F30-6219C1EC3F70}" srcId="{80B6665A-ED5B-4CB8-AC23-A27E991182B7}" destId="{63847FF4-0F4A-470E-9BE6-FB4A0E6D59C4}" srcOrd="1" destOrd="0" parTransId="{2B77B52C-FD81-4B76-ABE3-F2B44D84EFE3}" sibTransId="{6DECA11A-CB07-4C00-8F23-20F10041AD36}"/>
    <dgm:cxn modelId="{3B4C51E1-E1E6-482B-B67E-DC0FF53519B8}" srcId="{80B6665A-ED5B-4CB8-AC23-A27E991182B7}" destId="{85F1AC51-CFFC-40D1-A530-2AD7EF6F6E1E}" srcOrd="2" destOrd="0" parTransId="{EC31D8BD-6A25-45EC-B458-C62CF93D4A3E}" sibTransId="{FBBE1A40-4892-4346-B360-06CA9ABE5056}"/>
    <dgm:cxn modelId="{4A7E51FC-972A-45CB-A005-90081FD1252F}" type="presOf" srcId="{80B6665A-ED5B-4CB8-AC23-A27E991182B7}" destId="{893E2506-E520-4EEC-A72B-D6EA1E05B98E}" srcOrd="0" destOrd="0" presId="urn:microsoft.com/office/officeart/2018/2/layout/IconVerticalSolidList"/>
    <dgm:cxn modelId="{4924F1AE-F13F-46CC-9009-58BE6F33B248}" type="presParOf" srcId="{893E2506-E520-4EEC-A72B-D6EA1E05B98E}" destId="{C64F503E-7258-40BA-9F47-8F587614AF06}" srcOrd="0" destOrd="0" presId="urn:microsoft.com/office/officeart/2018/2/layout/IconVerticalSolidList"/>
    <dgm:cxn modelId="{0926773F-ABCC-48C5-943C-C1D59AB2E2EB}" type="presParOf" srcId="{C64F503E-7258-40BA-9F47-8F587614AF06}" destId="{50810D22-4184-425C-986B-1B3AD75AE93C}" srcOrd="0" destOrd="0" presId="urn:microsoft.com/office/officeart/2018/2/layout/IconVerticalSolidList"/>
    <dgm:cxn modelId="{C30080D7-25AA-4EF9-A792-70C9F00DD2E4}" type="presParOf" srcId="{C64F503E-7258-40BA-9F47-8F587614AF06}" destId="{F8974FF0-7D4D-4D68-B2EF-21756555AB46}" srcOrd="1" destOrd="0" presId="urn:microsoft.com/office/officeart/2018/2/layout/IconVerticalSolidList"/>
    <dgm:cxn modelId="{8F324F07-F039-4353-9438-33FD5ED487AB}" type="presParOf" srcId="{C64F503E-7258-40BA-9F47-8F587614AF06}" destId="{1594D25B-C19B-44AF-BA3A-6F112B4325CA}" srcOrd="2" destOrd="0" presId="urn:microsoft.com/office/officeart/2018/2/layout/IconVerticalSolidList"/>
    <dgm:cxn modelId="{69708153-B031-4F00-B9F1-767A87A4A8FA}" type="presParOf" srcId="{C64F503E-7258-40BA-9F47-8F587614AF06}" destId="{A5DABDA2-2702-4F52-A20F-8F14A6063069}" srcOrd="3" destOrd="0" presId="urn:microsoft.com/office/officeart/2018/2/layout/IconVerticalSolidList"/>
    <dgm:cxn modelId="{70BCCCF3-8B75-489D-AAD2-FE65998F439B}" type="presParOf" srcId="{893E2506-E520-4EEC-A72B-D6EA1E05B98E}" destId="{55EDA385-DBDD-4C48-ABD9-3D5582627500}" srcOrd="1" destOrd="0" presId="urn:microsoft.com/office/officeart/2018/2/layout/IconVerticalSolidList"/>
    <dgm:cxn modelId="{73A74268-B90D-4C1B-83F2-AEA40FAFDE0A}" type="presParOf" srcId="{893E2506-E520-4EEC-A72B-D6EA1E05B98E}" destId="{E145B5C8-591F-4FFF-AB58-01F44B8F20FA}" srcOrd="2" destOrd="0" presId="urn:microsoft.com/office/officeart/2018/2/layout/IconVerticalSolidList"/>
    <dgm:cxn modelId="{44475414-12DD-4C4A-BE75-D8D71960CE61}" type="presParOf" srcId="{E145B5C8-591F-4FFF-AB58-01F44B8F20FA}" destId="{66AC92A5-D272-4E41-B342-EA2846BDB950}" srcOrd="0" destOrd="0" presId="urn:microsoft.com/office/officeart/2018/2/layout/IconVerticalSolidList"/>
    <dgm:cxn modelId="{2D7FCD73-6142-4176-988E-0BE0AD61C809}" type="presParOf" srcId="{E145B5C8-591F-4FFF-AB58-01F44B8F20FA}" destId="{DDBCA3B9-D922-4FC4-AC4B-5E088A9FA271}" srcOrd="1" destOrd="0" presId="urn:microsoft.com/office/officeart/2018/2/layout/IconVerticalSolidList"/>
    <dgm:cxn modelId="{AA2FB8D1-D498-4D08-944F-3AD03FC94007}" type="presParOf" srcId="{E145B5C8-591F-4FFF-AB58-01F44B8F20FA}" destId="{70608E3D-DBD3-4D3E-B4C3-96AD141D79A1}" srcOrd="2" destOrd="0" presId="urn:microsoft.com/office/officeart/2018/2/layout/IconVerticalSolidList"/>
    <dgm:cxn modelId="{251CC915-5ECF-4305-84C2-345B37AF87A0}" type="presParOf" srcId="{E145B5C8-591F-4FFF-AB58-01F44B8F20FA}" destId="{B75C16F8-FF07-456A-B38A-A97519434F01}" srcOrd="3" destOrd="0" presId="urn:microsoft.com/office/officeart/2018/2/layout/IconVerticalSolidList"/>
    <dgm:cxn modelId="{E119E078-0903-42DB-9C47-9B71549D84F8}" type="presParOf" srcId="{893E2506-E520-4EEC-A72B-D6EA1E05B98E}" destId="{6E3D9AEE-747B-4D85-8B8E-5CB3B3ACA7CB}" srcOrd="3" destOrd="0" presId="urn:microsoft.com/office/officeart/2018/2/layout/IconVerticalSolidList"/>
    <dgm:cxn modelId="{8A6A46CF-E5F2-4DDB-8AB7-BE4412EBE36E}" type="presParOf" srcId="{893E2506-E520-4EEC-A72B-D6EA1E05B98E}" destId="{B54241B0-2D4F-48B1-9AD0-46EA8F9A3AFD}" srcOrd="4" destOrd="0" presId="urn:microsoft.com/office/officeart/2018/2/layout/IconVerticalSolidList"/>
    <dgm:cxn modelId="{CCF1B5D1-11A9-41FB-B475-C9825FD2075A}" type="presParOf" srcId="{B54241B0-2D4F-48B1-9AD0-46EA8F9A3AFD}" destId="{FF7384F2-73FB-445B-A810-1CB5443D0776}" srcOrd="0" destOrd="0" presId="urn:microsoft.com/office/officeart/2018/2/layout/IconVerticalSolidList"/>
    <dgm:cxn modelId="{6552B4AC-A979-4171-AA49-BC683AB54772}" type="presParOf" srcId="{B54241B0-2D4F-48B1-9AD0-46EA8F9A3AFD}" destId="{C4DED1FE-C6B5-4D3B-A17C-E43D6C6DD203}" srcOrd="1" destOrd="0" presId="urn:microsoft.com/office/officeart/2018/2/layout/IconVerticalSolidList"/>
    <dgm:cxn modelId="{D21D254D-CCBA-4B50-B50E-118443BA8D80}" type="presParOf" srcId="{B54241B0-2D4F-48B1-9AD0-46EA8F9A3AFD}" destId="{6CCCDDC7-07AE-4E9F-A173-0ADEC3B1F711}" srcOrd="2" destOrd="0" presId="urn:microsoft.com/office/officeart/2018/2/layout/IconVerticalSolidList"/>
    <dgm:cxn modelId="{6F0C6169-353D-47F7-A90C-907E7AA8714C}" type="presParOf" srcId="{B54241B0-2D4F-48B1-9AD0-46EA8F9A3AFD}" destId="{0325F96A-B5B9-49F3-86EB-65E98B713CE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26F71-3EB1-450C-BF7D-C1F2F2AF2DE2}">
      <dsp:nvSpPr>
        <dsp:cNvPr id="0" name=""/>
        <dsp:cNvSpPr/>
      </dsp:nvSpPr>
      <dsp:spPr>
        <a:xfrm>
          <a:off x="0" y="2553"/>
          <a:ext cx="6245265" cy="1385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Love, Price, Whitehurst, and Tran LLP</a:t>
          </a:r>
          <a:r>
            <a:rPr lang="en-US" sz="2400" kern="1200" dirty="0"/>
            <a:t> Presentations</a:t>
          </a:r>
        </a:p>
      </dsp:txBody>
      <dsp:txXfrm>
        <a:off x="67653" y="70206"/>
        <a:ext cx="6109959" cy="1250565"/>
      </dsp:txXfrm>
    </dsp:sp>
    <dsp:sp modelId="{0F5DA5D8-6737-4D70-B026-BBB1FD192DCB}">
      <dsp:nvSpPr>
        <dsp:cNvPr id="0" name=""/>
        <dsp:cNvSpPr/>
      </dsp:nvSpPr>
      <dsp:spPr>
        <a:xfrm>
          <a:off x="0" y="1402009"/>
          <a:ext cx="6245265" cy="1385871"/>
        </a:xfrm>
        <a:prstGeom prst="roundRect">
          <a:avLst/>
        </a:prstGeom>
        <a:solidFill>
          <a:schemeClr val="accent2">
            <a:hueOff val="-5775273"/>
            <a:satOff val="5219"/>
            <a:lumOff val="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rgbClr val="FFFFFF"/>
              </a:solidFill>
              <a:latin typeface="+mj-lt"/>
              <a:ea typeface="+mj-ea"/>
              <a:cs typeface="+mj-cs"/>
            </a:rPr>
            <a:t>Becoming a Legal Writer Ch. 4, ex. 4.1 and 4.4</a:t>
          </a:r>
          <a:endParaRPr lang="en-US" sz="2400" kern="1200" dirty="0"/>
        </a:p>
      </dsp:txBody>
      <dsp:txXfrm>
        <a:off x="67653" y="1469662"/>
        <a:ext cx="6109959" cy="1250565"/>
      </dsp:txXfrm>
    </dsp:sp>
    <dsp:sp modelId="{AE529DE4-4E33-4BAC-9617-DD4DD4B51DEC}">
      <dsp:nvSpPr>
        <dsp:cNvPr id="0" name=""/>
        <dsp:cNvSpPr/>
      </dsp:nvSpPr>
      <dsp:spPr>
        <a:xfrm>
          <a:off x="0" y="2801465"/>
          <a:ext cx="6245265" cy="1385871"/>
        </a:xfrm>
        <a:prstGeom prst="roundRect">
          <a:avLst/>
        </a:prstGeom>
        <a:solidFill>
          <a:schemeClr val="accent2">
            <a:hueOff val="-11550546"/>
            <a:satOff val="10438"/>
            <a:lumOff val="11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Synthesizing and Drafting Rules</a:t>
          </a:r>
        </a:p>
      </dsp:txBody>
      <dsp:txXfrm>
        <a:off x="67653" y="2869118"/>
        <a:ext cx="6109959" cy="1250565"/>
      </dsp:txXfrm>
    </dsp:sp>
    <dsp:sp modelId="{EC7E6824-AAD7-4EE6-B36D-8B498D6854A4}">
      <dsp:nvSpPr>
        <dsp:cNvPr id="0" name=""/>
        <dsp:cNvSpPr/>
      </dsp:nvSpPr>
      <dsp:spPr>
        <a:xfrm>
          <a:off x="0" y="4200921"/>
          <a:ext cx="6245265" cy="1385871"/>
        </a:xfrm>
        <a:prstGeom prst="roundRect">
          <a:avLst/>
        </a:prstGeom>
        <a:solidFill>
          <a:schemeClr val="accent2">
            <a:hueOff val="-17325818"/>
            <a:satOff val="15657"/>
            <a:lumOff val="176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Don’t forget:</a:t>
          </a:r>
        </a:p>
        <a:p>
          <a:pPr marL="0" lvl="0" indent="0" algn="l" defTabSz="1066800">
            <a:lnSpc>
              <a:spcPct val="90000"/>
            </a:lnSpc>
            <a:spcBef>
              <a:spcPct val="0"/>
            </a:spcBef>
            <a:spcAft>
              <a:spcPct val="35000"/>
            </a:spcAft>
            <a:buNone/>
          </a:pPr>
          <a:r>
            <a:rPr lang="en-US" sz="2400" b="1" kern="1200" dirty="0"/>
            <a:t>- -</a:t>
          </a:r>
          <a:r>
            <a:rPr lang="en-US" sz="2400" b="1" i="0" kern="1200" dirty="0"/>
            <a:t>Complete Legal Research Modules 1.1-1.3 by 5:00 p.m. Today</a:t>
          </a:r>
          <a:endParaRPr lang="en-US" sz="2400" b="1" kern="1200" dirty="0"/>
        </a:p>
      </dsp:txBody>
      <dsp:txXfrm>
        <a:off x="67653" y="4268574"/>
        <a:ext cx="6109959" cy="1250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5F93A-22F7-4D79-8444-6AA8DF47D712}">
      <dsp:nvSpPr>
        <dsp:cNvPr id="0" name=""/>
        <dsp:cNvSpPr/>
      </dsp:nvSpPr>
      <dsp:spPr>
        <a:xfrm>
          <a:off x="0" y="849163"/>
          <a:ext cx="3469183" cy="208151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baseline="0"/>
            <a:t>What are we initially looking at for the preliminary analysis of a case?</a:t>
          </a:r>
          <a:endParaRPr lang="en-US" sz="2900" kern="1200"/>
        </a:p>
      </dsp:txBody>
      <dsp:txXfrm>
        <a:off x="0" y="849163"/>
        <a:ext cx="3469183" cy="2081510"/>
      </dsp:txXfrm>
    </dsp:sp>
    <dsp:sp modelId="{4E0D83E0-EA2C-4D26-AD7C-56B701DE285E}">
      <dsp:nvSpPr>
        <dsp:cNvPr id="0" name=""/>
        <dsp:cNvSpPr/>
      </dsp:nvSpPr>
      <dsp:spPr>
        <a:xfrm>
          <a:off x="3816102" y="849163"/>
          <a:ext cx="3469183" cy="2081510"/>
        </a:xfrm>
        <a:prstGeom prst="rect">
          <a:avLst/>
        </a:prstGeom>
        <a:solidFill>
          <a:schemeClr val="accent5">
            <a:hueOff val="-1548259"/>
            <a:satOff val="15522"/>
            <a:lumOff val="-107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baseline="0"/>
            <a:t>What authorities do you have and what is the order of weightiness of them?</a:t>
          </a:r>
          <a:endParaRPr lang="en-US" sz="2900" kern="1200"/>
        </a:p>
      </dsp:txBody>
      <dsp:txXfrm>
        <a:off x="3816102" y="849163"/>
        <a:ext cx="3469183" cy="2081510"/>
      </dsp:txXfrm>
    </dsp:sp>
    <dsp:sp modelId="{7C159276-BBB9-443E-BFC2-0E6884BF636F}">
      <dsp:nvSpPr>
        <dsp:cNvPr id="0" name=""/>
        <dsp:cNvSpPr/>
      </dsp:nvSpPr>
      <dsp:spPr>
        <a:xfrm>
          <a:off x="7632204" y="849163"/>
          <a:ext cx="3469183" cy="2081510"/>
        </a:xfrm>
        <a:prstGeom prst="rect">
          <a:avLst/>
        </a:prstGeom>
        <a:solidFill>
          <a:schemeClr val="accent5">
            <a:hueOff val="-3096518"/>
            <a:satOff val="31044"/>
            <a:lumOff val="-215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baseline="0"/>
            <a:t>What is the issue presented?</a:t>
          </a:r>
          <a:endParaRPr lang="en-US" sz="2900" kern="1200"/>
        </a:p>
      </dsp:txBody>
      <dsp:txXfrm>
        <a:off x="7632204" y="849163"/>
        <a:ext cx="3469183" cy="20815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535358-B0B0-422E-8803-00F08C4D927A}">
      <dsp:nvSpPr>
        <dsp:cNvPr id="0" name=""/>
        <dsp:cNvSpPr/>
      </dsp:nvSpPr>
      <dsp:spPr>
        <a:xfrm>
          <a:off x="2040568" y="322712"/>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09C94D-0C1F-458B-B71C-FC2F9E1F34A3}">
      <dsp:nvSpPr>
        <dsp:cNvPr id="0" name=""/>
        <dsp:cNvSpPr/>
      </dsp:nvSpPr>
      <dsp:spPr>
        <a:xfrm>
          <a:off x="852568" y="273712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Where should you start?</a:t>
          </a:r>
        </a:p>
      </dsp:txBody>
      <dsp:txXfrm>
        <a:off x="852568" y="2737124"/>
        <a:ext cx="4320000" cy="720000"/>
      </dsp:txXfrm>
    </dsp:sp>
    <dsp:sp modelId="{781053B2-7F3D-4B5B-9314-A50ECF29B849}">
      <dsp:nvSpPr>
        <dsp:cNvPr id="0" name=""/>
        <dsp:cNvSpPr/>
      </dsp:nvSpPr>
      <dsp:spPr>
        <a:xfrm>
          <a:off x="7116568" y="322712"/>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54DDBD-C87D-49B6-80D2-66D592882AD8}">
      <dsp:nvSpPr>
        <dsp:cNvPr id="0" name=""/>
        <dsp:cNvSpPr/>
      </dsp:nvSpPr>
      <dsp:spPr>
        <a:xfrm>
          <a:off x="5928568" y="273712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What is the first section of your CREAC you should write?</a:t>
          </a:r>
        </a:p>
      </dsp:txBody>
      <dsp:txXfrm>
        <a:off x="5928568" y="2737124"/>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810D22-4184-425C-986B-1B3AD75AE93C}">
      <dsp:nvSpPr>
        <dsp:cNvPr id="0" name=""/>
        <dsp:cNvSpPr/>
      </dsp:nvSpPr>
      <dsp:spPr>
        <a:xfrm>
          <a:off x="0" y="621"/>
          <a:ext cx="11634951" cy="1455327"/>
        </a:xfrm>
        <a:prstGeom prst="roundRect">
          <a:avLst>
            <a:gd name="adj" fmla="val 10000"/>
          </a:avLst>
        </a:prstGeom>
        <a:solidFill>
          <a:schemeClr val="accent6">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8974FF0-7D4D-4D68-B2EF-21756555AB46}">
      <dsp:nvSpPr>
        <dsp:cNvPr id="0" name=""/>
        <dsp:cNvSpPr/>
      </dsp:nvSpPr>
      <dsp:spPr>
        <a:xfrm>
          <a:off x="440236" y="328070"/>
          <a:ext cx="800429" cy="8004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5DABDA2-2702-4F52-A20F-8F14A6063069}">
      <dsp:nvSpPr>
        <dsp:cNvPr id="0" name=""/>
        <dsp:cNvSpPr/>
      </dsp:nvSpPr>
      <dsp:spPr>
        <a:xfrm>
          <a:off x="1680902" y="621"/>
          <a:ext cx="9954048" cy="1455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022" tIns="154022" rIns="154022" bIns="154022" numCol="1" spcCol="1270" anchor="ctr" anchorCtr="0">
          <a:noAutofit/>
        </a:bodyPr>
        <a:lstStyle/>
        <a:p>
          <a:pPr marL="0" lvl="0" indent="0" algn="l" defTabSz="1244600">
            <a:lnSpc>
              <a:spcPct val="100000"/>
            </a:lnSpc>
            <a:spcBef>
              <a:spcPct val="0"/>
            </a:spcBef>
            <a:spcAft>
              <a:spcPct val="35000"/>
            </a:spcAft>
            <a:buNone/>
          </a:pPr>
          <a:r>
            <a:rPr lang="en-US" sz="2800" kern="1200" dirty="0">
              <a:solidFill>
                <a:schemeClr val="bg2"/>
              </a:solidFill>
            </a:rPr>
            <a:t>Standards/tests/elements/factors that relate to your specific </a:t>
          </a:r>
          <a:r>
            <a:rPr lang="en-US" sz="2800" b="1" kern="1200" dirty="0">
              <a:solidFill>
                <a:schemeClr val="bg2"/>
              </a:solidFill>
            </a:rPr>
            <a:t>issue</a:t>
          </a:r>
          <a:endParaRPr lang="en-US" sz="2800" kern="1200" dirty="0">
            <a:solidFill>
              <a:schemeClr val="bg2"/>
            </a:solidFill>
          </a:endParaRPr>
        </a:p>
      </dsp:txBody>
      <dsp:txXfrm>
        <a:off x="1680902" y="621"/>
        <a:ext cx="9954048" cy="1455327"/>
      </dsp:txXfrm>
    </dsp:sp>
    <dsp:sp modelId="{66AC92A5-D272-4E41-B342-EA2846BDB950}">
      <dsp:nvSpPr>
        <dsp:cNvPr id="0" name=""/>
        <dsp:cNvSpPr/>
      </dsp:nvSpPr>
      <dsp:spPr>
        <a:xfrm>
          <a:off x="0" y="1819780"/>
          <a:ext cx="11634951" cy="1455327"/>
        </a:xfrm>
        <a:prstGeom prst="roundRect">
          <a:avLst>
            <a:gd name="adj" fmla="val 10000"/>
          </a:avLst>
        </a:prstGeom>
        <a:solidFill>
          <a:schemeClr val="accent6">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DBCA3B9-D922-4FC4-AC4B-5E088A9FA271}">
      <dsp:nvSpPr>
        <dsp:cNvPr id="0" name=""/>
        <dsp:cNvSpPr/>
      </dsp:nvSpPr>
      <dsp:spPr>
        <a:xfrm>
          <a:off x="440236" y="2147229"/>
          <a:ext cx="800429" cy="8004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75C16F8-FF07-456A-B38A-A97519434F01}">
      <dsp:nvSpPr>
        <dsp:cNvPr id="0" name=""/>
        <dsp:cNvSpPr/>
      </dsp:nvSpPr>
      <dsp:spPr>
        <a:xfrm>
          <a:off x="1680902" y="1819780"/>
          <a:ext cx="9954048" cy="1455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022" tIns="154022" rIns="154022" bIns="154022" numCol="1" spcCol="1270" anchor="ctr" anchorCtr="0">
          <a:noAutofit/>
        </a:bodyPr>
        <a:lstStyle/>
        <a:p>
          <a:pPr marL="0" lvl="0" indent="0" algn="l" defTabSz="1244600">
            <a:lnSpc>
              <a:spcPct val="100000"/>
            </a:lnSpc>
            <a:spcBef>
              <a:spcPct val="0"/>
            </a:spcBef>
            <a:spcAft>
              <a:spcPct val="35000"/>
            </a:spcAft>
            <a:buNone/>
          </a:pPr>
          <a:r>
            <a:rPr lang="en-US" sz="2800" b="1" kern="1200" dirty="0">
              <a:solidFill>
                <a:schemeClr val="bg2"/>
              </a:solidFill>
            </a:rPr>
            <a:t>Explicit rules </a:t>
          </a:r>
          <a:r>
            <a:rPr lang="en-US" sz="2800" kern="1200" dirty="0">
              <a:solidFill>
                <a:schemeClr val="bg2"/>
              </a:solidFill>
            </a:rPr>
            <a:t>(quotes are fine) when stated well or consistently by the courts</a:t>
          </a:r>
        </a:p>
      </dsp:txBody>
      <dsp:txXfrm>
        <a:off x="1680902" y="1819780"/>
        <a:ext cx="9954048" cy="1455327"/>
      </dsp:txXfrm>
    </dsp:sp>
    <dsp:sp modelId="{FF7384F2-73FB-445B-A810-1CB5443D0776}">
      <dsp:nvSpPr>
        <dsp:cNvPr id="0" name=""/>
        <dsp:cNvSpPr/>
      </dsp:nvSpPr>
      <dsp:spPr>
        <a:xfrm>
          <a:off x="0" y="3638939"/>
          <a:ext cx="11634951" cy="1455327"/>
        </a:xfrm>
        <a:prstGeom prst="roundRect">
          <a:avLst>
            <a:gd name="adj" fmla="val 10000"/>
          </a:avLst>
        </a:prstGeom>
        <a:solidFill>
          <a:schemeClr val="accent6">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4DED1FE-C6B5-4D3B-A17C-E43D6C6DD203}">
      <dsp:nvSpPr>
        <dsp:cNvPr id="0" name=""/>
        <dsp:cNvSpPr/>
      </dsp:nvSpPr>
      <dsp:spPr>
        <a:xfrm>
          <a:off x="440236" y="3966388"/>
          <a:ext cx="800429" cy="8004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325F96A-B5B9-49F3-86EB-65E98B713CE6}">
      <dsp:nvSpPr>
        <dsp:cNvPr id="0" name=""/>
        <dsp:cNvSpPr/>
      </dsp:nvSpPr>
      <dsp:spPr>
        <a:xfrm>
          <a:off x="1680902" y="3638939"/>
          <a:ext cx="9954048" cy="1455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022" tIns="154022" rIns="154022" bIns="154022" numCol="1" spcCol="1270" anchor="ctr" anchorCtr="0">
          <a:noAutofit/>
        </a:bodyPr>
        <a:lstStyle/>
        <a:p>
          <a:pPr marL="0" lvl="0" indent="0" algn="l" defTabSz="1244600">
            <a:lnSpc>
              <a:spcPct val="100000"/>
            </a:lnSpc>
            <a:spcBef>
              <a:spcPct val="0"/>
            </a:spcBef>
            <a:spcAft>
              <a:spcPct val="35000"/>
            </a:spcAft>
            <a:buNone/>
          </a:pPr>
          <a:r>
            <a:rPr lang="en-US" sz="2800" b="1" kern="1200" dirty="0">
              <a:solidFill>
                <a:schemeClr val="bg2"/>
              </a:solidFill>
            </a:rPr>
            <a:t>Implicit rules </a:t>
          </a:r>
          <a:r>
            <a:rPr lang="en-US" sz="2800" kern="1200" dirty="0">
              <a:solidFill>
                <a:schemeClr val="bg2"/>
              </a:solidFill>
            </a:rPr>
            <a:t>(what you observe courts doing) when necessary to fill in the gaps, so your reader has the whole picture</a:t>
          </a:r>
        </a:p>
      </dsp:txBody>
      <dsp:txXfrm>
        <a:off x="1680902" y="3638939"/>
        <a:ext cx="9954048" cy="14553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D5203-1EF6-D747-B180-194E1CC7A2A0}"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AD4332-1E5C-E843-A6B1-0C80D4F41A78}" type="slidenum">
              <a:rPr lang="en-US" smtClean="0"/>
              <a:t>‹#›</a:t>
            </a:fld>
            <a:endParaRPr lang="en-US"/>
          </a:p>
        </p:txBody>
      </p:sp>
    </p:spTree>
    <p:extLst>
      <p:ext uri="{BB962C8B-B14F-4D97-AF65-F5344CB8AC3E}">
        <p14:creationId xmlns:p14="http://schemas.microsoft.com/office/powerpoint/2010/main" val="2898238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F29603-43F8-1348-A29A-A4371684432B}" type="slidenum">
              <a:rPr lang="en-US" smtClean="0"/>
              <a:t>6</a:t>
            </a:fld>
            <a:endParaRPr lang="en-US"/>
          </a:p>
        </p:txBody>
      </p:sp>
    </p:spTree>
    <p:extLst>
      <p:ext uri="{BB962C8B-B14F-4D97-AF65-F5344CB8AC3E}">
        <p14:creationId xmlns:p14="http://schemas.microsoft.com/office/powerpoint/2010/main" val="566433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itchFamily="34" charset="-128"/>
            </a:endParaRPr>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itchFamily="34" charset="0"/>
                <a:ea typeface="ＭＳ Ｐゴシック" pitchFamily="34" charset="-128"/>
              </a:defRPr>
            </a:lvl1pPr>
            <a:lvl2pPr marL="742950" indent="-285750" eaLnBrk="0" hangingPunct="0">
              <a:spcBef>
                <a:spcPct val="30000"/>
              </a:spcBef>
              <a:defRPr sz="1200">
                <a:solidFill>
                  <a:schemeClr val="tx1"/>
                </a:solidFill>
                <a:latin typeface="Calibri" pitchFamily="34" charset="0"/>
                <a:ea typeface="ＭＳ Ｐゴシック" pitchFamily="34" charset="-128"/>
              </a:defRPr>
            </a:lvl2pPr>
            <a:lvl3pPr marL="1143000" indent="-228600" eaLnBrk="0" hangingPunct="0">
              <a:spcBef>
                <a:spcPct val="30000"/>
              </a:spcBef>
              <a:defRPr sz="1200">
                <a:solidFill>
                  <a:schemeClr val="tx1"/>
                </a:solidFill>
                <a:latin typeface="Calibri" pitchFamily="34" charset="0"/>
                <a:ea typeface="ＭＳ Ｐゴシック" pitchFamily="34" charset="-128"/>
              </a:defRPr>
            </a:lvl3pPr>
            <a:lvl4pPr marL="1600200" indent="-228600" eaLnBrk="0" hangingPunct="0">
              <a:spcBef>
                <a:spcPct val="30000"/>
              </a:spcBef>
              <a:defRPr sz="1200">
                <a:solidFill>
                  <a:schemeClr val="tx1"/>
                </a:solidFill>
                <a:latin typeface="Calibri" pitchFamily="34" charset="0"/>
                <a:ea typeface="ＭＳ Ｐゴシック" pitchFamily="34" charset="-128"/>
              </a:defRPr>
            </a:lvl4pPr>
            <a:lvl5pPr marL="2057400" indent="-228600" eaLnBrk="0" hangingPunct="0">
              <a:spcBef>
                <a:spcPct val="30000"/>
              </a:spcBef>
              <a:defRPr sz="10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08AF619E-4865-45A1-9619-81FCE1E612FC}" type="slidenum">
              <a:rPr kumimoji="0" lang="en-US" alt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endParaRPr>
          </a:p>
        </p:txBody>
      </p:sp>
    </p:spTree>
    <p:extLst>
      <p:ext uri="{BB962C8B-B14F-4D97-AF65-F5344CB8AC3E}">
        <p14:creationId xmlns:p14="http://schemas.microsoft.com/office/powerpoint/2010/main" val="262801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a:t>
            </a:r>
            <a:r>
              <a:rPr lang="en-US" baseline="0" dirty="0"/>
              <a:t> version of what you’ll be doing with your memo.  </a:t>
            </a:r>
          </a:p>
          <a:p>
            <a:endParaRPr lang="en-US" baseline="0" dirty="0"/>
          </a:p>
          <a:p>
            <a:r>
              <a:rPr lang="en-US" baseline="0" dirty="0"/>
              <a:t>Print Eric Hypo for them</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E67BE0-1226-4553-AC9A-91A748BBEF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0713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20005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155817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487584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44AD5F-C031-4752-AA5B-38A59EB77CDE}"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479932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44AD5F-C031-4752-AA5B-38A59EB77CDE}"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3090103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44AD5F-C031-4752-AA5B-38A59EB77CDE}"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966750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44AD5F-C031-4752-AA5B-38A59EB77CDE}"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064061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44AD5F-C031-4752-AA5B-38A59EB77CDE}"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775072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44AD5F-C031-4752-AA5B-38A59EB77CDE}"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613744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90450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2659210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252209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reserve="1">
  <p:cSld name="Title and 2-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44AD5F-C031-4752-AA5B-38A59EB77CDE}"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482757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E6438330-16CE-4B24-B2FB-1F9167A6DBD0}" type="datetimeFigureOut">
              <a:rPr lang="en-US" smtClean="0"/>
              <a:t>9/8/2026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4AC32B73-3A4A-4162-AB5A-AD70F74A680A}" type="slidenum">
              <a:rPr lang="en-US" smtClean="0"/>
              <a:t>‹#›</a:t>
            </a:fld>
            <a:endParaRPr lang="en-US"/>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912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5031618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44AD5F-C031-4752-AA5B-38A59EB77CDE}" type="datetimeFigureOut">
              <a:rPr lang="en-US" smtClean="0"/>
              <a:pPr/>
              <a:t>9/8/2026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7D8CA-FDA0-4C0D-B210-ADA237626CCC}" type="slidenum">
              <a:rPr lang="en-US" smtClean="0"/>
              <a:pPr/>
              <a:t>‹#›</a:t>
            </a:fld>
            <a:endParaRPr lang="en-US"/>
          </a:p>
        </p:txBody>
      </p:sp>
    </p:spTree>
    <p:extLst>
      <p:ext uri="{BB962C8B-B14F-4D97-AF65-F5344CB8AC3E}">
        <p14:creationId xmlns:p14="http://schemas.microsoft.com/office/powerpoint/2010/main" val="31340812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4.xml"/><Relationship Id="rId6" Type="http://schemas.openxmlformats.org/officeDocument/2006/relationships/image" Target="../media/image7.jpeg"/><Relationship Id="rId5" Type="http://schemas.openxmlformats.org/officeDocument/2006/relationships/image" Target="../media/image6.JP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DD9D-2315-8DCA-B245-92657D35F3D9}"/>
              </a:ext>
            </a:extLst>
          </p:cNvPr>
          <p:cNvSpPr>
            <a:spLocks noGrp="1"/>
          </p:cNvSpPr>
          <p:nvPr>
            <p:ph type="title"/>
          </p:nvPr>
        </p:nvSpPr>
        <p:spPr/>
        <p:txBody>
          <a:bodyPr/>
          <a:lstStyle/>
          <a:p>
            <a:r>
              <a:rPr lang="en-US" dirty="0"/>
              <a:t>Warm-Up - Citation Practice </a:t>
            </a:r>
          </a:p>
        </p:txBody>
      </p:sp>
      <p:sp>
        <p:nvSpPr>
          <p:cNvPr id="3" name="Content Placeholder 2">
            <a:extLst>
              <a:ext uri="{FF2B5EF4-FFF2-40B4-BE49-F238E27FC236}">
                <a16:creationId xmlns:a16="http://schemas.microsoft.com/office/drawing/2014/main" id="{C5D589D7-E86A-E6E2-9AAE-10E4C5749E75}"/>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The following case name is incorrect. Correct it:</a:t>
            </a:r>
          </a:p>
          <a:p>
            <a:pPr marL="0" indent="0">
              <a:buNone/>
            </a:pPr>
            <a:r>
              <a:rPr lang="en-US" dirty="0"/>
              <a:t>United States, appellant v. The Long Island Railroad Company, appellee. Assume used in a citation sentence. </a:t>
            </a:r>
          </a:p>
          <a:p>
            <a:pPr marL="0" indent="0">
              <a:buNone/>
            </a:pPr>
            <a:endParaRPr lang="en-US" dirty="0"/>
          </a:p>
          <a:p>
            <a:pPr marL="0" indent="0">
              <a:buNone/>
            </a:pPr>
            <a:r>
              <a:rPr lang="en-US" dirty="0"/>
              <a:t>2. Frank E. Midkiff, Richard Lyman, Jr., Hung Wo Ching, Matsuo </a:t>
            </a:r>
            <a:r>
              <a:rPr lang="en-US" dirty="0" err="1"/>
              <a:t>Takabuki</a:t>
            </a:r>
            <a:r>
              <a:rPr lang="en-US" dirty="0"/>
              <a:t> and Myron B. Thompson, Trustees of the Kamehameha Schools/Bishop Estate, Plaintiff-Appellants, versus Paul A. Tom, Tony Taniguchi, Wilbert K. Eguchi, Wahne T. Takahashi, Commissioners of the Hawaii Housing Authority, Defendants-Appellees, a case decided by the United States Court of Appeals for the Ninth Circuit and reported in volume 702, page 788, of </a:t>
            </a:r>
            <a:r>
              <a:rPr lang="en-US" i="1" dirty="0"/>
              <a:t>Federal Reporter</a:t>
            </a:r>
            <a:r>
              <a:rPr lang="en-US" dirty="0"/>
              <a:t>, Second Series. What is the case name and case location? (</a:t>
            </a:r>
            <a:r>
              <a:rPr lang="en-US" dirty="0" err="1"/>
              <a:t>e.g</a:t>
            </a:r>
            <a:r>
              <a:rPr lang="en-US" dirty="0"/>
              <a:t>, </a:t>
            </a:r>
            <a:r>
              <a:rPr lang="en-US" i="1" dirty="0"/>
              <a:t>Harrington v. Richter</a:t>
            </a:r>
            <a:r>
              <a:rPr lang="en-US" dirty="0"/>
              <a:t>, 86 U.S. 562). Assume used in a citation sentence. </a:t>
            </a:r>
          </a:p>
          <a:p>
            <a:pPr marL="0" indent="0">
              <a:buNone/>
            </a:pPr>
            <a:endParaRPr lang="en-US" dirty="0"/>
          </a:p>
        </p:txBody>
      </p:sp>
    </p:spTree>
    <p:extLst>
      <p:ext uri="{BB962C8B-B14F-4D97-AF65-F5344CB8AC3E}">
        <p14:creationId xmlns:p14="http://schemas.microsoft.com/office/powerpoint/2010/main" val="46207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87290-04C7-DD34-2C26-5724259A4EE7}"/>
              </a:ext>
            </a:extLst>
          </p:cNvPr>
          <p:cNvSpPr>
            <a:spLocks noGrp="1"/>
          </p:cNvSpPr>
          <p:nvPr>
            <p:ph type="ctrTitle"/>
          </p:nvPr>
        </p:nvSpPr>
        <p:spPr>
          <a:xfrm>
            <a:off x="992322" y="1175335"/>
            <a:ext cx="4172480" cy="2495971"/>
          </a:xfrm>
        </p:spPr>
        <p:txBody>
          <a:bodyPr anchor="b">
            <a:normAutofit/>
          </a:bodyPr>
          <a:lstStyle/>
          <a:p>
            <a:r>
              <a:rPr lang="en-US" sz="4000"/>
              <a:t>Lawyering Skills &amp; Strategies</a:t>
            </a:r>
          </a:p>
        </p:txBody>
      </p:sp>
      <p:sp>
        <p:nvSpPr>
          <p:cNvPr id="5" name="Subtitle 4">
            <a:extLst>
              <a:ext uri="{FF2B5EF4-FFF2-40B4-BE49-F238E27FC236}">
                <a16:creationId xmlns:a16="http://schemas.microsoft.com/office/drawing/2014/main" id="{A6EFFEFC-BCA0-4362-772F-982606040FDD}"/>
              </a:ext>
            </a:extLst>
          </p:cNvPr>
          <p:cNvSpPr>
            <a:spLocks noGrp="1"/>
          </p:cNvSpPr>
          <p:nvPr>
            <p:ph type="subTitle" idx="1"/>
          </p:nvPr>
        </p:nvSpPr>
        <p:spPr>
          <a:xfrm>
            <a:off x="977820" y="3930449"/>
            <a:ext cx="4198479" cy="1724313"/>
          </a:xfrm>
        </p:spPr>
        <p:txBody>
          <a:bodyPr anchor="t">
            <a:normAutofit fontScale="70000" lnSpcReduction="20000"/>
          </a:bodyPr>
          <a:lstStyle/>
          <a:p>
            <a:endParaRPr lang="en-US" sz="4000" dirty="0"/>
          </a:p>
          <a:p>
            <a:endParaRPr lang="en-US" sz="4000" dirty="0"/>
          </a:p>
          <a:p>
            <a:r>
              <a:rPr lang="en-US" sz="4000" dirty="0"/>
              <a:t>Drafting and Synthesizing Rules </a:t>
            </a:r>
          </a:p>
        </p:txBody>
      </p:sp>
      <p:grpSp>
        <p:nvGrpSpPr>
          <p:cNvPr id="20" name="Group 10">
            <a:extLst>
              <a:ext uri="{FF2B5EF4-FFF2-40B4-BE49-F238E27FC236}">
                <a16:creationId xmlns:a16="http://schemas.microsoft.com/office/drawing/2014/main" id="{2B33CDD2-C0CB-D8AD-886D-0ABC95A02B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96001" y="-2"/>
            <a:ext cx="6096000" cy="6858001"/>
            <a:chOff x="-1" y="0"/>
            <a:chExt cx="7390263" cy="6858001"/>
          </a:xfrm>
        </p:grpSpPr>
        <p:sp>
          <p:nvSpPr>
            <p:cNvPr id="12" name="Rectangle 11">
              <a:extLst>
                <a:ext uri="{FF2B5EF4-FFF2-40B4-BE49-F238E27FC236}">
                  <a16:creationId xmlns:a16="http://schemas.microsoft.com/office/drawing/2014/main" id="{AC7F47A2-1E11-C302-6F8E-F03239998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AED115-5F26-CFFE-25B4-8CCB743BA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FB3032F8-FDD1-98F1-B20E-FB9CDF9EB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3" name="Picture 2">
            <a:extLst>
              <a:ext uri="{FF2B5EF4-FFF2-40B4-BE49-F238E27FC236}">
                <a16:creationId xmlns:a16="http://schemas.microsoft.com/office/drawing/2014/main" id="{D60E71EC-E10A-7514-492A-1C3BEC47A83B}"/>
              </a:ext>
            </a:extLst>
          </p:cNvPr>
          <p:cNvPicPr>
            <a:picLocks noChangeAspect="1"/>
          </p:cNvPicPr>
          <p:nvPr/>
        </p:nvPicPr>
        <p:blipFill>
          <a:blip r:embed="rId2"/>
          <a:stretch>
            <a:fillRect/>
          </a:stretch>
        </p:blipFill>
        <p:spPr>
          <a:xfrm>
            <a:off x="6172201" y="84571"/>
            <a:ext cx="5943600" cy="6769707"/>
          </a:xfrm>
          <a:prstGeom prst="rect">
            <a:avLst/>
          </a:prstGeom>
        </p:spPr>
      </p:pic>
    </p:spTree>
    <p:extLst>
      <p:ext uri="{BB962C8B-B14F-4D97-AF65-F5344CB8AC3E}">
        <p14:creationId xmlns:p14="http://schemas.microsoft.com/office/powerpoint/2010/main" val="3005177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D28D-93A7-563A-B7C9-43EED8D474D6}"/>
              </a:ext>
            </a:extLst>
          </p:cNvPr>
          <p:cNvSpPr>
            <a:spLocks noGrp="1"/>
          </p:cNvSpPr>
          <p:nvPr>
            <p:ph type="title"/>
          </p:nvPr>
        </p:nvSpPr>
        <p:spPr>
          <a:xfrm>
            <a:off x="479394" y="1070800"/>
            <a:ext cx="3939688" cy="5583126"/>
          </a:xfrm>
        </p:spPr>
        <p:txBody>
          <a:bodyPr>
            <a:normAutofit/>
          </a:bodyPr>
          <a:lstStyle/>
          <a:p>
            <a:pPr algn="r"/>
            <a:r>
              <a:rPr lang="en-US" sz="8000"/>
              <a:t>Today in LSS</a:t>
            </a:r>
          </a:p>
        </p:txBody>
      </p:sp>
      <p:graphicFrame>
        <p:nvGraphicFramePr>
          <p:cNvPr id="5" name="Content Placeholder 2">
            <a:extLst>
              <a:ext uri="{FF2B5EF4-FFF2-40B4-BE49-F238E27FC236}">
                <a16:creationId xmlns:a16="http://schemas.microsoft.com/office/drawing/2014/main" id="{1247F2AE-899A-C0B1-07EF-C601B7A147E4}"/>
              </a:ext>
            </a:extLst>
          </p:cNvPr>
          <p:cNvGraphicFramePr>
            <a:graphicFrameLocks noGrp="1"/>
          </p:cNvGraphicFramePr>
          <p:nvPr>
            <p:ph idx="1"/>
            <p:extLst>
              <p:ext uri="{D42A27DB-BD31-4B8C-83A1-F6EECF244321}">
                <p14:modId xmlns:p14="http://schemas.microsoft.com/office/powerpoint/2010/main" val="2983891995"/>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928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CEE12-2541-5964-3849-51D07F71CC91}"/>
              </a:ext>
            </a:extLst>
          </p:cNvPr>
          <p:cNvSpPr>
            <a:spLocks noGrp="1"/>
          </p:cNvSpPr>
          <p:nvPr>
            <p:ph type="ctrTitle"/>
          </p:nvPr>
        </p:nvSpPr>
        <p:spPr>
          <a:xfrm>
            <a:off x="7786071" y="1016955"/>
            <a:ext cx="3872530" cy="3726811"/>
          </a:xfrm>
        </p:spPr>
        <p:txBody>
          <a:bodyPr anchor="t">
            <a:normAutofit/>
          </a:bodyPr>
          <a:lstStyle/>
          <a:p>
            <a:r>
              <a:rPr lang="en-US" sz="3900" dirty="0"/>
              <a:t>Rhett Price</a:t>
            </a:r>
          </a:p>
        </p:txBody>
      </p:sp>
      <p:pic>
        <p:nvPicPr>
          <p:cNvPr id="14" name="Picture 13">
            <a:extLst>
              <a:ext uri="{FF2B5EF4-FFF2-40B4-BE49-F238E27FC236}">
                <a16:creationId xmlns:a16="http://schemas.microsoft.com/office/drawing/2014/main" id="{72F38563-687F-94BC-53CA-CB183820A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87067" y="4210956"/>
            <a:ext cx="2975431" cy="2231572"/>
          </a:xfrm>
          <a:prstGeom prst="rect">
            <a:avLst/>
          </a:prstGeom>
        </p:spPr>
      </p:pic>
      <p:pic>
        <p:nvPicPr>
          <p:cNvPr id="16" name="Picture 15">
            <a:extLst>
              <a:ext uri="{FF2B5EF4-FFF2-40B4-BE49-F238E27FC236}">
                <a16:creationId xmlns:a16="http://schemas.microsoft.com/office/drawing/2014/main" id="{3F19F89A-CEF6-2A2B-1C70-98B77B4BC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445689" y="4210955"/>
            <a:ext cx="2975432" cy="2231575"/>
          </a:xfrm>
          <a:prstGeom prst="rect">
            <a:avLst/>
          </a:prstGeom>
        </p:spPr>
      </p:pic>
      <p:pic>
        <p:nvPicPr>
          <p:cNvPr id="18" name="Picture 17">
            <a:extLst>
              <a:ext uri="{FF2B5EF4-FFF2-40B4-BE49-F238E27FC236}">
                <a16:creationId xmlns:a16="http://schemas.microsoft.com/office/drawing/2014/main" id="{460A0370-0F23-D747-D181-697B18D8CA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0057" y="1803999"/>
            <a:ext cx="6291943" cy="5054002"/>
          </a:xfrm>
          <a:prstGeom prst="rect">
            <a:avLst/>
          </a:prstGeom>
        </p:spPr>
      </p:pic>
      <p:pic>
        <p:nvPicPr>
          <p:cNvPr id="22" name="Picture 21">
            <a:extLst>
              <a:ext uri="{FF2B5EF4-FFF2-40B4-BE49-F238E27FC236}">
                <a16:creationId xmlns:a16="http://schemas.microsoft.com/office/drawing/2014/main" id="{607F6714-A247-5A7B-AF45-707F1EEB0B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862" y="794657"/>
            <a:ext cx="2231573" cy="2634343"/>
          </a:xfrm>
          <a:prstGeom prst="rect">
            <a:avLst/>
          </a:prstGeom>
        </p:spPr>
      </p:pic>
      <p:pic>
        <p:nvPicPr>
          <p:cNvPr id="24" name="Picture 23">
            <a:extLst>
              <a:ext uri="{FF2B5EF4-FFF2-40B4-BE49-F238E27FC236}">
                <a16:creationId xmlns:a16="http://schemas.microsoft.com/office/drawing/2014/main" id="{29F64D72-C633-C047-2437-2B20B4773F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2616233" y="996041"/>
            <a:ext cx="2634343" cy="2231574"/>
          </a:xfrm>
          <a:prstGeom prst="rect">
            <a:avLst/>
          </a:prstGeom>
        </p:spPr>
      </p:pic>
    </p:spTree>
    <p:extLst>
      <p:ext uri="{BB962C8B-B14F-4D97-AF65-F5344CB8AC3E}">
        <p14:creationId xmlns:p14="http://schemas.microsoft.com/office/powerpoint/2010/main" val="103466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921F2B-3A68-FDBE-244D-3AF5DE9B0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107" y="1"/>
            <a:ext cx="12847707" cy="6945086"/>
          </a:xfrm>
          <a:prstGeom prst="rect">
            <a:avLst/>
          </a:prstGeom>
        </p:spPr>
      </p:pic>
      <p:sp>
        <p:nvSpPr>
          <p:cNvPr id="9" name="Title 1">
            <a:extLst>
              <a:ext uri="{FF2B5EF4-FFF2-40B4-BE49-F238E27FC236}">
                <a16:creationId xmlns:a16="http://schemas.microsoft.com/office/drawing/2014/main" id="{AE75EB36-C477-D1C4-D1EE-1C4C084A8E64}"/>
              </a:ext>
            </a:extLst>
          </p:cNvPr>
          <p:cNvSpPr>
            <a:spLocks noGrp="1"/>
          </p:cNvSpPr>
          <p:nvPr>
            <p:ph type="ctrTitle"/>
          </p:nvPr>
        </p:nvSpPr>
        <p:spPr>
          <a:xfrm>
            <a:off x="5119071" y="265841"/>
            <a:ext cx="4601872" cy="3726811"/>
          </a:xfrm>
        </p:spPr>
        <p:txBody>
          <a:bodyPr anchor="t">
            <a:normAutofit/>
          </a:bodyPr>
          <a:lstStyle/>
          <a:p>
            <a:r>
              <a:rPr lang="en-US" sz="3900" dirty="0">
                <a:solidFill>
                  <a:schemeClr val="bg1"/>
                </a:solidFill>
              </a:rPr>
              <a:t>Matthew love</a:t>
            </a:r>
          </a:p>
        </p:txBody>
      </p:sp>
    </p:spTree>
    <p:extLst>
      <p:ext uri="{BB962C8B-B14F-4D97-AF65-F5344CB8AC3E}">
        <p14:creationId xmlns:p14="http://schemas.microsoft.com/office/powerpoint/2010/main" val="280658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DC45-FE7F-894A-B2BF-F1BF42E46FAF}"/>
              </a:ext>
            </a:extLst>
          </p:cNvPr>
          <p:cNvSpPr>
            <a:spLocks noGrp="1"/>
          </p:cNvSpPr>
          <p:nvPr>
            <p:ph type="title"/>
          </p:nvPr>
        </p:nvSpPr>
        <p:spPr>
          <a:xfrm>
            <a:off x="6657715" y="467271"/>
            <a:ext cx="4195674" cy="2052522"/>
          </a:xfrm>
        </p:spPr>
        <p:txBody>
          <a:bodyPr anchor="b">
            <a:normAutofit/>
          </a:bodyPr>
          <a:lstStyle/>
          <a:p>
            <a:r>
              <a:rPr lang="en-US" sz="5600"/>
              <a:t>About Me </a:t>
            </a:r>
          </a:p>
        </p:txBody>
      </p:sp>
      <p:pic>
        <p:nvPicPr>
          <p:cNvPr id="5" name="Content Placeholder 4" descr="A person in a white shirt and blue tie&#10;&#10;AI-generated content may be incorrect.">
            <a:extLst>
              <a:ext uri="{FF2B5EF4-FFF2-40B4-BE49-F238E27FC236}">
                <a16:creationId xmlns:a16="http://schemas.microsoft.com/office/drawing/2014/main" id="{46BD5263-F50C-741D-BFC0-E23BAC62BA67}"/>
              </a:ext>
            </a:extLst>
          </p:cNvPr>
          <p:cNvPicPr>
            <a:picLocks noChangeAspect="1"/>
          </p:cNvPicPr>
          <p:nvPr/>
        </p:nvPicPr>
        <p:blipFill>
          <a:blip r:embed="rId3"/>
          <a:srcRect r="-3" b="-3"/>
          <a:stretch>
            <a:fillRect/>
          </a:stretch>
        </p:blipFill>
        <p:spPr>
          <a:xfrm>
            <a:off x="567923" y="771865"/>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9" name="Content Placeholder 8">
            <a:extLst>
              <a:ext uri="{FF2B5EF4-FFF2-40B4-BE49-F238E27FC236}">
                <a16:creationId xmlns:a16="http://schemas.microsoft.com/office/drawing/2014/main" id="{08AAC8B0-DAA1-5F18-A503-6057E33B2BAC}"/>
              </a:ext>
            </a:extLst>
          </p:cNvPr>
          <p:cNvSpPr>
            <a:spLocks noGrp="1"/>
          </p:cNvSpPr>
          <p:nvPr>
            <p:ph idx="1"/>
          </p:nvPr>
        </p:nvSpPr>
        <p:spPr>
          <a:xfrm>
            <a:off x="6657715" y="2990818"/>
            <a:ext cx="4195673" cy="2913872"/>
          </a:xfrm>
        </p:spPr>
        <p:txBody>
          <a:bodyPr anchor="t">
            <a:normAutofit/>
          </a:bodyPr>
          <a:lstStyle/>
          <a:p>
            <a:r>
              <a:rPr lang="en-US" sz="2000" dirty="0">
                <a:solidFill>
                  <a:schemeClr val="tx1">
                    <a:alpha val="80000"/>
                  </a:schemeClr>
                </a:solidFill>
              </a:rPr>
              <a:t>I was born and raised in Atlanta, Georgia and am an avid sports fan of the Braves and Falcons. </a:t>
            </a:r>
          </a:p>
          <a:p>
            <a:r>
              <a:rPr lang="en-US" sz="2000" dirty="0">
                <a:solidFill>
                  <a:schemeClr val="tx1">
                    <a:alpha val="80000"/>
                  </a:schemeClr>
                </a:solidFill>
              </a:rPr>
              <a:t>In my free time I like to run, read, and spend time with my wife. </a:t>
            </a:r>
          </a:p>
          <a:p>
            <a:r>
              <a:rPr lang="en-US" sz="2000" dirty="0">
                <a:solidFill>
                  <a:schemeClr val="tx1">
                    <a:alpha val="80000"/>
                  </a:schemeClr>
                </a:solidFill>
              </a:rPr>
              <a:t>The last book I read was </a:t>
            </a:r>
            <a:r>
              <a:rPr lang="en-US" sz="2000" i="1" dirty="0">
                <a:solidFill>
                  <a:schemeClr val="tx1">
                    <a:alpha val="80000"/>
                  </a:schemeClr>
                </a:solidFill>
              </a:rPr>
              <a:t>Dune Messiah</a:t>
            </a:r>
            <a:r>
              <a:rPr lang="en-US" sz="2000" dirty="0">
                <a:solidFill>
                  <a:schemeClr val="tx1">
                    <a:alpha val="80000"/>
                  </a:schemeClr>
                </a:solidFill>
              </a:rPr>
              <a:t>. </a:t>
            </a:r>
          </a:p>
        </p:txBody>
      </p:sp>
    </p:spTree>
    <p:extLst>
      <p:ext uri="{BB962C8B-B14F-4D97-AF65-F5344CB8AC3E}">
        <p14:creationId xmlns:p14="http://schemas.microsoft.com/office/powerpoint/2010/main" val="1129590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IMG_2556.heic" descr="IMG_2556.heic"/>
          <p:cNvPicPr>
            <a:picLocks noChangeAspect="1"/>
          </p:cNvPicPr>
          <p:nvPr/>
        </p:nvPicPr>
        <p:blipFill>
          <a:blip r:embed="rId2"/>
          <a:stretch>
            <a:fillRect/>
          </a:stretch>
        </p:blipFill>
        <p:spPr>
          <a:xfrm>
            <a:off x="-6653" y="0"/>
            <a:ext cx="5143501" cy="6858001"/>
          </a:xfrm>
          <a:prstGeom prst="rect">
            <a:avLst/>
          </a:prstGeom>
          <a:ln w="12700">
            <a:miter lim="400000"/>
          </a:ln>
        </p:spPr>
      </p:pic>
      <p:sp>
        <p:nvSpPr>
          <p:cNvPr id="172" name="An Tran…"/>
          <p:cNvSpPr txBox="1">
            <a:spLocks noGrp="1"/>
          </p:cNvSpPr>
          <p:nvPr>
            <p:ph type="subTitle" sz="half" idx="1"/>
          </p:nvPr>
        </p:nvSpPr>
        <p:spPr>
          <a:xfrm>
            <a:off x="5855486" y="2362617"/>
            <a:ext cx="5772226" cy="3424133"/>
          </a:xfrm>
          <a:prstGeom prst="rect">
            <a:avLst/>
          </a:prstGeom>
        </p:spPr>
        <p:txBody>
          <a:bodyPr>
            <a:normAutofit fontScale="47500" lnSpcReduction="20000"/>
          </a:bodyPr>
          <a:lstStyle/>
          <a:p>
            <a:pPr defTabSz="457200">
              <a:lnSpc>
                <a:spcPct val="150000"/>
              </a:lnSpc>
              <a:tabLst>
                <a:tab pos="114300" algn="l"/>
                <a:tab pos="228600" algn="l"/>
                <a:tab pos="342900" algn="l"/>
                <a:tab pos="457200" algn="l"/>
                <a:tab pos="571500" algn="l"/>
                <a:tab pos="692150" algn="l"/>
                <a:tab pos="806450" algn="l"/>
                <a:tab pos="920750" algn="l"/>
                <a:tab pos="1035050" algn="l"/>
                <a:tab pos="1149350" algn="l"/>
                <a:tab pos="1270000" algn="l"/>
                <a:tab pos="1384300" algn="l"/>
              </a:tabLst>
              <a:defRPr sz="4940" b="0">
                <a:latin typeface="Helvetica"/>
                <a:ea typeface="Helvetica"/>
                <a:cs typeface="Helvetica"/>
                <a:sym typeface="Helvetica"/>
              </a:defRPr>
            </a:pPr>
            <a:r>
              <a:t>An Tran</a:t>
            </a:r>
          </a:p>
          <a:p>
            <a:pPr marL="313690" indent="-313690" defTabSz="457200">
              <a:lnSpc>
                <a:spcPct val="150000"/>
              </a:lnSpc>
              <a:buSzPct val="123000"/>
              <a:buChar char="•"/>
              <a:tabLst>
                <a:tab pos="114300" algn="l"/>
                <a:tab pos="228600" algn="l"/>
                <a:tab pos="342900" algn="l"/>
                <a:tab pos="457200" algn="l"/>
                <a:tab pos="571500" algn="l"/>
                <a:tab pos="692150" algn="l"/>
                <a:tab pos="806450" algn="l"/>
                <a:tab pos="920750" algn="l"/>
                <a:tab pos="1035050" algn="l"/>
                <a:tab pos="1149350" algn="l"/>
                <a:tab pos="1270000" algn="l"/>
                <a:tab pos="1384300" algn="l"/>
              </a:tabLst>
              <a:defRPr sz="4940" b="0">
                <a:latin typeface="Helvetica"/>
                <a:ea typeface="Helvetica"/>
                <a:cs typeface="Helvetica"/>
                <a:sym typeface="Helvetica"/>
              </a:defRPr>
            </a:pPr>
            <a:r>
              <a:t>Hometown: Saigon, Vietnam</a:t>
            </a:r>
          </a:p>
          <a:p>
            <a:pPr marL="313690" indent="-313690" defTabSz="457200">
              <a:lnSpc>
                <a:spcPct val="150000"/>
              </a:lnSpc>
              <a:buSzPct val="123000"/>
              <a:buChar char="•"/>
              <a:tabLst>
                <a:tab pos="114300" algn="l"/>
                <a:tab pos="228600" algn="l"/>
                <a:tab pos="342900" algn="l"/>
                <a:tab pos="457200" algn="l"/>
                <a:tab pos="571500" algn="l"/>
                <a:tab pos="692150" algn="l"/>
                <a:tab pos="806450" algn="l"/>
                <a:tab pos="920750" algn="l"/>
                <a:tab pos="1035050" algn="l"/>
                <a:tab pos="1149350" algn="l"/>
                <a:tab pos="1270000" algn="l"/>
                <a:tab pos="1384300" algn="l"/>
              </a:tabLst>
              <a:defRPr sz="4940" b="0">
                <a:latin typeface="Helvetica"/>
                <a:ea typeface="Helvetica"/>
                <a:cs typeface="Helvetica"/>
                <a:sym typeface="Helvetica"/>
              </a:defRPr>
            </a:pPr>
            <a:r>
              <a:t>In front of the former Presidential Palace of South Vietnam</a:t>
            </a:r>
          </a:p>
          <a:p>
            <a:pPr marL="313690" indent="-313690" defTabSz="457200">
              <a:lnSpc>
                <a:spcPct val="150000"/>
              </a:lnSpc>
              <a:buSzPct val="123000"/>
              <a:buChar char="•"/>
              <a:tabLst>
                <a:tab pos="114300" algn="l"/>
                <a:tab pos="228600" algn="l"/>
                <a:tab pos="342900" algn="l"/>
                <a:tab pos="457200" algn="l"/>
                <a:tab pos="571500" algn="l"/>
                <a:tab pos="692150" algn="l"/>
                <a:tab pos="806450" algn="l"/>
                <a:tab pos="920750" algn="l"/>
                <a:tab pos="1035050" algn="l"/>
                <a:tab pos="1149350" algn="l"/>
                <a:tab pos="1270000" algn="l"/>
                <a:tab pos="1384300" algn="l"/>
              </a:tabLst>
              <a:defRPr sz="4940" b="0">
                <a:latin typeface="Helvetica"/>
                <a:ea typeface="Helvetica"/>
                <a:cs typeface="Helvetica"/>
                <a:sym typeface="Helvetica"/>
              </a:defRPr>
            </a:pPr>
            <a:r>
              <a:t>Here to learn the Common Law</a:t>
            </a:r>
          </a:p>
          <a:p>
            <a:pPr marL="313690" indent="-313690" defTabSz="457200">
              <a:lnSpc>
                <a:spcPct val="150000"/>
              </a:lnSpc>
              <a:buSzPct val="123000"/>
              <a:buChar char="•"/>
              <a:tabLst>
                <a:tab pos="114300" algn="l"/>
                <a:tab pos="228600" algn="l"/>
                <a:tab pos="342900" algn="l"/>
                <a:tab pos="457200" algn="l"/>
                <a:tab pos="571500" algn="l"/>
                <a:tab pos="692150" algn="l"/>
                <a:tab pos="806450" algn="l"/>
                <a:tab pos="920750" algn="l"/>
                <a:tab pos="1035050" algn="l"/>
                <a:tab pos="1149350" algn="l"/>
                <a:tab pos="1270000" algn="l"/>
                <a:tab pos="1384300" algn="l"/>
              </a:tabLst>
              <a:defRPr sz="4940" b="0">
                <a:latin typeface="Helvetica"/>
                <a:ea typeface="Helvetica"/>
                <a:cs typeface="Helvetica"/>
                <a:sym typeface="Helvetica"/>
              </a:defRPr>
            </a:pPr>
            <a:r>
              <a:t>Interests: Endurance sports, Pickleball</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B5719333-8DAC-40FB-4B7A-4F7526A7CD39}"/>
              </a:ext>
            </a:extLst>
          </p:cNvPr>
          <p:cNvSpPr>
            <a:spLocks noGrp="1"/>
          </p:cNvSpPr>
          <p:nvPr>
            <p:ph type="title"/>
          </p:nvPr>
        </p:nvSpPr>
        <p:spPr>
          <a:xfrm>
            <a:off x="1314824" y="735106"/>
            <a:ext cx="10053763" cy="2928470"/>
          </a:xfrm>
        </p:spPr>
        <p:txBody>
          <a:bodyPr vert="horz" lIns="91440" tIns="45720" rIns="91440" bIns="45720" rtlCol="0" anchor="b">
            <a:normAutofit/>
          </a:bodyPr>
          <a:lstStyle/>
          <a:p>
            <a:pPr>
              <a:lnSpc>
                <a:spcPct val="90000"/>
              </a:lnSpc>
            </a:pPr>
            <a:r>
              <a:rPr lang="en-US" sz="4800" kern="1200" dirty="0">
                <a:solidFill>
                  <a:srgbClr val="FFFFFF"/>
                </a:solidFill>
                <a:latin typeface="+mj-lt"/>
                <a:ea typeface="+mj-ea"/>
                <a:cs typeface="+mj-cs"/>
              </a:rPr>
              <a:t>Becoming a Legal Writer Ch. 4, ex. 4.1 and 4.4</a:t>
            </a:r>
          </a:p>
        </p:txBody>
      </p:sp>
    </p:spTree>
    <p:extLst>
      <p:ext uri="{BB962C8B-B14F-4D97-AF65-F5344CB8AC3E}">
        <p14:creationId xmlns:p14="http://schemas.microsoft.com/office/powerpoint/2010/main" val="297546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1DE6-EEED-8092-AE51-DDF924426CDE}"/>
              </a:ext>
            </a:extLst>
          </p:cNvPr>
          <p:cNvSpPr>
            <a:spLocks noGrp="1"/>
          </p:cNvSpPr>
          <p:nvPr>
            <p:ph type="title"/>
          </p:nvPr>
        </p:nvSpPr>
        <p:spPr>
          <a:xfrm>
            <a:off x="540000" y="540000"/>
            <a:ext cx="11101135" cy="1809500"/>
          </a:xfrm>
        </p:spPr>
        <p:txBody>
          <a:bodyPr anchor="t">
            <a:normAutofit/>
          </a:bodyPr>
          <a:lstStyle/>
          <a:p>
            <a:r>
              <a:rPr lang="en-US"/>
              <a:t>Preliminary Analysis</a:t>
            </a:r>
            <a:endParaRPr lang="en-US" dirty="0"/>
          </a:p>
        </p:txBody>
      </p:sp>
      <p:graphicFrame>
        <p:nvGraphicFramePr>
          <p:cNvPr id="5" name="Content Placeholder 2">
            <a:extLst>
              <a:ext uri="{FF2B5EF4-FFF2-40B4-BE49-F238E27FC236}">
                <a16:creationId xmlns:a16="http://schemas.microsoft.com/office/drawing/2014/main" id="{0427CECB-28F2-F022-3DEA-B5F8DE2D0980}"/>
              </a:ext>
            </a:extLst>
          </p:cNvPr>
          <p:cNvGraphicFramePr>
            <a:graphicFrameLocks noGrp="1"/>
          </p:cNvGraphicFramePr>
          <p:nvPr>
            <p:ph idx="1"/>
          </p:nvPr>
        </p:nvGraphicFramePr>
        <p:xfrm>
          <a:off x="539750" y="2528888"/>
          <a:ext cx="11101388" cy="3779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7545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1683-496E-3A07-8DB0-606BD58B2A4B}"/>
              </a:ext>
            </a:extLst>
          </p:cNvPr>
          <p:cNvSpPr>
            <a:spLocks noGrp="1"/>
          </p:cNvSpPr>
          <p:nvPr>
            <p:ph type="title"/>
          </p:nvPr>
        </p:nvSpPr>
        <p:spPr>
          <a:xfrm>
            <a:off x="540000" y="540000"/>
            <a:ext cx="11101135" cy="1809500"/>
          </a:xfrm>
        </p:spPr>
        <p:txBody>
          <a:bodyPr anchor="t">
            <a:normAutofit/>
          </a:bodyPr>
          <a:lstStyle/>
          <a:p>
            <a:r>
              <a:rPr lang="en-US"/>
              <a:t>Organizing your Legal Authorities</a:t>
            </a:r>
            <a:endParaRPr lang="en-US" dirty="0"/>
          </a:p>
        </p:txBody>
      </p:sp>
      <p:graphicFrame>
        <p:nvGraphicFramePr>
          <p:cNvPr id="25" name="Content Placeholder 2">
            <a:extLst>
              <a:ext uri="{FF2B5EF4-FFF2-40B4-BE49-F238E27FC236}">
                <a16:creationId xmlns:a16="http://schemas.microsoft.com/office/drawing/2014/main" id="{399E6DEC-95E2-188F-6160-1669BCA0F044}"/>
              </a:ext>
            </a:extLst>
          </p:cNvPr>
          <p:cNvGraphicFramePr>
            <a:graphicFrameLocks noGrp="1"/>
          </p:cNvGraphicFramePr>
          <p:nvPr>
            <p:ph idx="1"/>
          </p:nvPr>
        </p:nvGraphicFramePr>
        <p:xfrm>
          <a:off x="540000" y="2528887"/>
          <a:ext cx="11101136" cy="3779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8467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B646-B377-1FC3-CFC6-BCC263260BB7}"/>
              </a:ext>
            </a:extLst>
          </p:cNvPr>
          <p:cNvSpPr>
            <a:spLocks noGrp="1"/>
          </p:cNvSpPr>
          <p:nvPr>
            <p:ph type="title"/>
          </p:nvPr>
        </p:nvSpPr>
        <p:spPr/>
        <p:txBody>
          <a:bodyPr/>
          <a:lstStyle/>
          <a:p>
            <a:r>
              <a:rPr lang="en-US" dirty="0">
                <a:solidFill>
                  <a:schemeClr val="accent2"/>
                </a:solidFill>
              </a:rPr>
              <a:t>Organizing Legal Authority</a:t>
            </a:r>
          </a:p>
        </p:txBody>
      </p:sp>
      <p:graphicFrame>
        <p:nvGraphicFramePr>
          <p:cNvPr id="4" name="Table 4">
            <a:extLst>
              <a:ext uri="{FF2B5EF4-FFF2-40B4-BE49-F238E27FC236}">
                <a16:creationId xmlns:a16="http://schemas.microsoft.com/office/drawing/2014/main" id="{EEDB22DF-2D44-C3FE-A6F2-09F5CFD16A68}"/>
              </a:ext>
            </a:extLst>
          </p:cNvPr>
          <p:cNvGraphicFramePr>
            <a:graphicFrameLocks noGrp="1"/>
          </p:cNvGraphicFramePr>
          <p:nvPr>
            <p:ph idx="1"/>
            <p:extLst>
              <p:ext uri="{D42A27DB-BD31-4B8C-83A1-F6EECF244321}">
                <p14:modId xmlns:p14="http://schemas.microsoft.com/office/powerpoint/2010/main" val="4146854423"/>
              </p:ext>
            </p:extLst>
          </p:nvPr>
        </p:nvGraphicFramePr>
        <p:xfrm>
          <a:off x="609600" y="1600200"/>
          <a:ext cx="10972802" cy="2159000"/>
        </p:xfrm>
        <a:graphic>
          <a:graphicData uri="http://schemas.openxmlformats.org/drawingml/2006/table">
            <a:tbl>
              <a:tblPr bandRow="1">
                <a:tableStyleId>{5C22544A-7EE6-4342-B048-85BDC9FD1C3A}</a:tableStyleId>
              </a:tblPr>
              <a:tblGrid>
                <a:gridCol w="2412101">
                  <a:extLst>
                    <a:ext uri="{9D8B030D-6E8A-4147-A177-3AD203B41FA5}">
                      <a16:colId xmlns:a16="http://schemas.microsoft.com/office/drawing/2014/main" val="461664407"/>
                    </a:ext>
                  </a:extLst>
                </a:gridCol>
                <a:gridCol w="1960397">
                  <a:extLst>
                    <a:ext uri="{9D8B030D-6E8A-4147-A177-3AD203B41FA5}">
                      <a16:colId xmlns:a16="http://schemas.microsoft.com/office/drawing/2014/main" val="1402065202"/>
                    </a:ext>
                  </a:extLst>
                </a:gridCol>
                <a:gridCol w="1960397">
                  <a:extLst>
                    <a:ext uri="{9D8B030D-6E8A-4147-A177-3AD203B41FA5}">
                      <a16:colId xmlns:a16="http://schemas.microsoft.com/office/drawing/2014/main" val="2371863254"/>
                    </a:ext>
                  </a:extLst>
                </a:gridCol>
                <a:gridCol w="1705635">
                  <a:extLst>
                    <a:ext uri="{9D8B030D-6E8A-4147-A177-3AD203B41FA5}">
                      <a16:colId xmlns:a16="http://schemas.microsoft.com/office/drawing/2014/main" val="3550295335"/>
                    </a:ext>
                  </a:extLst>
                </a:gridCol>
                <a:gridCol w="1467136">
                  <a:extLst>
                    <a:ext uri="{9D8B030D-6E8A-4147-A177-3AD203B41FA5}">
                      <a16:colId xmlns:a16="http://schemas.microsoft.com/office/drawing/2014/main" val="2350760705"/>
                    </a:ext>
                  </a:extLst>
                </a:gridCol>
                <a:gridCol w="1467136">
                  <a:extLst>
                    <a:ext uri="{9D8B030D-6E8A-4147-A177-3AD203B41FA5}">
                      <a16:colId xmlns:a16="http://schemas.microsoft.com/office/drawing/2014/main" val="666515134"/>
                    </a:ext>
                  </a:extLst>
                </a:gridCol>
              </a:tblGrid>
              <a:tr h="370840">
                <a:tc>
                  <a:txBody>
                    <a:bodyPr/>
                    <a:lstStyle/>
                    <a:p>
                      <a:pPr marL="0" marR="0" algn="l" defTabSz="914400" rtl="0" eaLnBrk="1" latinLnBrk="0" hangingPunct="1">
                        <a:buNone/>
                      </a:pPr>
                      <a:r>
                        <a:rPr lang="en-US" sz="1800" b="1" kern="1200">
                          <a:solidFill>
                            <a:schemeClr val="dk1"/>
                          </a:solidFill>
                          <a:effectLst/>
                          <a:latin typeface="+mn-lt"/>
                          <a:ea typeface="+mn-ea"/>
                          <a:cs typeface="+mn-cs"/>
                        </a:rPr>
                        <a:t>Case &amp; Citation</a:t>
                      </a:r>
                    </a:p>
                  </a:txBody>
                  <a:tcPr marL="63500" marR="63500" marT="63500" marB="63500" anchor="ctr"/>
                </a:tc>
                <a:tc>
                  <a:txBody>
                    <a:bodyPr/>
                    <a:lstStyle/>
                    <a:p>
                      <a:pPr marL="0" marR="0" algn="l" defTabSz="914400" rtl="0" eaLnBrk="1" latinLnBrk="0" hangingPunct="1">
                        <a:buNone/>
                      </a:pPr>
                      <a:r>
                        <a:rPr lang="en-US" sz="1800" b="1" kern="1200">
                          <a:solidFill>
                            <a:schemeClr val="dk1"/>
                          </a:solidFill>
                          <a:effectLst/>
                          <a:latin typeface="+mn-lt"/>
                          <a:ea typeface="+mn-ea"/>
                          <a:cs typeface="+mn-cs"/>
                        </a:rPr>
                        <a:t>Facts: Physical Presence</a:t>
                      </a:r>
                    </a:p>
                  </a:txBody>
                  <a:tcPr marL="63500" marR="63500" marT="63500" marB="63500" anchor="ctr"/>
                </a:tc>
                <a:tc>
                  <a:txBody>
                    <a:bodyPr/>
                    <a:lstStyle/>
                    <a:p>
                      <a:pPr marL="0" marR="0" algn="l" defTabSz="914400" rtl="0" eaLnBrk="1" latinLnBrk="0" hangingPunct="1">
                        <a:buNone/>
                      </a:pPr>
                      <a:r>
                        <a:rPr lang="en-US" sz="1800" b="1" kern="1200">
                          <a:solidFill>
                            <a:schemeClr val="dk1"/>
                          </a:solidFill>
                          <a:effectLst/>
                          <a:latin typeface="+mn-lt"/>
                          <a:ea typeface="+mn-ea"/>
                          <a:cs typeface="+mn-cs"/>
                        </a:rPr>
                        <a:t>Facts: Intent Evidence</a:t>
                      </a:r>
                    </a:p>
                  </a:txBody>
                  <a:tcPr marL="63500" marR="63500" marT="63500" marB="63500" anchor="ctr"/>
                </a:tc>
                <a:tc>
                  <a:txBody>
                    <a:bodyPr/>
                    <a:lstStyle/>
                    <a:p>
                      <a:pPr marL="0" marR="0" algn="l" defTabSz="914400" rtl="0" eaLnBrk="1" latinLnBrk="0" hangingPunct="1">
                        <a:buNone/>
                      </a:pPr>
                      <a:r>
                        <a:rPr lang="en-US" sz="1800" b="1" kern="1200">
                          <a:solidFill>
                            <a:schemeClr val="dk1"/>
                          </a:solidFill>
                          <a:effectLst/>
                          <a:latin typeface="+mn-lt"/>
                          <a:ea typeface="+mn-ea"/>
                          <a:cs typeface="+mn-cs"/>
                        </a:rPr>
                        <a:t>Governing Rule / Test Cited</a:t>
                      </a:r>
                    </a:p>
                  </a:txBody>
                  <a:tcPr marL="63500" marR="63500" marT="63500" marB="63500" anchor="ctr"/>
                </a:tc>
                <a:tc>
                  <a:txBody>
                    <a:bodyPr/>
                    <a:lstStyle/>
                    <a:p>
                      <a:pPr marL="0" marR="0" algn="l" defTabSz="914400" rtl="0" eaLnBrk="1" latinLnBrk="0" hangingPunct="1">
                        <a:buNone/>
                      </a:pPr>
                      <a:r>
                        <a:rPr lang="en-US" sz="1800" b="1" kern="1200" dirty="0">
                          <a:solidFill>
                            <a:schemeClr val="dk1"/>
                          </a:solidFill>
                          <a:effectLst/>
                          <a:latin typeface="+mn-lt"/>
                          <a:ea typeface="+mn-ea"/>
                          <a:cs typeface="+mn-cs"/>
                        </a:rPr>
                        <a:t>Party Type / Posture</a:t>
                      </a:r>
                    </a:p>
                  </a:txBody>
                  <a:tcPr marL="63500" marR="63500" marT="63500" marB="63500" anchor="ctr"/>
                </a:tc>
                <a:tc>
                  <a:txBody>
                    <a:bodyPr/>
                    <a:lstStyle/>
                    <a:p>
                      <a:pPr marL="0" marR="0">
                        <a:buNone/>
                      </a:pPr>
                      <a:r>
                        <a:rPr lang="en-US" sz="1800" b="1" kern="1200" dirty="0">
                          <a:solidFill>
                            <a:schemeClr val="dk1"/>
                          </a:solidFill>
                          <a:effectLst/>
                          <a:latin typeface="+mn-lt"/>
                          <a:ea typeface="+mn-ea"/>
                          <a:cs typeface="+mn-cs"/>
                        </a:rPr>
                        <a:t>Holding on Domicile</a:t>
                      </a:r>
                      <a:endParaRPr lang="en-US" sz="1000" dirty="0">
                        <a:effectLst/>
                        <a:latin typeface="Times New Roman" panose="02020603050405020304" pitchFamily="18" charset="0"/>
                        <a:ea typeface="Times New Roman" panose="02020603050405020304" pitchFamily="18" charset="0"/>
                      </a:endParaRPr>
                    </a:p>
                  </a:txBody>
                  <a:tcPr marL="63500" marR="63500" marT="63500" marB="63500" anchor="ctr"/>
                </a:tc>
                <a:extLst>
                  <a:ext uri="{0D108BD9-81ED-4DB2-BD59-A6C34878D82A}">
                    <a16:rowId xmlns:a16="http://schemas.microsoft.com/office/drawing/2014/main" val="3386184019"/>
                  </a:ext>
                </a:extLst>
              </a:tr>
              <a:tr h="370840">
                <a:tc>
                  <a:txBody>
                    <a:bodyPr/>
                    <a:lstStyle/>
                    <a:p>
                      <a:endParaRPr lang="en-US" sz="1800" kern="1200" dirty="0">
                        <a:solidFill>
                          <a:schemeClr val="dk1"/>
                        </a:solidFill>
                        <a:effectLst/>
                        <a:latin typeface="+mn-lt"/>
                        <a:ea typeface="+mn-ea"/>
                        <a:cs typeface="+mn-cs"/>
                      </a:endParaRP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33473283"/>
                  </a:ext>
                </a:extLst>
              </a:tr>
              <a:tr h="370840">
                <a:tc>
                  <a:txBody>
                    <a:bodyPr/>
                    <a:lstStyle/>
                    <a:p>
                      <a:endParaRPr lang="en-US" i="1"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9485244"/>
                  </a:ext>
                </a:extLst>
              </a:tr>
              <a:tr h="370840">
                <a:tc>
                  <a:txBody>
                    <a:bodyPr/>
                    <a:lstStyle/>
                    <a:p>
                      <a:endParaRPr lang="en-US" i="1"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96753602"/>
                  </a:ext>
                </a:extLst>
              </a:tr>
              <a:tr h="370840">
                <a:tc>
                  <a:txBody>
                    <a:bodyPr/>
                    <a:lstStyle/>
                    <a:p>
                      <a:endParaRPr lang="en-US" i="1"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41926895"/>
                  </a:ext>
                </a:extLst>
              </a:tr>
            </a:tbl>
          </a:graphicData>
        </a:graphic>
      </p:graphicFrame>
    </p:spTree>
    <p:extLst>
      <p:ext uri="{BB962C8B-B14F-4D97-AF65-F5344CB8AC3E}">
        <p14:creationId xmlns:p14="http://schemas.microsoft.com/office/powerpoint/2010/main" val="4256824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91465-F544-FD3A-1104-0F806F8D84F5}"/>
              </a:ext>
            </a:extLst>
          </p:cNvPr>
          <p:cNvSpPr>
            <a:spLocks noGrp="1"/>
          </p:cNvSpPr>
          <p:nvPr>
            <p:ph type="title"/>
          </p:nvPr>
        </p:nvSpPr>
        <p:spPr/>
        <p:txBody>
          <a:bodyPr/>
          <a:lstStyle/>
          <a:p>
            <a:r>
              <a:rPr lang="en-US" dirty="0"/>
              <a:t>What rules should you include?</a:t>
            </a:r>
          </a:p>
        </p:txBody>
      </p:sp>
      <p:graphicFrame>
        <p:nvGraphicFramePr>
          <p:cNvPr id="5" name="Content Placeholder 2">
            <a:extLst>
              <a:ext uri="{FF2B5EF4-FFF2-40B4-BE49-F238E27FC236}">
                <a16:creationId xmlns:a16="http://schemas.microsoft.com/office/drawing/2014/main" id="{5DFE8D71-F428-1AD4-B94B-1F945A44DBD6}"/>
              </a:ext>
            </a:extLst>
          </p:cNvPr>
          <p:cNvGraphicFramePr>
            <a:graphicFrameLocks noGrp="1"/>
          </p:cNvGraphicFramePr>
          <p:nvPr>
            <p:ph idx="1"/>
            <p:extLst>
              <p:ext uri="{D42A27DB-BD31-4B8C-83A1-F6EECF244321}">
                <p14:modId xmlns:p14="http://schemas.microsoft.com/office/powerpoint/2010/main" val="3504836003"/>
              </p:ext>
            </p:extLst>
          </p:nvPr>
        </p:nvGraphicFramePr>
        <p:xfrm>
          <a:off x="278524" y="1326932"/>
          <a:ext cx="11634951" cy="50948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881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B4E7658-C0D6-13B6-B96C-BC2545189A28}"/>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lnSpc>
                <a:spcPct val="90000"/>
              </a:lnSpc>
            </a:pPr>
            <a:r>
              <a:rPr lang="en-US" sz="7200" kern="1200">
                <a:solidFill>
                  <a:schemeClr val="tx1"/>
                </a:solidFill>
                <a:latin typeface="+mj-lt"/>
                <a:ea typeface="+mj-ea"/>
                <a:cs typeface="+mj-cs"/>
              </a:rPr>
              <a:t>How do we narrow to the specific issue?</a:t>
            </a:r>
          </a:p>
        </p:txBody>
      </p:sp>
      <p:sp>
        <p:nvSpPr>
          <p:cNvPr id="5" name="Text Placeholder 4">
            <a:extLst>
              <a:ext uri="{FF2B5EF4-FFF2-40B4-BE49-F238E27FC236}">
                <a16:creationId xmlns:a16="http://schemas.microsoft.com/office/drawing/2014/main" id="{8A3F8BE1-0C63-20F8-B648-C4A8DC69B85E}"/>
              </a:ext>
            </a:extLst>
          </p:cNvPr>
          <p:cNvSpPr>
            <a:spLocks noGrp="1"/>
          </p:cNvSpPr>
          <p:nvPr>
            <p:ph type="body" idx="1"/>
          </p:nvPr>
        </p:nvSpPr>
        <p:spPr>
          <a:xfrm>
            <a:off x="1524000" y="5514052"/>
            <a:ext cx="9144000" cy="651910"/>
          </a:xfrm>
        </p:spPr>
        <p:txBody>
          <a:bodyPr vert="horz" lIns="91440" tIns="45720" rIns="91440" bIns="45720" rtlCol="0" anchor="ctr">
            <a:normAutofit/>
          </a:bodyPr>
          <a:lstStyle/>
          <a:p>
            <a:pPr algn="ctr">
              <a:lnSpc>
                <a:spcPct val="90000"/>
              </a:lnSpc>
              <a:spcBef>
                <a:spcPts val="1000"/>
              </a:spcBef>
            </a:pPr>
            <a:r>
              <a:rPr lang="en-US" sz="2400" kern="1200">
                <a:solidFill>
                  <a:schemeClr val="tx1"/>
                </a:solidFill>
                <a:latin typeface="+mn-lt"/>
                <a:ea typeface="+mn-ea"/>
                <a:cs typeface="+mn-cs"/>
              </a:rPr>
              <a:t>What are we going to be fighting with the other side about?  </a:t>
            </a:r>
          </a:p>
        </p:txBody>
      </p:sp>
      <p:cxnSp>
        <p:nvCxnSpPr>
          <p:cNvPr id="29" name="Straight Connector 28">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0418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84A35CD-F963-B4C7-D243-BF5D2E8C7FC7}"/>
              </a:ext>
            </a:extLst>
          </p:cNvPr>
          <p:cNvSpPr>
            <a:spLocks noGrp="1"/>
          </p:cNvSpPr>
          <p:nvPr>
            <p:ph type="title"/>
          </p:nvPr>
        </p:nvSpPr>
        <p:spPr>
          <a:xfrm>
            <a:off x="808638" y="386930"/>
            <a:ext cx="9236700" cy="1188950"/>
          </a:xfrm>
        </p:spPr>
        <p:txBody>
          <a:bodyPr anchor="b">
            <a:normAutofit/>
          </a:bodyPr>
          <a:lstStyle/>
          <a:p>
            <a:r>
              <a:rPr lang="en-US" sz="5400" dirty="0"/>
              <a:t>Correct!  </a:t>
            </a:r>
          </a:p>
        </p:txBody>
      </p:sp>
      <p:grpSp>
        <p:nvGrpSpPr>
          <p:cNvPr id="12" name="Group 1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 name="Rectangle 1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E5CD3B52-F19F-F8A6-59C0-83ECFF823D9B}"/>
              </a:ext>
            </a:extLst>
          </p:cNvPr>
          <p:cNvSpPr>
            <a:spLocks noGrp="1"/>
          </p:cNvSpPr>
          <p:nvPr>
            <p:ph idx="1"/>
          </p:nvPr>
        </p:nvSpPr>
        <p:spPr>
          <a:xfrm>
            <a:off x="793660" y="2599509"/>
            <a:ext cx="10143668" cy="3435531"/>
          </a:xfrm>
        </p:spPr>
        <p:txBody>
          <a:bodyPr anchor="ctr">
            <a:normAutofit/>
          </a:bodyPr>
          <a:lstStyle/>
          <a:p>
            <a:pPr marL="0" indent="0" algn="ctr">
              <a:buNone/>
            </a:pPr>
            <a:r>
              <a:rPr lang="en-US" sz="3600" dirty="0"/>
              <a:t>Your Closed memo should focus on whether Fox acquired a new domicile in Kentucky or does he remain domiciled in Tennessee.</a:t>
            </a:r>
          </a:p>
        </p:txBody>
      </p:sp>
    </p:spTree>
    <p:extLst>
      <p:ext uri="{BB962C8B-B14F-4D97-AF65-F5344CB8AC3E}">
        <p14:creationId xmlns:p14="http://schemas.microsoft.com/office/powerpoint/2010/main" val="142053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AC1274F-F3B5-E902-3CF8-69941E0721B8}"/>
              </a:ext>
            </a:extLst>
          </p:cNvPr>
          <p:cNvSpPr>
            <a:spLocks noGrp="1"/>
          </p:cNvSpPr>
          <p:nvPr>
            <p:ph type="title"/>
          </p:nvPr>
        </p:nvSpPr>
        <p:spPr>
          <a:xfrm>
            <a:off x="1807990" y="583345"/>
            <a:ext cx="9232798" cy="4164820"/>
          </a:xfrm>
        </p:spPr>
        <p:txBody>
          <a:bodyPr vert="horz" lIns="91440" tIns="45720" rIns="91440" bIns="45720" rtlCol="0" anchor="t">
            <a:normAutofit fontScale="90000"/>
          </a:bodyPr>
          <a:lstStyle/>
          <a:p>
            <a:pPr algn="r">
              <a:lnSpc>
                <a:spcPct val="90000"/>
              </a:lnSpc>
            </a:pPr>
            <a:r>
              <a:rPr lang="en-US" sz="5000" kern="1200" dirty="0">
                <a:solidFill>
                  <a:srgbClr val="FFFFFF"/>
                </a:solidFill>
                <a:latin typeface="+mj-lt"/>
                <a:ea typeface="+mj-ea"/>
                <a:cs typeface="+mj-cs"/>
              </a:rPr>
              <a:t>FIRST, inventory the INDIVIDUAL rules that go to your issue </a:t>
            </a:r>
            <a:br>
              <a:rPr lang="en-US" sz="5000" kern="1200" dirty="0">
                <a:solidFill>
                  <a:srgbClr val="FFFFFF"/>
                </a:solidFill>
                <a:latin typeface="+mj-lt"/>
                <a:ea typeface="+mj-ea"/>
                <a:cs typeface="+mj-cs"/>
              </a:rPr>
            </a:br>
            <a:br>
              <a:rPr lang="en-US" sz="5000" kern="1200" dirty="0">
                <a:solidFill>
                  <a:srgbClr val="FFFFFF"/>
                </a:solidFill>
                <a:latin typeface="+mj-lt"/>
                <a:ea typeface="+mj-ea"/>
                <a:cs typeface="+mj-cs"/>
              </a:rPr>
            </a:br>
            <a:r>
              <a:rPr lang="en-US" sz="5000" kern="1200" cap="none" dirty="0">
                <a:solidFill>
                  <a:srgbClr val="FFFFFF"/>
                </a:solidFill>
                <a:latin typeface="+mj-lt"/>
                <a:ea typeface="+mj-ea"/>
                <a:cs typeface="+mj-cs"/>
              </a:rPr>
              <a:t>(i.e., help the court answer your question)</a:t>
            </a:r>
            <a:endParaRPr lang="en-US" sz="5000" kern="1200" dirty="0">
              <a:solidFill>
                <a:srgbClr val="FFFFFF"/>
              </a:solidFill>
              <a:latin typeface="+mj-lt"/>
              <a:ea typeface="+mj-ea"/>
              <a:cs typeface="+mj-cs"/>
            </a:endParaRPr>
          </a:p>
        </p:txBody>
      </p:sp>
      <p:sp>
        <p:nvSpPr>
          <p:cNvPr id="3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1"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33" name="Straight Connector 3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5"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7"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39"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634203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hite arrows painted on the asphalt">
            <a:extLst>
              <a:ext uri="{FF2B5EF4-FFF2-40B4-BE49-F238E27FC236}">
                <a16:creationId xmlns:a16="http://schemas.microsoft.com/office/drawing/2014/main" id="{75C3E5F0-00EA-B2B7-CDB7-BC216E84B264}"/>
              </a:ext>
            </a:extLst>
          </p:cNvPr>
          <p:cNvPicPr>
            <a:picLocks noChangeAspect="1"/>
          </p:cNvPicPr>
          <p:nvPr/>
        </p:nvPicPr>
        <p:blipFill>
          <a:blip r:embed="rId2"/>
          <a:srcRect t="990" r="1" b="13860"/>
          <a:stretch/>
        </p:blipFill>
        <p:spPr>
          <a:xfrm>
            <a:off x="-3447" y="-1"/>
            <a:ext cx="12195447"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948DF1-97EC-88FD-49A6-3D41835E4C12}"/>
              </a:ext>
            </a:extLst>
          </p:cNvPr>
          <p:cNvSpPr>
            <a:spLocks noGrp="1"/>
          </p:cNvSpPr>
          <p:nvPr>
            <p:ph type="title"/>
          </p:nvPr>
        </p:nvSpPr>
        <p:spPr>
          <a:xfrm>
            <a:off x="859028" y="4121944"/>
            <a:ext cx="7927785" cy="1620665"/>
          </a:xfrm>
        </p:spPr>
        <p:txBody>
          <a:bodyPr vert="horz" lIns="91440" tIns="45720" rIns="91440" bIns="45720" rtlCol="0" anchor="b">
            <a:normAutofit/>
          </a:bodyPr>
          <a:lstStyle/>
          <a:p>
            <a:pPr>
              <a:lnSpc>
                <a:spcPct val="90000"/>
              </a:lnSpc>
            </a:pPr>
            <a:r>
              <a:rPr lang="en-US" sz="4800" dirty="0">
                <a:solidFill>
                  <a:srgbClr val="FFFF00"/>
                </a:solidFill>
              </a:rPr>
              <a:t>Next, SYNTHESIZE…</a:t>
            </a:r>
          </a:p>
        </p:txBody>
      </p:sp>
    </p:spTree>
    <p:extLst>
      <p:ext uri="{BB962C8B-B14F-4D97-AF65-F5344CB8AC3E}">
        <p14:creationId xmlns:p14="http://schemas.microsoft.com/office/powerpoint/2010/main" val="1844052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A29BD-8545-FB42-AE72-B47E47F4029F}"/>
              </a:ext>
            </a:extLst>
          </p:cNvPr>
          <p:cNvSpPr>
            <a:spLocks noGrp="1"/>
          </p:cNvSpPr>
          <p:nvPr>
            <p:ph type="title"/>
          </p:nvPr>
        </p:nvSpPr>
        <p:spPr/>
        <p:txBody>
          <a:bodyPr>
            <a:normAutofit fontScale="90000"/>
          </a:bodyPr>
          <a:lstStyle/>
          <a:p>
            <a:r>
              <a:rPr lang="en-US" b="1" dirty="0">
                <a:solidFill>
                  <a:schemeClr val="accent2"/>
                </a:solidFill>
              </a:rPr>
              <a:t>The Rules You Gather Need to Become a </a:t>
            </a:r>
            <a:br>
              <a:rPr lang="en-US" b="1" dirty="0">
                <a:solidFill>
                  <a:schemeClr val="accent2"/>
                </a:solidFill>
              </a:rPr>
            </a:br>
            <a:r>
              <a:rPr lang="en-US" b="1" dirty="0">
                <a:solidFill>
                  <a:schemeClr val="accent2"/>
                </a:solidFill>
              </a:rPr>
              <a:t>Synthesized Rule Statement</a:t>
            </a:r>
          </a:p>
        </p:txBody>
      </p:sp>
      <p:sp>
        <p:nvSpPr>
          <p:cNvPr id="3" name="Content Placeholder 2">
            <a:extLst>
              <a:ext uri="{FF2B5EF4-FFF2-40B4-BE49-F238E27FC236}">
                <a16:creationId xmlns:a16="http://schemas.microsoft.com/office/drawing/2014/main" id="{09A32A39-FFFD-51DF-3DE2-90760822AD8C}"/>
              </a:ext>
            </a:extLst>
          </p:cNvPr>
          <p:cNvSpPr>
            <a:spLocks noGrp="1"/>
          </p:cNvSpPr>
          <p:nvPr>
            <p:ph idx="1"/>
          </p:nvPr>
        </p:nvSpPr>
        <p:spPr>
          <a:xfrm>
            <a:off x="609599" y="1600201"/>
            <a:ext cx="11067393" cy="5157951"/>
          </a:xfrm>
        </p:spPr>
        <p:txBody>
          <a:bodyPr>
            <a:normAutofit fontScale="92500" lnSpcReduction="10000"/>
          </a:bodyPr>
          <a:lstStyle/>
          <a:p>
            <a:pPr marL="0" indent="0">
              <a:buNone/>
            </a:pPr>
            <a:r>
              <a:rPr lang="en-US" sz="3400" b="1" dirty="0">
                <a:solidFill>
                  <a:schemeClr val="tx2"/>
                </a:solidFill>
              </a:rPr>
              <a:t>Because a judge is bound to decide cases based on stare decisis, it is the lawyer’s job to give the judge the entire picture of the state of the law in one, easily understandable standard.</a:t>
            </a:r>
          </a:p>
          <a:p>
            <a:pPr marL="0" indent="0">
              <a:buNone/>
            </a:pPr>
            <a:endParaRPr lang="en-US" sz="3400" dirty="0"/>
          </a:p>
          <a:p>
            <a:pPr marL="0" indent="0">
              <a:buNone/>
            </a:pPr>
            <a:r>
              <a:rPr lang="en-US" sz="3400" dirty="0"/>
              <a:t>A synthesized rule statement brings all the rule material together into one place, summarizing how the rules fit into a whole instead of listing the rules one at a time. </a:t>
            </a:r>
          </a:p>
          <a:p>
            <a:pPr marL="0" indent="0">
              <a:buNone/>
            </a:pPr>
            <a:endParaRPr lang="en-US" sz="3400" i="1" dirty="0"/>
          </a:p>
          <a:p>
            <a:pPr marL="0" indent="0" algn="ctr">
              <a:buNone/>
            </a:pPr>
            <a:r>
              <a:rPr lang="en-US" sz="3400" b="1" i="1" dirty="0">
                <a:solidFill>
                  <a:schemeClr val="tx2"/>
                </a:solidFill>
              </a:rPr>
              <a:t>“By focusing on the reasoning and generic facts that the cases have in common, synthesis finds and explains collective meaning that is not apparent from the individual cases themselves.”</a:t>
            </a:r>
            <a:endParaRPr lang="en-US" sz="2600" b="1" dirty="0">
              <a:solidFill>
                <a:schemeClr val="tx2"/>
              </a:solidFill>
            </a:endParaRPr>
          </a:p>
          <a:p>
            <a:pPr marL="0" indent="0">
              <a:buNone/>
            </a:pPr>
            <a:endParaRPr lang="en-US" sz="2300" dirty="0"/>
          </a:p>
          <a:p>
            <a:pPr marL="0" indent="0">
              <a:buNone/>
            </a:pPr>
            <a:endParaRPr lang="en-US" sz="2300" dirty="0"/>
          </a:p>
          <a:p>
            <a:pPr marL="0" indent="0">
              <a:buNone/>
            </a:pPr>
            <a:endParaRPr lang="en-US" sz="2300" dirty="0"/>
          </a:p>
          <a:p>
            <a:pPr marL="0" indent="0">
              <a:buNone/>
            </a:pPr>
            <a:endParaRPr lang="en-US" sz="2300" dirty="0"/>
          </a:p>
          <a:p>
            <a:pPr marL="0" indent="0">
              <a:buNone/>
            </a:pPr>
            <a:endParaRPr lang="en-US" sz="2300" dirty="0"/>
          </a:p>
        </p:txBody>
      </p:sp>
    </p:spTree>
    <p:extLst>
      <p:ext uri="{BB962C8B-B14F-4D97-AF65-F5344CB8AC3E}">
        <p14:creationId xmlns:p14="http://schemas.microsoft.com/office/powerpoint/2010/main" val="1591981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pPr algn="l">
              <a:lnSpc>
                <a:spcPct val="90000"/>
              </a:lnSpc>
            </a:pPr>
            <a:r>
              <a:rPr lang="en-US" kern="1200">
                <a:solidFill>
                  <a:srgbClr val="FFFFFF"/>
                </a:solidFill>
                <a:latin typeface="+mj-lt"/>
                <a:ea typeface="+mj-ea"/>
                <a:cs typeface="+mj-cs"/>
              </a:rPr>
              <a:t>Finding consistency in seemingly inconsistent cases</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Content Placeholder 3"/>
          <p:cNvSpPr>
            <a:spLocks noGrp="1"/>
          </p:cNvSpPr>
          <p:nvPr>
            <p:ph sz="half" idx="2"/>
          </p:nvPr>
        </p:nvSpPr>
        <p:spPr>
          <a:xfrm>
            <a:off x="4447308" y="591344"/>
            <a:ext cx="6906491" cy="5585619"/>
          </a:xfrm>
        </p:spPr>
        <p:txBody>
          <a:bodyPr vert="horz" lIns="91440" tIns="45720" rIns="91440" bIns="45720" rtlCol="0" anchor="ctr">
            <a:normAutofit fontScale="92500" lnSpcReduction="10000"/>
          </a:bodyPr>
          <a:lstStyle/>
          <a:p>
            <a:pPr indent="-228600">
              <a:lnSpc>
                <a:spcPct val="90000"/>
              </a:lnSpc>
            </a:pPr>
            <a:endParaRPr lang="en-US" dirty="0"/>
          </a:p>
          <a:p>
            <a:pPr indent="-228600">
              <a:lnSpc>
                <a:spcPct val="90000"/>
              </a:lnSpc>
            </a:pPr>
            <a:r>
              <a:rPr lang="en-US" dirty="0"/>
              <a:t>When courts appear to reach opposite conclusions in cases that seem to have similar facts, do not  assume that the decisions are inconsistent. </a:t>
            </a:r>
          </a:p>
          <a:p>
            <a:pPr indent="-228600">
              <a:lnSpc>
                <a:spcPct val="90000"/>
              </a:lnSpc>
            </a:pPr>
            <a:endParaRPr lang="en-US" dirty="0"/>
          </a:p>
          <a:p>
            <a:pPr indent="-228600">
              <a:lnSpc>
                <a:spcPct val="90000"/>
              </a:lnSpc>
            </a:pPr>
            <a:r>
              <a:rPr lang="en-US" dirty="0"/>
              <a:t>Look for a reason </a:t>
            </a:r>
            <a:r>
              <a:rPr lang="en-US" b="1" u="sng" dirty="0">
                <a:solidFill>
                  <a:srgbClr val="FFC000"/>
                </a:solidFill>
              </a:rPr>
              <a:t>why</a:t>
            </a:r>
            <a:r>
              <a:rPr lang="en-US" dirty="0"/>
              <a:t> the courts came to opposite conclusions. </a:t>
            </a:r>
          </a:p>
          <a:p>
            <a:pPr lvl="1" indent="-228600">
              <a:lnSpc>
                <a:spcPct val="90000"/>
              </a:lnSpc>
            </a:pPr>
            <a:r>
              <a:rPr lang="en-US" dirty="0"/>
              <a:t>For example, you may notice that every time a certain fact is present, the court reaches a particular conclusion. </a:t>
            </a:r>
          </a:p>
          <a:p>
            <a:pPr indent="-228600">
              <a:lnSpc>
                <a:spcPct val="90000"/>
              </a:lnSpc>
            </a:pPr>
            <a:endParaRPr lang="en-US" dirty="0"/>
          </a:p>
          <a:p>
            <a:pPr indent="-228600">
              <a:lnSpc>
                <a:spcPct val="90000"/>
              </a:lnSpc>
            </a:pPr>
            <a:r>
              <a:rPr lang="en-US" b="1" dirty="0"/>
              <a:t>Even when decisions seem inconsistent, it is your job to find a common denominator to make the decisions consistent.</a:t>
            </a:r>
          </a:p>
        </p:txBody>
      </p:sp>
    </p:spTree>
    <p:extLst>
      <p:ext uri="{BB962C8B-B14F-4D97-AF65-F5344CB8AC3E}">
        <p14:creationId xmlns:p14="http://schemas.microsoft.com/office/powerpoint/2010/main" val="78196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itle 3">
            <a:extLst>
              <a:ext uri="{FF2B5EF4-FFF2-40B4-BE49-F238E27FC236}">
                <a16:creationId xmlns:a16="http://schemas.microsoft.com/office/drawing/2014/main" id="{0CD01739-5188-5142-846A-18C775659BCD}"/>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lgn="l">
              <a:lnSpc>
                <a:spcPct val="90000"/>
              </a:lnSpc>
            </a:pPr>
            <a:r>
              <a:rPr lang="en-US" sz="5400" i="1" dirty="0"/>
              <a:t>Then, put it all together (Synthesize)</a:t>
            </a:r>
          </a:p>
        </p:txBody>
      </p:sp>
      <p:sp>
        <p:nvSpPr>
          <p:cNvPr id="2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 Placeholder 4">
            <a:extLst>
              <a:ext uri="{FF2B5EF4-FFF2-40B4-BE49-F238E27FC236}">
                <a16:creationId xmlns:a16="http://schemas.microsoft.com/office/drawing/2014/main" id="{3EEA040D-8522-934A-84C4-6D7D51CB0C8C}"/>
              </a:ext>
            </a:extLst>
          </p:cNvPr>
          <p:cNvSpPr>
            <a:spLocks noGrp="1"/>
          </p:cNvSpPr>
          <p:nvPr>
            <p:ph type="body" idx="1"/>
          </p:nvPr>
        </p:nvSpPr>
        <p:spPr>
          <a:xfrm>
            <a:off x="572492" y="2071316"/>
            <a:ext cx="10972800" cy="4279380"/>
          </a:xfrm>
        </p:spPr>
        <p:txBody>
          <a:bodyPr vert="horz" lIns="91440" tIns="45720" rIns="91440" bIns="45720" rtlCol="0" anchor="t">
            <a:normAutofit fontScale="92500" lnSpcReduction="20000"/>
          </a:bodyPr>
          <a:lstStyle/>
          <a:p>
            <a:pPr indent="-228600">
              <a:lnSpc>
                <a:spcPct val="90000"/>
              </a:lnSpc>
              <a:spcBef>
                <a:spcPts val="1000"/>
              </a:spcBef>
              <a:spcAft>
                <a:spcPts val="1000"/>
              </a:spcAft>
            </a:pPr>
            <a:r>
              <a:rPr lang="en-US" sz="2800" b="1" dirty="0">
                <a:solidFill>
                  <a:schemeClr val="tx2"/>
                </a:solidFill>
              </a:rPr>
              <a:t>Start with the broadest test</a:t>
            </a:r>
            <a:r>
              <a:rPr lang="en-US" sz="2800" dirty="0"/>
              <a:t>, usually common to all of the cases in a particular area of law (e.g., the gain admission to the Bar, a person must demonstrate good moral character and general fitness to practice law)</a:t>
            </a:r>
          </a:p>
          <a:p>
            <a:pPr indent="-228600">
              <a:lnSpc>
                <a:spcPct val="90000"/>
              </a:lnSpc>
              <a:spcBef>
                <a:spcPts val="1000"/>
              </a:spcBef>
              <a:spcAft>
                <a:spcPts val="1000"/>
              </a:spcAft>
            </a:pPr>
            <a:r>
              <a:rPr lang="en-US" sz="2800" b="1" dirty="0">
                <a:solidFill>
                  <a:schemeClr val="tx2"/>
                </a:solidFill>
              </a:rPr>
              <a:t>Next, describe sub-rules or specific elements or factors</a:t>
            </a:r>
            <a:r>
              <a:rPr lang="en-US" sz="2800" dirty="0">
                <a:solidFill>
                  <a:schemeClr val="tx2"/>
                </a:solidFill>
              </a:rPr>
              <a:t>.</a:t>
            </a:r>
            <a:r>
              <a:rPr lang="en-US" sz="2800" dirty="0"/>
              <a:t> Sometimes these build up as part of the snowball effect of several different cases.</a:t>
            </a:r>
            <a:r>
              <a:rPr lang="en-US" sz="2800" b="1" dirty="0">
                <a:solidFill>
                  <a:schemeClr val="tx2"/>
                </a:solidFill>
              </a:rPr>
              <a:t> </a:t>
            </a:r>
            <a:r>
              <a:rPr lang="en-US" sz="2800" dirty="0"/>
              <a:t>(e.g., good moral character includes righting past wrongs and staying out of trouble) </a:t>
            </a:r>
          </a:p>
          <a:p>
            <a:pPr indent="-228600">
              <a:lnSpc>
                <a:spcPct val="90000"/>
              </a:lnSpc>
              <a:spcBef>
                <a:spcPts val="1000"/>
              </a:spcBef>
              <a:spcAft>
                <a:spcPts val="1000"/>
              </a:spcAft>
            </a:pPr>
            <a:r>
              <a:rPr lang="en-US" sz="2800" dirty="0"/>
              <a:t>Avoid describing how the law came to be </a:t>
            </a:r>
            <a:r>
              <a:rPr lang="en-US" sz="2800" i="1" dirty="0"/>
              <a:t>(e.g., the court in X held that ____, but in 1962, the court changed course)</a:t>
            </a:r>
            <a:r>
              <a:rPr lang="en-US" sz="2800" dirty="0"/>
              <a:t>.</a:t>
            </a:r>
          </a:p>
          <a:p>
            <a:pPr indent="-228600">
              <a:lnSpc>
                <a:spcPct val="90000"/>
              </a:lnSpc>
              <a:spcBef>
                <a:spcPts val="1000"/>
              </a:spcBef>
              <a:spcAft>
                <a:spcPts val="1000"/>
              </a:spcAft>
            </a:pPr>
            <a:r>
              <a:rPr lang="en-US" sz="2800" dirty="0"/>
              <a:t>Instead, describe only what the law is </a:t>
            </a:r>
            <a:r>
              <a:rPr lang="en-US" sz="2800" u="sng" dirty="0"/>
              <a:t>now</a:t>
            </a:r>
            <a:r>
              <a:rPr lang="en-US" sz="2800" dirty="0"/>
              <a:t>.</a:t>
            </a:r>
          </a:p>
          <a:p>
            <a:pPr indent="-228600">
              <a:lnSpc>
                <a:spcPct val="90000"/>
              </a:lnSpc>
              <a:spcBef>
                <a:spcPts val="1000"/>
              </a:spcBef>
              <a:spcAft>
                <a:spcPts val="1000"/>
              </a:spcAft>
            </a:pPr>
            <a:r>
              <a:rPr lang="en-US" sz="2800" dirty="0"/>
              <a:t>Use </a:t>
            </a:r>
            <a:r>
              <a:rPr lang="en-US" sz="2800" u="sng" dirty="0"/>
              <a:t>present tense</a:t>
            </a:r>
            <a:r>
              <a:rPr lang="en-US" sz="2800" dirty="0"/>
              <a:t>.</a:t>
            </a:r>
          </a:p>
          <a:p>
            <a:pPr indent="-228600">
              <a:lnSpc>
                <a:spcPct val="90000"/>
              </a:lnSpc>
            </a:pPr>
            <a:endParaRPr lang="en-US" sz="2200" dirty="0"/>
          </a:p>
        </p:txBody>
      </p:sp>
    </p:spTree>
    <p:extLst>
      <p:ext uri="{BB962C8B-B14F-4D97-AF65-F5344CB8AC3E}">
        <p14:creationId xmlns:p14="http://schemas.microsoft.com/office/powerpoint/2010/main" val="91870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86834" y="1153572"/>
            <a:ext cx="3200400" cy="4461163"/>
          </a:xfrm>
        </p:spPr>
        <p:txBody>
          <a:bodyPr>
            <a:normAutofit/>
          </a:bodyPr>
          <a:lstStyle/>
          <a:p>
            <a:pPr eaLnBrk="1" hangingPunct="1"/>
            <a:r>
              <a:rPr lang="en-US" altLang="en-US" b="1">
                <a:solidFill>
                  <a:schemeClr val="tx2"/>
                </a:solidFill>
                <a:ea typeface="ＭＳ Ｐゴシック" pitchFamily="34" charset="-128"/>
              </a:rPr>
              <a:t>Drafting Your </a:t>
            </a:r>
            <a:r>
              <a:rPr lang="en-US" altLang="en-US" b="1" dirty="0">
                <a:solidFill>
                  <a:schemeClr val="tx2"/>
                </a:solidFill>
                <a:ea typeface="ＭＳ Ｐゴシック" pitchFamily="34" charset="-128"/>
              </a:rPr>
              <a:t>Synthesized Rule Statement</a:t>
            </a:r>
          </a:p>
        </p:txBody>
      </p:sp>
      <p:sp>
        <p:nvSpPr>
          <p:cNvPr id="3" name="Content Placeholder 2"/>
          <p:cNvSpPr>
            <a:spLocks noGrp="1"/>
          </p:cNvSpPr>
          <p:nvPr>
            <p:ph idx="1"/>
          </p:nvPr>
        </p:nvSpPr>
        <p:spPr>
          <a:xfrm>
            <a:off x="4447308" y="591344"/>
            <a:ext cx="6906491" cy="5585619"/>
          </a:xfrm>
        </p:spPr>
        <p:txBody>
          <a:bodyPr anchor="ctr">
            <a:normAutofit fontScale="85000" lnSpcReduction="20000"/>
          </a:bodyPr>
          <a:lstStyle/>
          <a:p>
            <a:pPr>
              <a:spcBef>
                <a:spcPts val="0"/>
              </a:spcBef>
            </a:pPr>
            <a:r>
              <a:rPr lang="en-US" altLang="en-US" dirty="0">
                <a:ea typeface="ＭＳ Ｐゴシック" pitchFamily="34" charset="-128"/>
              </a:rPr>
              <a:t>Go broad to narrow / general to specific</a:t>
            </a:r>
          </a:p>
          <a:p>
            <a:pPr lvl="1"/>
            <a:r>
              <a:rPr lang="en-US" dirty="0"/>
              <a:t>broad/general = top level legal standard</a:t>
            </a:r>
          </a:p>
          <a:p>
            <a:pPr lvl="1"/>
            <a:r>
              <a:rPr lang="en-US" dirty="0"/>
              <a:t>narrow/specific = individual elements or factors</a:t>
            </a:r>
          </a:p>
          <a:p>
            <a:pPr marL="0" indent="0">
              <a:spcBef>
                <a:spcPts val="0"/>
              </a:spcBef>
              <a:buNone/>
            </a:pPr>
            <a:endParaRPr lang="en-US" dirty="0"/>
          </a:p>
          <a:p>
            <a:pPr>
              <a:spcBef>
                <a:spcPts val="0"/>
              </a:spcBef>
            </a:pPr>
            <a:r>
              <a:rPr lang="en-US" dirty="0"/>
              <a:t>Do not mention specific facts. Rules are generic and universal.</a:t>
            </a:r>
          </a:p>
          <a:p>
            <a:pPr marL="0" indent="0">
              <a:spcBef>
                <a:spcPts val="0"/>
              </a:spcBef>
              <a:buNone/>
            </a:pPr>
            <a:endParaRPr lang="en-US" dirty="0"/>
          </a:p>
          <a:p>
            <a:pPr>
              <a:spcBef>
                <a:spcPts val="0"/>
              </a:spcBef>
            </a:pPr>
            <a:r>
              <a:rPr lang="en-US" dirty="0"/>
              <a:t>Do not write a list.  </a:t>
            </a:r>
          </a:p>
          <a:p>
            <a:pPr>
              <a:spcBef>
                <a:spcPts val="0"/>
              </a:spcBef>
            </a:pPr>
            <a:endParaRPr lang="en-US" dirty="0"/>
          </a:p>
          <a:p>
            <a:pPr>
              <a:spcBef>
                <a:spcPts val="0"/>
              </a:spcBef>
            </a:pPr>
            <a:r>
              <a:rPr lang="en-US" dirty="0"/>
              <a:t>Quote explicit rules when you can. </a:t>
            </a:r>
          </a:p>
          <a:p>
            <a:pPr>
              <a:spcBef>
                <a:spcPts val="0"/>
              </a:spcBef>
            </a:pPr>
            <a:endParaRPr lang="en-US" dirty="0"/>
          </a:p>
          <a:p>
            <a:pPr>
              <a:spcBef>
                <a:spcPts val="0"/>
              </a:spcBef>
            </a:pPr>
            <a:r>
              <a:rPr lang="en-US" dirty="0"/>
              <a:t>Paraphrase implicit rules and for succinct and interesting writing. </a:t>
            </a:r>
          </a:p>
          <a:p>
            <a:pPr>
              <a:spcBef>
                <a:spcPts val="0"/>
              </a:spcBef>
            </a:pPr>
            <a:endParaRPr lang="en-US" dirty="0"/>
          </a:p>
          <a:p>
            <a:pPr>
              <a:spcBef>
                <a:spcPts val="0"/>
              </a:spcBef>
            </a:pPr>
            <a:r>
              <a:rPr lang="en-US" dirty="0">
                <a:solidFill>
                  <a:schemeClr val="accent3"/>
                </a:solidFill>
              </a:rPr>
              <a:t>Do not change terms of art.</a:t>
            </a:r>
          </a:p>
        </p:txBody>
      </p:sp>
      <p:sp>
        <p:nvSpPr>
          <p:cNvPr id="4" name="Down Arrow 3"/>
          <p:cNvSpPr/>
          <p:nvPr/>
        </p:nvSpPr>
        <p:spPr>
          <a:xfrm>
            <a:off x="14554200" y="2667001"/>
            <a:ext cx="45719" cy="4571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576877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5BCE-86BE-6F47-9C2D-2FFD93528C17}"/>
              </a:ext>
            </a:extLst>
          </p:cNvPr>
          <p:cNvSpPr>
            <a:spLocks noGrp="1"/>
          </p:cNvSpPr>
          <p:nvPr>
            <p:ph type="title"/>
          </p:nvPr>
        </p:nvSpPr>
        <p:spPr>
          <a:xfrm>
            <a:off x="838200" y="365125"/>
            <a:ext cx="10515600" cy="1325563"/>
          </a:xfrm>
        </p:spPr>
        <p:txBody>
          <a:bodyPr>
            <a:normAutofit/>
          </a:bodyPr>
          <a:lstStyle/>
          <a:p>
            <a:r>
              <a:rPr lang="en-US" sz="5400" b="1" dirty="0"/>
              <a:t>Sample Rules Paragraph</a:t>
            </a:r>
          </a:p>
        </p:txBody>
      </p:sp>
      <p:sp>
        <p:nvSpPr>
          <p:cNvPr id="3" name="Content Placeholder 2">
            <a:extLst>
              <a:ext uri="{FF2B5EF4-FFF2-40B4-BE49-F238E27FC236}">
                <a16:creationId xmlns:a16="http://schemas.microsoft.com/office/drawing/2014/main" id="{04334659-0D82-B246-8ABA-9550112AC159}"/>
              </a:ext>
            </a:extLst>
          </p:cNvPr>
          <p:cNvSpPr>
            <a:spLocks noGrp="1"/>
          </p:cNvSpPr>
          <p:nvPr>
            <p:ph idx="1"/>
          </p:nvPr>
        </p:nvSpPr>
        <p:spPr>
          <a:xfrm>
            <a:off x="838200" y="1689114"/>
            <a:ext cx="10515600" cy="4251960"/>
          </a:xfrm>
        </p:spPr>
        <p:txBody>
          <a:bodyPr>
            <a:noAutofit/>
          </a:bodyPr>
          <a:lstStyle/>
          <a:p>
            <a:pPr marL="0" indent="0">
              <a:spcBef>
                <a:spcPts val="0"/>
              </a:spcBef>
              <a:buNone/>
            </a:pPr>
            <a:r>
              <a:rPr lang="en-US" sz="2300" dirty="0"/>
              <a:t>Under Georgia law, “a person shall be guilty of carrying a weapon or long gun in an unauthorized location and punished as for a misdemeanor when he or she carries a weapon or long gun while . . . [</a:t>
            </a:r>
            <a:r>
              <a:rPr lang="en-US" sz="2300" dirty="0" err="1"/>
              <a:t>i</a:t>
            </a:r>
            <a:r>
              <a:rPr lang="en-US" sz="2300" dirty="0"/>
              <a:t>]n a place of worship . . . .” Ga. Code Ann. § 16-11-127(b)(4) (West 2013). Although the term “place of worship” is not defined in the statute, Georgia courts consistently look to the primary use of property, not merely its ownership, to determine if the property constitutes a “place of religious worship” under a similar ad valorem taxation statute. </a:t>
            </a:r>
            <a:r>
              <a:rPr lang="en-US" sz="2300" i="1" dirty="0"/>
              <a:t>Roberts v. Ravenwood Church of Wicca, </a:t>
            </a:r>
            <a:r>
              <a:rPr lang="en-US" sz="2300" dirty="0"/>
              <a:t>292 S.E.2d 657, 659 (Ga. 1982). If a place is open to the public and is primarily used for a congregation to assemble to pay reverence and homage to a deity, then it is a “place of worship.” </a:t>
            </a:r>
            <a:r>
              <a:rPr lang="en-US" sz="2300" i="1" dirty="0"/>
              <a:t>Leggett</a:t>
            </a:r>
            <a:r>
              <a:rPr lang="en-US" sz="2300" dirty="0"/>
              <a:t>, 205 S.E.2d at 201. For Catholicism, this would include saying prayers, singing hymns, reading scriptures, and the giving of testimonies and sermons in a congregational setting. </a:t>
            </a:r>
            <a:r>
              <a:rPr lang="en-US" sz="2300" i="1" dirty="0"/>
              <a:t>Id.</a:t>
            </a:r>
            <a:r>
              <a:rPr lang="en-US" sz="2300" dirty="0"/>
              <a:t> at 200. It would also include the traditional sacraments and rites of baptism, marriage, communion, and funeral services. </a:t>
            </a:r>
            <a:r>
              <a:rPr lang="en-US" sz="2300" i="1" dirty="0"/>
              <a:t>Id</a:t>
            </a:r>
            <a:r>
              <a:rPr lang="en-US" sz="2300" dirty="0"/>
              <a:t>.  </a:t>
            </a:r>
          </a:p>
        </p:txBody>
      </p:sp>
    </p:spTree>
    <p:extLst>
      <p:ext uri="{BB962C8B-B14F-4D97-AF65-F5344CB8AC3E}">
        <p14:creationId xmlns:p14="http://schemas.microsoft.com/office/powerpoint/2010/main" val="451575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0288" y="393193"/>
            <a:ext cx="8210550" cy="1325563"/>
          </a:xfrm>
        </p:spPr>
        <p:txBody>
          <a:bodyPr>
            <a:normAutofit/>
          </a:bodyPr>
          <a:lstStyle/>
          <a:p>
            <a:r>
              <a:rPr lang="en-US" b="1" dirty="0">
                <a:solidFill>
                  <a:srgbClr val="FD6666"/>
                </a:solidFill>
              </a:rPr>
              <a:t>Your Turn: </a:t>
            </a:r>
            <a:r>
              <a:rPr lang="en-US" dirty="0">
                <a:solidFill>
                  <a:srgbClr val="FD6666"/>
                </a:solidFill>
              </a:rPr>
              <a:t>Write a Rule Paragraph</a:t>
            </a:r>
          </a:p>
        </p:txBody>
      </p:sp>
      <p:sp>
        <p:nvSpPr>
          <p:cNvPr id="3" name="Content Placeholder 2"/>
          <p:cNvSpPr>
            <a:spLocks noGrp="1"/>
          </p:cNvSpPr>
          <p:nvPr>
            <p:ph idx="1"/>
          </p:nvPr>
        </p:nvSpPr>
        <p:spPr>
          <a:xfrm>
            <a:off x="780287" y="1843087"/>
            <a:ext cx="10591905" cy="4536691"/>
          </a:xfrm>
        </p:spPr>
        <p:txBody>
          <a:bodyPr>
            <a:normAutofit/>
          </a:bodyPr>
          <a:lstStyle/>
          <a:p>
            <a:pPr marL="0" indent="0">
              <a:buNone/>
            </a:pPr>
            <a:endParaRPr lang="en-US" sz="2800" dirty="0"/>
          </a:p>
          <a:p>
            <a:r>
              <a:rPr lang="en-US" sz="2800" dirty="0"/>
              <a:t>Lay out the general and specific rules for our issue, progressing from broad to narrow. </a:t>
            </a:r>
          </a:p>
          <a:p>
            <a:endParaRPr lang="en-US" sz="2800" dirty="0"/>
          </a:p>
          <a:p>
            <a:r>
              <a:rPr lang="en-US" sz="2800" dirty="0"/>
              <a:t>Use proper citation</a:t>
            </a:r>
          </a:p>
          <a:p>
            <a:pPr marL="0" indent="0">
              <a:buNone/>
            </a:pPr>
            <a:endParaRPr lang="en-US" sz="2800" dirty="0"/>
          </a:p>
        </p:txBody>
      </p:sp>
    </p:spTree>
    <p:extLst>
      <p:ext uri="{BB962C8B-B14F-4D97-AF65-F5344CB8AC3E}">
        <p14:creationId xmlns:p14="http://schemas.microsoft.com/office/powerpoint/2010/main" val="3644127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3EBE-9F68-BB72-2F7D-E24DBBAE7A38}"/>
              </a:ext>
            </a:extLst>
          </p:cNvPr>
          <p:cNvSpPr>
            <a:spLocks noGrp="1"/>
          </p:cNvSpPr>
          <p:nvPr>
            <p:ph type="title"/>
          </p:nvPr>
        </p:nvSpPr>
        <p:spPr>
          <a:xfrm>
            <a:off x="5297762" y="329184"/>
            <a:ext cx="6251110" cy="1783080"/>
          </a:xfrm>
        </p:spPr>
        <p:txBody>
          <a:bodyPr vert="horz" lIns="91440" tIns="45720" rIns="91440" bIns="45720" rtlCol="0" anchor="b">
            <a:normAutofit/>
          </a:bodyPr>
          <a:lstStyle/>
          <a:p>
            <a:r>
              <a:rPr lang="en-US" sz="5400" kern="1200" dirty="0">
                <a:latin typeface="+mj-lt"/>
                <a:ea typeface="+mj-ea"/>
                <a:cs typeface="+mj-cs"/>
              </a:rPr>
              <a:t>For Thursday</a:t>
            </a:r>
          </a:p>
        </p:txBody>
      </p:sp>
      <p:pic>
        <p:nvPicPr>
          <p:cNvPr id="29" name="Picture 28" descr="Sticky notes on a wall">
            <a:extLst>
              <a:ext uri="{FF2B5EF4-FFF2-40B4-BE49-F238E27FC236}">
                <a16:creationId xmlns:a16="http://schemas.microsoft.com/office/drawing/2014/main" id="{2D7989D6-B815-8085-3608-E52BCDAEA373}"/>
              </a:ext>
            </a:extLst>
          </p:cNvPr>
          <p:cNvPicPr>
            <a:picLocks noChangeAspect="1"/>
          </p:cNvPicPr>
          <p:nvPr/>
        </p:nvPicPr>
        <p:blipFill>
          <a:blip r:embed="rId2"/>
          <a:srcRect l="26185" r="26448"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 name="Content Placeholder 3">
            <a:extLst>
              <a:ext uri="{FF2B5EF4-FFF2-40B4-BE49-F238E27FC236}">
                <a16:creationId xmlns:a16="http://schemas.microsoft.com/office/drawing/2014/main" id="{20E93C93-A92B-CB49-A358-983AFC3842E2}"/>
              </a:ext>
            </a:extLst>
          </p:cNvPr>
          <p:cNvSpPr>
            <a:spLocks noGrp="1"/>
          </p:cNvSpPr>
          <p:nvPr>
            <p:ph idx="1"/>
          </p:nvPr>
        </p:nvSpPr>
        <p:spPr>
          <a:xfrm>
            <a:off x="5297762" y="2706624"/>
            <a:ext cx="6251110" cy="3483864"/>
          </a:xfrm>
        </p:spPr>
        <p:txBody>
          <a:bodyPr>
            <a:normAutofit fontScale="70000" lnSpcReduction="20000"/>
          </a:bodyPr>
          <a:lstStyle/>
          <a:p>
            <a:r>
              <a:rPr lang="en-US" dirty="0"/>
              <a:t>Work on Closed Memo Discussion section (due Sunday, 9/20 at 5:00 p.m.); you should start drafting your Rule Statement at this point</a:t>
            </a:r>
          </a:p>
          <a:p>
            <a:pPr lvl="0"/>
            <a:r>
              <a:rPr lang="en-US" dirty="0"/>
              <a:t>Research Modules 1.1-1.3 due </a:t>
            </a:r>
            <a:r>
              <a:rPr lang="en-US" u="sng" dirty="0"/>
              <a:t>today</a:t>
            </a:r>
            <a:r>
              <a:rPr lang="en-US" dirty="0"/>
              <a:t> at 5</a:t>
            </a:r>
            <a:r>
              <a:rPr lang="en-US" dirty="0">
                <a:sym typeface="Wingdings" panose="05000000000000000000" pitchFamily="2" charset="2"/>
              </a:rPr>
              <a:t>:00 p.m.</a:t>
            </a:r>
            <a:endParaRPr lang="en-US" dirty="0"/>
          </a:p>
          <a:p>
            <a:pPr lvl="0"/>
            <a:r>
              <a:rPr lang="en-US" dirty="0"/>
              <a:t>Read BLW Ch. 7 intro., page 125, Ch, 7.1, intro. and §§ I-II (pp. 127-130), Ch. 7.2, §§ I-III (pp. 147-149)</a:t>
            </a:r>
          </a:p>
          <a:p>
            <a:pPr lvl="0"/>
            <a:r>
              <a:rPr lang="en-US" dirty="0"/>
              <a:t>Complete BLW Exercises 7.1.1, 7.2.1, and 7.2.2</a:t>
            </a:r>
          </a:p>
          <a:p>
            <a:pPr lvl="0"/>
            <a:r>
              <a:rPr lang="en-US" b="1" dirty="0"/>
              <a:t>Complete selected ICWs from Exercises 3 and 5 (look for the selected problems in Canvas Week Three Module) by Sunday, 9/13 at 5:00 p.m. </a:t>
            </a:r>
            <a:endParaRPr lang="en-US" dirty="0"/>
          </a:p>
          <a:p>
            <a:endParaRPr lang="en-US" sz="2200" dirty="0">
              <a:latin typeface="+mj-lt"/>
              <a:ea typeface="+mj-ea"/>
              <a:cs typeface="+mj-cs"/>
            </a:endParaRPr>
          </a:p>
          <a:p>
            <a:endParaRPr lang="en-US" sz="2200" dirty="0"/>
          </a:p>
        </p:txBody>
      </p:sp>
    </p:spTree>
    <p:extLst>
      <p:ext uri="{BB962C8B-B14F-4D97-AF65-F5344CB8AC3E}">
        <p14:creationId xmlns:p14="http://schemas.microsoft.com/office/powerpoint/2010/main" val="4092980690"/>
      </p:ext>
    </p:extLst>
  </p:cSld>
  <p:clrMapOvr>
    <a:masterClrMapping/>
  </p:clrMapOvr>
</p:sld>
</file>

<file path=ppt/theme/theme1.xml><?xml version="1.0" encoding="utf-8"?>
<a:theme xmlns:a="http://schemas.openxmlformats.org/drawingml/2006/main" name="1_Office Them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TotalTime>
  <Words>1349</Words>
  <Application>Microsoft Office PowerPoint</Application>
  <PresentationFormat>Widescreen</PresentationFormat>
  <Paragraphs>107</Paragraphs>
  <Slides>23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ＭＳ Ｐゴシック</vt:lpstr>
      <vt:lpstr>Arial</vt:lpstr>
      <vt:lpstr>Calibri</vt:lpstr>
      <vt:lpstr>Corbel</vt:lpstr>
      <vt:lpstr>Times New Roman</vt:lpstr>
      <vt:lpstr>Wingdings</vt:lpstr>
      <vt:lpstr>1_Office Theme</vt:lpstr>
      <vt:lpstr>Warm-Up - Citation Practice </vt:lpstr>
      <vt:lpstr>Lawyering Skills &amp; Strategies</vt:lpstr>
      <vt:lpstr>Today in LSS</vt:lpstr>
      <vt:lpstr>Rhett Price</vt:lpstr>
      <vt:lpstr>Matthew love</vt:lpstr>
      <vt:lpstr>About Me </vt:lpstr>
      <vt:lpstr>PowerPoint Presentation</vt:lpstr>
      <vt:lpstr>Becoming a Legal Writer Ch. 4, ex. 4.1 and 4.4</vt:lpstr>
      <vt:lpstr>Preliminary Analysis</vt:lpstr>
      <vt:lpstr>Organizing your Legal Authorities</vt:lpstr>
      <vt:lpstr>Organizing Legal Authority</vt:lpstr>
      <vt:lpstr>What rules should you include?</vt:lpstr>
      <vt:lpstr>How do we narrow to the specific issue?</vt:lpstr>
      <vt:lpstr>Correct!  </vt:lpstr>
      <vt:lpstr>FIRST, inventory the INDIVIDUAL rules that go to your issue   (i.e., help the court answer your question)</vt:lpstr>
      <vt:lpstr>Next, SYNTHESIZE…</vt:lpstr>
      <vt:lpstr>The Rules You Gather Need to Become a  Synthesized Rule Statement</vt:lpstr>
      <vt:lpstr>Finding consistency in seemingly inconsistent cases</vt:lpstr>
      <vt:lpstr>Then, put it all together (Synthesize)</vt:lpstr>
      <vt:lpstr>Drafting Your Synthesized Rule Statement</vt:lpstr>
      <vt:lpstr>Sample Rules Paragraph</vt:lpstr>
      <vt:lpstr>Your Turn: Write a Rule Paragraph</vt:lpstr>
      <vt:lpstr>For Thursday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Gomez, Alissa R</dc:creator>
  <cp:lastModifiedBy>Truskett, Harve A</cp:lastModifiedBy>
  <cp:revision>8</cp:revision>
  <dcterms:created xsi:type="dcterms:W3CDTF">2023-09-05T20:59:13Z</dcterms:created>
  <dcterms:modified xsi:type="dcterms:W3CDTF">2026-09-08T21:10:31Z</dcterms:modified>
</cp:coreProperties>
</file>