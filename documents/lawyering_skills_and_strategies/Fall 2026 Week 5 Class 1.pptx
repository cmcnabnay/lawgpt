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1"/>
  </p:notesMasterIdLst>
  <p:sldIdLst>
    <p:sldId id="311" r:id="rId2"/>
    <p:sldId id="329" r:id="rId3"/>
    <p:sldId id="256" r:id="rId4"/>
    <p:sldId id="318" r:id="rId5"/>
    <p:sldId id="630" r:id="rId6"/>
    <p:sldId id="326" r:id="rId7"/>
    <p:sldId id="264" r:id="rId8"/>
    <p:sldId id="271" r:id="rId9"/>
    <p:sldId id="309" r:id="rId10"/>
    <p:sldId id="260" r:id="rId11"/>
    <p:sldId id="310" r:id="rId12"/>
    <p:sldId id="272" r:id="rId13"/>
    <p:sldId id="273" r:id="rId14"/>
    <p:sldId id="261" r:id="rId15"/>
    <p:sldId id="276" r:id="rId16"/>
    <p:sldId id="274" r:id="rId17"/>
    <p:sldId id="277" r:id="rId18"/>
    <p:sldId id="316" r:id="rId19"/>
    <p:sldId id="63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F69CDF-00F8-41DC-8D0B-BB2CC9253E81}" v="459" dt="2026-09-21T23:40:40.3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varScale="1">
        <p:scale>
          <a:sx n="70" d="100"/>
          <a:sy n="70" d="100"/>
        </p:scale>
        <p:origin x="536" y="5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uskett, Harve A" userId="213d60ac-aef1-4d38-a1a1-cc3530dfbff5" providerId="ADAL" clId="{46A6D219-DC58-45E8-8D58-021ACE409CDA}"/>
    <pc:docChg chg="delSld">
      <pc:chgData name="Truskett, Harve A" userId="213d60ac-aef1-4d38-a1a1-cc3530dfbff5" providerId="ADAL" clId="{46A6D219-DC58-45E8-8D58-021ACE409CDA}" dt="2026-09-22T23:40:38.052" v="1" actId="47"/>
      <pc:docMkLst>
        <pc:docMk/>
      </pc:docMkLst>
      <pc:sldChg chg="del">
        <pc:chgData name="Truskett, Harve A" userId="213d60ac-aef1-4d38-a1a1-cc3530dfbff5" providerId="ADAL" clId="{46A6D219-DC58-45E8-8D58-021ACE409CDA}" dt="2026-09-22T23:39:21.236" v="0" actId="2696"/>
        <pc:sldMkLst>
          <pc:docMk/>
          <pc:sldMk cId="2877542724" sldId="312"/>
        </pc:sldMkLst>
      </pc:sldChg>
      <pc:sldChg chg="del">
        <pc:chgData name="Truskett, Harve A" userId="213d60ac-aef1-4d38-a1a1-cc3530dfbff5" providerId="ADAL" clId="{46A6D219-DC58-45E8-8D58-021ACE409CDA}" dt="2026-09-22T23:39:21.236" v="0" actId="2696"/>
        <pc:sldMkLst>
          <pc:docMk/>
          <pc:sldMk cId="798014735" sldId="313"/>
        </pc:sldMkLst>
      </pc:sldChg>
      <pc:sldChg chg="del">
        <pc:chgData name="Truskett, Harve A" userId="213d60ac-aef1-4d38-a1a1-cc3530dfbff5" providerId="ADAL" clId="{46A6D219-DC58-45E8-8D58-021ACE409CDA}" dt="2026-09-22T23:39:21.236" v="0" actId="2696"/>
        <pc:sldMkLst>
          <pc:docMk/>
          <pc:sldMk cId="3791152020" sldId="314"/>
        </pc:sldMkLst>
      </pc:sldChg>
      <pc:sldChg chg="del">
        <pc:chgData name="Truskett, Harve A" userId="213d60ac-aef1-4d38-a1a1-cc3530dfbff5" providerId="ADAL" clId="{46A6D219-DC58-45E8-8D58-021ACE409CDA}" dt="2026-09-22T23:39:21.236" v="0" actId="2696"/>
        <pc:sldMkLst>
          <pc:docMk/>
          <pc:sldMk cId="4088151266" sldId="315"/>
        </pc:sldMkLst>
      </pc:sldChg>
      <pc:sldChg chg="del">
        <pc:chgData name="Truskett, Harve A" userId="213d60ac-aef1-4d38-a1a1-cc3530dfbff5" providerId="ADAL" clId="{46A6D219-DC58-45E8-8D58-021ACE409CDA}" dt="2026-09-22T23:39:21.236" v="0" actId="2696"/>
        <pc:sldMkLst>
          <pc:docMk/>
          <pc:sldMk cId="3101915306" sldId="327"/>
        </pc:sldMkLst>
      </pc:sldChg>
      <pc:sldChg chg="del">
        <pc:chgData name="Truskett, Harve A" userId="213d60ac-aef1-4d38-a1a1-cc3530dfbff5" providerId="ADAL" clId="{46A6D219-DC58-45E8-8D58-021ACE409CDA}" dt="2026-09-22T23:40:38.052" v="1" actId="47"/>
        <pc:sldMkLst>
          <pc:docMk/>
          <pc:sldMk cId="2285709343" sldId="328"/>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2">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9A5471-0C15-474C-A8A7-5489AB791C19}" type="doc">
      <dgm:prSet loTypeId="urn:microsoft.com/office/officeart/2018/2/layout/IconVerticalSolidList" loCatId="icon" qsTypeId="urn:microsoft.com/office/officeart/2005/8/quickstyle/simple1#1" qsCatId="simple" csTypeId="urn:microsoft.com/office/officeart/2018/5/colors/Iconchunking_neutralbg_colorful1" csCatId="colorful" phldr="1"/>
      <dgm:spPr/>
      <dgm:t>
        <a:bodyPr/>
        <a:lstStyle/>
        <a:p>
          <a:endParaRPr lang="en-US"/>
        </a:p>
      </dgm:t>
    </dgm:pt>
    <dgm:pt modelId="{D309CDE3-6943-4D00-9C5F-9A73ED30812E}">
      <dgm:prSet/>
      <dgm:spPr/>
      <dgm:t>
        <a:bodyPr/>
        <a:lstStyle/>
        <a:p>
          <a:r>
            <a:rPr lang="en-US" b="0" i="0"/>
            <a:t>Hierarchy of Authority and Court Systems</a:t>
          </a:r>
          <a:endParaRPr lang="en-US"/>
        </a:p>
      </dgm:t>
    </dgm:pt>
    <dgm:pt modelId="{8E2445EA-2776-478C-B8A3-BD359B93DA64}" type="parTrans" cxnId="{5182E443-6343-4E04-B96A-25CD7716D82E}">
      <dgm:prSet/>
      <dgm:spPr/>
      <dgm:t>
        <a:bodyPr/>
        <a:lstStyle/>
        <a:p>
          <a:endParaRPr lang="en-US"/>
        </a:p>
      </dgm:t>
    </dgm:pt>
    <dgm:pt modelId="{71286BD4-0B80-43B4-92E3-FD2E40300BA7}" type="sibTrans" cxnId="{5182E443-6343-4E04-B96A-25CD7716D82E}">
      <dgm:prSet/>
      <dgm:spPr/>
      <dgm:t>
        <a:bodyPr/>
        <a:lstStyle/>
        <a:p>
          <a:endParaRPr lang="en-US"/>
        </a:p>
      </dgm:t>
    </dgm:pt>
    <dgm:pt modelId="{7E911D00-041C-4750-B88D-A98E2B1D7ABF}">
      <dgm:prSet/>
      <dgm:spPr/>
      <dgm:t>
        <a:bodyPr/>
        <a:lstStyle/>
        <a:p>
          <a:r>
            <a:rPr lang="en-US" b="0" i="0"/>
            <a:t>Four Part Legal Research Process </a:t>
          </a:r>
          <a:endParaRPr lang="en-US"/>
        </a:p>
      </dgm:t>
    </dgm:pt>
    <dgm:pt modelId="{EE907DFC-49C7-4B5C-B3DD-59EC8F4D7236}" type="parTrans" cxnId="{C634AB60-A96A-45FA-8245-BCBC7A18CE87}">
      <dgm:prSet/>
      <dgm:spPr/>
      <dgm:t>
        <a:bodyPr/>
        <a:lstStyle/>
        <a:p>
          <a:endParaRPr lang="en-US"/>
        </a:p>
      </dgm:t>
    </dgm:pt>
    <dgm:pt modelId="{A54DE13D-E45F-444E-BF6D-4C8D54B3A091}" type="sibTrans" cxnId="{C634AB60-A96A-45FA-8245-BCBC7A18CE87}">
      <dgm:prSet/>
      <dgm:spPr/>
      <dgm:t>
        <a:bodyPr/>
        <a:lstStyle/>
        <a:p>
          <a:endParaRPr lang="en-US"/>
        </a:p>
      </dgm:t>
    </dgm:pt>
    <dgm:pt modelId="{B93F5DBE-BAF6-4A65-B813-D28CB92E2E81}">
      <dgm:prSet/>
      <dgm:spPr/>
      <dgm:t>
        <a:bodyPr/>
        <a:lstStyle/>
        <a:p>
          <a:r>
            <a:rPr lang="en-US" b="0" i="0"/>
            <a:t>Introduction to Legal Research Databases</a:t>
          </a:r>
          <a:endParaRPr lang="en-US"/>
        </a:p>
      </dgm:t>
    </dgm:pt>
    <dgm:pt modelId="{564DE367-29B4-43EF-8E9A-6E58D2C6FD9B}" type="parTrans" cxnId="{79A9345F-A1F3-4803-ABD3-3446FF2CAD2D}">
      <dgm:prSet/>
      <dgm:spPr/>
      <dgm:t>
        <a:bodyPr/>
        <a:lstStyle/>
        <a:p>
          <a:endParaRPr lang="en-US"/>
        </a:p>
      </dgm:t>
    </dgm:pt>
    <dgm:pt modelId="{EB9875EB-312A-4770-8B1B-45346A0F4CC0}" type="sibTrans" cxnId="{79A9345F-A1F3-4803-ABD3-3446FF2CAD2D}">
      <dgm:prSet/>
      <dgm:spPr/>
      <dgm:t>
        <a:bodyPr/>
        <a:lstStyle/>
        <a:p>
          <a:endParaRPr lang="en-US"/>
        </a:p>
      </dgm:t>
    </dgm:pt>
    <dgm:pt modelId="{B5621B7C-CA38-443D-BB68-7EE4D17BBF22}" type="pres">
      <dgm:prSet presAssocID="{BF9A5471-0C15-474C-A8A7-5489AB791C19}" presName="root" presStyleCnt="0">
        <dgm:presLayoutVars>
          <dgm:dir/>
          <dgm:resizeHandles val="exact"/>
        </dgm:presLayoutVars>
      </dgm:prSet>
      <dgm:spPr/>
    </dgm:pt>
    <dgm:pt modelId="{E1146697-BA71-4C8D-B6F0-F19FE9EB44B9}" type="pres">
      <dgm:prSet presAssocID="{D309CDE3-6943-4D00-9C5F-9A73ED30812E}" presName="compNode" presStyleCnt="0"/>
      <dgm:spPr/>
    </dgm:pt>
    <dgm:pt modelId="{4DD1DAD6-1E87-480F-8B7D-903025FB787D}" type="pres">
      <dgm:prSet presAssocID="{D309CDE3-6943-4D00-9C5F-9A73ED30812E}" presName="bgRect" presStyleLbl="bgShp" presStyleIdx="0" presStyleCnt="3"/>
      <dgm:spPr/>
    </dgm:pt>
    <dgm:pt modelId="{BB706FA7-344B-4478-A2DF-DF8DC016F4B0}" type="pres">
      <dgm:prSet presAssocID="{D309CDE3-6943-4D00-9C5F-9A73ED30812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ierarchy"/>
        </a:ext>
      </dgm:extLst>
    </dgm:pt>
    <dgm:pt modelId="{04AEACAD-BA17-4B00-AEB2-669705EFE7EF}" type="pres">
      <dgm:prSet presAssocID="{D309CDE3-6943-4D00-9C5F-9A73ED30812E}" presName="spaceRect" presStyleCnt="0"/>
      <dgm:spPr/>
    </dgm:pt>
    <dgm:pt modelId="{37B706C1-75E9-4067-85FF-8F19B975B472}" type="pres">
      <dgm:prSet presAssocID="{D309CDE3-6943-4D00-9C5F-9A73ED30812E}" presName="parTx" presStyleLbl="revTx" presStyleIdx="0" presStyleCnt="3">
        <dgm:presLayoutVars>
          <dgm:chMax val="0"/>
          <dgm:chPref val="0"/>
        </dgm:presLayoutVars>
      </dgm:prSet>
      <dgm:spPr/>
    </dgm:pt>
    <dgm:pt modelId="{2A139CF3-8937-4E87-8447-5E6C5E97CC16}" type="pres">
      <dgm:prSet presAssocID="{71286BD4-0B80-43B4-92E3-FD2E40300BA7}" presName="sibTrans" presStyleCnt="0"/>
      <dgm:spPr/>
    </dgm:pt>
    <dgm:pt modelId="{C037EF6B-CD70-449C-94BA-CB72ACCAD9DF}" type="pres">
      <dgm:prSet presAssocID="{7E911D00-041C-4750-B88D-A98E2B1D7ABF}" presName="compNode" presStyleCnt="0"/>
      <dgm:spPr/>
    </dgm:pt>
    <dgm:pt modelId="{0C47BBB0-EE82-4732-8358-0C0AB516C6D2}" type="pres">
      <dgm:prSet presAssocID="{7E911D00-041C-4750-B88D-A98E2B1D7ABF}" presName="bgRect" presStyleLbl="bgShp" presStyleIdx="1" presStyleCnt="3"/>
      <dgm:spPr/>
    </dgm:pt>
    <dgm:pt modelId="{E3C236E1-7049-4D95-BCA0-B1C49D9FD572}" type="pres">
      <dgm:prSet presAssocID="{7E911D00-041C-4750-B88D-A98E2B1D7AB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BB3EC10C-1EB4-4B50-95FF-3F35AB72493F}" type="pres">
      <dgm:prSet presAssocID="{7E911D00-041C-4750-B88D-A98E2B1D7ABF}" presName="spaceRect" presStyleCnt="0"/>
      <dgm:spPr/>
    </dgm:pt>
    <dgm:pt modelId="{189B4104-C6E9-41C1-84FA-ED95B3C5C8CC}" type="pres">
      <dgm:prSet presAssocID="{7E911D00-041C-4750-B88D-A98E2B1D7ABF}" presName="parTx" presStyleLbl="revTx" presStyleIdx="1" presStyleCnt="3">
        <dgm:presLayoutVars>
          <dgm:chMax val="0"/>
          <dgm:chPref val="0"/>
        </dgm:presLayoutVars>
      </dgm:prSet>
      <dgm:spPr/>
    </dgm:pt>
    <dgm:pt modelId="{46CB6B84-F821-4153-A4CE-86827A846F4E}" type="pres">
      <dgm:prSet presAssocID="{A54DE13D-E45F-444E-BF6D-4C8D54B3A091}" presName="sibTrans" presStyleCnt="0"/>
      <dgm:spPr/>
    </dgm:pt>
    <dgm:pt modelId="{3FC61EFA-2508-4ADF-8A01-C812C5DE244F}" type="pres">
      <dgm:prSet presAssocID="{B93F5DBE-BAF6-4A65-B813-D28CB92E2E81}" presName="compNode" presStyleCnt="0"/>
      <dgm:spPr/>
    </dgm:pt>
    <dgm:pt modelId="{98F72757-97FD-4F54-9177-327F07E0DB29}" type="pres">
      <dgm:prSet presAssocID="{B93F5DBE-BAF6-4A65-B813-D28CB92E2E81}" presName="bgRect" presStyleLbl="bgShp" presStyleIdx="2" presStyleCnt="3"/>
      <dgm:spPr/>
    </dgm:pt>
    <dgm:pt modelId="{E1C74D0D-1D6D-4202-9D88-DE1945AD299D}" type="pres">
      <dgm:prSet presAssocID="{B93F5DBE-BAF6-4A65-B813-D28CB92E2E81}"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avel"/>
        </a:ext>
      </dgm:extLst>
    </dgm:pt>
    <dgm:pt modelId="{95BAC85B-667D-4052-BE0E-8AD0EA8B9F14}" type="pres">
      <dgm:prSet presAssocID="{B93F5DBE-BAF6-4A65-B813-D28CB92E2E81}" presName="spaceRect" presStyleCnt="0"/>
      <dgm:spPr/>
    </dgm:pt>
    <dgm:pt modelId="{ADBDEFFB-43BD-40A8-87B8-D7CD9AA5F14D}" type="pres">
      <dgm:prSet presAssocID="{B93F5DBE-BAF6-4A65-B813-D28CB92E2E81}" presName="parTx" presStyleLbl="revTx" presStyleIdx="2" presStyleCnt="3">
        <dgm:presLayoutVars>
          <dgm:chMax val="0"/>
          <dgm:chPref val="0"/>
        </dgm:presLayoutVars>
      </dgm:prSet>
      <dgm:spPr/>
    </dgm:pt>
  </dgm:ptLst>
  <dgm:cxnLst>
    <dgm:cxn modelId="{A2E8371D-704E-4EFF-9B35-35E369FD7071}" type="presOf" srcId="{D309CDE3-6943-4D00-9C5F-9A73ED30812E}" destId="{37B706C1-75E9-4067-85FF-8F19B975B472}" srcOrd="0" destOrd="0" presId="urn:microsoft.com/office/officeart/2018/2/layout/IconVerticalSolidList"/>
    <dgm:cxn modelId="{79A9345F-A1F3-4803-ABD3-3446FF2CAD2D}" srcId="{BF9A5471-0C15-474C-A8A7-5489AB791C19}" destId="{B93F5DBE-BAF6-4A65-B813-D28CB92E2E81}" srcOrd="2" destOrd="0" parTransId="{564DE367-29B4-43EF-8E9A-6E58D2C6FD9B}" sibTransId="{EB9875EB-312A-4770-8B1B-45346A0F4CC0}"/>
    <dgm:cxn modelId="{C634AB60-A96A-45FA-8245-BCBC7A18CE87}" srcId="{BF9A5471-0C15-474C-A8A7-5489AB791C19}" destId="{7E911D00-041C-4750-B88D-A98E2B1D7ABF}" srcOrd="1" destOrd="0" parTransId="{EE907DFC-49C7-4B5C-B3DD-59EC8F4D7236}" sibTransId="{A54DE13D-E45F-444E-BF6D-4C8D54B3A091}"/>
    <dgm:cxn modelId="{5182E443-6343-4E04-B96A-25CD7716D82E}" srcId="{BF9A5471-0C15-474C-A8A7-5489AB791C19}" destId="{D309CDE3-6943-4D00-9C5F-9A73ED30812E}" srcOrd="0" destOrd="0" parTransId="{8E2445EA-2776-478C-B8A3-BD359B93DA64}" sibTransId="{71286BD4-0B80-43B4-92E3-FD2E40300BA7}"/>
    <dgm:cxn modelId="{B80EE364-F709-4336-AEA5-E94BDCA934D1}" type="presOf" srcId="{BF9A5471-0C15-474C-A8A7-5489AB791C19}" destId="{B5621B7C-CA38-443D-BB68-7EE4D17BBF22}" srcOrd="0" destOrd="0" presId="urn:microsoft.com/office/officeart/2018/2/layout/IconVerticalSolidList"/>
    <dgm:cxn modelId="{9072205A-3BD5-4861-87D2-B7CABDD850EE}" type="presOf" srcId="{7E911D00-041C-4750-B88D-A98E2B1D7ABF}" destId="{189B4104-C6E9-41C1-84FA-ED95B3C5C8CC}" srcOrd="0" destOrd="0" presId="urn:microsoft.com/office/officeart/2018/2/layout/IconVerticalSolidList"/>
    <dgm:cxn modelId="{657E44EF-5CFC-4128-9573-2E7171419B0B}" type="presOf" srcId="{B93F5DBE-BAF6-4A65-B813-D28CB92E2E81}" destId="{ADBDEFFB-43BD-40A8-87B8-D7CD9AA5F14D}" srcOrd="0" destOrd="0" presId="urn:microsoft.com/office/officeart/2018/2/layout/IconVerticalSolidList"/>
    <dgm:cxn modelId="{EFA6C7C9-31F9-4576-9403-0601B7B5FDDD}" type="presParOf" srcId="{B5621B7C-CA38-443D-BB68-7EE4D17BBF22}" destId="{E1146697-BA71-4C8D-B6F0-F19FE9EB44B9}" srcOrd="0" destOrd="0" presId="urn:microsoft.com/office/officeart/2018/2/layout/IconVerticalSolidList"/>
    <dgm:cxn modelId="{40A18ECD-6C4B-4025-B147-36BD0471E462}" type="presParOf" srcId="{E1146697-BA71-4C8D-B6F0-F19FE9EB44B9}" destId="{4DD1DAD6-1E87-480F-8B7D-903025FB787D}" srcOrd="0" destOrd="0" presId="urn:microsoft.com/office/officeart/2018/2/layout/IconVerticalSolidList"/>
    <dgm:cxn modelId="{9D6CF3D3-4E06-4FA6-9758-0F0AE2D6219D}" type="presParOf" srcId="{E1146697-BA71-4C8D-B6F0-F19FE9EB44B9}" destId="{BB706FA7-344B-4478-A2DF-DF8DC016F4B0}" srcOrd="1" destOrd="0" presId="urn:microsoft.com/office/officeart/2018/2/layout/IconVerticalSolidList"/>
    <dgm:cxn modelId="{10A7B8B3-5E20-44FE-A205-0BBEAEFF6A09}" type="presParOf" srcId="{E1146697-BA71-4C8D-B6F0-F19FE9EB44B9}" destId="{04AEACAD-BA17-4B00-AEB2-669705EFE7EF}" srcOrd="2" destOrd="0" presId="urn:microsoft.com/office/officeart/2018/2/layout/IconVerticalSolidList"/>
    <dgm:cxn modelId="{EC2535E2-1464-4D98-A294-4DEF80E5747E}" type="presParOf" srcId="{E1146697-BA71-4C8D-B6F0-F19FE9EB44B9}" destId="{37B706C1-75E9-4067-85FF-8F19B975B472}" srcOrd="3" destOrd="0" presId="urn:microsoft.com/office/officeart/2018/2/layout/IconVerticalSolidList"/>
    <dgm:cxn modelId="{C5D1C165-EB1A-4103-82D1-E391E62F0C7C}" type="presParOf" srcId="{B5621B7C-CA38-443D-BB68-7EE4D17BBF22}" destId="{2A139CF3-8937-4E87-8447-5E6C5E97CC16}" srcOrd="1" destOrd="0" presId="urn:microsoft.com/office/officeart/2018/2/layout/IconVerticalSolidList"/>
    <dgm:cxn modelId="{77F88C83-3325-4193-9CC5-1BF988E12F40}" type="presParOf" srcId="{B5621B7C-CA38-443D-BB68-7EE4D17BBF22}" destId="{C037EF6B-CD70-449C-94BA-CB72ACCAD9DF}" srcOrd="2" destOrd="0" presId="urn:microsoft.com/office/officeart/2018/2/layout/IconVerticalSolidList"/>
    <dgm:cxn modelId="{C846367D-472D-4E8B-9DB9-122B3E3D2F41}" type="presParOf" srcId="{C037EF6B-CD70-449C-94BA-CB72ACCAD9DF}" destId="{0C47BBB0-EE82-4732-8358-0C0AB516C6D2}" srcOrd="0" destOrd="0" presId="urn:microsoft.com/office/officeart/2018/2/layout/IconVerticalSolidList"/>
    <dgm:cxn modelId="{2BADDC9A-0D0F-47D4-A7AA-5F800E43CB7A}" type="presParOf" srcId="{C037EF6B-CD70-449C-94BA-CB72ACCAD9DF}" destId="{E3C236E1-7049-4D95-BCA0-B1C49D9FD572}" srcOrd="1" destOrd="0" presId="urn:microsoft.com/office/officeart/2018/2/layout/IconVerticalSolidList"/>
    <dgm:cxn modelId="{467D7E80-4595-4AB6-BD04-195895549B1C}" type="presParOf" srcId="{C037EF6B-CD70-449C-94BA-CB72ACCAD9DF}" destId="{BB3EC10C-1EB4-4B50-95FF-3F35AB72493F}" srcOrd="2" destOrd="0" presId="urn:microsoft.com/office/officeart/2018/2/layout/IconVerticalSolidList"/>
    <dgm:cxn modelId="{1244D680-5017-4458-891F-3BAB334B57A6}" type="presParOf" srcId="{C037EF6B-CD70-449C-94BA-CB72ACCAD9DF}" destId="{189B4104-C6E9-41C1-84FA-ED95B3C5C8CC}" srcOrd="3" destOrd="0" presId="urn:microsoft.com/office/officeart/2018/2/layout/IconVerticalSolidList"/>
    <dgm:cxn modelId="{4EEB92CB-3268-40BC-AF5C-96339C51E681}" type="presParOf" srcId="{B5621B7C-CA38-443D-BB68-7EE4D17BBF22}" destId="{46CB6B84-F821-4153-A4CE-86827A846F4E}" srcOrd="3" destOrd="0" presId="urn:microsoft.com/office/officeart/2018/2/layout/IconVerticalSolidList"/>
    <dgm:cxn modelId="{D1EF5338-DCA3-4D7B-871B-23D08283DC77}" type="presParOf" srcId="{B5621B7C-CA38-443D-BB68-7EE4D17BBF22}" destId="{3FC61EFA-2508-4ADF-8A01-C812C5DE244F}" srcOrd="4" destOrd="0" presId="urn:microsoft.com/office/officeart/2018/2/layout/IconVerticalSolidList"/>
    <dgm:cxn modelId="{D9A32C99-A8A7-45DB-910F-3693DBE8F161}" type="presParOf" srcId="{3FC61EFA-2508-4ADF-8A01-C812C5DE244F}" destId="{98F72757-97FD-4F54-9177-327F07E0DB29}" srcOrd="0" destOrd="0" presId="urn:microsoft.com/office/officeart/2018/2/layout/IconVerticalSolidList"/>
    <dgm:cxn modelId="{262C56A1-DD80-4F4F-A295-AF6B142835C6}" type="presParOf" srcId="{3FC61EFA-2508-4ADF-8A01-C812C5DE244F}" destId="{E1C74D0D-1D6D-4202-9D88-DE1945AD299D}" srcOrd="1" destOrd="0" presId="urn:microsoft.com/office/officeart/2018/2/layout/IconVerticalSolidList"/>
    <dgm:cxn modelId="{1D92BA8F-AB70-4FC9-845F-E5079C8C37FF}" type="presParOf" srcId="{3FC61EFA-2508-4ADF-8A01-C812C5DE244F}" destId="{95BAC85B-667D-4052-BE0E-8AD0EA8B9F14}" srcOrd="2" destOrd="0" presId="urn:microsoft.com/office/officeart/2018/2/layout/IconVerticalSolidList"/>
    <dgm:cxn modelId="{CF246B11-1EAC-4566-B28A-62C76E97EA7B}" type="presParOf" srcId="{3FC61EFA-2508-4ADF-8A01-C812C5DE244F}" destId="{ADBDEFFB-43BD-40A8-87B8-D7CD9AA5F14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F391EE-A2C3-4F34-AC2A-E244A71CF80D}" type="doc">
      <dgm:prSet loTypeId="urn:microsoft.com/office/officeart/2005/8/layout/pyramid1" loCatId="pyramid" qsTypeId="urn:microsoft.com/office/officeart/2005/8/quickstyle/simple1#2" qsCatId="simple" csTypeId="urn:microsoft.com/office/officeart/2005/8/colors/colorful3#1" csCatId="colorful" phldr="1"/>
      <dgm:spPr/>
    </dgm:pt>
    <dgm:pt modelId="{1B06AA2D-7268-4801-B6C4-2487E7A9EF64}">
      <dgm:prSet phldrT="[Text]" custT="1"/>
      <dgm:spPr/>
      <dgm:t>
        <a:bodyPr/>
        <a:lstStyle/>
        <a:p>
          <a:endParaRPr lang="en-US" sz="1600" dirty="0"/>
        </a:p>
        <a:p>
          <a:endParaRPr lang="en-US" sz="1600" dirty="0"/>
        </a:p>
        <a:p>
          <a:endParaRPr lang="en-US" sz="2000" dirty="0"/>
        </a:p>
        <a:p>
          <a:r>
            <a:rPr lang="en-US" sz="2200" b="1" dirty="0"/>
            <a:t>Constitutions</a:t>
          </a:r>
        </a:p>
      </dgm:t>
    </dgm:pt>
    <dgm:pt modelId="{5A59C6F3-79C2-456A-A759-2AAEB6604754}" type="parTrans" cxnId="{478A3C76-F491-45DE-B619-37B690F7F8C1}">
      <dgm:prSet/>
      <dgm:spPr/>
      <dgm:t>
        <a:bodyPr/>
        <a:lstStyle/>
        <a:p>
          <a:endParaRPr lang="en-US"/>
        </a:p>
      </dgm:t>
    </dgm:pt>
    <dgm:pt modelId="{F033D138-AA42-44D6-896A-11769EAC79F6}" type="sibTrans" cxnId="{478A3C76-F491-45DE-B619-37B690F7F8C1}">
      <dgm:prSet/>
      <dgm:spPr/>
      <dgm:t>
        <a:bodyPr/>
        <a:lstStyle/>
        <a:p>
          <a:endParaRPr lang="en-US"/>
        </a:p>
      </dgm:t>
    </dgm:pt>
    <dgm:pt modelId="{97709EFC-7C86-4E57-BEED-1604C5A8690B}">
      <dgm:prSet phldrT="[Text]"/>
      <dgm:spPr/>
      <dgm:t>
        <a:bodyPr/>
        <a:lstStyle/>
        <a:p>
          <a:endParaRPr lang="en-US" dirty="0"/>
        </a:p>
        <a:p>
          <a:endParaRPr lang="en-US" dirty="0"/>
        </a:p>
        <a:p>
          <a:r>
            <a:rPr lang="en-US" b="1" dirty="0"/>
            <a:t>Statutes/Regulations</a:t>
          </a:r>
        </a:p>
      </dgm:t>
    </dgm:pt>
    <dgm:pt modelId="{2532F0D7-686E-446B-ADAB-007240FE956F}" type="parTrans" cxnId="{403C7B1E-4EFA-4B44-8B11-DE70682C4D26}">
      <dgm:prSet/>
      <dgm:spPr/>
      <dgm:t>
        <a:bodyPr/>
        <a:lstStyle/>
        <a:p>
          <a:endParaRPr lang="en-US"/>
        </a:p>
      </dgm:t>
    </dgm:pt>
    <dgm:pt modelId="{71B6B51A-D122-4DD5-AE5B-D3DA916D5D61}" type="sibTrans" cxnId="{403C7B1E-4EFA-4B44-8B11-DE70682C4D26}">
      <dgm:prSet/>
      <dgm:spPr/>
      <dgm:t>
        <a:bodyPr/>
        <a:lstStyle/>
        <a:p>
          <a:endParaRPr lang="en-US"/>
        </a:p>
      </dgm:t>
    </dgm:pt>
    <dgm:pt modelId="{150FA4C6-02F6-4AF9-B32E-13395BBE54D7}">
      <dgm:prSet phldrT="[Text]" custT="1"/>
      <dgm:spPr/>
      <dgm:t>
        <a:bodyPr/>
        <a:lstStyle/>
        <a:p>
          <a:endParaRPr lang="en-US" sz="2700" dirty="0"/>
        </a:p>
        <a:p>
          <a:endParaRPr lang="en-US" sz="2700" dirty="0"/>
        </a:p>
        <a:p>
          <a:r>
            <a:rPr lang="en-US" sz="3000" b="1" dirty="0"/>
            <a:t>Case Law</a:t>
          </a:r>
        </a:p>
      </dgm:t>
    </dgm:pt>
    <dgm:pt modelId="{A229C616-03C4-49C2-9722-49E6C16A6FDF}" type="parTrans" cxnId="{6FBDCAEA-ED11-4975-A959-5DC91118E6F2}">
      <dgm:prSet/>
      <dgm:spPr/>
      <dgm:t>
        <a:bodyPr/>
        <a:lstStyle/>
        <a:p>
          <a:endParaRPr lang="en-US"/>
        </a:p>
      </dgm:t>
    </dgm:pt>
    <dgm:pt modelId="{F32FD575-FB73-4710-8C40-2CE4823701AC}" type="sibTrans" cxnId="{6FBDCAEA-ED11-4975-A959-5DC91118E6F2}">
      <dgm:prSet/>
      <dgm:spPr/>
      <dgm:t>
        <a:bodyPr/>
        <a:lstStyle/>
        <a:p>
          <a:endParaRPr lang="en-US"/>
        </a:p>
      </dgm:t>
    </dgm:pt>
    <dgm:pt modelId="{20379BDC-1C1C-4EBD-BB61-04D99DA83472}" type="pres">
      <dgm:prSet presAssocID="{D2F391EE-A2C3-4F34-AC2A-E244A71CF80D}" presName="Name0" presStyleCnt="0">
        <dgm:presLayoutVars>
          <dgm:dir/>
          <dgm:animLvl val="lvl"/>
          <dgm:resizeHandles val="exact"/>
        </dgm:presLayoutVars>
      </dgm:prSet>
      <dgm:spPr/>
    </dgm:pt>
    <dgm:pt modelId="{6A2F9B9C-3BFA-43FE-AA16-616EADFE6A29}" type="pres">
      <dgm:prSet presAssocID="{1B06AA2D-7268-4801-B6C4-2487E7A9EF64}" presName="Name8" presStyleCnt="0"/>
      <dgm:spPr/>
    </dgm:pt>
    <dgm:pt modelId="{318261FC-6B69-4EF7-8856-E9D7F5A778CE}" type="pres">
      <dgm:prSet presAssocID="{1B06AA2D-7268-4801-B6C4-2487E7A9EF64}" presName="level" presStyleLbl="node1" presStyleIdx="0" presStyleCnt="3">
        <dgm:presLayoutVars>
          <dgm:chMax val="1"/>
          <dgm:bulletEnabled val="1"/>
        </dgm:presLayoutVars>
      </dgm:prSet>
      <dgm:spPr/>
    </dgm:pt>
    <dgm:pt modelId="{90ABEBD9-EF9E-4732-9A1C-E8AE21EEAC33}" type="pres">
      <dgm:prSet presAssocID="{1B06AA2D-7268-4801-B6C4-2487E7A9EF64}" presName="levelTx" presStyleLbl="revTx" presStyleIdx="0" presStyleCnt="0">
        <dgm:presLayoutVars>
          <dgm:chMax val="1"/>
          <dgm:bulletEnabled val="1"/>
        </dgm:presLayoutVars>
      </dgm:prSet>
      <dgm:spPr/>
    </dgm:pt>
    <dgm:pt modelId="{B1DD9F86-BFAE-4E50-A7AB-8E94E336D4D2}" type="pres">
      <dgm:prSet presAssocID="{97709EFC-7C86-4E57-BEED-1604C5A8690B}" presName="Name8" presStyleCnt="0"/>
      <dgm:spPr/>
    </dgm:pt>
    <dgm:pt modelId="{1746C7EE-4FBB-43C0-9205-3965718EF6A0}" type="pres">
      <dgm:prSet presAssocID="{97709EFC-7C86-4E57-BEED-1604C5A8690B}" presName="level" presStyleLbl="node1" presStyleIdx="1" presStyleCnt="3">
        <dgm:presLayoutVars>
          <dgm:chMax val="1"/>
          <dgm:bulletEnabled val="1"/>
        </dgm:presLayoutVars>
      </dgm:prSet>
      <dgm:spPr/>
    </dgm:pt>
    <dgm:pt modelId="{082E6537-18DA-47B9-8ED6-93984BAC535E}" type="pres">
      <dgm:prSet presAssocID="{97709EFC-7C86-4E57-BEED-1604C5A8690B}" presName="levelTx" presStyleLbl="revTx" presStyleIdx="0" presStyleCnt="0">
        <dgm:presLayoutVars>
          <dgm:chMax val="1"/>
          <dgm:bulletEnabled val="1"/>
        </dgm:presLayoutVars>
      </dgm:prSet>
      <dgm:spPr/>
    </dgm:pt>
    <dgm:pt modelId="{8E2D9280-A4B6-401E-A6AB-CF1101026079}" type="pres">
      <dgm:prSet presAssocID="{150FA4C6-02F6-4AF9-B32E-13395BBE54D7}" presName="Name8" presStyleCnt="0"/>
      <dgm:spPr/>
    </dgm:pt>
    <dgm:pt modelId="{DCD51A45-E6CB-4BFF-9AFA-62B3F650394F}" type="pres">
      <dgm:prSet presAssocID="{150FA4C6-02F6-4AF9-B32E-13395BBE54D7}" presName="level" presStyleLbl="node1" presStyleIdx="2" presStyleCnt="3" custLinFactNeighborX="-463" custLinFactNeighborY="7085">
        <dgm:presLayoutVars>
          <dgm:chMax val="1"/>
          <dgm:bulletEnabled val="1"/>
        </dgm:presLayoutVars>
      </dgm:prSet>
      <dgm:spPr/>
    </dgm:pt>
    <dgm:pt modelId="{F969DBFF-AEB8-4F6D-8EE3-31D94C024AD7}" type="pres">
      <dgm:prSet presAssocID="{150FA4C6-02F6-4AF9-B32E-13395BBE54D7}" presName="levelTx" presStyleLbl="revTx" presStyleIdx="0" presStyleCnt="0">
        <dgm:presLayoutVars>
          <dgm:chMax val="1"/>
          <dgm:bulletEnabled val="1"/>
        </dgm:presLayoutVars>
      </dgm:prSet>
      <dgm:spPr/>
    </dgm:pt>
  </dgm:ptLst>
  <dgm:cxnLst>
    <dgm:cxn modelId="{2FEB0F0A-C5B4-4793-96A6-3BFBE161FFEF}" type="presOf" srcId="{97709EFC-7C86-4E57-BEED-1604C5A8690B}" destId="{082E6537-18DA-47B9-8ED6-93984BAC535E}" srcOrd="1" destOrd="0" presId="urn:microsoft.com/office/officeart/2005/8/layout/pyramid1"/>
    <dgm:cxn modelId="{14E71F14-9BFC-4E0D-997C-9300FD57F372}" type="presOf" srcId="{1B06AA2D-7268-4801-B6C4-2487E7A9EF64}" destId="{318261FC-6B69-4EF7-8856-E9D7F5A778CE}" srcOrd="0" destOrd="0" presId="urn:microsoft.com/office/officeart/2005/8/layout/pyramid1"/>
    <dgm:cxn modelId="{403C7B1E-4EFA-4B44-8B11-DE70682C4D26}" srcId="{D2F391EE-A2C3-4F34-AC2A-E244A71CF80D}" destId="{97709EFC-7C86-4E57-BEED-1604C5A8690B}" srcOrd="1" destOrd="0" parTransId="{2532F0D7-686E-446B-ADAB-007240FE956F}" sibTransId="{71B6B51A-D122-4DD5-AE5B-D3DA916D5D61}"/>
    <dgm:cxn modelId="{478A3C76-F491-45DE-B619-37B690F7F8C1}" srcId="{D2F391EE-A2C3-4F34-AC2A-E244A71CF80D}" destId="{1B06AA2D-7268-4801-B6C4-2487E7A9EF64}" srcOrd="0" destOrd="0" parTransId="{5A59C6F3-79C2-456A-A759-2AAEB6604754}" sibTransId="{F033D138-AA42-44D6-896A-11769EAC79F6}"/>
    <dgm:cxn modelId="{23E7197C-EF2D-48D6-8305-983C9D6772A6}" type="presOf" srcId="{150FA4C6-02F6-4AF9-B32E-13395BBE54D7}" destId="{DCD51A45-E6CB-4BFF-9AFA-62B3F650394F}" srcOrd="0" destOrd="0" presId="urn:microsoft.com/office/officeart/2005/8/layout/pyramid1"/>
    <dgm:cxn modelId="{6DFC2195-69A5-4272-8252-51BFE75E6938}" type="presOf" srcId="{97709EFC-7C86-4E57-BEED-1604C5A8690B}" destId="{1746C7EE-4FBB-43C0-9205-3965718EF6A0}" srcOrd="0" destOrd="0" presId="urn:microsoft.com/office/officeart/2005/8/layout/pyramid1"/>
    <dgm:cxn modelId="{C9DAA1CB-CAB2-4B74-AD5C-812467E6771F}" type="presOf" srcId="{D2F391EE-A2C3-4F34-AC2A-E244A71CF80D}" destId="{20379BDC-1C1C-4EBD-BB61-04D99DA83472}" srcOrd="0" destOrd="0" presId="urn:microsoft.com/office/officeart/2005/8/layout/pyramid1"/>
    <dgm:cxn modelId="{1AC333E9-AFD8-4552-8279-CB0720ECA302}" type="presOf" srcId="{150FA4C6-02F6-4AF9-B32E-13395BBE54D7}" destId="{F969DBFF-AEB8-4F6D-8EE3-31D94C024AD7}" srcOrd="1" destOrd="0" presId="urn:microsoft.com/office/officeart/2005/8/layout/pyramid1"/>
    <dgm:cxn modelId="{6FBDCAEA-ED11-4975-A959-5DC91118E6F2}" srcId="{D2F391EE-A2C3-4F34-AC2A-E244A71CF80D}" destId="{150FA4C6-02F6-4AF9-B32E-13395BBE54D7}" srcOrd="2" destOrd="0" parTransId="{A229C616-03C4-49C2-9722-49E6C16A6FDF}" sibTransId="{F32FD575-FB73-4710-8C40-2CE4823701AC}"/>
    <dgm:cxn modelId="{B85E8DF2-9C7D-4663-A274-333916F8612F}" type="presOf" srcId="{1B06AA2D-7268-4801-B6C4-2487E7A9EF64}" destId="{90ABEBD9-EF9E-4732-9A1C-E8AE21EEAC33}" srcOrd="1" destOrd="0" presId="urn:microsoft.com/office/officeart/2005/8/layout/pyramid1"/>
    <dgm:cxn modelId="{F0F9FDDE-7919-46B4-A640-5A0BDD0B809E}" type="presParOf" srcId="{20379BDC-1C1C-4EBD-BB61-04D99DA83472}" destId="{6A2F9B9C-3BFA-43FE-AA16-616EADFE6A29}" srcOrd="0" destOrd="0" presId="urn:microsoft.com/office/officeart/2005/8/layout/pyramid1"/>
    <dgm:cxn modelId="{BFC83703-7502-44B2-9EC7-796B83BBE0F5}" type="presParOf" srcId="{6A2F9B9C-3BFA-43FE-AA16-616EADFE6A29}" destId="{318261FC-6B69-4EF7-8856-E9D7F5A778CE}" srcOrd="0" destOrd="0" presId="urn:microsoft.com/office/officeart/2005/8/layout/pyramid1"/>
    <dgm:cxn modelId="{E70388E2-C401-4AB4-9A3B-9E28A8C32ABA}" type="presParOf" srcId="{6A2F9B9C-3BFA-43FE-AA16-616EADFE6A29}" destId="{90ABEBD9-EF9E-4732-9A1C-E8AE21EEAC33}" srcOrd="1" destOrd="0" presId="urn:microsoft.com/office/officeart/2005/8/layout/pyramid1"/>
    <dgm:cxn modelId="{DF9B5EA0-68AD-441A-A25F-CC65593F7634}" type="presParOf" srcId="{20379BDC-1C1C-4EBD-BB61-04D99DA83472}" destId="{B1DD9F86-BFAE-4E50-A7AB-8E94E336D4D2}" srcOrd="1" destOrd="0" presId="urn:microsoft.com/office/officeart/2005/8/layout/pyramid1"/>
    <dgm:cxn modelId="{AA337A29-C84B-4B8D-8472-452E8795ECB6}" type="presParOf" srcId="{B1DD9F86-BFAE-4E50-A7AB-8E94E336D4D2}" destId="{1746C7EE-4FBB-43C0-9205-3965718EF6A0}" srcOrd="0" destOrd="0" presId="urn:microsoft.com/office/officeart/2005/8/layout/pyramid1"/>
    <dgm:cxn modelId="{E134AD0C-6A3A-4BB2-80BD-6AFEDD740D50}" type="presParOf" srcId="{B1DD9F86-BFAE-4E50-A7AB-8E94E336D4D2}" destId="{082E6537-18DA-47B9-8ED6-93984BAC535E}" srcOrd="1" destOrd="0" presId="urn:microsoft.com/office/officeart/2005/8/layout/pyramid1"/>
    <dgm:cxn modelId="{71F614CD-15AD-4708-9858-D9C2FB24B78D}" type="presParOf" srcId="{20379BDC-1C1C-4EBD-BB61-04D99DA83472}" destId="{8E2D9280-A4B6-401E-A6AB-CF1101026079}" srcOrd="2" destOrd="0" presId="urn:microsoft.com/office/officeart/2005/8/layout/pyramid1"/>
    <dgm:cxn modelId="{C3F8650C-111D-4B7B-A268-F19B0051AF53}" type="presParOf" srcId="{8E2D9280-A4B6-401E-A6AB-CF1101026079}" destId="{DCD51A45-E6CB-4BFF-9AFA-62B3F650394F}" srcOrd="0" destOrd="0" presId="urn:microsoft.com/office/officeart/2005/8/layout/pyramid1"/>
    <dgm:cxn modelId="{BD77D96E-AF1A-4FC2-93E5-7557C92A7384}" type="presParOf" srcId="{8E2D9280-A4B6-401E-A6AB-CF1101026079}" destId="{F969DBFF-AEB8-4F6D-8EE3-31D94C024AD7}"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2F391EE-A2C3-4F34-AC2A-E244A71CF80D}" type="doc">
      <dgm:prSet loTypeId="urn:microsoft.com/office/officeart/2005/8/layout/pyramid1" loCatId="pyramid" qsTypeId="urn:microsoft.com/office/officeart/2005/8/quickstyle/simple1#3" qsCatId="simple" csTypeId="urn:microsoft.com/office/officeart/2005/8/colors/colorful3#2" csCatId="colorful" phldr="1"/>
      <dgm:spPr/>
    </dgm:pt>
    <dgm:pt modelId="{1B06AA2D-7268-4801-B6C4-2487E7A9EF64}">
      <dgm:prSet phldrT="[Text]" custT="1"/>
      <dgm:spPr/>
      <dgm:t>
        <a:bodyPr/>
        <a:lstStyle/>
        <a:p>
          <a:endParaRPr lang="en-US" sz="1600" dirty="0"/>
        </a:p>
        <a:p>
          <a:endParaRPr lang="en-US" sz="1600" dirty="0"/>
        </a:p>
        <a:p>
          <a:endParaRPr lang="en-US" sz="2000" dirty="0"/>
        </a:p>
        <a:p>
          <a:r>
            <a:rPr lang="en-US" sz="1600" b="1" dirty="0"/>
            <a:t>Supreme Court</a:t>
          </a:r>
        </a:p>
      </dgm:t>
    </dgm:pt>
    <dgm:pt modelId="{5A59C6F3-79C2-456A-A759-2AAEB6604754}" type="parTrans" cxnId="{478A3C76-F491-45DE-B619-37B690F7F8C1}">
      <dgm:prSet/>
      <dgm:spPr/>
      <dgm:t>
        <a:bodyPr/>
        <a:lstStyle/>
        <a:p>
          <a:endParaRPr lang="en-US"/>
        </a:p>
      </dgm:t>
    </dgm:pt>
    <dgm:pt modelId="{F033D138-AA42-44D6-896A-11769EAC79F6}" type="sibTrans" cxnId="{478A3C76-F491-45DE-B619-37B690F7F8C1}">
      <dgm:prSet/>
      <dgm:spPr/>
      <dgm:t>
        <a:bodyPr/>
        <a:lstStyle/>
        <a:p>
          <a:endParaRPr lang="en-US"/>
        </a:p>
      </dgm:t>
    </dgm:pt>
    <dgm:pt modelId="{97709EFC-7C86-4E57-BEED-1604C5A8690B}">
      <dgm:prSet phldrT="[Text]"/>
      <dgm:spPr/>
      <dgm:t>
        <a:bodyPr/>
        <a:lstStyle/>
        <a:p>
          <a:endParaRPr lang="en-US" dirty="0"/>
        </a:p>
        <a:p>
          <a:endParaRPr lang="en-US" dirty="0"/>
        </a:p>
        <a:p>
          <a:r>
            <a:rPr lang="en-US" b="1" dirty="0"/>
            <a:t>Appellate Courts</a:t>
          </a:r>
        </a:p>
      </dgm:t>
    </dgm:pt>
    <dgm:pt modelId="{2532F0D7-686E-446B-ADAB-007240FE956F}" type="parTrans" cxnId="{403C7B1E-4EFA-4B44-8B11-DE70682C4D26}">
      <dgm:prSet/>
      <dgm:spPr/>
      <dgm:t>
        <a:bodyPr/>
        <a:lstStyle/>
        <a:p>
          <a:endParaRPr lang="en-US"/>
        </a:p>
      </dgm:t>
    </dgm:pt>
    <dgm:pt modelId="{71B6B51A-D122-4DD5-AE5B-D3DA916D5D61}" type="sibTrans" cxnId="{403C7B1E-4EFA-4B44-8B11-DE70682C4D26}">
      <dgm:prSet/>
      <dgm:spPr/>
      <dgm:t>
        <a:bodyPr/>
        <a:lstStyle/>
        <a:p>
          <a:endParaRPr lang="en-US"/>
        </a:p>
      </dgm:t>
    </dgm:pt>
    <dgm:pt modelId="{150FA4C6-02F6-4AF9-B32E-13395BBE54D7}">
      <dgm:prSet phldrT="[Text]" custT="1"/>
      <dgm:spPr/>
      <dgm:t>
        <a:bodyPr/>
        <a:lstStyle/>
        <a:p>
          <a:endParaRPr lang="en-US" sz="2400" dirty="0"/>
        </a:p>
        <a:p>
          <a:endParaRPr lang="en-US" sz="2800" dirty="0"/>
        </a:p>
        <a:p>
          <a:r>
            <a:rPr lang="en-US" sz="3000" b="1" dirty="0"/>
            <a:t>Trial Courts</a:t>
          </a:r>
        </a:p>
      </dgm:t>
    </dgm:pt>
    <dgm:pt modelId="{A229C616-03C4-49C2-9722-49E6C16A6FDF}" type="parTrans" cxnId="{6FBDCAEA-ED11-4975-A959-5DC91118E6F2}">
      <dgm:prSet/>
      <dgm:spPr/>
      <dgm:t>
        <a:bodyPr/>
        <a:lstStyle/>
        <a:p>
          <a:endParaRPr lang="en-US"/>
        </a:p>
      </dgm:t>
    </dgm:pt>
    <dgm:pt modelId="{F32FD575-FB73-4710-8C40-2CE4823701AC}" type="sibTrans" cxnId="{6FBDCAEA-ED11-4975-A959-5DC91118E6F2}">
      <dgm:prSet/>
      <dgm:spPr/>
      <dgm:t>
        <a:bodyPr/>
        <a:lstStyle/>
        <a:p>
          <a:endParaRPr lang="en-US"/>
        </a:p>
      </dgm:t>
    </dgm:pt>
    <dgm:pt modelId="{20379BDC-1C1C-4EBD-BB61-04D99DA83472}" type="pres">
      <dgm:prSet presAssocID="{D2F391EE-A2C3-4F34-AC2A-E244A71CF80D}" presName="Name0" presStyleCnt="0">
        <dgm:presLayoutVars>
          <dgm:dir/>
          <dgm:animLvl val="lvl"/>
          <dgm:resizeHandles val="exact"/>
        </dgm:presLayoutVars>
      </dgm:prSet>
      <dgm:spPr/>
    </dgm:pt>
    <dgm:pt modelId="{6A2F9B9C-3BFA-43FE-AA16-616EADFE6A29}" type="pres">
      <dgm:prSet presAssocID="{1B06AA2D-7268-4801-B6C4-2487E7A9EF64}" presName="Name8" presStyleCnt="0"/>
      <dgm:spPr/>
    </dgm:pt>
    <dgm:pt modelId="{318261FC-6B69-4EF7-8856-E9D7F5A778CE}" type="pres">
      <dgm:prSet presAssocID="{1B06AA2D-7268-4801-B6C4-2487E7A9EF64}" presName="level" presStyleLbl="node1" presStyleIdx="0" presStyleCnt="3">
        <dgm:presLayoutVars>
          <dgm:chMax val="1"/>
          <dgm:bulletEnabled val="1"/>
        </dgm:presLayoutVars>
      </dgm:prSet>
      <dgm:spPr/>
    </dgm:pt>
    <dgm:pt modelId="{90ABEBD9-EF9E-4732-9A1C-E8AE21EEAC33}" type="pres">
      <dgm:prSet presAssocID="{1B06AA2D-7268-4801-B6C4-2487E7A9EF64}" presName="levelTx" presStyleLbl="revTx" presStyleIdx="0" presStyleCnt="0">
        <dgm:presLayoutVars>
          <dgm:chMax val="1"/>
          <dgm:bulletEnabled val="1"/>
        </dgm:presLayoutVars>
      </dgm:prSet>
      <dgm:spPr/>
    </dgm:pt>
    <dgm:pt modelId="{B1DD9F86-BFAE-4E50-A7AB-8E94E336D4D2}" type="pres">
      <dgm:prSet presAssocID="{97709EFC-7C86-4E57-BEED-1604C5A8690B}" presName="Name8" presStyleCnt="0"/>
      <dgm:spPr/>
    </dgm:pt>
    <dgm:pt modelId="{1746C7EE-4FBB-43C0-9205-3965718EF6A0}" type="pres">
      <dgm:prSet presAssocID="{97709EFC-7C86-4E57-BEED-1604C5A8690B}" presName="level" presStyleLbl="node1" presStyleIdx="1" presStyleCnt="3">
        <dgm:presLayoutVars>
          <dgm:chMax val="1"/>
          <dgm:bulletEnabled val="1"/>
        </dgm:presLayoutVars>
      </dgm:prSet>
      <dgm:spPr/>
    </dgm:pt>
    <dgm:pt modelId="{082E6537-18DA-47B9-8ED6-93984BAC535E}" type="pres">
      <dgm:prSet presAssocID="{97709EFC-7C86-4E57-BEED-1604C5A8690B}" presName="levelTx" presStyleLbl="revTx" presStyleIdx="0" presStyleCnt="0">
        <dgm:presLayoutVars>
          <dgm:chMax val="1"/>
          <dgm:bulletEnabled val="1"/>
        </dgm:presLayoutVars>
      </dgm:prSet>
      <dgm:spPr/>
    </dgm:pt>
    <dgm:pt modelId="{8E2D9280-A4B6-401E-A6AB-CF1101026079}" type="pres">
      <dgm:prSet presAssocID="{150FA4C6-02F6-4AF9-B32E-13395BBE54D7}" presName="Name8" presStyleCnt="0"/>
      <dgm:spPr/>
    </dgm:pt>
    <dgm:pt modelId="{DCD51A45-E6CB-4BFF-9AFA-62B3F650394F}" type="pres">
      <dgm:prSet presAssocID="{150FA4C6-02F6-4AF9-B32E-13395BBE54D7}" presName="level" presStyleLbl="node1" presStyleIdx="2" presStyleCnt="3">
        <dgm:presLayoutVars>
          <dgm:chMax val="1"/>
          <dgm:bulletEnabled val="1"/>
        </dgm:presLayoutVars>
      </dgm:prSet>
      <dgm:spPr/>
    </dgm:pt>
    <dgm:pt modelId="{F969DBFF-AEB8-4F6D-8EE3-31D94C024AD7}" type="pres">
      <dgm:prSet presAssocID="{150FA4C6-02F6-4AF9-B32E-13395BBE54D7}" presName="levelTx" presStyleLbl="revTx" presStyleIdx="0" presStyleCnt="0">
        <dgm:presLayoutVars>
          <dgm:chMax val="1"/>
          <dgm:bulletEnabled val="1"/>
        </dgm:presLayoutVars>
      </dgm:prSet>
      <dgm:spPr/>
    </dgm:pt>
  </dgm:ptLst>
  <dgm:cxnLst>
    <dgm:cxn modelId="{403C7B1E-4EFA-4B44-8B11-DE70682C4D26}" srcId="{D2F391EE-A2C3-4F34-AC2A-E244A71CF80D}" destId="{97709EFC-7C86-4E57-BEED-1604C5A8690B}" srcOrd="1" destOrd="0" parTransId="{2532F0D7-686E-446B-ADAB-007240FE956F}" sibTransId="{71B6B51A-D122-4DD5-AE5B-D3DA916D5D61}"/>
    <dgm:cxn modelId="{18DC7547-8D07-4E6D-8630-6E626CCC000C}" type="presOf" srcId="{97709EFC-7C86-4E57-BEED-1604C5A8690B}" destId="{1746C7EE-4FBB-43C0-9205-3965718EF6A0}" srcOrd="0" destOrd="0" presId="urn:microsoft.com/office/officeart/2005/8/layout/pyramid1"/>
    <dgm:cxn modelId="{EBC3C049-C34E-49BC-8941-AF3BB56FD67E}" type="presOf" srcId="{1B06AA2D-7268-4801-B6C4-2487E7A9EF64}" destId="{90ABEBD9-EF9E-4732-9A1C-E8AE21EEAC33}" srcOrd="1" destOrd="0" presId="urn:microsoft.com/office/officeart/2005/8/layout/pyramid1"/>
    <dgm:cxn modelId="{165D6A4E-EFEF-4778-BF5D-A61A7FC8A2C3}" type="presOf" srcId="{97709EFC-7C86-4E57-BEED-1604C5A8690B}" destId="{082E6537-18DA-47B9-8ED6-93984BAC535E}" srcOrd="1" destOrd="0" presId="urn:microsoft.com/office/officeart/2005/8/layout/pyramid1"/>
    <dgm:cxn modelId="{8B1D1B53-B26C-4C4B-BF88-28D807F91EC0}" type="presOf" srcId="{150FA4C6-02F6-4AF9-B32E-13395BBE54D7}" destId="{F969DBFF-AEB8-4F6D-8EE3-31D94C024AD7}" srcOrd="1" destOrd="0" presId="urn:microsoft.com/office/officeart/2005/8/layout/pyramid1"/>
    <dgm:cxn modelId="{478A3C76-F491-45DE-B619-37B690F7F8C1}" srcId="{D2F391EE-A2C3-4F34-AC2A-E244A71CF80D}" destId="{1B06AA2D-7268-4801-B6C4-2487E7A9EF64}" srcOrd="0" destOrd="0" parTransId="{5A59C6F3-79C2-456A-A759-2AAEB6604754}" sibTransId="{F033D138-AA42-44D6-896A-11769EAC79F6}"/>
    <dgm:cxn modelId="{45390778-304C-4F99-9831-CAE02715CCD1}" type="presOf" srcId="{D2F391EE-A2C3-4F34-AC2A-E244A71CF80D}" destId="{20379BDC-1C1C-4EBD-BB61-04D99DA83472}" srcOrd="0" destOrd="0" presId="urn:microsoft.com/office/officeart/2005/8/layout/pyramid1"/>
    <dgm:cxn modelId="{A789C687-3445-4548-9BE5-06E9233D94D7}" type="presOf" srcId="{150FA4C6-02F6-4AF9-B32E-13395BBE54D7}" destId="{DCD51A45-E6CB-4BFF-9AFA-62B3F650394F}" srcOrd="0" destOrd="0" presId="urn:microsoft.com/office/officeart/2005/8/layout/pyramid1"/>
    <dgm:cxn modelId="{6FBDCAEA-ED11-4975-A959-5DC91118E6F2}" srcId="{D2F391EE-A2C3-4F34-AC2A-E244A71CF80D}" destId="{150FA4C6-02F6-4AF9-B32E-13395BBE54D7}" srcOrd="2" destOrd="0" parTransId="{A229C616-03C4-49C2-9722-49E6C16A6FDF}" sibTransId="{F32FD575-FB73-4710-8C40-2CE4823701AC}"/>
    <dgm:cxn modelId="{7B46C8F5-173D-4341-A7E2-EA443DE0B74E}" type="presOf" srcId="{1B06AA2D-7268-4801-B6C4-2487E7A9EF64}" destId="{318261FC-6B69-4EF7-8856-E9D7F5A778CE}" srcOrd="0" destOrd="0" presId="urn:microsoft.com/office/officeart/2005/8/layout/pyramid1"/>
    <dgm:cxn modelId="{971A71C9-0A30-4261-9D7B-000619B1B84D}" type="presParOf" srcId="{20379BDC-1C1C-4EBD-BB61-04D99DA83472}" destId="{6A2F9B9C-3BFA-43FE-AA16-616EADFE6A29}" srcOrd="0" destOrd="0" presId="urn:microsoft.com/office/officeart/2005/8/layout/pyramid1"/>
    <dgm:cxn modelId="{581F68B6-8113-45D7-8FAC-3A86268C0C13}" type="presParOf" srcId="{6A2F9B9C-3BFA-43FE-AA16-616EADFE6A29}" destId="{318261FC-6B69-4EF7-8856-E9D7F5A778CE}" srcOrd="0" destOrd="0" presId="urn:microsoft.com/office/officeart/2005/8/layout/pyramid1"/>
    <dgm:cxn modelId="{7BD6DB49-A1B1-4AE5-9E19-5FB98674125F}" type="presParOf" srcId="{6A2F9B9C-3BFA-43FE-AA16-616EADFE6A29}" destId="{90ABEBD9-EF9E-4732-9A1C-E8AE21EEAC33}" srcOrd="1" destOrd="0" presId="urn:microsoft.com/office/officeart/2005/8/layout/pyramid1"/>
    <dgm:cxn modelId="{9C145E2B-9716-4543-814C-0A80F9581D62}" type="presParOf" srcId="{20379BDC-1C1C-4EBD-BB61-04D99DA83472}" destId="{B1DD9F86-BFAE-4E50-A7AB-8E94E336D4D2}" srcOrd="1" destOrd="0" presId="urn:microsoft.com/office/officeart/2005/8/layout/pyramid1"/>
    <dgm:cxn modelId="{54FDBD02-41A8-4340-AE84-614DB89A2228}" type="presParOf" srcId="{B1DD9F86-BFAE-4E50-A7AB-8E94E336D4D2}" destId="{1746C7EE-4FBB-43C0-9205-3965718EF6A0}" srcOrd="0" destOrd="0" presId="urn:microsoft.com/office/officeart/2005/8/layout/pyramid1"/>
    <dgm:cxn modelId="{412A9B62-51A5-4B53-9FDE-81266E032F05}" type="presParOf" srcId="{B1DD9F86-BFAE-4E50-A7AB-8E94E336D4D2}" destId="{082E6537-18DA-47B9-8ED6-93984BAC535E}" srcOrd="1" destOrd="0" presId="urn:microsoft.com/office/officeart/2005/8/layout/pyramid1"/>
    <dgm:cxn modelId="{CC66C420-AAE7-4A82-98FA-9AB7AD607129}" type="presParOf" srcId="{20379BDC-1C1C-4EBD-BB61-04D99DA83472}" destId="{8E2D9280-A4B6-401E-A6AB-CF1101026079}" srcOrd="2" destOrd="0" presId="urn:microsoft.com/office/officeart/2005/8/layout/pyramid1"/>
    <dgm:cxn modelId="{FDAD7E20-8294-456A-A3A9-04B23987FD4B}" type="presParOf" srcId="{8E2D9280-A4B6-401E-A6AB-CF1101026079}" destId="{DCD51A45-E6CB-4BFF-9AFA-62B3F650394F}" srcOrd="0" destOrd="0" presId="urn:microsoft.com/office/officeart/2005/8/layout/pyramid1"/>
    <dgm:cxn modelId="{549E7163-7DA5-4F8C-8A4B-85B15D777824}" type="presParOf" srcId="{8E2D9280-A4B6-401E-A6AB-CF1101026079}" destId="{F969DBFF-AEB8-4F6D-8EE3-31D94C024AD7}"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E24EB58-9981-4C42-86C5-3786621F41E1}" type="doc">
      <dgm:prSet loTypeId="urn:microsoft.com/office/officeart/2005/8/layout/vList2" loCatId="list" qsTypeId="urn:microsoft.com/office/officeart/2005/8/quickstyle/simple4#1" qsCatId="simple" csTypeId="urn:microsoft.com/office/officeart/2005/8/colors/colorful2#1" csCatId="colorful"/>
      <dgm:spPr/>
      <dgm:t>
        <a:bodyPr/>
        <a:lstStyle/>
        <a:p>
          <a:endParaRPr lang="en-US"/>
        </a:p>
      </dgm:t>
    </dgm:pt>
    <dgm:pt modelId="{5E7740C1-29C0-4DE7-89A3-E42C0CA1035A}">
      <dgm:prSet/>
      <dgm:spPr/>
      <dgm:t>
        <a:bodyPr/>
        <a:lstStyle/>
        <a:p>
          <a:r>
            <a:rPr lang="en-US"/>
            <a:t>Where is your case – in federal court or a specific state court (which state)?</a:t>
          </a:r>
        </a:p>
      </dgm:t>
    </dgm:pt>
    <dgm:pt modelId="{18B2C106-9587-4734-BDE5-AC3F926DA2E0}" type="parTrans" cxnId="{65D96150-8624-43D1-9A74-C76A273EE0B4}">
      <dgm:prSet/>
      <dgm:spPr/>
      <dgm:t>
        <a:bodyPr/>
        <a:lstStyle/>
        <a:p>
          <a:endParaRPr lang="en-US"/>
        </a:p>
      </dgm:t>
    </dgm:pt>
    <dgm:pt modelId="{7759FA82-56DD-468D-8261-1FA9CAF5F885}" type="sibTrans" cxnId="{65D96150-8624-43D1-9A74-C76A273EE0B4}">
      <dgm:prSet/>
      <dgm:spPr/>
      <dgm:t>
        <a:bodyPr/>
        <a:lstStyle/>
        <a:p>
          <a:endParaRPr lang="en-US"/>
        </a:p>
      </dgm:t>
    </dgm:pt>
    <dgm:pt modelId="{575C922E-2C5A-4BDD-95E7-10C30D204FA6}">
      <dgm:prSet/>
      <dgm:spPr/>
      <dgm:t>
        <a:bodyPr/>
        <a:lstStyle/>
        <a:p>
          <a:r>
            <a:rPr lang="en-US"/>
            <a:t>Do any enacted laws from the jurisdiction apply? </a:t>
          </a:r>
        </a:p>
      </dgm:t>
    </dgm:pt>
    <dgm:pt modelId="{958B4F10-F66A-4F59-97EE-D1CDCE33BB37}" type="parTrans" cxnId="{1E318283-0602-41AF-87C9-DFFDC4C8260B}">
      <dgm:prSet/>
      <dgm:spPr/>
      <dgm:t>
        <a:bodyPr/>
        <a:lstStyle/>
        <a:p>
          <a:endParaRPr lang="en-US"/>
        </a:p>
      </dgm:t>
    </dgm:pt>
    <dgm:pt modelId="{E237FE20-C257-46FA-B1FB-A5D558BFD4A5}" type="sibTrans" cxnId="{1E318283-0602-41AF-87C9-DFFDC4C8260B}">
      <dgm:prSet/>
      <dgm:spPr/>
      <dgm:t>
        <a:bodyPr/>
        <a:lstStyle/>
        <a:p>
          <a:endParaRPr lang="en-US"/>
        </a:p>
      </dgm:t>
    </dgm:pt>
    <dgm:pt modelId="{20816E43-86AF-49CC-AF52-C6F99F46BBAB}">
      <dgm:prSet/>
      <dgm:spPr/>
      <dgm:t>
        <a:bodyPr/>
        <a:lstStyle/>
        <a:p>
          <a:r>
            <a:rPr lang="en-US"/>
            <a:t>Is there an on-point opinion from a higher court to which your case could be appealed?</a:t>
          </a:r>
        </a:p>
      </dgm:t>
    </dgm:pt>
    <dgm:pt modelId="{413F4498-66C2-4E2E-843B-0E523327BF33}" type="parTrans" cxnId="{D4556742-644C-464D-826A-DD2C74DA6474}">
      <dgm:prSet/>
      <dgm:spPr/>
      <dgm:t>
        <a:bodyPr/>
        <a:lstStyle/>
        <a:p>
          <a:endParaRPr lang="en-US"/>
        </a:p>
      </dgm:t>
    </dgm:pt>
    <dgm:pt modelId="{40B14046-B1B7-46CE-AAC3-64385B15E10E}" type="sibTrans" cxnId="{D4556742-644C-464D-826A-DD2C74DA6474}">
      <dgm:prSet/>
      <dgm:spPr/>
      <dgm:t>
        <a:bodyPr/>
        <a:lstStyle/>
        <a:p>
          <a:endParaRPr lang="en-US"/>
        </a:p>
      </dgm:t>
    </dgm:pt>
    <dgm:pt modelId="{4713E257-6D49-4B4D-BDF2-E9F23CF2CA36}">
      <dgm:prSet/>
      <dgm:spPr/>
      <dgm:t>
        <a:bodyPr/>
        <a:lstStyle/>
        <a:p>
          <a:r>
            <a:rPr lang="en-US"/>
            <a:t>Is there an on-point opinion from the same appellate court in which your case is pending? </a:t>
          </a:r>
        </a:p>
      </dgm:t>
    </dgm:pt>
    <dgm:pt modelId="{799F082C-02DD-4835-AF8E-684846FA6472}" type="parTrans" cxnId="{A593228E-E910-45C5-8C04-B7F2B907F662}">
      <dgm:prSet/>
      <dgm:spPr/>
      <dgm:t>
        <a:bodyPr/>
        <a:lstStyle/>
        <a:p>
          <a:endParaRPr lang="en-US"/>
        </a:p>
      </dgm:t>
    </dgm:pt>
    <dgm:pt modelId="{129DE73E-2EE7-4AA3-9A61-BC21885FDFD1}" type="sibTrans" cxnId="{A593228E-E910-45C5-8C04-B7F2B907F662}">
      <dgm:prSet/>
      <dgm:spPr/>
      <dgm:t>
        <a:bodyPr/>
        <a:lstStyle/>
        <a:p>
          <a:endParaRPr lang="en-US"/>
        </a:p>
      </dgm:t>
    </dgm:pt>
    <dgm:pt modelId="{98ED550F-D897-48B3-97C5-EA46159EEC1A}" type="pres">
      <dgm:prSet presAssocID="{7E24EB58-9981-4C42-86C5-3786621F41E1}" presName="linear" presStyleCnt="0">
        <dgm:presLayoutVars>
          <dgm:animLvl val="lvl"/>
          <dgm:resizeHandles val="exact"/>
        </dgm:presLayoutVars>
      </dgm:prSet>
      <dgm:spPr/>
    </dgm:pt>
    <dgm:pt modelId="{5BBE269C-9A96-40DE-81DF-BACD35944995}" type="pres">
      <dgm:prSet presAssocID="{5E7740C1-29C0-4DE7-89A3-E42C0CA1035A}" presName="parentText" presStyleLbl="node1" presStyleIdx="0" presStyleCnt="4">
        <dgm:presLayoutVars>
          <dgm:chMax val="0"/>
          <dgm:bulletEnabled val="1"/>
        </dgm:presLayoutVars>
      </dgm:prSet>
      <dgm:spPr/>
    </dgm:pt>
    <dgm:pt modelId="{4F212F61-2270-4F3F-9532-96F596A9A2DD}" type="pres">
      <dgm:prSet presAssocID="{7759FA82-56DD-468D-8261-1FA9CAF5F885}" presName="spacer" presStyleCnt="0"/>
      <dgm:spPr/>
    </dgm:pt>
    <dgm:pt modelId="{4ED3BB3A-466E-4A71-A2C7-DD661C88FAB5}" type="pres">
      <dgm:prSet presAssocID="{575C922E-2C5A-4BDD-95E7-10C30D204FA6}" presName="parentText" presStyleLbl="node1" presStyleIdx="1" presStyleCnt="4">
        <dgm:presLayoutVars>
          <dgm:chMax val="0"/>
          <dgm:bulletEnabled val="1"/>
        </dgm:presLayoutVars>
      </dgm:prSet>
      <dgm:spPr/>
    </dgm:pt>
    <dgm:pt modelId="{6F19BFC7-7F70-4B48-A37A-5FD675711650}" type="pres">
      <dgm:prSet presAssocID="{E237FE20-C257-46FA-B1FB-A5D558BFD4A5}" presName="spacer" presStyleCnt="0"/>
      <dgm:spPr/>
    </dgm:pt>
    <dgm:pt modelId="{9F8DE341-5490-4F21-B1E1-D18E640CD467}" type="pres">
      <dgm:prSet presAssocID="{20816E43-86AF-49CC-AF52-C6F99F46BBAB}" presName="parentText" presStyleLbl="node1" presStyleIdx="2" presStyleCnt="4">
        <dgm:presLayoutVars>
          <dgm:chMax val="0"/>
          <dgm:bulletEnabled val="1"/>
        </dgm:presLayoutVars>
      </dgm:prSet>
      <dgm:spPr/>
    </dgm:pt>
    <dgm:pt modelId="{DDC448AE-82C7-4867-ADC2-C8D569CAB258}" type="pres">
      <dgm:prSet presAssocID="{40B14046-B1B7-46CE-AAC3-64385B15E10E}" presName="spacer" presStyleCnt="0"/>
      <dgm:spPr/>
    </dgm:pt>
    <dgm:pt modelId="{5E1ED1C2-DFBB-4482-BCBC-8B724E73466C}" type="pres">
      <dgm:prSet presAssocID="{4713E257-6D49-4B4D-BDF2-E9F23CF2CA36}" presName="parentText" presStyleLbl="node1" presStyleIdx="3" presStyleCnt="4">
        <dgm:presLayoutVars>
          <dgm:chMax val="0"/>
          <dgm:bulletEnabled val="1"/>
        </dgm:presLayoutVars>
      </dgm:prSet>
      <dgm:spPr/>
    </dgm:pt>
  </dgm:ptLst>
  <dgm:cxnLst>
    <dgm:cxn modelId="{D4556742-644C-464D-826A-DD2C74DA6474}" srcId="{7E24EB58-9981-4C42-86C5-3786621F41E1}" destId="{20816E43-86AF-49CC-AF52-C6F99F46BBAB}" srcOrd="2" destOrd="0" parTransId="{413F4498-66C2-4E2E-843B-0E523327BF33}" sibTransId="{40B14046-B1B7-46CE-AAC3-64385B15E10E}"/>
    <dgm:cxn modelId="{E6657162-AE1C-4945-80E3-3FAE6968F673}" type="presOf" srcId="{7E24EB58-9981-4C42-86C5-3786621F41E1}" destId="{98ED550F-D897-48B3-97C5-EA46159EEC1A}" srcOrd="0" destOrd="0" presId="urn:microsoft.com/office/officeart/2005/8/layout/vList2"/>
    <dgm:cxn modelId="{65D96150-8624-43D1-9A74-C76A273EE0B4}" srcId="{7E24EB58-9981-4C42-86C5-3786621F41E1}" destId="{5E7740C1-29C0-4DE7-89A3-E42C0CA1035A}" srcOrd="0" destOrd="0" parTransId="{18B2C106-9587-4734-BDE5-AC3F926DA2E0}" sibTransId="{7759FA82-56DD-468D-8261-1FA9CAF5F885}"/>
    <dgm:cxn modelId="{1E318283-0602-41AF-87C9-DFFDC4C8260B}" srcId="{7E24EB58-9981-4C42-86C5-3786621F41E1}" destId="{575C922E-2C5A-4BDD-95E7-10C30D204FA6}" srcOrd="1" destOrd="0" parTransId="{958B4F10-F66A-4F59-97EE-D1CDCE33BB37}" sibTransId="{E237FE20-C257-46FA-B1FB-A5D558BFD4A5}"/>
    <dgm:cxn modelId="{D5EF4E89-FD0C-4FB6-8530-B18317AAA510}" type="presOf" srcId="{20816E43-86AF-49CC-AF52-C6F99F46BBAB}" destId="{9F8DE341-5490-4F21-B1E1-D18E640CD467}" srcOrd="0" destOrd="0" presId="urn:microsoft.com/office/officeart/2005/8/layout/vList2"/>
    <dgm:cxn modelId="{A593228E-E910-45C5-8C04-B7F2B907F662}" srcId="{7E24EB58-9981-4C42-86C5-3786621F41E1}" destId="{4713E257-6D49-4B4D-BDF2-E9F23CF2CA36}" srcOrd="3" destOrd="0" parTransId="{799F082C-02DD-4835-AF8E-684846FA6472}" sibTransId="{129DE73E-2EE7-4AA3-9A61-BC21885FDFD1}"/>
    <dgm:cxn modelId="{88F3A1BB-B71A-4EBA-9AD4-A30C6FC52CC7}" type="presOf" srcId="{4713E257-6D49-4B4D-BDF2-E9F23CF2CA36}" destId="{5E1ED1C2-DFBB-4482-BCBC-8B724E73466C}" srcOrd="0" destOrd="0" presId="urn:microsoft.com/office/officeart/2005/8/layout/vList2"/>
    <dgm:cxn modelId="{D6C329D6-16C6-4C09-A46D-CC2A6ED73F13}" type="presOf" srcId="{575C922E-2C5A-4BDD-95E7-10C30D204FA6}" destId="{4ED3BB3A-466E-4A71-A2C7-DD661C88FAB5}" srcOrd="0" destOrd="0" presId="urn:microsoft.com/office/officeart/2005/8/layout/vList2"/>
    <dgm:cxn modelId="{0EE40CD8-1B33-40F4-BADB-5997643E24C2}" type="presOf" srcId="{5E7740C1-29C0-4DE7-89A3-E42C0CA1035A}" destId="{5BBE269C-9A96-40DE-81DF-BACD35944995}" srcOrd="0" destOrd="0" presId="urn:microsoft.com/office/officeart/2005/8/layout/vList2"/>
    <dgm:cxn modelId="{65012071-61E4-421F-9394-F681DF84AE64}" type="presParOf" srcId="{98ED550F-D897-48B3-97C5-EA46159EEC1A}" destId="{5BBE269C-9A96-40DE-81DF-BACD35944995}" srcOrd="0" destOrd="0" presId="urn:microsoft.com/office/officeart/2005/8/layout/vList2"/>
    <dgm:cxn modelId="{608950FE-78B1-4C98-AD14-E5D11D80FD57}" type="presParOf" srcId="{98ED550F-D897-48B3-97C5-EA46159EEC1A}" destId="{4F212F61-2270-4F3F-9532-96F596A9A2DD}" srcOrd="1" destOrd="0" presId="urn:microsoft.com/office/officeart/2005/8/layout/vList2"/>
    <dgm:cxn modelId="{1E163E8F-166B-4A92-86F2-5E5D95E92685}" type="presParOf" srcId="{98ED550F-D897-48B3-97C5-EA46159EEC1A}" destId="{4ED3BB3A-466E-4A71-A2C7-DD661C88FAB5}" srcOrd="2" destOrd="0" presId="urn:microsoft.com/office/officeart/2005/8/layout/vList2"/>
    <dgm:cxn modelId="{D1659C10-0DE2-4DC4-9666-37E65929B85A}" type="presParOf" srcId="{98ED550F-D897-48B3-97C5-EA46159EEC1A}" destId="{6F19BFC7-7F70-4B48-A37A-5FD675711650}" srcOrd="3" destOrd="0" presId="urn:microsoft.com/office/officeart/2005/8/layout/vList2"/>
    <dgm:cxn modelId="{C0F17097-4B38-4BDD-A73F-FACB31946A2D}" type="presParOf" srcId="{98ED550F-D897-48B3-97C5-EA46159EEC1A}" destId="{9F8DE341-5490-4F21-B1E1-D18E640CD467}" srcOrd="4" destOrd="0" presId="urn:microsoft.com/office/officeart/2005/8/layout/vList2"/>
    <dgm:cxn modelId="{5E63E586-8822-42B4-85A3-8DD10513075E}" type="presParOf" srcId="{98ED550F-D897-48B3-97C5-EA46159EEC1A}" destId="{DDC448AE-82C7-4867-ADC2-C8D569CAB258}" srcOrd="5" destOrd="0" presId="urn:microsoft.com/office/officeart/2005/8/layout/vList2"/>
    <dgm:cxn modelId="{8279B0BE-A66E-4301-973A-2D5C9C3AF41B}" type="presParOf" srcId="{98ED550F-D897-48B3-97C5-EA46159EEC1A}" destId="{5E1ED1C2-DFBB-4482-BCBC-8B724E73466C}"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287BDE9-1E59-4290-BDA3-76B8582EAE8C}" type="doc">
      <dgm:prSet loTypeId="urn:microsoft.com/office/officeart/2005/8/layout/vList2" loCatId="list" qsTypeId="urn:microsoft.com/office/officeart/2005/8/quickstyle/simple4#2" qsCatId="simple" csTypeId="urn:microsoft.com/office/officeart/2005/8/colors/colorful2#2" csCatId="colorful"/>
      <dgm:spPr/>
      <dgm:t>
        <a:bodyPr/>
        <a:lstStyle/>
        <a:p>
          <a:endParaRPr lang="en-US"/>
        </a:p>
      </dgm:t>
    </dgm:pt>
    <dgm:pt modelId="{D78989AA-2AA9-4245-8DD5-8BDF40E55911}">
      <dgm:prSet/>
      <dgm:spPr/>
      <dgm:t>
        <a:bodyPr/>
        <a:lstStyle/>
        <a:p>
          <a:r>
            <a:rPr lang="en-US" b="0" i="0"/>
            <a:t>Problem Analysis</a:t>
          </a:r>
          <a:endParaRPr lang="en-US"/>
        </a:p>
      </dgm:t>
    </dgm:pt>
    <dgm:pt modelId="{CDD60FBD-03A1-49F1-A4C1-EB245D4E516C}" type="parTrans" cxnId="{826139E4-0D61-4A80-9623-CBA45B10830E}">
      <dgm:prSet/>
      <dgm:spPr/>
      <dgm:t>
        <a:bodyPr/>
        <a:lstStyle/>
        <a:p>
          <a:endParaRPr lang="en-US"/>
        </a:p>
      </dgm:t>
    </dgm:pt>
    <dgm:pt modelId="{3929E814-F0F8-4B6B-B5DC-0A9604E30F25}" type="sibTrans" cxnId="{826139E4-0D61-4A80-9623-CBA45B10830E}">
      <dgm:prSet/>
      <dgm:spPr/>
      <dgm:t>
        <a:bodyPr/>
        <a:lstStyle/>
        <a:p>
          <a:endParaRPr lang="en-US"/>
        </a:p>
      </dgm:t>
    </dgm:pt>
    <dgm:pt modelId="{5DD8276F-43C4-4730-9016-39B4E5CB2A2C}">
      <dgm:prSet/>
      <dgm:spPr/>
      <dgm:t>
        <a:bodyPr/>
        <a:lstStyle/>
        <a:p>
          <a:r>
            <a:rPr lang="en-US" b="0" i="0"/>
            <a:t>Issue Analysis </a:t>
          </a:r>
          <a:endParaRPr lang="en-US"/>
        </a:p>
      </dgm:t>
    </dgm:pt>
    <dgm:pt modelId="{452DC0EC-FC5B-4450-BBD8-196C31B5E157}" type="parTrans" cxnId="{619BD31F-EE1C-4E7F-A4AF-36D15E59BFB9}">
      <dgm:prSet/>
      <dgm:spPr/>
      <dgm:t>
        <a:bodyPr/>
        <a:lstStyle/>
        <a:p>
          <a:endParaRPr lang="en-US"/>
        </a:p>
      </dgm:t>
    </dgm:pt>
    <dgm:pt modelId="{E857B46A-6E0C-4C4A-A31B-44737FD711BD}" type="sibTrans" cxnId="{619BD31F-EE1C-4E7F-A4AF-36D15E59BFB9}">
      <dgm:prSet/>
      <dgm:spPr/>
      <dgm:t>
        <a:bodyPr/>
        <a:lstStyle/>
        <a:p>
          <a:endParaRPr lang="en-US"/>
        </a:p>
      </dgm:t>
    </dgm:pt>
    <dgm:pt modelId="{E9F4DAED-AEA9-453A-8047-44AD3106ED92}">
      <dgm:prSet/>
      <dgm:spPr/>
      <dgm:t>
        <a:bodyPr/>
        <a:lstStyle/>
        <a:p>
          <a:r>
            <a:rPr lang="en-US" b="0" i="0"/>
            <a:t>Statutory Analysis </a:t>
          </a:r>
          <a:endParaRPr lang="en-US"/>
        </a:p>
      </dgm:t>
    </dgm:pt>
    <dgm:pt modelId="{E08AAA1D-924C-4CFE-A75B-3D9272689D02}" type="parTrans" cxnId="{8CFD7CDB-F39F-47F0-B3E1-DE14DF8F2DDE}">
      <dgm:prSet/>
      <dgm:spPr/>
      <dgm:t>
        <a:bodyPr/>
        <a:lstStyle/>
        <a:p>
          <a:endParaRPr lang="en-US"/>
        </a:p>
      </dgm:t>
    </dgm:pt>
    <dgm:pt modelId="{24C0037F-19D9-4CD7-9943-AC54AE917BC9}" type="sibTrans" cxnId="{8CFD7CDB-F39F-47F0-B3E1-DE14DF8F2DDE}">
      <dgm:prSet/>
      <dgm:spPr/>
      <dgm:t>
        <a:bodyPr/>
        <a:lstStyle/>
        <a:p>
          <a:endParaRPr lang="en-US"/>
        </a:p>
      </dgm:t>
    </dgm:pt>
    <dgm:pt modelId="{1712F1A4-6B80-48ED-AA22-B38AC608144E}">
      <dgm:prSet/>
      <dgm:spPr/>
      <dgm:t>
        <a:bodyPr/>
        <a:lstStyle/>
        <a:p>
          <a:r>
            <a:rPr lang="en-US" b="0" i="0"/>
            <a:t>Case Analysis</a:t>
          </a:r>
          <a:endParaRPr lang="en-US"/>
        </a:p>
      </dgm:t>
    </dgm:pt>
    <dgm:pt modelId="{C672199E-B9EC-47F0-95A2-2AF4D38257F0}" type="parTrans" cxnId="{C05567AB-7DC4-400F-906F-C1BF661ABBFD}">
      <dgm:prSet/>
      <dgm:spPr/>
      <dgm:t>
        <a:bodyPr/>
        <a:lstStyle/>
        <a:p>
          <a:endParaRPr lang="en-US"/>
        </a:p>
      </dgm:t>
    </dgm:pt>
    <dgm:pt modelId="{FB95B1D4-F511-4F4F-8DA0-3A7A36474EF7}" type="sibTrans" cxnId="{C05567AB-7DC4-400F-906F-C1BF661ABBFD}">
      <dgm:prSet/>
      <dgm:spPr/>
      <dgm:t>
        <a:bodyPr/>
        <a:lstStyle/>
        <a:p>
          <a:endParaRPr lang="en-US"/>
        </a:p>
      </dgm:t>
    </dgm:pt>
    <dgm:pt modelId="{05BC2398-DECC-4593-B261-92E5BAFF5FAF}" type="pres">
      <dgm:prSet presAssocID="{B287BDE9-1E59-4290-BDA3-76B8582EAE8C}" presName="linear" presStyleCnt="0">
        <dgm:presLayoutVars>
          <dgm:animLvl val="lvl"/>
          <dgm:resizeHandles val="exact"/>
        </dgm:presLayoutVars>
      </dgm:prSet>
      <dgm:spPr/>
    </dgm:pt>
    <dgm:pt modelId="{D0AC7CCB-83B2-4810-9AF8-62A28179F1BB}" type="pres">
      <dgm:prSet presAssocID="{D78989AA-2AA9-4245-8DD5-8BDF40E55911}" presName="parentText" presStyleLbl="node1" presStyleIdx="0" presStyleCnt="4">
        <dgm:presLayoutVars>
          <dgm:chMax val="0"/>
          <dgm:bulletEnabled val="1"/>
        </dgm:presLayoutVars>
      </dgm:prSet>
      <dgm:spPr/>
    </dgm:pt>
    <dgm:pt modelId="{50D27E2C-6007-48EC-8762-B0814C2368EC}" type="pres">
      <dgm:prSet presAssocID="{3929E814-F0F8-4B6B-B5DC-0A9604E30F25}" presName="spacer" presStyleCnt="0"/>
      <dgm:spPr/>
    </dgm:pt>
    <dgm:pt modelId="{7262C2EC-4F06-446A-96E9-E8C0A6FB592A}" type="pres">
      <dgm:prSet presAssocID="{5DD8276F-43C4-4730-9016-39B4E5CB2A2C}" presName="parentText" presStyleLbl="node1" presStyleIdx="1" presStyleCnt="4">
        <dgm:presLayoutVars>
          <dgm:chMax val="0"/>
          <dgm:bulletEnabled val="1"/>
        </dgm:presLayoutVars>
      </dgm:prSet>
      <dgm:spPr/>
    </dgm:pt>
    <dgm:pt modelId="{BF27E48E-2A91-46E5-B389-2851C3A8F261}" type="pres">
      <dgm:prSet presAssocID="{E857B46A-6E0C-4C4A-A31B-44737FD711BD}" presName="spacer" presStyleCnt="0"/>
      <dgm:spPr/>
    </dgm:pt>
    <dgm:pt modelId="{1B067EB2-1028-4133-995D-A6E6CC346706}" type="pres">
      <dgm:prSet presAssocID="{E9F4DAED-AEA9-453A-8047-44AD3106ED92}" presName="parentText" presStyleLbl="node1" presStyleIdx="2" presStyleCnt="4">
        <dgm:presLayoutVars>
          <dgm:chMax val="0"/>
          <dgm:bulletEnabled val="1"/>
        </dgm:presLayoutVars>
      </dgm:prSet>
      <dgm:spPr/>
    </dgm:pt>
    <dgm:pt modelId="{27FF529E-34FD-4793-8D8E-DF89B49203D9}" type="pres">
      <dgm:prSet presAssocID="{24C0037F-19D9-4CD7-9943-AC54AE917BC9}" presName="spacer" presStyleCnt="0"/>
      <dgm:spPr/>
    </dgm:pt>
    <dgm:pt modelId="{5F83B12E-E2CD-4068-B01F-31EF3B8DEBA0}" type="pres">
      <dgm:prSet presAssocID="{1712F1A4-6B80-48ED-AA22-B38AC608144E}" presName="parentText" presStyleLbl="node1" presStyleIdx="3" presStyleCnt="4">
        <dgm:presLayoutVars>
          <dgm:chMax val="0"/>
          <dgm:bulletEnabled val="1"/>
        </dgm:presLayoutVars>
      </dgm:prSet>
      <dgm:spPr/>
    </dgm:pt>
  </dgm:ptLst>
  <dgm:cxnLst>
    <dgm:cxn modelId="{841EAC09-7227-4732-A9DA-5AFC52D86C67}" type="presOf" srcId="{1712F1A4-6B80-48ED-AA22-B38AC608144E}" destId="{5F83B12E-E2CD-4068-B01F-31EF3B8DEBA0}" srcOrd="0" destOrd="0" presId="urn:microsoft.com/office/officeart/2005/8/layout/vList2"/>
    <dgm:cxn modelId="{619BD31F-EE1C-4E7F-A4AF-36D15E59BFB9}" srcId="{B287BDE9-1E59-4290-BDA3-76B8582EAE8C}" destId="{5DD8276F-43C4-4730-9016-39B4E5CB2A2C}" srcOrd="1" destOrd="0" parTransId="{452DC0EC-FC5B-4450-BBD8-196C31B5E157}" sibTransId="{E857B46A-6E0C-4C4A-A31B-44737FD711BD}"/>
    <dgm:cxn modelId="{ED73D357-0B8F-4DE4-A214-A114C4F25008}" type="presOf" srcId="{E9F4DAED-AEA9-453A-8047-44AD3106ED92}" destId="{1B067EB2-1028-4133-995D-A6E6CC346706}" srcOrd="0" destOrd="0" presId="urn:microsoft.com/office/officeart/2005/8/layout/vList2"/>
    <dgm:cxn modelId="{54789359-4BE8-4F27-8D02-5E4EF1C8ECE3}" type="presOf" srcId="{5DD8276F-43C4-4730-9016-39B4E5CB2A2C}" destId="{7262C2EC-4F06-446A-96E9-E8C0A6FB592A}" srcOrd="0" destOrd="0" presId="urn:microsoft.com/office/officeart/2005/8/layout/vList2"/>
    <dgm:cxn modelId="{C05567AB-7DC4-400F-906F-C1BF661ABBFD}" srcId="{B287BDE9-1E59-4290-BDA3-76B8582EAE8C}" destId="{1712F1A4-6B80-48ED-AA22-B38AC608144E}" srcOrd="3" destOrd="0" parTransId="{C672199E-B9EC-47F0-95A2-2AF4D38257F0}" sibTransId="{FB95B1D4-F511-4F4F-8DA0-3A7A36474EF7}"/>
    <dgm:cxn modelId="{BD1FA1C1-F875-4597-A55A-27D405A31352}" type="presOf" srcId="{D78989AA-2AA9-4245-8DD5-8BDF40E55911}" destId="{D0AC7CCB-83B2-4810-9AF8-62A28179F1BB}" srcOrd="0" destOrd="0" presId="urn:microsoft.com/office/officeart/2005/8/layout/vList2"/>
    <dgm:cxn modelId="{8CFD7CDB-F39F-47F0-B3E1-DE14DF8F2DDE}" srcId="{B287BDE9-1E59-4290-BDA3-76B8582EAE8C}" destId="{E9F4DAED-AEA9-453A-8047-44AD3106ED92}" srcOrd="2" destOrd="0" parTransId="{E08AAA1D-924C-4CFE-A75B-3D9272689D02}" sibTransId="{24C0037F-19D9-4CD7-9943-AC54AE917BC9}"/>
    <dgm:cxn modelId="{826139E4-0D61-4A80-9623-CBA45B10830E}" srcId="{B287BDE9-1E59-4290-BDA3-76B8582EAE8C}" destId="{D78989AA-2AA9-4245-8DD5-8BDF40E55911}" srcOrd="0" destOrd="0" parTransId="{CDD60FBD-03A1-49F1-A4C1-EB245D4E516C}" sibTransId="{3929E814-F0F8-4B6B-B5DC-0A9604E30F25}"/>
    <dgm:cxn modelId="{BD271CEA-15A2-4F29-87DC-FA6818EDDC81}" type="presOf" srcId="{B287BDE9-1E59-4290-BDA3-76B8582EAE8C}" destId="{05BC2398-DECC-4593-B261-92E5BAFF5FAF}" srcOrd="0" destOrd="0" presId="urn:microsoft.com/office/officeart/2005/8/layout/vList2"/>
    <dgm:cxn modelId="{EA333B8F-5D19-48E3-97C5-77AE77F14841}" type="presParOf" srcId="{05BC2398-DECC-4593-B261-92E5BAFF5FAF}" destId="{D0AC7CCB-83B2-4810-9AF8-62A28179F1BB}" srcOrd="0" destOrd="0" presId="urn:microsoft.com/office/officeart/2005/8/layout/vList2"/>
    <dgm:cxn modelId="{CDE17137-892B-47F9-8B0C-CB36D78ADE8D}" type="presParOf" srcId="{05BC2398-DECC-4593-B261-92E5BAFF5FAF}" destId="{50D27E2C-6007-48EC-8762-B0814C2368EC}" srcOrd="1" destOrd="0" presId="urn:microsoft.com/office/officeart/2005/8/layout/vList2"/>
    <dgm:cxn modelId="{20A61A6C-DFDB-4CE4-9643-D77F0FC41FE6}" type="presParOf" srcId="{05BC2398-DECC-4593-B261-92E5BAFF5FAF}" destId="{7262C2EC-4F06-446A-96E9-E8C0A6FB592A}" srcOrd="2" destOrd="0" presId="urn:microsoft.com/office/officeart/2005/8/layout/vList2"/>
    <dgm:cxn modelId="{8423F976-3EC6-41B7-AA8D-BA838338B56C}" type="presParOf" srcId="{05BC2398-DECC-4593-B261-92E5BAFF5FAF}" destId="{BF27E48E-2A91-46E5-B389-2851C3A8F261}" srcOrd="3" destOrd="0" presId="urn:microsoft.com/office/officeart/2005/8/layout/vList2"/>
    <dgm:cxn modelId="{1BAF9604-412C-46CF-A05B-D54010E84CD7}" type="presParOf" srcId="{05BC2398-DECC-4593-B261-92E5BAFF5FAF}" destId="{1B067EB2-1028-4133-995D-A6E6CC346706}" srcOrd="4" destOrd="0" presId="urn:microsoft.com/office/officeart/2005/8/layout/vList2"/>
    <dgm:cxn modelId="{EE3BD874-6A59-459B-98C0-59FD3900348F}" type="presParOf" srcId="{05BC2398-DECC-4593-B261-92E5BAFF5FAF}" destId="{27FF529E-34FD-4793-8D8E-DF89B49203D9}" srcOrd="5" destOrd="0" presId="urn:microsoft.com/office/officeart/2005/8/layout/vList2"/>
    <dgm:cxn modelId="{7850AACB-84D8-4386-98A6-5F70C781CB59}" type="presParOf" srcId="{05BC2398-DECC-4593-B261-92E5BAFF5FAF}" destId="{5F83B12E-E2CD-4068-B01F-31EF3B8DEBA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1DAD6-1E87-480F-8B7D-903025FB787D}">
      <dsp:nvSpPr>
        <dsp:cNvPr id="0" name=""/>
        <dsp:cNvSpPr/>
      </dsp:nvSpPr>
      <dsp:spPr>
        <a:xfrm>
          <a:off x="0" y="558"/>
          <a:ext cx="6496050" cy="13059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706FA7-344B-4478-A2DF-DF8DC016F4B0}">
      <dsp:nvSpPr>
        <dsp:cNvPr id="0" name=""/>
        <dsp:cNvSpPr/>
      </dsp:nvSpPr>
      <dsp:spPr>
        <a:xfrm>
          <a:off x="395054" y="294400"/>
          <a:ext cx="718281" cy="7182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7B706C1-75E9-4067-85FF-8F19B975B472}">
      <dsp:nvSpPr>
        <dsp:cNvPr id="0" name=""/>
        <dsp:cNvSpPr/>
      </dsp:nvSpPr>
      <dsp:spPr>
        <a:xfrm>
          <a:off x="1508391" y="558"/>
          <a:ext cx="4987658" cy="13059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215" tIns="138215" rIns="138215" bIns="138215" numCol="1" spcCol="1270" anchor="ctr" anchorCtr="0">
          <a:noAutofit/>
        </a:bodyPr>
        <a:lstStyle/>
        <a:p>
          <a:pPr marL="0" lvl="0" indent="0" algn="l" defTabSz="1111250">
            <a:lnSpc>
              <a:spcPct val="90000"/>
            </a:lnSpc>
            <a:spcBef>
              <a:spcPct val="0"/>
            </a:spcBef>
            <a:spcAft>
              <a:spcPct val="35000"/>
            </a:spcAft>
            <a:buNone/>
          </a:pPr>
          <a:r>
            <a:rPr lang="en-US" sz="2500" b="0" i="0" kern="1200"/>
            <a:t>Hierarchy of Authority and Court Systems</a:t>
          </a:r>
          <a:endParaRPr lang="en-US" sz="2500" kern="1200"/>
        </a:p>
      </dsp:txBody>
      <dsp:txXfrm>
        <a:off x="1508391" y="558"/>
        <a:ext cx="4987658" cy="1305966"/>
      </dsp:txXfrm>
    </dsp:sp>
    <dsp:sp modelId="{0C47BBB0-EE82-4732-8358-0C0AB516C6D2}">
      <dsp:nvSpPr>
        <dsp:cNvPr id="0" name=""/>
        <dsp:cNvSpPr/>
      </dsp:nvSpPr>
      <dsp:spPr>
        <a:xfrm>
          <a:off x="0" y="1633016"/>
          <a:ext cx="6496050" cy="13059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C236E1-7049-4D95-BCA0-B1C49D9FD572}">
      <dsp:nvSpPr>
        <dsp:cNvPr id="0" name=""/>
        <dsp:cNvSpPr/>
      </dsp:nvSpPr>
      <dsp:spPr>
        <a:xfrm>
          <a:off x="395054" y="1926859"/>
          <a:ext cx="718281" cy="7182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89B4104-C6E9-41C1-84FA-ED95B3C5C8CC}">
      <dsp:nvSpPr>
        <dsp:cNvPr id="0" name=""/>
        <dsp:cNvSpPr/>
      </dsp:nvSpPr>
      <dsp:spPr>
        <a:xfrm>
          <a:off x="1508391" y="1633016"/>
          <a:ext cx="4987658" cy="13059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215" tIns="138215" rIns="138215" bIns="138215" numCol="1" spcCol="1270" anchor="ctr" anchorCtr="0">
          <a:noAutofit/>
        </a:bodyPr>
        <a:lstStyle/>
        <a:p>
          <a:pPr marL="0" lvl="0" indent="0" algn="l" defTabSz="1111250">
            <a:lnSpc>
              <a:spcPct val="90000"/>
            </a:lnSpc>
            <a:spcBef>
              <a:spcPct val="0"/>
            </a:spcBef>
            <a:spcAft>
              <a:spcPct val="35000"/>
            </a:spcAft>
            <a:buNone/>
          </a:pPr>
          <a:r>
            <a:rPr lang="en-US" sz="2500" b="0" i="0" kern="1200"/>
            <a:t>Four Part Legal Research Process </a:t>
          </a:r>
          <a:endParaRPr lang="en-US" sz="2500" kern="1200"/>
        </a:p>
      </dsp:txBody>
      <dsp:txXfrm>
        <a:off x="1508391" y="1633016"/>
        <a:ext cx="4987658" cy="1305966"/>
      </dsp:txXfrm>
    </dsp:sp>
    <dsp:sp modelId="{98F72757-97FD-4F54-9177-327F07E0DB29}">
      <dsp:nvSpPr>
        <dsp:cNvPr id="0" name=""/>
        <dsp:cNvSpPr/>
      </dsp:nvSpPr>
      <dsp:spPr>
        <a:xfrm>
          <a:off x="0" y="3265475"/>
          <a:ext cx="6496050" cy="13059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C74D0D-1D6D-4202-9D88-DE1945AD299D}">
      <dsp:nvSpPr>
        <dsp:cNvPr id="0" name=""/>
        <dsp:cNvSpPr/>
      </dsp:nvSpPr>
      <dsp:spPr>
        <a:xfrm>
          <a:off x="395054" y="3559317"/>
          <a:ext cx="718281" cy="7182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DBDEFFB-43BD-40A8-87B8-D7CD9AA5F14D}">
      <dsp:nvSpPr>
        <dsp:cNvPr id="0" name=""/>
        <dsp:cNvSpPr/>
      </dsp:nvSpPr>
      <dsp:spPr>
        <a:xfrm>
          <a:off x="1508391" y="3265475"/>
          <a:ext cx="4987658" cy="13059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215" tIns="138215" rIns="138215" bIns="138215" numCol="1" spcCol="1270" anchor="ctr" anchorCtr="0">
          <a:noAutofit/>
        </a:bodyPr>
        <a:lstStyle/>
        <a:p>
          <a:pPr marL="0" lvl="0" indent="0" algn="l" defTabSz="1111250">
            <a:lnSpc>
              <a:spcPct val="90000"/>
            </a:lnSpc>
            <a:spcBef>
              <a:spcPct val="0"/>
            </a:spcBef>
            <a:spcAft>
              <a:spcPct val="35000"/>
            </a:spcAft>
            <a:buNone/>
          </a:pPr>
          <a:r>
            <a:rPr lang="en-US" sz="2500" b="0" i="0" kern="1200"/>
            <a:t>Introduction to Legal Research Databases</a:t>
          </a:r>
          <a:endParaRPr lang="en-US" sz="2500" kern="1200"/>
        </a:p>
      </dsp:txBody>
      <dsp:txXfrm>
        <a:off x="1508391" y="3265475"/>
        <a:ext cx="4987658" cy="13059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8261FC-6B69-4EF7-8856-E9D7F5A778CE}">
      <dsp:nvSpPr>
        <dsp:cNvPr id="0" name=""/>
        <dsp:cNvSpPr/>
      </dsp:nvSpPr>
      <dsp:spPr>
        <a:xfrm>
          <a:off x="2565399" y="0"/>
          <a:ext cx="2565400" cy="1508654"/>
        </a:xfrm>
        <a:prstGeom prst="trapezoid">
          <a:avLst>
            <a:gd name="adj" fmla="val 85023"/>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endParaRPr lang="en-US" sz="2000" kern="1200" dirty="0"/>
        </a:p>
        <a:p>
          <a:pPr marL="0" lvl="0" indent="0" algn="ctr" defTabSz="711200">
            <a:lnSpc>
              <a:spcPct val="90000"/>
            </a:lnSpc>
            <a:spcBef>
              <a:spcPct val="0"/>
            </a:spcBef>
            <a:spcAft>
              <a:spcPct val="35000"/>
            </a:spcAft>
            <a:buNone/>
          </a:pPr>
          <a:r>
            <a:rPr lang="en-US" sz="2200" b="1" kern="1200" dirty="0"/>
            <a:t>Constitutions</a:t>
          </a:r>
        </a:p>
      </dsp:txBody>
      <dsp:txXfrm>
        <a:off x="2565399" y="0"/>
        <a:ext cx="2565400" cy="1508654"/>
      </dsp:txXfrm>
    </dsp:sp>
    <dsp:sp modelId="{1746C7EE-4FBB-43C0-9205-3965718EF6A0}">
      <dsp:nvSpPr>
        <dsp:cNvPr id="0" name=""/>
        <dsp:cNvSpPr/>
      </dsp:nvSpPr>
      <dsp:spPr>
        <a:xfrm>
          <a:off x="1282699" y="1508654"/>
          <a:ext cx="5130800" cy="1508654"/>
        </a:xfrm>
        <a:prstGeom prst="trapezoid">
          <a:avLst>
            <a:gd name="adj" fmla="val 85023"/>
          </a:avLst>
        </a:prstGeom>
        <a:solidFill>
          <a:schemeClr val="accent3">
            <a:hueOff val="5624522"/>
            <a:satOff val="1095"/>
            <a:lumOff val="588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dirty="0"/>
        </a:p>
        <a:p>
          <a:pPr marL="0" lvl="0" indent="0" algn="ctr" defTabSz="1155700">
            <a:lnSpc>
              <a:spcPct val="90000"/>
            </a:lnSpc>
            <a:spcBef>
              <a:spcPct val="0"/>
            </a:spcBef>
            <a:spcAft>
              <a:spcPct val="35000"/>
            </a:spcAft>
            <a:buNone/>
          </a:pPr>
          <a:endParaRPr lang="en-US" sz="2600" kern="1200" dirty="0"/>
        </a:p>
        <a:p>
          <a:pPr marL="0" lvl="0" indent="0" algn="ctr" defTabSz="1155700">
            <a:lnSpc>
              <a:spcPct val="90000"/>
            </a:lnSpc>
            <a:spcBef>
              <a:spcPct val="0"/>
            </a:spcBef>
            <a:spcAft>
              <a:spcPct val="35000"/>
            </a:spcAft>
            <a:buNone/>
          </a:pPr>
          <a:r>
            <a:rPr lang="en-US" sz="2600" b="1" kern="1200" dirty="0"/>
            <a:t>Statutes/Regulations</a:t>
          </a:r>
        </a:p>
      </dsp:txBody>
      <dsp:txXfrm>
        <a:off x="2180589" y="1508654"/>
        <a:ext cx="3335020" cy="1508654"/>
      </dsp:txXfrm>
    </dsp:sp>
    <dsp:sp modelId="{DCD51A45-E6CB-4BFF-9AFA-62B3F650394F}">
      <dsp:nvSpPr>
        <dsp:cNvPr id="0" name=""/>
        <dsp:cNvSpPr/>
      </dsp:nvSpPr>
      <dsp:spPr>
        <a:xfrm>
          <a:off x="0" y="3017308"/>
          <a:ext cx="7696200" cy="1508654"/>
        </a:xfrm>
        <a:prstGeom prst="trapezoid">
          <a:avLst>
            <a:gd name="adj" fmla="val 85023"/>
          </a:avLst>
        </a:prstGeom>
        <a:solidFill>
          <a:schemeClr val="accent3">
            <a:hueOff val="11249043"/>
            <a:satOff val="2189"/>
            <a:lumOff val="1176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dirty="0"/>
        </a:p>
        <a:p>
          <a:pPr marL="0" lvl="0" indent="0" algn="ctr" defTabSz="1200150">
            <a:lnSpc>
              <a:spcPct val="90000"/>
            </a:lnSpc>
            <a:spcBef>
              <a:spcPct val="0"/>
            </a:spcBef>
            <a:spcAft>
              <a:spcPct val="35000"/>
            </a:spcAft>
            <a:buNone/>
          </a:pPr>
          <a:endParaRPr lang="en-US" sz="2700" kern="1200" dirty="0"/>
        </a:p>
        <a:p>
          <a:pPr marL="0" lvl="0" indent="0" algn="ctr" defTabSz="1200150">
            <a:lnSpc>
              <a:spcPct val="90000"/>
            </a:lnSpc>
            <a:spcBef>
              <a:spcPct val="0"/>
            </a:spcBef>
            <a:spcAft>
              <a:spcPct val="35000"/>
            </a:spcAft>
            <a:buNone/>
          </a:pPr>
          <a:r>
            <a:rPr lang="en-US" sz="3000" b="1" kern="1200" dirty="0"/>
            <a:t>Case Law</a:t>
          </a:r>
        </a:p>
      </dsp:txBody>
      <dsp:txXfrm>
        <a:off x="1346834" y="3017308"/>
        <a:ext cx="5002530" cy="15086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8261FC-6B69-4EF7-8856-E9D7F5A778CE}">
      <dsp:nvSpPr>
        <dsp:cNvPr id="0" name=""/>
        <dsp:cNvSpPr/>
      </dsp:nvSpPr>
      <dsp:spPr>
        <a:xfrm>
          <a:off x="1854200" y="0"/>
          <a:ext cx="1854200" cy="1574799"/>
        </a:xfrm>
        <a:prstGeom prst="trapezoid">
          <a:avLst>
            <a:gd name="adj" fmla="val 58871"/>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endParaRPr lang="en-US" sz="2000" kern="1200" dirty="0"/>
        </a:p>
        <a:p>
          <a:pPr marL="0" lvl="0" indent="0" algn="ctr" defTabSz="711200">
            <a:lnSpc>
              <a:spcPct val="90000"/>
            </a:lnSpc>
            <a:spcBef>
              <a:spcPct val="0"/>
            </a:spcBef>
            <a:spcAft>
              <a:spcPct val="35000"/>
            </a:spcAft>
            <a:buNone/>
          </a:pPr>
          <a:r>
            <a:rPr lang="en-US" sz="1600" b="1" kern="1200" dirty="0"/>
            <a:t>Supreme Court</a:t>
          </a:r>
        </a:p>
      </dsp:txBody>
      <dsp:txXfrm>
        <a:off x="1854200" y="0"/>
        <a:ext cx="1854200" cy="1574799"/>
      </dsp:txXfrm>
    </dsp:sp>
    <dsp:sp modelId="{1746C7EE-4FBB-43C0-9205-3965718EF6A0}">
      <dsp:nvSpPr>
        <dsp:cNvPr id="0" name=""/>
        <dsp:cNvSpPr/>
      </dsp:nvSpPr>
      <dsp:spPr>
        <a:xfrm>
          <a:off x="927100" y="1574799"/>
          <a:ext cx="3708400" cy="1574799"/>
        </a:xfrm>
        <a:prstGeom prst="trapezoid">
          <a:avLst>
            <a:gd name="adj" fmla="val 58871"/>
          </a:avLst>
        </a:prstGeom>
        <a:solidFill>
          <a:schemeClr val="accent3">
            <a:hueOff val="5624522"/>
            <a:satOff val="1095"/>
            <a:lumOff val="588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dirty="0"/>
        </a:p>
        <a:p>
          <a:pPr marL="0" lvl="0" indent="0" algn="ctr" defTabSz="977900">
            <a:lnSpc>
              <a:spcPct val="90000"/>
            </a:lnSpc>
            <a:spcBef>
              <a:spcPct val="0"/>
            </a:spcBef>
            <a:spcAft>
              <a:spcPct val="35000"/>
            </a:spcAft>
            <a:buNone/>
          </a:pPr>
          <a:endParaRPr lang="en-US" sz="2200" kern="1200" dirty="0"/>
        </a:p>
        <a:p>
          <a:pPr marL="0" lvl="0" indent="0" algn="ctr" defTabSz="977900">
            <a:lnSpc>
              <a:spcPct val="90000"/>
            </a:lnSpc>
            <a:spcBef>
              <a:spcPct val="0"/>
            </a:spcBef>
            <a:spcAft>
              <a:spcPct val="35000"/>
            </a:spcAft>
            <a:buNone/>
          </a:pPr>
          <a:r>
            <a:rPr lang="en-US" sz="2200" b="1" kern="1200" dirty="0"/>
            <a:t>Appellate Courts</a:t>
          </a:r>
        </a:p>
      </dsp:txBody>
      <dsp:txXfrm>
        <a:off x="1576069" y="1574799"/>
        <a:ext cx="2410460" cy="1574799"/>
      </dsp:txXfrm>
    </dsp:sp>
    <dsp:sp modelId="{DCD51A45-E6CB-4BFF-9AFA-62B3F650394F}">
      <dsp:nvSpPr>
        <dsp:cNvPr id="0" name=""/>
        <dsp:cNvSpPr/>
      </dsp:nvSpPr>
      <dsp:spPr>
        <a:xfrm>
          <a:off x="0" y="3149599"/>
          <a:ext cx="5562600" cy="1574799"/>
        </a:xfrm>
        <a:prstGeom prst="trapezoid">
          <a:avLst>
            <a:gd name="adj" fmla="val 58871"/>
          </a:avLst>
        </a:prstGeom>
        <a:solidFill>
          <a:schemeClr val="accent3">
            <a:hueOff val="11249043"/>
            <a:satOff val="2189"/>
            <a:lumOff val="1176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dirty="0"/>
        </a:p>
        <a:p>
          <a:pPr marL="0" lvl="0" indent="0" algn="ctr" defTabSz="1066800">
            <a:lnSpc>
              <a:spcPct val="90000"/>
            </a:lnSpc>
            <a:spcBef>
              <a:spcPct val="0"/>
            </a:spcBef>
            <a:spcAft>
              <a:spcPct val="35000"/>
            </a:spcAft>
            <a:buNone/>
          </a:pPr>
          <a:endParaRPr lang="en-US" sz="2800" kern="1200" dirty="0"/>
        </a:p>
        <a:p>
          <a:pPr marL="0" lvl="0" indent="0" algn="ctr" defTabSz="1066800">
            <a:lnSpc>
              <a:spcPct val="90000"/>
            </a:lnSpc>
            <a:spcBef>
              <a:spcPct val="0"/>
            </a:spcBef>
            <a:spcAft>
              <a:spcPct val="35000"/>
            </a:spcAft>
            <a:buNone/>
          </a:pPr>
          <a:r>
            <a:rPr lang="en-US" sz="3000" b="1" kern="1200" dirty="0"/>
            <a:t>Trial Courts</a:t>
          </a:r>
        </a:p>
      </dsp:txBody>
      <dsp:txXfrm>
        <a:off x="973454" y="3149599"/>
        <a:ext cx="3615690" cy="15747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BE269C-9A96-40DE-81DF-BACD35944995}">
      <dsp:nvSpPr>
        <dsp:cNvPr id="0" name=""/>
        <dsp:cNvSpPr/>
      </dsp:nvSpPr>
      <dsp:spPr>
        <a:xfrm>
          <a:off x="0" y="65490"/>
          <a:ext cx="6740553" cy="835379"/>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Where is your case – in federal court or a specific state court (which state)?</a:t>
          </a:r>
        </a:p>
      </dsp:txBody>
      <dsp:txXfrm>
        <a:off x="40780" y="106270"/>
        <a:ext cx="6658993" cy="753819"/>
      </dsp:txXfrm>
    </dsp:sp>
    <dsp:sp modelId="{4ED3BB3A-466E-4A71-A2C7-DD661C88FAB5}">
      <dsp:nvSpPr>
        <dsp:cNvPr id="0" name=""/>
        <dsp:cNvSpPr/>
      </dsp:nvSpPr>
      <dsp:spPr>
        <a:xfrm>
          <a:off x="0" y="961350"/>
          <a:ext cx="6740553" cy="835379"/>
        </a:xfrm>
        <a:prstGeom prst="roundRect">
          <a:avLst/>
        </a:prstGeom>
        <a:gradFill rotWithShape="0">
          <a:gsLst>
            <a:gs pos="0">
              <a:schemeClr val="accent2">
                <a:hueOff val="-443578"/>
                <a:satOff val="2739"/>
                <a:lumOff val="-392"/>
                <a:alphaOff val="0"/>
                <a:tint val="98000"/>
                <a:lumMod val="114000"/>
              </a:schemeClr>
            </a:gs>
            <a:gs pos="100000">
              <a:schemeClr val="accent2">
                <a:hueOff val="-443578"/>
                <a:satOff val="2739"/>
                <a:lumOff val="-392"/>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Do any enacted laws from the jurisdiction apply? </a:t>
          </a:r>
        </a:p>
      </dsp:txBody>
      <dsp:txXfrm>
        <a:off x="40780" y="1002130"/>
        <a:ext cx="6658993" cy="753819"/>
      </dsp:txXfrm>
    </dsp:sp>
    <dsp:sp modelId="{9F8DE341-5490-4F21-B1E1-D18E640CD467}">
      <dsp:nvSpPr>
        <dsp:cNvPr id="0" name=""/>
        <dsp:cNvSpPr/>
      </dsp:nvSpPr>
      <dsp:spPr>
        <a:xfrm>
          <a:off x="0" y="1857210"/>
          <a:ext cx="6740553" cy="835379"/>
        </a:xfrm>
        <a:prstGeom prst="roundRect">
          <a:avLst/>
        </a:prstGeom>
        <a:gradFill rotWithShape="0">
          <a:gsLst>
            <a:gs pos="0">
              <a:schemeClr val="accent2">
                <a:hueOff val="-887157"/>
                <a:satOff val="5477"/>
                <a:lumOff val="-784"/>
                <a:alphaOff val="0"/>
                <a:tint val="98000"/>
                <a:lumMod val="114000"/>
              </a:schemeClr>
            </a:gs>
            <a:gs pos="100000">
              <a:schemeClr val="accent2">
                <a:hueOff val="-887157"/>
                <a:satOff val="5477"/>
                <a:lumOff val="-784"/>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Is there an on-point opinion from a higher court to which your case could be appealed?</a:t>
          </a:r>
        </a:p>
      </dsp:txBody>
      <dsp:txXfrm>
        <a:off x="40780" y="1897990"/>
        <a:ext cx="6658993" cy="753819"/>
      </dsp:txXfrm>
    </dsp:sp>
    <dsp:sp modelId="{5E1ED1C2-DFBB-4482-BCBC-8B724E73466C}">
      <dsp:nvSpPr>
        <dsp:cNvPr id="0" name=""/>
        <dsp:cNvSpPr/>
      </dsp:nvSpPr>
      <dsp:spPr>
        <a:xfrm>
          <a:off x="0" y="2753070"/>
          <a:ext cx="6740553" cy="835379"/>
        </a:xfrm>
        <a:prstGeom prst="roundRect">
          <a:avLst/>
        </a:prstGeom>
        <a:gradFill rotWithShape="0">
          <a:gsLst>
            <a:gs pos="0">
              <a:schemeClr val="accent2">
                <a:hueOff val="-1330735"/>
                <a:satOff val="8216"/>
                <a:lumOff val="-1176"/>
                <a:alphaOff val="0"/>
                <a:tint val="98000"/>
                <a:lumMod val="114000"/>
              </a:schemeClr>
            </a:gs>
            <a:gs pos="100000">
              <a:schemeClr val="accent2">
                <a:hueOff val="-1330735"/>
                <a:satOff val="8216"/>
                <a:lumOff val="-1176"/>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Is there an on-point opinion from the same appellate court in which your case is pending? </a:t>
          </a:r>
        </a:p>
      </dsp:txBody>
      <dsp:txXfrm>
        <a:off x="40780" y="2793850"/>
        <a:ext cx="6658993" cy="75381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AC7CCB-83B2-4810-9AF8-62A28179F1BB}">
      <dsp:nvSpPr>
        <dsp:cNvPr id="0" name=""/>
        <dsp:cNvSpPr/>
      </dsp:nvSpPr>
      <dsp:spPr>
        <a:xfrm>
          <a:off x="0" y="37530"/>
          <a:ext cx="6496050" cy="1031354"/>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b="0" i="0" kern="1200"/>
            <a:t>Problem Analysis</a:t>
          </a:r>
          <a:endParaRPr lang="en-US" sz="4300" kern="1200"/>
        </a:p>
      </dsp:txBody>
      <dsp:txXfrm>
        <a:off x="50347" y="87877"/>
        <a:ext cx="6395356" cy="930660"/>
      </dsp:txXfrm>
    </dsp:sp>
    <dsp:sp modelId="{7262C2EC-4F06-446A-96E9-E8C0A6FB592A}">
      <dsp:nvSpPr>
        <dsp:cNvPr id="0" name=""/>
        <dsp:cNvSpPr/>
      </dsp:nvSpPr>
      <dsp:spPr>
        <a:xfrm>
          <a:off x="0" y="1192725"/>
          <a:ext cx="6496050" cy="1031354"/>
        </a:xfrm>
        <a:prstGeom prst="roundRect">
          <a:avLst/>
        </a:prstGeom>
        <a:gradFill rotWithShape="0">
          <a:gsLst>
            <a:gs pos="0">
              <a:schemeClr val="accent2">
                <a:hueOff val="-443578"/>
                <a:satOff val="2739"/>
                <a:lumOff val="-392"/>
                <a:alphaOff val="0"/>
                <a:tint val="98000"/>
                <a:lumMod val="114000"/>
              </a:schemeClr>
            </a:gs>
            <a:gs pos="100000">
              <a:schemeClr val="accent2">
                <a:hueOff val="-443578"/>
                <a:satOff val="2739"/>
                <a:lumOff val="-392"/>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b="0" i="0" kern="1200"/>
            <a:t>Issue Analysis </a:t>
          </a:r>
          <a:endParaRPr lang="en-US" sz="4300" kern="1200"/>
        </a:p>
      </dsp:txBody>
      <dsp:txXfrm>
        <a:off x="50347" y="1243072"/>
        <a:ext cx="6395356" cy="930660"/>
      </dsp:txXfrm>
    </dsp:sp>
    <dsp:sp modelId="{1B067EB2-1028-4133-995D-A6E6CC346706}">
      <dsp:nvSpPr>
        <dsp:cNvPr id="0" name=""/>
        <dsp:cNvSpPr/>
      </dsp:nvSpPr>
      <dsp:spPr>
        <a:xfrm>
          <a:off x="0" y="2347920"/>
          <a:ext cx="6496050" cy="1031354"/>
        </a:xfrm>
        <a:prstGeom prst="roundRect">
          <a:avLst/>
        </a:prstGeom>
        <a:gradFill rotWithShape="0">
          <a:gsLst>
            <a:gs pos="0">
              <a:schemeClr val="accent2">
                <a:hueOff val="-887157"/>
                <a:satOff val="5477"/>
                <a:lumOff val="-784"/>
                <a:alphaOff val="0"/>
                <a:tint val="98000"/>
                <a:lumMod val="114000"/>
              </a:schemeClr>
            </a:gs>
            <a:gs pos="100000">
              <a:schemeClr val="accent2">
                <a:hueOff val="-887157"/>
                <a:satOff val="5477"/>
                <a:lumOff val="-784"/>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b="0" i="0" kern="1200"/>
            <a:t>Statutory Analysis </a:t>
          </a:r>
          <a:endParaRPr lang="en-US" sz="4300" kern="1200"/>
        </a:p>
      </dsp:txBody>
      <dsp:txXfrm>
        <a:off x="50347" y="2398267"/>
        <a:ext cx="6395356" cy="930660"/>
      </dsp:txXfrm>
    </dsp:sp>
    <dsp:sp modelId="{5F83B12E-E2CD-4068-B01F-31EF3B8DEBA0}">
      <dsp:nvSpPr>
        <dsp:cNvPr id="0" name=""/>
        <dsp:cNvSpPr/>
      </dsp:nvSpPr>
      <dsp:spPr>
        <a:xfrm>
          <a:off x="0" y="3503115"/>
          <a:ext cx="6496050" cy="1031354"/>
        </a:xfrm>
        <a:prstGeom prst="roundRect">
          <a:avLst/>
        </a:prstGeom>
        <a:gradFill rotWithShape="0">
          <a:gsLst>
            <a:gs pos="0">
              <a:schemeClr val="accent2">
                <a:hueOff val="-1330735"/>
                <a:satOff val="8216"/>
                <a:lumOff val="-1176"/>
                <a:alphaOff val="0"/>
                <a:tint val="98000"/>
                <a:lumMod val="114000"/>
              </a:schemeClr>
            </a:gs>
            <a:gs pos="100000">
              <a:schemeClr val="accent2">
                <a:hueOff val="-1330735"/>
                <a:satOff val="8216"/>
                <a:lumOff val="-1176"/>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b="0" i="0" kern="1200"/>
            <a:t>Case Analysis</a:t>
          </a:r>
          <a:endParaRPr lang="en-US" sz="4300" kern="1200"/>
        </a:p>
      </dsp:txBody>
      <dsp:txXfrm>
        <a:off x="50347" y="3553462"/>
        <a:ext cx="6395356" cy="93066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1E4E81-FEA8-4BF3-8BC9-574F636816CE}"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8BF6C6-2BFD-438F-82A3-1BC64B469E54}" type="slidenum">
              <a:rPr lang="en-US" smtClean="0"/>
              <a:t>‹#›</a:t>
            </a:fld>
            <a:endParaRPr lang="en-US"/>
          </a:p>
        </p:txBody>
      </p:sp>
    </p:spTree>
    <p:extLst>
      <p:ext uri="{BB962C8B-B14F-4D97-AF65-F5344CB8AC3E}">
        <p14:creationId xmlns:p14="http://schemas.microsoft.com/office/powerpoint/2010/main" val="2391447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2E577F-3AAC-42A8-ADF6-40F64E6B6B5C}" type="slidenum">
              <a:rPr lang="en-US" smtClean="0"/>
              <a:pPr/>
              <a:t>7</a:t>
            </a:fld>
            <a:endParaRPr lang="en-US"/>
          </a:p>
        </p:txBody>
      </p:sp>
    </p:spTree>
    <p:extLst>
      <p:ext uri="{BB962C8B-B14F-4D97-AF65-F5344CB8AC3E}">
        <p14:creationId xmlns:p14="http://schemas.microsoft.com/office/powerpoint/2010/main" val="1181591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0C871F12-65E7-40AD-8AFF-863A154596D1}" type="slidenum">
              <a:rPr lang="en-US" smtClean="0"/>
              <a:pPr/>
              <a:t>8</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5363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20 of Becoming a Legal Writer. </a:t>
            </a:r>
          </a:p>
        </p:txBody>
      </p:sp>
      <p:sp>
        <p:nvSpPr>
          <p:cNvPr id="4" name="Slide Number Placeholder 3"/>
          <p:cNvSpPr>
            <a:spLocks noGrp="1"/>
          </p:cNvSpPr>
          <p:nvPr>
            <p:ph type="sldNum" sz="quarter" idx="5"/>
          </p:nvPr>
        </p:nvSpPr>
        <p:spPr/>
        <p:txBody>
          <a:bodyPr/>
          <a:lstStyle/>
          <a:p>
            <a:fld id="{C68BF6C6-2BFD-438F-82A3-1BC64B469E54}" type="slidenum">
              <a:rPr lang="en-US" smtClean="0"/>
              <a:t>9</a:t>
            </a:fld>
            <a:endParaRPr lang="en-US"/>
          </a:p>
        </p:txBody>
      </p:sp>
    </p:spTree>
    <p:extLst>
      <p:ext uri="{BB962C8B-B14F-4D97-AF65-F5344CB8AC3E}">
        <p14:creationId xmlns:p14="http://schemas.microsoft.com/office/powerpoint/2010/main" val="3693669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2E577F-3AAC-42A8-ADF6-40F64E6B6B5C}" type="slidenum">
              <a:rPr lang="en-US" smtClean="0"/>
              <a:pPr/>
              <a:t>10</a:t>
            </a:fld>
            <a:endParaRPr lang="en-US"/>
          </a:p>
        </p:txBody>
      </p:sp>
    </p:spTree>
    <p:extLst>
      <p:ext uri="{BB962C8B-B14F-4D97-AF65-F5344CB8AC3E}">
        <p14:creationId xmlns:p14="http://schemas.microsoft.com/office/powerpoint/2010/main" val="1591477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81E2F726-ABEF-4341-B2A6-4760D0114F12}" type="slidenum">
              <a:rPr lang="en-US" smtClean="0"/>
              <a:pPr/>
              <a:t>12</a:t>
            </a:fld>
            <a:endParaRPr 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64091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ED24057-EA6E-404B-A215-19D1548BF981}" type="slidenum">
              <a:rPr lang="en-US" smtClean="0"/>
              <a:pPr/>
              <a:t>13</a:t>
            </a:fld>
            <a:endParaRPr 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40563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2E577F-3AAC-42A8-ADF6-40F64E6B6B5C}" type="slidenum">
              <a:rPr lang="en-US" smtClean="0"/>
              <a:pPr/>
              <a:t>14</a:t>
            </a:fld>
            <a:endParaRPr lang="en-US"/>
          </a:p>
        </p:txBody>
      </p:sp>
    </p:spTree>
    <p:extLst>
      <p:ext uri="{BB962C8B-B14F-4D97-AF65-F5344CB8AC3E}">
        <p14:creationId xmlns:p14="http://schemas.microsoft.com/office/powerpoint/2010/main" val="2540267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69FFC1CD-CEF5-43A8-A90A-004C5B0C3420}" type="slidenum">
              <a:rPr lang="en-US" smtClean="0"/>
              <a:pPr/>
              <a:t>15</a:t>
            </a:fld>
            <a:endParaRPr lang="en-US"/>
          </a:p>
        </p:txBody>
      </p:sp>
      <p:sp>
        <p:nvSpPr>
          <p:cNvPr id="28675" name="Rectangle 2"/>
          <p:cNvSpPr>
            <a:spLocks noGrp="1" noRot="1" noChangeAspect="1" noChangeArrowheads="1" noTextEdit="1"/>
          </p:cNvSpPr>
          <p:nvPr>
            <p:ph type="sldImg"/>
          </p:nvPr>
        </p:nvSpPr>
        <p:spPr>
          <a:xfrm>
            <a:off x="331788" y="696913"/>
            <a:ext cx="6197600" cy="3486150"/>
          </a:xfrm>
          <a:ln/>
        </p:spPr>
      </p:sp>
      <p:sp>
        <p:nvSpPr>
          <p:cNvPr id="28676" name="Rectangle 3"/>
          <p:cNvSpPr>
            <a:spLocks noGrp="1" noChangeArrowheads="1"/>
          </p:cNvSpPr>
          <p:nvPr>
            <p:ph type="body" idx="1"/>
          </p:nvPr>
        </p:nvSpPr>
        <p:spPr>
          <a:xfrm>
            <a:off x="914400" y="4416425"/>
            <a:ext cx="5029200" cy="4183063"/>
          </a:xfrm>
          <a:noFill/>
          <a:ln/>
        </p:spPr>
        <p:txBody>
          <a:bodyPr/>
          <a:lstStyle/>
          <a:p>
            <a:pPr eaLnBrk="1" hangingPunct="1"/>
            <a:r>
              <a:rPr lang="en-US"/>
              <a:t>Go over hypos here-  read them </a:t>
            </a:r>
          </a:p>
        </p:txBody>
      </p:sp>
    </p:spTree>
    <p:extLst>
      <p:ext uri="{BB962C8B-B14F-4D97-AF65-F5344CB8AC3E}">
        <p14:creationId xmlns:p14="http://schemas.microsoft.com/office/powerpoint/2010/main" val="2328502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2E577F-3AAC-42A8-ADF6-40F64E6B6B5C}" type="slidenum">
              <a:rPr lang="en-US" smtClean="0"/>
              <a:pPr/>
              <a:t>16</a:t>
            </a:fld>
            <a:endParaRPr lang="en-US"/>
          </a:p>
        </p:txBody>
      </p:sp>
    </p:spTree>
    <p:extLst>
      <p:ext uri="{BB962C8B-B14F-4D97-AF65-F5344CB8AC3E}">
        <p14:creationId xmlns:p14="http://schemas.microsoft.com/office/powerpoint/2010/main" val="3149324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072520-4D46-423A-A292-F40B3F894B6B}"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2642859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072520-4D46-423A-A292-F40B3F894B6B}"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2338658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072520-4D46-423A-A292-F40B3F894B6B}"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1413330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072520-4D46-423A-A292-F40B3F894B6B}"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602693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072520-4D46-423A-A292-F40B3F894B6B}"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55844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E072520-4D46-423A-A292-F40B3F894B6B}" type="datetimeFigureOut">
              <a:rPr lang="en-US" smtClean="0"/>
              <a:t>9/22/2026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3570602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E072520-4D46-423A-A292-F40B3F894B6B}" type="datetimeFigureOut">
              <a:rPr lang="en-US" smtClean="0"/>
              <a:t>9/22/2026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1139006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E072520-4D46-423A-A292-F40B3F894B6B}" type="datetimeFigureOut">
              <a:rPr lang="en-US" smtClean="0"/>
              <a:t>9/22/2026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3940522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072520-4D46-423A-A292-F40B3F894B6B}"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2322372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072520-4D46-423A-A292-F40B3F894B6B}"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3505393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072520-4D46-423A-A292-F40B3F894B6B}"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95337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072520-4D46-423A-A292-F40B3F894B6B}"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6301185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072520-4D46-423A-A292-F40B3F894B6B}"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3181823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072520-4D46-423A-A292-F40B3F894B6B}" type="datetimeFigureOut">
              <a:rPr lang="en-US" smtClean="0"/>
              <a:t>9/22/2026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17042227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072520-4D46-423A-A292-F40B3F894B6B}" type="datetimeFigureOut">
              <a:rPr lang="en-US" smtClean="0"/>
              <a:t>9/22/2026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6264339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072520-4D46-423A-A292-F40B3F894B6B}"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33966520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072520-4D46-423A-A292-F40B3F894B6B}"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4209741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E072520-4D46-423A-A292-F40B3F894B6B}" type="datetimeFigureOut">
              <a:rPr lang="en-US" smtClean="0"/>
              <a:t>9/22/2026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6746323-BE5C-4802-8A6C-5DBFE3F3E9C0}" type="slidenum">
              <a:rPr lang="en-US" smtClean="0"/>
              <a:t>‹#›</a:t>
            </a:fld>
            <a:endParaRPr lang="en-US"/>
          </a:p>
        </p:txBody>
      </p:sp>
    </p:spTree>
    <p:extLst>
      <p:ext uri="{BB962C8B-B14F-4D97-AF65-F5344CB8AC3E}">
        <p14:creationId xmlns:p14="http://schemas.microsoft.com/office/powerpoint/2010/main" val="3592283812"/>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1.jpe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4.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7.xml"/><Relationship Id="rId7" Type="http://schemas.openxmlformats.org/officeDocument/2006/relationships/diagramColors" Target="../diagrams/colors3.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9.xml"/><Relationship Id="rId7" Type="http://schemas.openxmlformats.org/officeDocument/2006/relationships/diagramColors" Target="../diagrams/colors4.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7.xml.rels><?xml version="1.0" encoding="UTF-8" standalone="yes"?>
<Relationships xmlns="http://schemas.openxmlformats.org/package/2006/relationships"><Relationship Id="rId3" Type="http://schemas.openxmlformats.org/officeDocument/2006/relationships/hyperlink" Target="https://txcourts.gov/" TargetMode="External"/><Relationship Id="rId2" Type="http://schemas.openxmlformats.org/officeDocument/2006/relationships/hyperlink" Target="https://www.fjc.gov/history/courts/u.s.-district-courts-districts-texas" TargetMode="External"/><Relationship Id="rId1" Type="http://schemas.openxmlformats.org/officeDocument/2006/relationships/slideLayout" Target="../slideLayouts/slideLayout3.xml"/><Relationship Id="rId4" Type="http://schemas.openxmlformats.org/officeDocument/2006/relationships/image" Target="../media/image16.svg"/></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7853E-9734-0C71-E79B-F9A1B5463455}"/>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A7BB9351-D8FF-DFCA-5BF6-C809EF78F17D}"/>
              </a:ext>
            </a:extLst>
          </p:cNvPr>
          <p:cNvSpPr>
            <a:spLocks noGrp="1"/>
          </p:cNvSpPr>
          <p:nvPr>
            <p:ph idx="1"/>
          </p:nvPr>
        </p:nvSpPr>
        <p:spPr/>
        <p:txBody>
          <a:bodyPr>
            <a:normAutofit/>
          </a:bodyPr>
          <a:lstStyle/>
          <a:p>
            <a:r>
              <a:rPr lang="en-US" sz="2400" dirty="0"/>
              <a:t>Congratulations on turning in your Closed Memo! </a:t>
            </a:r>
          </a:p>
          <a:p>
            <a:r>
              <a:rPr lang="en-US" sz="2400" dirty="0"/>
              <a:t>I will post a link in Microsoft Bookings for you to sign-up for a conference time for discuss your Closed Memo Discussion Section. Your conference will be 5% of your total grade this semester. They will be held September 23 – October 2. </a:t>
            </a:r>
          </a:p>
          <a:p>
            <a:r>
              <a:rPr lang="en-US" sz="2400" dirty="0"/>
              <a:t>We will be focusing on research for the next 4 weeks.  Bring your laptop to every class! Your in-class research assessment is on October 8. It will count for 15% of your total grade this semester. </a:t>
            </a:r>
          </a:p>
          <a:p>
            <a:pPr marL="0" indent="0">
              <a:buNone/>
            </a:pPr>
            <a:endParaRPr lang="en-US" sz="2400" dirty="0"/>
          </a:p>
          <a:p>
            <a:endParaRPr lang="en-US" dirty="0"/>
          </a:p>
        </p:txBody>
      </p:sp>
    </p:spTree>
    <p:extLst>
      <p:ext uri="{BB962C8B-B14F-4D97-AF65-F5344CB8AC3E}">
        <p14:creationId xmlns:p14="http://schemas.microsoft.com/office/powerpoint/2010/main" val="3548317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E5F7-A2EE-18C7-3B37-EA24B1CC99EF}"/>
              </a:ext>
            </a:extLst>
          </p:cNvPr>
          <p:cNvSpPr>
            <a:spLocks noGrp="1"/>
          </p:cNvSpPr>
          <p:nvPr>
            <p:ph type="title"/>
          </p:nvPr>
        </p:nvSpPr>
        <p:spPr/>
        <p:txBody>
          <a:bodyPr/>
          <a:lstStyle/>
          <a:p>
            <a:r>
              <a:rPr lang="en-US" dirty="0"/>
              <a:t>Legal Writing Center Workshops – Required to Attend One of These</a:t>
            </a:r>
          </a:p>
        </p:txBody>
      </p:sp>
      <p:sp>
        <p:nvSpPr>
          <p:cNvPr id="3" name="Content Placeholder 2">
            <a:extLst>
              <a:ext uri="{FF2B5EF4-FFF2-40B4-BE49-F238E27FC236}">
                <a16:creationId xmlns:a16="http://schemas.microsoft.com/office/drawing/2014/main" id="{07F2F405-7279-BB0F-BB6A-F1A97D409BE4}"/>
              </a:ext>
            </a:extLst>
          </p:cNvPr>
          <p:cNvSpPr>
            <a:spLocks noGrp="1"/>
          </p:cNvSpPr>
          <p:nvPr>
            <p:ph idx="1"/>
          </p:nvPr>
        </p:nvSpPr>
        <p:spPr/>
        <p:txBody>
          <a:bodyPr>
            <a:normAutofit fontScale="70000" lnSpcReduction="20000"/>
          </a:bodyPr>
          <a:lstStyle/>
          <a:p>
            <a:pPr marL="0" indent="0">
              <a:buNone/>
            </a:pPr>
            <a:r>
              <a:rPr lang="en-US" b="1" dirty="0"/>
              <a:t>1.      Grammar and Punctuation Skills Workshop</a:t>
            </a:r>
            <a:endParaRPr lang="en-US" dirty="0"/>
          </a:p>
          <a:p>
            <a:pPr marL="0" indent="0">
              <a:buNone/>
            </a:pPr>
            <a:r>
              <a:rPr lang="en-US" dirty="0"/>
              <a:t> </a:t>
            </a:r>
          </a:p>
          <a:p>
            <a:pPr marL="0" indent="0">
              <a:buNone/>
            </a:pPr>
            <a:r>
              <a:rPr lang="en-US" dirty="0"/>
              <a:t>·       </a:t>
            </a:r>
            <a:r>
              <a:rPr lang="en-US" u="sng" dirty="0"/>
              <a:t>Team</a:t>
            </a:r>
            <a:r>
              <a:rPr lang="en-US" dirty="0"/>
              <a:t>: Erin Eldridge, Sophia Kostiuk, Casey McKee, and Kevin “Mark” Richards</a:t>
            </a:r>
          </a:p>
          <a:p>
            <a:pPr marL="0" indent="0">
              <a:buNone/>
            </a:pPr>
            <a:r>
              <a:rPr lang="en-US" dirty="0"/>
              <a:t> </a:t>
            </a:r>
          </a:p>
          <a:p>
            <a:pPr marL="0" indent="0">
              <a:buNone/>
            </a:pPr>
            <a:r>
              <a:rPr lang="en-US" dirty="0"/>
              <a:t>·       </a:t>
            </a:r>
            <a:r>
              <a:rPr lang="en-US" u="sng" dirty="0"/>
              <a:t>Date</a:t>
            </a:r>
            <a:r>
              <a:rPr lang="en-US" dirty="0"/>
              <a:t>: Wednesday, September 23, from 12:00 p.m. to 12:50 p.m.</a:t>
            </a:r>
          </a:p>
          <a:p>
            <a:pPr marL="0" indent="0">
              <a:buNone/>
            </a:pPr>
            <a:r>
              <a:rPr lang="en-US" dirty="0"/>
              <a:t> </a:t>
            </a:r>
          </a:p>
          <a:p>
            <a:pPr marL="0" indent="0">
              <a:buNone/>
            </a:pPr>
            <a:r>
              <a:rPr lang="en-US" dirty="0"/>
              <a:t>·       </a:t>
            </a:r>
            <a:r>
              <a:rPr lang="en-US" u="sng" dirty="0"/>
              <a:t>Location</a:t>
            </a:r>
            <a:r>
              <a:rPr lang="en-US" dirty="0"/>
              <a:t>: Room 220</a:t>
            </a:r>
          </a:p>
          <a:p>
            <a:pPr marL="0" indent="0">
              <a:buNone/>
            </a:pPr>
            <a:r>
              <a:rPr lang="en-US" b="1" dirty="0"/>
              <a:t>2.      </a:t>
            </a:r>
            <a:r>
              <a:rPr lang="en-US" b="1" i="1" dirty="0"/>
              <a:t>Bluebook </a:t>
            </a:r>
            <a:r>
              <a:rPr lang="en-US" b="1" dirty="0"/>
              <a:t>Citation Skills Workshop</a:t>
            </a:r>
            <a:endParaRPr lang="en-US" dirty="0"/>
          </a:p>
          <a:p>
            <a:pPr marL="0" indent="0">
              <a:buNone/>
            </a:pPr>
            <a:r>
              <a:rPr lang="en-US" dirty="0"/>
              <a:t> </a:t>
            </a:r>
          </a:p>
          <a:p>
            <a:pPr marL="0" indent="0">
              <a:buNone/>
            </a:pPr>
            <a:r>
              <a:rPr lang="en-US" dirty="0"/>
              <a:t>·       </a:t>
            </a:r>
            <a:r>
              <a:rPr lang="en-US" u="sng" dirty="0"/>
              <a:t>Team</a:t>
            </a:r>
            <a:r>
              <a:rPr lang="en-US" dirty="0"/>
              <a:t>: Maria Magana, Emma Schmitt, and Sarah Williams</a:t>
            </a:r>
          </a:p>
          <a:p>
            <a:pPr marL="0" indent="0">
              <a:buNone/>
            </a:pPr>
            <a:r>
              <a:rPr lang="en-US" dirty="0"/>
              <a:t> </a:t>
            </a:r>
          </a:p>
          <a:p>
            <a:pPr marL="0" indent="0">
              <a:buNone/>
            </a:pPr>
            <a:r>
              <a:rPr lang="en-US" dirty="0"/>
              <a:t>·       </a:t>
            </a:r>
            <a:r>
              <a:rPr lang="en-US" u="sng" dirty="0"/>
              <a:t>Date</a:t>
            </a:r>
            <a:r>
              <a:rPr lang="en-US" dirty="0"/>
              <a:t>: Wednesday, October 28, from 12:00 p.m. to 12:50 p.m.</a:t>
            </a:r>
          </a:p>
          <a:p>
            <a:pPr marL="0" indent="0">
              <a:buNone/>
            </a:pPr>
            <a:r>
              <a:rPr lang="en-US" dirty="0"/>
              <a:t> </a:t>
            </a:r>
          </a:p>
          <a:p>
            <a:pPr marL="0" indent="0">
              <a:buNone/>
            </a:pPr>
            <a:r>
              <a:rPr lang="en-US" dirty="0"/>
              <a:t>·       </a:t>
            </a:r>
            <a:r>
              <a:rPr lang="en-US" u="sng" dirty="0"/>
              <a:t>Location</a:t>
            </a:r>
            <a:r>
              <a:rPr lang="en-US" dirty="0"/>
              <a:t>: Room 220</a:t>
            </a:r>
          </a:p>
          <a:p>
            <a:pPr marL="0" indent="0">
              <a:buNone/>
            </a:pPr>
            <a:endParaRPr lang="en-US" dirty="0"/>
          </a:p>
        </p:txBody>
      </p:sp>
    </p:spTree>
    <p:extLst>
      <p:ext uri="{BB962C8B-B14F-4D97-AF65-F5344CB8AC3E}">
        <p14:creationId xmlns:p14="http://schemas.microsoft.com/office/powerpoint/2010/main" val="3546230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381570-2E61-941D-F9C7-D482198701B7}"/>
              </a:ext>
            </a:extLst>
          </p:cNvPr>
          <p:cNvSpPr>
            <a:spLocks noGrp="1"/>
          </p:cNvSpPr>
          <p:nvPr>
            <p:ph type="title"/>
          </p:nvPr>
        </p:nvSpPr>
        <p:spPr/>
        <p:txBody>
          <a:bodyPr/>
          <a:lstStyle/>
          <a:p>
            <a:r>
              <a:rPr lang="en-US" sz="3600" dirty="0"/>
              <a:t>How To Prepare For Your Closed Memo Discussion Section Conference</a:t>
            </a:r>
          </a:p>
        </p:txBody>
      </p:sp>
      <p:sp>
        <p:nvSpPr>
          <p:cNvPr id="5" name="Content Placeholder 4">
            <a:extLst>
              <a:ext uri="{FF2B5EF4-FFF2-40B4-BE49-F238E27FC236}">
                <a16:creationId xmlns:a16="http://schemas.microsoft.com/office/drawing/2014/main" id="{D8AF868E-88FC-CA75-DBF6-6998003B8B6D}"/>
              </a:ext>
            </a:extLst>
          </p:cNvPr>
          <p:cNvSpPr>
            <a:spLocks noGrp="1"/>
          </p:cNvSpPr>
          <p:nvPr>
            <p:ph idx="1"/>
          </p:nvPr>
        </p:nvSpPr>
        <p:spPr/>
        <p:txBody>
          <a:bodyPr>
            <a:normAutofit fontScale="70000" lnSpcReduction="20000"/>
          </a:bodyPr>
          <a:lstStyle/>
          <a:p>
            <a:r>
              <a:rPr lang="en-US" dirty="0"/>
              <a:t>Present your discussion section by addressing the following (include principle we included in class):</a:t>
            </a:r>
          </a:p>
          <a:p>
            <a:pPr lvl="1"/>
            <a:r>
              <a:rPr lang="en-US" dirty="0"/>
              <a:t>Discuss the organization (CREAC) of your discussion section. </a:t>
            </a:r>
          </a:p>
          <a:p>
            <a:pPr lvl="1"/>
            <a:r>
              <a:rPr lang="en-US" dirty="0"/>
              <a:t>Describe how you constructed your rule statement.</a:t>
            </a:r>
          </a:p>
          <a:p>
            <a:pPr lvl="1"/>
            <a:r>
              <a:rPr lang="en-US" dirty="0"/>
              <a:t>Explain how you chose your case illustrations and why you positioned them where you did. (Why did you choose the case(s) that you did to support your conclusion? How did you distinguish case(s) that did not support your conclusion?)</a:t>
            </a:r>
          </a:p>
          <a:p>
            <a:pPr lvl="1"/>
            <a:r>
              <a:rPr lang="en-US" dirty="0"/>
              <a:t>Discuss your fact comparisons in your application sections</a:t>
            </a:r>
          </a:p>
          <a:p>
            <a:pPr lvl="2"/>
            <a:r>
              <a:rPr lang="en-US" dirty="0"/>
              <a:t>How did you choose which facts to compare?</a:t>
            </a:r>
          </a:p>
          <a:p>
            <a:pPr lvl="2"/>
            <a:r>
              <a:rPr lang="en-US" dirty="0"/>
              <a:t>Did you directly compare Jalen’s facts with the facts from the case law?</a:t>
            </a:r>
          </a:p>
          <a:p>
            <a:pPr lvl="2"/>
            <a:r>
              <a:rPr lang="en-US" dirty="0"/>
              <a:t>In the cases that supported your conclusion, how did you choose to address facts in that differed from Jalen’s?</a:t>
            </a:r>
          </a:p>
          <a:p>
            <a:r>
              <a:rPr lang="en-US" dirty="0"/>
              <a:t>Which part of the assignment came easiest to you and where did you struggle?</a:t>
            </a:r>
          </a:p>
          <a:p>
            <a:r>
              <a:rPr lang="en-US" dirty="0"/>
              <a:t>Be sure to discuss how you used the principles we have discussed in class so far. I am not looking for perfection, but </a:t>
            </a:r>
            <a:r>
              <a:rPr lang="en-US" b="1" dirty="0"/>
              <a:t>thoughtful preparation</a:t>
            </a:r>
            <a:r>
              <a:rPr lang="en-US" dirty="0"/>
              <a:t>. The act of writing the discussion section should get you most of the way there, but make sure to come ready to thoroughly discuss. </a:t>
            </a:r>
          </a:p>
          <a:p>
            <a:pPr lvl="2"/>
            <a:endParaRPr lang="en-US" dirty="0"/>
          </a:p>
          <a:p>
            <a:endParaRPr lang="en-US" dirty="0"/>
          </a:p>
          <a:p>
            <a:pPr marL="0" indent="0">
              <a:buNone/>
            </a:pPr>
            <a:endParaRPr lang="en-US" dirty="0"/>
          </a:p>
        </p:txBody>
      </p:sp>
    </p:spTree>
    <p:extLst>
      <p:ext uri="{BB962C8B-B14F-4D97-AF65-F5344CB8AC3E}">
        <p14:creationId xmlns:p14="http://schemas.microsoft.com/office/powerpoint/2010/main" val="3402813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9538A-2A89-47DD-996C-7D2BE2AB6C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BE4A71-4F5D-77EB-B60F-86C58FCA5D95}"/>
              </a:ext>
            </a:extLst>
          </p:cNvPr>
          <p:cNvSpPr>
            <a:spLocks noGrp="1"/>
          </p:cNvSpPr>
          <p:nvPr>
            <p:ph type="title"/>
          </p:nvPr>
        </p:nvSpPr>
        <p:spPr>
          <a:xfrm>
            <a:off x="643855" y="1447800"/>
            <a:ext cx="3108626" cy="4572000"/>
          </a:xfrm>
        </p:spPr>
        <p:txBody>
          <a:bodyPr anchor="ctr">
            <a:normAutofit/>
          </a:bodyPr>
          <a:lstStyle/>
          <a:p>
            <a:r>
              <a:rPr lang="en-US" sz="3600">
                <a:solidFill>
                  <a:srgbClr val="EBEBEB"/>
                </a:solidFill>
              </a:rPr>
              <a:t>Today</a:t>
            </a:r>
          </a:p>
        </p:txBody>
      </p:sp>
      <p:sp>
        <p:nvSpPr>
          <p:cNvPr id="11" name="Freeform: Shape 10">
            <a:extLst>
              <a:ext uri="{FF2B5EF4-FFF2-40B4-BE49-F238E27FC236}">
                <a16:creationId xmlns:a16="http://schemas.microsoft.com/office/drawing/2014/main" id="{E625979B-5325-4898-8EF9-5C174B192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1">
            <a:extLst>
              <a:ext uri="{FF2B5EF4-FFF2-40B4-BE49-F238E27FC236}">
                <a16:creationId xmlns:a16="http://schemas.microsoft.com/office/drawing/2014/main" id="{34B22E2B-30D5-47A4-97C5-091EA1AB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5" name="Rectangle 14">
            <a:extLst>
              <a:ext uri="{FF2B5EF4-FFF2-40B4-BE49-F238E27FC236}">
                <a16:creationId xmlns:a16="http://schemas.microsoft.com/office/drawing/2014/main" id="{9B6DA3CD-A002-40ED-8194-B4E637BD7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7909ACF2-F472-833B-409B-370AB55DCF93}"/>
              </a:ext>
            </a:extLst>
          </p:cNvPr>
          <p:cNvGraphicFramePr>
            <a:graphicFrameLocks noGrp="1"/>
          </p:cNvGraphicFramePr>
          <p:nvPr>
            <p:ph idx="1"/>
            <p:extLst>
              <p:ext uri="{D42A27DB-BD31-4B8C-83A1-F6EECF244321}">
                <p14:modId xmlns:p14="http://schemas.microsoft.com/office/powerpoint/2010/main" val="3173967746"/>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5986810"/>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3240D06-11BF-0FC4-2904-47ED08AAA1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6601" y="699325"/>
            <a:ext cx="8178799" cy="5459348"/>
          </a:xfrm>
          <a:prstGeom prst="rect">
            <a:avLst/>
          </a:prstGeom>
        </p:spPr>
      </p:pic>
    </p:spTree>
    <p:extLst>
      <p:ext uri="{BB962C8B-B14F-4D97-AF65-F5344CB8AC3E}">
        <p14:creationId xmlns:p14="http://schemas.microsoft.com/office/powerpoint/2010/main" val="1931361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72BA77-7B3D-6EE8-E0C8-D771F87683C3}"/>
              </a:ext>
            </a:extLst>
          </p:cNvPr>
          <p:cNvSpPr>
            <a:spLocks noGrp="1"/>
          </p:cNvSpPr>
          <p:nvPr>
            <p:ph type="title"/>
          </p:nvPr>
        </p:nvSpPr>
        <p:spPr/>
        <p:txBody>
          <a:bodyPr/>
          <a:lstStyle/>
          <a:p>
            <a:r>
              <a:rPr lang="en-US" dirty="0"/>
              <a:t>Overview Question</a:t>
            </a:r>
          </a:p>
        </p:txBody>
      </p:sp>
      <p:sp>
        <p:nvSpPr>
          <p:cNvPr id="5" name="Content Placeholder 4">
            <a:extLst>
              <a:ext uri="{FF2B5EF4-FFF2-40B4-BE49-F238E27FC236}">
                <a16:creationId xmlns:a16="http://schemas.microsoft.com/office/drawing/2014/main" id="{D313EBAD-6811-CB3C-D13B-E1C333DE0324}"/>
              </a:ext>
            </a:extLst>
          </p:cNvPr>
          <p:cNvSpPr>
            <a:spLocks noGrp="1"/>
          </p:cNvSpPr>
          <p:nvPr>
            <p:ph idx="1"/>
          </p:nvPr>
        </p:nvSpPr>
        <p:spPr/>
        <p:txBody>
          <a:bodyPr>
            <a:normAutofit/>
          </a:bodyPr>
          <a:lstStyle/>
          <a:p>
            <a:r>
              <a:rPr lang="en-US" sz="2800" dirty="0"/>
              <a:t>Why do you think we started with legal analysis (CREAC) before legal research, which comes before legal analysis </a:t>
            </a:r>
            <a:r>
              <a:rPr lang="en-US" sz="2800"/>
              <a:t>in practice? </a:t>
            </a:r>
            <a:endParaRPr lang="en-US" sz="2800" dirty="0"/>
          </a:p>
        </p:txBody>
      </p:sp>
    </p:spTree>
    <p:extLst>
      <p:ext uri="{BB962C8B-B14F-4D97-AF65-F5344CB8AC3E}">
        <p14:creationId xmlns:p14="http://schemas.microsoft.com/office/powerpoint/2010/main" val="803928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04800"/>
            <a:ext cx="8458200" cy="1143000"/>
          </a:xfrm>
        </p:spPr>
        <p:txBody>
          <a:bodyPr>
            <a:normAutofit/>
          </a:bodyPr>
          <a:lstStyle/>
          <a:p>
            <a:pPr algn="l"/>
            <a:r>
              <a:rPr lang="en-US" sz="3600" dirty="0">
                <a:ln w="10160">
                  <a:solidFill>
                    <a:schemeClr val="accent1"/>
                  </a:solidFill>
                  <a:prstDash val="solid"/>
                </a:ln>
                <a:solidFill>
                  <a:srgbClr val="FF0000"/>
                </a:solidFill>
                <a:effectLst>
                  <a:outerShdw blurRad="38100" dist="32000" dir="5400000" algn="tl">
                    <a:srgbClr val="000000">
                      <a:alpha val="30000"/>
                    </a:srgbClr>
                  </a:outerShdw>
                </a:effectLst>
              </a:rPr>
              <a:t>		Law vs. Guides for Finding Law </a:t>
            </a:r>
          </a:p>
        </p:txBody>
      </p:sp>
      <p:cxnSp>
        <p:nvCxnSpPr>
          <p:cNvPr id="5" name="Straight Connector 4"/>
          <p:cNvCxnSpPr/>
          <p:nvPr/>
        </p:nvCxnSpPr>
        <p:spPr>
          <a:xfrm>
            <a:off x="1752600" y="1143000"/>
            <a:ext cx="86106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752600" y="1371600"/>
            <a:ext cx="8610600" cy="5170646"/>
          </a:xfrm>
          <a:prstGeom prst="rect">
            <a:avLst/>
          </a:prstGeom>
          <a:noFill/>
        </p:spPr>
        <p:txBody>
          <a:bodyPr wrap="square" rtlCol="0">
            <a:spAutoFit/>
          </a:bodyPr>
          <a:lstStyle/>
          <a:p>
            <a:pPr marL="457200" indent="-457200">
              <a:buFont typeface="Arial" panose="020B0604020202020204" pitchFamily="34" charset="0"/>
              <a:buChar char="•"/>
            </a:pPr>
            <a:r>
              <a:rPr lang="en-US" sz="3000" u="sng" dirty="0"/>
              <a:t>Primary Authority –any law emanating from a branch of government the (</a:t>
            </a:r>
            <a:r>
              <a:rPr lang="en-US" sz="3000" u="sng" dirty="0" err="1"/>
              <a:t>the“Law</a:t>
            </a:r>
            <a:r>
              <a:rPr lang="en-US" sz="3000" u="sng" dirty="0"/>
              <a:t>”).  </a:t>
            </a:r>
          </a:p>
          <a:p>
            <a:pPr marL="914400" lvl="1" indent="-457200">
              <a:buFont typeface="Arial" panose="020B0604020202020204" pitchFamily="34" charset="0"/>
              <a:buChar char="•"/>
            </a:pPr>
            <a:r>
              <a:rPr lang="en-US" sz="3000" u="sng" dirty="0"/>
              <a:t>Constitution</a:t>
            </a:r>
          </a:p>
          <a:p>
            <a:pPr marL="914400" lvl="1" indent="-457200">
              <a:buFont typeface="Arial" panose="020B0604020202020204" pitchFamily="34" charset="0"/>
              <a:buChar char="•"/>
            </a:pPr>
            <a:r>
              <a:rPr lang="en-US" sz="3000" u="sng" dirty="0"/>
              <a:t>Statutes</a:t>
            </a:r>
          </a:p>
          <a:p>
            <a:pPr marL="914400" lvl="1" indent="-457200">
              <a:buFont typeface="Arial" panose="020B0604020202020204" pitchFamily="34" charset="0"/>
              <a:buChar char="•"/>
            </a:pPr>
            <a:r>
              <a:rPr lang="en-US" sz="3000" u="sng" dirty="0"/>
              <a:t>Regulations</a:t>
            </a:r>
            <a:endParaRPr lang="en-US" sz="4000" dirty="0"/>
          </a:p>
          <a:p>
            <a:pPr marL="914400" lvl="1" indent="-457200">
              <a:buFont typeface="Arial" panose="020B0604020202020204" pitchFamily="34" charset="0"/>
              <a:buChar char="•"/>
            </a:pPr>
            <a:r>
              <a:rPr lang="en-US" sz="3000" u="sng" dirty="0"/>
              <a:t>Case Law</a:t>
            </a:r>
          </a:p>
          <a:p>
            <a:pPr marL="457200" indent="-457200">
              <a:buFont typeface="Arial" panose="020B0604020202020204" pitchFamily="34" charset="0"/>
              <a:buChar char="•"/>
            </a:pPr>
            <a:r>
              <a:rPr lang="en-US" sz="3000" u="sng" dirty="0"/>
              <a:t>Secondary Authority – materials that describes the law (or a guide for finding the “Law”)</a:t>
            </a:r>
          </a:p>
          <a:p>
            <a:pPr marL="914400" lvl="1" indent="-457200">
              <a:buFont typeface="Arial" panose="020B0604020202020204" pitchFamily="34" charset="0"/>
              <a:buChar char="•"/>
            </a:pPr>
            <a:r>
              <a:rPr lang="en-US" sz="3000" i="1" u="sng" dirty="0"/>
              <a:t>e.g. </a:t>
            </a:r>
            <a:r>
              <a:rPr lang="en-US" sz="3000" u="sng" dirty="0"/>
              <a:t>legal encyclopedia, </a:t>
            </a:r>
            <a:r>
              <a:rPr lang="en-US" sz="3000" u="sng" dirty="0" err="1"/>
              <a:t>treastises</a:t>
            </a:r>
            <a:r>
              <a:rPr lang="en-US" sz="3000" u="sng" dirty="0"/>
              <a:t>, dictionary, law review articles. </a:t>
            </a:r>
            <a:endParaRPr lang="en-US" sz="3000" dirty="0"/>
          </a:p>
        </p:txBody>
      </p:sp>
    </p:spTree>
    <p:custDataLst>
      <p:tags r:id="rId1"/>
    </p:custDataLst>
    <p:extLst>
      <p:ext uri="{BB962C8B-B14F-4D97-AF65-F5344CB8AC3E}">
        <p14:creationId xmlns:p14="http://schemas.microsoft.com/office/powerpoint/2010/main" val="344229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1981200" y="0"/>
            <a:ext cx="8229600" cy="685800"/>
          </a:xfrm>
        </p:spPr>
        <p:txBody>
          <a:bodyPr>
            <a:normAutofit fontScale="90000"/>
          </a:bodyPr>
          <a:lstStyle/>
          <a:p>
            <a:pPr eaLnBrk="1" hangingPunct="1">
              <a:defRPr/>
            </a:pPr>
            <a:r>
              <a:rPr lang="en-US" sz="4000" dirty="0"/>
              <a:t>										Types of Law</a:t>
            </a:r>
          </a:p>
        </p:txBody>
      </p:sp>
      <p:sp>
        <p:nvSpPr>
          <p:cNvPr id="148483" name="Rectangle 3"/>
          <p:cNvSpPr>
            <a:spLocks noGrp="1" noChangeArrowheads="1"/>
          </p:cNvSpPr>
          <p:nvPr>
            <p:ph idx="1"/>
          </p:nvPr>
        </p:nvSpPr>
        <p:spPr>
          <a:xfrm>
            <a:off x="1825625" y="762000"/>
            <a:ext cx="8540750" cy="5943600"/>
          </a:xfrm>
        </p:spPr>
        <p:txBody>
          <a:bodyPr>
            <a:normAutofit/>
          </a:bodyPr>
          <a:lstStyle/>
          <a:p>
            <a:pPr marL="609600" indent="-609600">
              <a:lnSpc>
                <a:spcPct val="80000"/>
              </a:lnSpc>
              <a:buNone/>
              <a:defRPr/>
            </a:pPr>
            <a:endParaRPr lang="en-US" sz="1200" b="1" dirty="0">
              <a:latin typeface="Georgia" pitchFamily="18" charset="0"/>
            </a:endParaRPr>
          </a:p>
          <a:p>
            <a:pPr marL="1009650" lvl="1" indent="-609600">
              <a:lnSpc>
                <a:spcPct val="80000"/>
              </a:lnSpc>
              <a:buFont typeface="Arial" charset="0"/>
              <a:buAutoNum type="arabicPeriod"/>
              <a:defRPr/>
            </a:pPr>
            <a:r>
              <a:rPr lang="en-US" sz="3200" dirty="0"/>
              <a:t>ENACTED LAW</a:t>
            </a:r>
            <a:br>
              <a:rPr lang="en-US" dirty="0"/>
            </a:br>
            <a:endParaRPr lang="en-US" dirty="0"/>
          </a:p>
          <a:p>
            <a:pPr marL="990600" lvl="1" indent="-533400">
              <a:lnSpc>
                <a:spcPct val="80000"/>
              </a:lnSpc>
              <a:defRPr/>
            </a:pPr>
            <a:r>
              <a:rPr lang="en-US" b="1" dirty="0"/>
              <a:t>Constitutional provisions</a:t>
            </a:r>
            <a:br>
              <a:rPr lang="en-US" b="1" dirty="0"/>
            </a:br>
            <a:endParaRPr lang="en-US" b="1" dirty="0"/>
          </a:p>
          <a:p>
            <a:pPr marL="990600" lvl="1" indent="-533400">
              <a:lnSpc>
                <a:spcPct val="80000"/>
              </a:lnSpc>
              <a:defRPr/>
            </a:pPr>
            <a:r>
              <a:rPr lang="en-US" b="1" dirty="0"/>
              <a:t>Statutes</a:t>
            </a:r>
            <a:br>
              <a:rPr lang="en-US" b="1" dirty="0"/>
            </a:br>
            <a:endParaRPr lang="en-US" b="1" dirty="0"/>
          </a:p>
          <a:p>
            <a:pPr marL="990600" lvl="1" indent="-533400">
              <a:lnSpc>
                <a:spcPct val="80000"/>
              </a:lnSpc>
              <a:defRPr/>
            </a:pPr>
            <a:r>
              <a:rPr lang="en-US" b="1" dirty="0"/>
              <a:t>Regulations</a:t>
            </a:r>
            <a:br>
              <a:rPr lang="en-US" b="1" dirty="0"/>
            </a:br>
            <a:endParaRPr lang="en-US" b="1" dirty="0"/>
          </a:p>
          <a:p>
            <a:pPr marL="990600" lvl="1" indent="-533400">
              <a:lnSpc>
                <a:spcPct val="80000"/>
              </a:lnSpc>
              <a:defRPr/>
            </a:pPr>
            <a:r>
              <a:rPr lang="en-US" b="1" dirty="0"/>
              <a:t>Local Ordinances</a:t>
            </a:r>
          </a:p>
          <a:p>
            <a:pPr marL="457200" lvl="1" indent="0">
              <a:lnSpc>
                <a:spcPct val="80000"/>
              </a:lnSpc>
              <a:buNone/>
              <a:defRPr/>
            </a:pPr>
            <a:endParaRPr lang="en-US" dirty="0"/>
          </a:p>
          <a:p>
            <a:pPr marL="609600" indent="-609600">
              <a:lnSpc>
                <a:spcPct val="80000"/>
              </a:lnSpc>
              <a:buFont typeface="Arial" charset="0"/>
              <a:buAutoNum type="arabicPeriod" startAt="2"/>
              <a:defRPr/>
            </a:pPr>
            <a:r>
              <a:rPr lang="en-US" sz="3600" dirty="0"/>
              <a:t>CASE LAW  </a:t>
            </a:r>
          </a:p>
          <a:p>
            <a:pPr marL="609600" indent="-609600">
              <a:lnSpc>
                <a:spcPct val="80000"/>
              </a:lnSpc>
              <a:buFont typeface="Arial" charset="0"/>
              <a:buAutoNum type="arabicPeriod" startAt="2"/>
              <a:defRPr/>
            </a:pPr>
            <a:endParaRPr lang="en-US" sz="2400" b="1" dirty="0"/>
          </a:p>
          <a:p>
            <a:pPr marL="990600" lvl="1" indent="-533400">
              <a:lnSpc>
                <a:spcPct val="80000"/>
              </a:lnSpc>
              <a:defRPr/>
            </a:pPr>
            <a:r>
              <a:rPr lang="en-US" b="1" dirty="0"/>
              <a:t>Decisions Interpreting Enacted Law</a:t>
            </a:r>
            <a:br>
              <a:rPr lang="en-US" b="1" dirty="0"/>
            </a:br>
            <a:endParaRPr lang="en-US" b="1" dirty="0"/>
          </a:p>
          <a:p>
            <a:pPr marL="990600" lvl="1" indent="-533400">
              <a:lnSpc>
                <a:spcPct val="80000"/>
              </a:lnSpc>
              <a:defRPr/>
            </a:pPr>
            <a:r>
              <a:rPr lang="en-US" b="1" dirty="0"/>
              <a:t>Common Law Decisions</a:t>
            </a:r>
          </a:p>
          <a:p>
            <a:pPr marL="609600" indent="-609600">
              <a:lnSpc>
                <a:spcPct val="80000"/>
              </a:lnSpc>
              <a:defRPr/>
            </a:pPr>
            <a:endParaRPr lang="en-US" sz="2400" dirty="0"/>
          </a:p>
          <a:p>
            <a:pPr marL="609600" indent="-609600">
              <a:lnSpc>
                <a:spcPct val="80000"/>
              </a:lnSpc>
              <a:defRPr/>
            </a:pPr>
            <a:endParaRPr lang="en-US" sz="18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8482"/>
                                        </p:tgtEl>
                                        <p:attrNameLst>
                                          <p:attrName>style.visibility</p:attrName>
                                        </p:attrNameLst>
                                      </p:cBhvr>
                                      <p:to>
                                        <p:strVal val="visible"/>
                                      </p:to>
                                    </p:set>
                                    <p:animEffect transition="in" filter="fade">
                                      <p:cBhvr>
                                        <p:cTn id="7" dur="2000"/>
                                        <p:tgtEl>
                                          <p:spTgt spid="1484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8483">
                                            <p:txEl>
                                              <p:pRg st="1" end="1"/>
                                            </p:txEl>
                                          </p:spTgt>
                                        </p:tgtEl>
                                        <p:attrNameLst>
                                          <p:attrName>style.visibility</p:attrName>
                                        </p:attrNameLst>
                                      </p:cBhvr>
                                      <p:to>
                                        <p:strVal val="visible"/>
                                      </p:to>
                                    </p:set>
                                    <p:animEffect transition="in" filter="fade">
                                      <p:cBhvr>
                                        <p:cTn id="12" dur="2000"/>
                                        <p:tgtEl>
                                          <p:spTgt spid="14848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8483">
                                            <p:txEl>
                                              <p:pRg st="2" end="2"/>
                                            </p:txEl>
                                          </p:spTgt>
                                        </p:tgtEl>
                                        <p:attrNameLst>
                                          <p:attrName>style.visibility</p:attrName>
                                        </p:attrNameLst>
                                      </p:cBhvr>
                                      <p:to>
                                        <p:strVal val="visible"/>
                                      </p:to>
                                    </p:set>
                                    <p:animEffect transition="in" filter="fade">
                                      <p:cBhvr>
                                        <p:cTn id="15" dur="2000"/>
                                        <p:tgtEl>
                                          <p:spTgt spid="14848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8483">
                                            <p:txEl>
                                              <p:pRg st="3" end="3"/>
                                            </p:txEl>
                                          </p:spTgt>
                                        </p:tgtEl>
                                        <p:attrNameLst>
                                          <p:attrName>style.visibility</p:attrName>
                                        </p:attrNameLst>
                                      </p:cBhvr>
                                      <p:to>
                                        <p:strVal val="visible"/>
                                      </p:to>
                                    </p:set>
                                    <p:animEffect transition="in" filter="fade">
                                      <p:cBhvr>
                                        <p:cTn id="18" dur="2000"/>
                                        <p:tgtEl>
                                          <p:spTgt spid="14848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8483">
                                            <p:txEl>
                                              <p:pRg st="4" end="4"/>
                                            </p:txEl>
                                          </p:spTgt>
                                        </p:tgtEl>
                                        <p:attrNameLst>
                                          <p:attrName>style.visibility</p:attrName>
                                        </p:attrNameLst>
                                      </p:cBhvr>
                                      <p:to>
                                        <p:strVal val="visible"/>
                                      </p:to>
                                    </p:set>
                                    <p:animEffect transition="in" filter="fade">
                                      <p:cBhvr>
                                        <p:cTn id="21" dur="2000"/>
                                        <p:tgtEl>
                                          <p:spTgt spid="14848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8483">
                                            <p:txEl>
                                              <p:pRg st="5" end="5"/>
                                            </p:txEl>
                                          </p:spTgt>
                                        </p:tgtEl>
                                        <p:attrNameLst>
                                          <p:attrName>style.visibility</p:attrName>
                                        </p:attrNameLst>
                                      </p:cBhvr>
                                      <p:to>
                                        <p:strVal val="visible"/>
                                      </p:to>
                                    </p:set>
                                    <p:animEffect transition="in" filter="fade">
                                      <p:cBhvr>
                                        <p:cTn id="24" dur="2000"/>
                                        <p:tgtEl>
                                          <p:spTgt spid="14848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8483">
                                            <p:txEl>
                                              <p:pRg st="7" end="7"/>
                                            </p:txEl>
                                          </p:spTgt>
                                        </p:tgtEl>
                                        <p:attrNameLst>
                                          <p:attrName>style.visibility</p:attrName>
                                        </p:attrNameLst>
                                      </p:cBhvr>
                                      <p:to>
                                        <p:strVal val="visible"/>
                                      </p:to>
                                    </p:set>
                                    <p:animEffect transition="in" filter="fade">
                                      <p:cBhvr>
                                        <p:cTn id="29" dur="2000"/>
                                        <p:tgtEl>
                                          <p:spTgt spid="148483">
                                            <p:txEl>
                                              <p:pRg st="7" end="7"/>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8483">
                                            <p:txEl>
                                              <p:pRg st="9" end="9"/>
                                            </p:txEl>
                                          </p:spTgt>
                                        </p:tgtEl>
                                        <p:attrNameLst>
                                          <p:attrName>style.visibility</p:attrName>
                                        </p:attrNameLst>
                                      </p:cBhvr>
                                      <p:to>
                                        <p:strVal val="visible"/>
                                      </p:to>
                                    </p:set>
                                    <p:animEffect transition="in" filter="fade">
                                      <p:cBhvr>
                                        <p:cTn id="32" dur="2000"/>
                                        <p:tgtEl>
                                          <p:spTgt spid="148483">
                                            <p:txEl>
                                              <p:pRg st="9" end="9"/>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8483">
                                            <p:txEl>
                                              <p:pRg st="10" end="10"/>
                                            </p:txEl>
                                          </p:spTgt>
                                        </p:tgtEl>
                                        <p:attrNameLst>
                                          <p:attrName>style.visibility</p:attrName>
                                        </p:attrNameLst>
                                      </p:cBhvr>
                                      <p:to>
                                        <p:strVal val="visible"/>
                                      </p:to>
                                    </p:set>
                                    <p:animEffect transition="in" filter="fade">
                                      <p:cBhvr>
                                        <p:cTn id="35" dur="2000"/>
                                        <p:tgtEl>
                                          <p:spTgt spid="14848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p:bldP spid="14848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9" name="Picture 21">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1" name="Picture 23">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3" name="Oval 25">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8" name="Picture 27">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0" name="Picture 29">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2" name="Rectangle 31">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DA5855E4-A86C-0889-7DC0-8CB7C7468FEE}"/>
              </a:ext>
            </a:extLst>
          </p:cNvPr>
          <p:cNvSpPr>
            <a:spLocks noGrp="1"/>
          </p:cNvSpPr>
          <p:nvPr>
            <p:ph type="title"/>
          </p:nvPr>
        </p:nvSpPr>
        <p:spPr>
          <a:xfrm>
            <a:off x="647701" y="1454964"/>
            <a:ext cx="3339281" cy="3308840"/>
          </a:xfrm>
        </p:spPr>
        <p:txBody>
          <a:bodyPr vert="horz" lIns="91440" tIns="45720" rIns="91440" bIns="45720" rtlCol="0" anchor="b">
            <a:normAutofit/>
          </a:bodyPr>
          <a:lstStyle/>
          <a:p>
            <a:pPr>
              <a:lnSpc>
                <a:spcPct val="90000"/>
              </a:lnSpc>
            </a:pPr>
            <a:r>
              <a:rPr lang="en-US" sz="3800"/>
              <a:t>What are the four principles for determining the weight of authority?</a:t>
            </a:r>
          </a:p>
        </p:txBody>
      </p:sp>
      <p:pic>
        <p:nvPicPr>
          <p:cNvPr id="6" name="Picture 5" descr="A digital balance scale using circles">
            <a:extLst>
              <a:ext uri="{FF2B5EF4-FFF2-40B4-BE49-F238E27FC236}">
                <a16:creationId xmlns:a16="http://schemas.microsoft.com/office/drawing/2014/main" id="{39901897-C0BD-465D-0003-32C025B2636C}"/>
              </a:ext>
            </a:extLst>
          </p:cNvPr>
          <p:cNvPicPr>
            <a:picLocks noChangeAspect="1"/>
          </p:cNvPicPr>
          <p:nvPr/>
        </p:nvPicPr>
        <p:blipFill rotWithShape="1">
          <a:blip r:embed="rId8"/>
          <a:srcRect l="16665" r="16666" b="1"/>
          <a:stretch/>
        </p:blipFill>
        <p:spPr>
          <a:xfrm>
            <a:off x="4634682" y="10"/>
            <a:ext cx="7557319" cy="6857990"/>
          </a:xfrm>
          <a:prstGeom prst="rect">
            <a:avLst/>
          </a:prstGeom>
        </p:spPr>
      </p:pic>
      <p:sp>
        <p:nvSpPr>
          <p:cNvPr id="34" name="Rectangle 33">
            <a:extLst>
              <a:ext uri="{FF2B5EF4-FFF2-40B4-BE49-F238E27FC236}">
                <a16:creationId xmlns:a16="http://schemas.microsoft.com/office/drawing/2014/main" id="{BFEFF673-A9DE-416D-A04E-1D5090454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714055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036" y="274638"/>
            <a:ext cx="9388764" cy="1143000"/>
          </a:xfrm>
        </p:spPr>
        <p:txBody>
          <a:bodyPr>
            <a:normAutofit fontScale="90000"/>
          </a:bodyPr>
          <a:lstStyle/>
          <a:p>
            <a:pPr algn="l"/>
            <a:r>
              <a:rPr lang="en-US" b="1" dirty="0"/>
              <a:t>Determine the Hierarchy of Authority</a:t>
            </a:r>
          </a:p>
        </p:txBody>
      </p:sp>
      <p:graphicFrame>
        <p:nvGraphicFramePr>
          <p:cNvPr id="6" name="Content Placeholder 5"/>
          <p:cNvGraphicFramePr>
            <a:graphicFrameLocks noGrp="1"/>
          </p:cNvGraphicFramePr>
          <p:nvPr>
            <p:ph idx="1"/>
          </p:nvPr>
        </p:nvGraphicFramePr>
        <p:xfrm>
          <a:off x="2362200" y="1600201"/>
          <a:ext cx="7696200" cy="45259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5" name="Straight Connector 4"/>
          <p:cNvCxnSpPr/>
          <p:nvPr/>
        </p:nvCxnSpPr>
        <p:spPr>
          <a:xfrm>
            <a:off x="1752600" y="1143000"/>
            <a:ext cx="86106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752600" y="1872734"/>
            <a:ext cx="3352800" cy="1077218"/>
          </a:xfrm>
          <a:prstGeom prst="rect">
            <a:avLst/>
          </a:prstGeom>
          <a:noFill/>
        </p:spPr>
        <p:txBody>
          <a:bodyPr wrap="square" rtlCol="0">
            <a:spAutoFit/>
          </a:bodyPr>
          <a:lstStyle/>
          <a:p>
            <a:pPr algn="ctr"/>
            <a:r>
              <a:rPr lang="en-US" sz="3200" dirty="0"/>
              <a:t>*State and Federal Court</a:t>
            </a:r>
          </a:p>
        </p:txBody>
      </p:sp>
    </p:spTree>
    <p:custDataLst>
      <p:tags r:id="rId1"/>
    </p:custDataLst>
    <p:extLst>
      <p:ext uri="{BB962C8B-B14F-4D97-AF65-F5344CB8AC3E}">
        <p14:creationId xmlns:p14="http://schemas.microsoft.com/office/powerpoint/2010/main" val="119984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40785-E263-608C-4BB4-2D4BD72FE5D4}"/>
              </a:ext>
            </a:extLst>
          </p:cNvPr>
          <p:cNvSpPr>
            <a:spLocks noGrp="1"/>
          </p:cNvSpPr>
          <p:nvPr>
            <p:ph type="title"/>
          </p:nvPr>
        </p:nvSpPr>
        <p:spPr>
          <a:xfrm>
            <a:off x="5282381" y="629266"/>
            <a:ext cx="4767471" cy="1641986"/>
          </a:xfrm>
        </p:spPr>
        <p:txBody>
          <a:bodyPr>
            <a:normAutofit/>
          </a:bodyPr>
          <a:lstStyle/>
          <a:p>
            <a:r>
              <a:rPr lang="en-US" dirty="0"/>
              <a:t>Test our Understanding</a:t>
            </a:r>
          </a:p>
        </p:txBody>
      </p:sp>
      <p:pic>
        <p:nvPicPr>
          <p:cNvPr id="5" name="Picture 4" descr="White pillars">
            <a:extLst>
              <a:ext uri="{FF2B5EF4-FFF2-40B4-BE49-F238E27FC236}">
                <a16:creationId xmlns:a16="http://schemas.microsoft.com/office/drawing/2014/main" id="{F1C67D0C-F7AD-B660-9727-3BF3EFADDC81}"/>
              </a:ext>
            </a:extLst>
          </p:cNvPr>
          <p:cNvPicPr>
            <a:picLocks noChangeAspect="1"/>
          </p:cNvPicPr>
          <p:nvPr/>
        </p:nvPicPr>
        <p:blipFill rotWithShape="1">
          <a:blip r:embed="rId3"/>
          <a:srcRect l="31678" r="23212" b="-1"/>
          <a:stretch/>
        </p:blipFill>
        <p:spPr>
          <a:xfrm>
            <a:off x="-1" y="10"/>
            <a:ext cx="4634680" cy="6857990"/>
          </a:xfrm>
          <a:prstGeom prst="rect">
            <a:avLst/>
          </a:prstGeom>
        </p:spPr>
      </p:pic>
      <p:sp>
        <p:nvSpPr>
          <p:cNvPr id="3" name="Content Placeholder 2">
            <a:extLst>
              <a:ext uri="{FF2B5EF4-FFF2-40B4-BE49-F238E27FC236}">
                <a16:creationId xmlns:a16="http://schemas.microsoft.com/office/drawing/2014/main" id="{946CEC87-F76C-1988-7F2D-05690E1002AF}"/>
              </a:ext>
            </a:extLst>
          </p:cNvPr>
          <p:cNvSpPr>
            <a:spLocks noGrp="1"/>
          </p:cNvSpPr>
          <p:nvPr>
            <p:ph idx="1"/>
          </p:nvPr>
        </p:nvSpPr>
        <p:spPr>
          <a:xfrm>
            <a:off x="5282381" y="2438400"/>
            <a:ext cx="6103374" cy="3809999"/>
          </a:xfrm>
        </p:spPr>
        <p:txBody>
          <a:bodyPr>
            <a:normAutofit/>
          </a:bodyPr>
          <a:lstStyle/>
          <a:p>
            <a:r>
              <a:rPr lang="en-US" sz="4400" dirty="0"/>
              <a:t>Which court system is the final arbiter of a state law?</a:t>
            </a:r>
          </a:p>
        </p:txBody>
      </p:sp>
    </p:spTree>
    <p:extLst>
      <p:ext uri="{BB962C8B-B14F-4D97-AF65-F5344CB8AC3E}">
        <p14:creationId xmlns:p14="http://schemas.microsoft.com/office/powerpoint/2010/main" val="3206514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1981200" y="0"/>
            <a:ext cx="8229600" cy="1447800"/>
          </a:xfrm>
        </p:spPr>
        <p:txBody>
          <a:bodyPr>
            <a:normAutofit/>
          </a:bodyPr>
          <a:lstStyle/>
          <a:p>
            <a:pPr eaLnBrk="1" hangingPunct="1">
              <a:defRPr/>
            </a:pPr>
            <a:r>
              <a:rPr lang="en-US" sz="4000" dirty="0"/>
              <a:t>		Mandatory vs. Persuasive 								Authority</a:t>
            </a:r>
          </a:p>
        </p:txBody>
      </p:sp>
      <p:sp>
        <p:nvSpPr>
          <p:cNvPr id="155651" name="Rectangle 3"/>
          <p:cNvSpPr>
            <a:spLocks noGrp="1" noChangeArrowheads="1"/>
          </p:cNvSpPr>
          <p:nvPr>
            <p:ph idx="1"/>
          </p:nvPr>
        </p:nvSpPr>
        <p:spPr>
          <a:xfrm>
            <a:off x="1825625" y="1600200"/>
            <a:ext cx="8540750" cy="4876800"/>
          </a:xfrm>
        </p:spPr>
        <p:txBody>
          <a:bodyPr>
            <a:normAutofit/>
          </a:bodyPr>
          <a:lstStyle/>
          <a:p>
            <a:pPr marL="609600" indent="-609600" algn="ctr">
              <a:lnSpc>
                <a:spcPct val="80000"/>
              </a:lnSpc>
              <a:buNone/>
              <a:tabLst>
                <a:tab pos="122238" algn="l"/>
              </a:tabLst>
              <a:defRPr/>
            </a:pPr>
            <a:r>
              <a:rPr lang="en-US" b="1" u="sng" dirty="0"/>
              <a:t>DEFINITIONS</a:t>
            </a:r>
          </a:p>
          <a:p>
            <a:pPr marL="609600" indent="-609600">
              <a:lnSpc>
                <a:spcPct val="80000"/>
              </a:lnSpc>
              <a:buNone/>
              <a:tabLst>
                <a:tab pos="122238" algn="l"/>
              </a:tabLst>
              <a:defRPr/>
            </a:pPr>
            <a:endParaRPr lang="en-US" dirty="0"/>
          </a:p>
          <a:p>
            <a:pPr marL="609600" indent="-609600">
              <a:lnSpc>
                <a:spcPct val="80000"/>
              </a:lnSpc>
              <a:buNone/>
              <a:tabLst>
                <a:tab pos="122238" algn="l"/>
              </a:tabLst>
              <a:defRPr/>
            </a:pPr>
            <a:r>
              <a:rPr lang="en-US" sz="3600" b="1" dirty="0"/>
              <a:t>Mandatory Authority</a:t>
            </a:r>
            <a:r>
              <a:rPr lang="en-US" sz="3600" dirty="0"/>
              <a:t> – Law which is binding on the court deciding the case.</a:t>
            </a:r>
            <a:endParaRPr lang="en-US" sz="3600" b="1" dirty="0"/>
          </a:p>
          <a:p>
            <a:pPr marL="609600" indent="-609600">
              <a:lnSpc>
                <a:spcPct val="80000"/>
              </a:lnSpc>
              <a:buNone/>
              <a:tabLst>
                <a:tab pos="122238" algn="l"/>
              </a:tabLst>
              <a:defRPr/>
            </a:pPr>
            <a:endParaRPr lang="en-US" sz="3600" b="1" dirty="0"/>
          </a:p>
          <a:p>
            <a:pPr marL="609600" indent="-609600">
              <a:lnSpc>
                <a:spcPct val="80000"/>
              </a:lnSpc>
              <a:buNone/>
              <a:tabLst>
                <a:tab pos="122238" algn="l"/>
              </a:tabLst>
              <a:defRPr/>
            </a:pPr>
            <a:r>
              <a:rPr lang="en-US" sz="3600" b="1" dirty="0"/>
              <a:t>Persuasive Authority</a:t>
            </a:r>
            <a:r>
              <a:rPr lang="en-US" sz="3600" dirty="0"/>
              <a:t> – Non-binding law which can influence the court deciding the case.</a:t>
            </a:r>
          </a:p>
          <a:p>
            <a:pPr marL="609600" indent="-609600" algn="ctr">
              <a:lnSpc>
                <a:spcPct val="80000"/>
              </a:lnSpc>
              <a:buNone/>
              <a:tabLst>
                <a:tab pos="122238" algn="l"/>
              </a:tabLst>
              <a:defRPr/>
            </a:pPr>
            <a:br>
              <a:rPr lang="en-US" dirty="0"/>
            </a:br>
            <a:endParaRPr lang="en-US" dirty="0"/>
          </a:p>
          <a:p>
            <a:pPr marL="1660525" lvl="2" indent="-457200">
              <a:lnSpc>
                <a:spcPct val="80000"/>
              </a:lnSpc>
              <a:buNone/>
              <a:tabLst>
                <a:tab pos="122238" algn="l"/>
              </a:tabLst>
              <a:defRPr/>
            </a:pPr>
            <a:endParaRPr lang="en-US" dirty="0"/>
          </a:p>
          <a:p>
            <a:pPr marL="1660525" lvl="2" indent="-457200" algn="r">
              <a:lnSpc>
                <a:spcPct val="80000"/>
              </a:lnSpc>
              <a:buNone/>
              <a:tabLst>
                <a:tab pos="122238" algn="l"/>
              </a:tabLst>
              <a:defRPr/>
            </a:pPr>
            <a:endParaRPr lang="en-US" sz="900" dirty="0"/>
          </a:p>
          <a:p>
            <a:pPr marL="1165225" lvl="1" indent="-533400">
              <a:lnSpc>
                <a:spcPct val="80000"/>
              </a:lnSpc>
              <a:tabLst>
                <a:tab pos="122238" algn="l"/>
              </a:tabLst>
              <a:defRPr/>
            </a:pPr>
            <a:endParaRPr lang="en-US" sz="1100" dirty="0"/>
          </a:p>
          <a:p>
            <a:pPr marL="609600" indent="-609600">
              <a:lnSpc>
                <a:spcPct val="80000"/>
              </a:lnSpc>
              <a:tabLst>
                <a:tab pos="122238" algn="l"/>
              </a:tabLst>
              <a:defRPr/>
            </a:pPr>
            <a:endParaRPr lang="en-US" sz="8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5651">
                                            <p:txEl>
                                              <p:pRg st="0" end="0"/>
                                            </p:txEl>
                                          </p:spTgt>
                                        </p:tgtEl>
                                        <p:attrNameLst>
                                          <p:attrName>style.visibility</p:attrName>
                                        </p:attrNameLst>
                                      </p:cBhvr>
                                      <p:to>
                                        <p:strVal val="visible"/>
                                      </p:to>
                                    </p:set>
                                    <p:animEffect transition="in" filter="blinds(horizontal)">
                                      <p:cBhvr>
                                        <p:cTn id="7" dur="500"/>
                                        <p:tgtEl>
                                          <p:spTgt spid="15565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5651">
                                            <p:txEl>
                                              <p:pRg st="2" end="2"/>
                                            </p:txEl>
                                          </p:spTgt>
                                        </p:tgtEl>
                                        <p:attrNameLst>
                                          <p:attrName>style.visibility</p:attrName>
                                        </p:attrNameLst>
                                      </p:cBhvr>
                                      <p:to>
                                        <p:strVal val="visible"/>
                                      </p:to>
                                    </p:set>
                                    <p:animEffect transition="in" filter="blinds(horizontal)">
                                      <p:cBhvr>
                                        <p:cTn id="10" dur="500"/>
                                        <p:tgtEl>
                                          <p:spTgt spid="15565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55651">
                                            <p:txEl>
                                              <p:pRg st="4" end="4"/>
                                            </p:txEl>
                                          </p:spTgt>
                                        </p:tgtEl>
                                        <p:attrNameLst>
                                          <p:attrName>style.visibility</p:attrName>
                                        </p:attrNameLst>
                                      </p:cBhvr>
                                      <p:to>
                                        <p:strVal val="visible"/>
                                      </p:to>
                                    </p:set>
                                    <p:animEffect transition="in" filter="blinds(horizontal)">
                                      <p:cBhvr>
                                        <p:cTn id="13" dur="500"/>
                                        <p:tgtEl>
                                          <p:spTgt spid="155651">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55651">
                                            <p:txEl>
                                              <p:pRg st="5" end="5"/>
                                            </p:txEl>
                                          </p:spTgt>
                                        </p:tgtEl>
                                        <p:attrNameLst>
                                          <p:attrName>style.visibility</p:attrName>
                                        </p:attrNameLst>
                                      </p:cBhvr>
                                      <p:to>
                                        <p:strVal val="visible"/>
                                      </p:to>
                                    </p:set>
                                    <p:animEffect transition="in" filter="blinds(horizontal)">
                                      <p:cBhvr>
                                        <p:cTn id="18" dur="500"/>
                                        <p:tgtEl>
                                          <p:spTgt spid="1556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1981200" y="0"/>
            <a:ext cx="8229600" cy="1447800"/>
          </a:xfrm>
        </p:spPr>
        <p:txBody>
          <a:bodyPr>
            <a:normAutofit/>
          </a:bodyPr>
          <a:lstStyle/>
          <a:p>
            <a:pPr eaLnBrk="1" hangingPunct="1">
              <a:defRPr/>
            </a:pPr>
            <a:r>
              <a:rPr lang="en-US" dirty="0"/>
              <a:t>Mandatory vs. Persuasive Authority</a:t>
            </a:r>
          </a:p>
        </p:txBody>
      </p:sp>
      <p:sp>
        <p:nvSpPr>
          <p:cNvPr id="151555" name="Rectangle 3"/>
          <p:cNvSpPr>
            <a:spLocks noGrp="1" noChangeArrowheads="1"/>
          </p:cNvSpPr>
          <p:nvPr>
            <p:ph idx="1"/>
          </p:nvPr>
        </p:nvSpPr>
        <p:spPr>
          <a:xfrm>
            <a:off x="1825625" y="685800"/>
            <a:ext cx="8540750" cy="6172200"/>
          </a:xfrm>
        </p:spPr>
        <p:txBody>
          <a:bodyPr>
            <a:normAutofit fontScale="92500" lnSpcReduction="20000"/>
          </a:bodyPr>
          <a:lstStyle/>
          <a:p>
            <a:pPr marL="609600" indent="-609600">
              <a:lnSpc>
                <a:spcPct val="80000"/>
              </a:lnSpc>
              <a:buNone/>
              <a:tabLst>
                <a:tab pos="122238" algn="l"/>
              </a:tabLst>
              <a:defRPr/>
            </a:pPr>
            <a:endParaRPr lang="en-US" sz="1400" dirty="0"/>
          </a:p>
          <a:p>
            <a:pPr marL="609600" indent="-609600" algn="ctr">
              <a:lnSpc>
                <a:spcPct val="80000"/>
              </a:lnSpc>
              <a:buNone/>
              <a:tabLst>
                <a:tab pos="122238" algn="l"/>
              </a:tabLst>
              <a:defRPr/>
            </a:pPr>
            <a:r>
              <a:rPr lang="en-US" sz="2000" b="1" dirty="0"/>
              <a:t>	</a:t>
            </a:r>
            <a:r>
              <a:rPr lang="en-US" b="1" u="sng" dirty="0"/>
              <a:t>RULES</a:t>
            </a:r>
            <a:r>
              <a:rPr lang="en-US" b="1" dirty="0"/>
              <a:t>	</a:t>
            </a:r>
          </a:p>
          <a:p>
            <a:pPr marL="609600" indent="-609600" algn="ctr">
              <a:lnSpc>
                <a:spcPct val="80000"/>
              </a:lnSpc>
              <a:buNone/>
              <a:tabLst>
                <a:tab pos="122238" algn="l"/>
              </a:tabLst>
              <a:defRPr/>
            </a:pPr>
            <a:endParaRPr lang="en-US" sz="3600" b="1" dirty="0"/>
          </a:p>
          <a:p>
            <a:pPr marL="609600" indent="-609600">
              <a:lnSpc>
                <a:spcPct val="80000"/>
              </a:lnSpc>
              <a:buFont typeface="Wingdings" pitchFamily="2" charset="2"/>
              <a:buAutoNum type="arabicPeriod"/>
              <a:tabLst>
                <a:tab pos="122238" algn="l"/>
              </a:tabLst>
              <a:defRPr/>
            </a:pPr>
            <a:r>
              <a:rPr lang="en-US" sz="3600" dirty="0"/>
              <a:t>Mandatory authority includes enacted laws in the jurisdiction.</a:t>
            </a:r>
          </a:p>
          <a:p>
            <a:pPr marL="609600" indent="-609600">
              <a:lnSpc>
                <a:spcPct val="80000"/>
              </a:lnSpc>
              <a:buFont typeface="Wingdings" pitchFamily="2" charset="2"/>
              <a:buAutoNum type="arabicPeriod"/>
              <a:tabLst>
                <a:tab pos="122238" algn="l"/>
              </a:tabLst>
              <a:defRPr/>
            </a:pPr>
            <a:endParaRPr lang="en-US" sz="3600" dirty="0"/>
          </a:p>
          <a:p>
            <a:pPr marL="609600" indent="-609600">
              <a:lnSpc>
                <a:spcPct val="80000"/>
              </a:lnSpc>
              <a:buFont typeface="Wingdings" pitchFamily="2" charset="2"/>
              <a:buAutoNum type="arabicPeriod"/>
              <a:tabLst>
                <a:tab pos="122238" algn="l"/>
              </a:tabLst>
              <a:defRPr/>
            </a:pPr>
            <a:r>
              <a:rPr lang="en-US" sz="3600" dirty="0"/>
              <a:t>Mandatory authority includes opinions of higher courts to which your case could be appealed.  </a:t>
            </a:r>
          </a:p>
          <a:p>
            <a:pPr marL="609600" indent="-609600">
              <a:lnSpc>
                <a:spcPct val="80000"/>
              </a:lnSpc>
              <a:buFont typeface="Wingdings" pitchFamily="2" charset="2"/>
              <a:buAutoNum type="arabicPeriod"/>
              <a:tabLst>
                <a:tab pos="122238" algn="l"/>
              </a:tabLst>
              <a:defRPr/>
            </a:pPr>
            <a:endParaRPr lang="en-US" sz="3600" dirty="0"/>
          </a:p>
          <a:p>
            <a:pPr marL="609600" indent="-609600">
              <a:lnSpc>
                <a:spcPct val="80000"/>
              </a:lnSpc>
              <a:buFont typeface="Wingdings" pitchFamily="2" charset="2"/>
              <a:buAutoNum type="arabicPeriod"/>
              <a:tabLst>
                <a:tab pos="122238" algn="l"/>
              </a:tabLst>
              <a:defRPr/>
            </a:pPr>
            <a:r>
              <a:rPr lang="en-US" sz="3600" dirty="0"/>
              <a:t>If your case is pending before an appellate court, decisions of that same appellate court are also mandatory authority because of stare decisis.         </a:t>
            </a:r>
            <a:r>
              <a:rPr lang="en-US" sz="3600" b="1" dirty="0"/>
              <a:t> </a:t>
            </a:r>
          </a:p>
          <a:p>
            <a:pPr marL="1009650" lvl="1" indent="-609600">
              <a:lnSpc>
                <a:spcPct val="80000"/>
              </a:lnSpc>
              <a:tabLst>
                <a:tab pos="122238" algn="l"/>
              </a:tabLst>
              <a:defRPr/>
            </a:pPr>
            <a:r>
              <a:rPr lang="en-US" sz="3600" dirty="0"/>
              <a:t>Must be regarding the same legal issue – same law and similar facts</a:t>
            </a:r>
          </a:p>
          <a:p>
            <a:pPr marL="609600" indent="-609600">
              <a:lnSpc>
                <a:spcPct val="80000"/>
              </a:lnSpc>
              <a:buNone/>
              <a:tabLst>
                <a:tab pos="122238" algn="l"/>
              </a:tabLst>
              <a:defRPr/>
            </a:pPr>
            <a:endParaRPr lang="en-US" b="1" dirty="0"/>
          </a:p>
          <a:p>
            <a:pPr marL="609600" indent="-609600">
              <a:lnSpc>
                <a:spcPct val="80000"/>
              </a:lnSpc>
              <a:buNone/>
              <a:tabLst>
                <a:tab pos="122238" algn="l"/>
              </a:tabLst>
              <a:defRPr/>
            </a:pPr>
            <a:endParaRPr lang="en-US" b="1" dirty="0"/>
          </a:p>
          <a:p>
            <a:pPr marL="609600" indent="-609600" algn="ctr">
              <a:lnSpc>
                <a:spcPct val="80000"/>
              </a:lnSpc>
              <a:buNone/>
              <a:tabLst>
                <a:tab pos="122238" algn="l"/>
              </a:tabLst>
              <a:defRPr/>
            </a:pPr>
            <a:endParaRPr lang="en-US" b="1" u="sng" dirty="0"/>
          </a:p>
          <a:p>
            <a:pPr marL="609600" indent="-609600">
              <a:lnSpc>
                <a:spcPct val="80000"/>
              </a:lnSpc>
              <a:buNone/>
              <a:tabLst>
                <a:tab pos="122238" algn="l"/>
              </a:tabLst>
              <a:defRPr/>
            </a:pPr>
            <a:endParaRPr lang="en-US" sz="2000" b="1" dirty="0"/>
          </a:p>
          <a:p>
            <a:pPr marL="1660525" lvl="2" indent="-457200">
              <a:lnSpc>
                <a:spcPct val="80000"/>
              </a:lnSpc>
              <a:buNone/>
              <a:tabLst>
                <a:tab pos="122238" algn="l"/>
              </a:tabLst>
              <a:defRPr/>
            </a:pPr>
            <a:endParaRPr lang="en-US" dirty="0"/>
          </a:p>
          <a:p>
            <a:pPr marL="1660525" lvl="2" indent="-457200" algn="r">
              <a:lnSpc>
                <a:spcPct val="80000"/>
              </a:lnSpc>
              <a:buNone/>
              <a:tabLst>
                <a:tab pos="122238" algn="l"/>
              </a:tabLst>
              <a:defRPr/>
            </a:pPr>
            <a:endParaRPr lang="en-US" dirty="0"/>
          </a:p>
          <a:p>
            <a:pPr marL="1165225" lvl="1" indent="-533400">
              <a:lnSpc>
                <a:spcPct val="80000"/>
              </a:lnSpc>
              <a:tabLst>
                <a:tab pos="122238" algn="l"/>
              </a:tabLst>
              <a:defRPr/>
            </a:pPr>
            <a:endParaRPr lang="en-US" sz="1100" dirty="0"/>
          </a:p>
          <a:p>
            <a:pPr marL="609600" indent="-609600">
              <a:lnSpc>
                <a:spcPct val="80000"/>
              </a:lnSpc>
              <a:tabLst>
                <a:tab pos="122238" algn="l"/>
              </a:tabLst>
              <a:defRPr/>
            </a:pPr>
            <a:endParaRPr lang="en-US" sz="8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1555">
                                            <p:txEl>
                                              <p:pRg st="1" end="1"/>
                                            </p:txEl>
                                          </p:spTgt>
                                        </p:tgtEl>
                                        <p:attrNameLst>
                                          <p:attrName>style.visibility</p:attrName>
                                        </p:attrNameLst>
                                      </p:cBhvr>
                                      <p:to>
                                        <p:strVal val="visible"/>
                                      </p:to>
                                    </p:set>
                                    <p:animEffect transition="in" filter="blinds(horizontal)">
                                      <p:cBhvr>
                                        <p:cTn id="7" dur="500"/>
                                        <p:tgtEl>
                                          <p:spTgt spid="15155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1555">
                                            <p:txEl>
                                              <p:pRg st="3" end="3"/>
                                            </p:txEl>
                                          </p:spTgt>
                                        </p:tgtEl>
                                        <p:attrNameLst>
                                          <p:attrName>style.visibility</p:attrName>
                                        </p:attrNameLst>
                                      </p:cBhvr>
                                      <p:to>
                                        <p:strVal val="visible"/>
                                      </p:to>
                                    </p:set>
                                    <p:animEffect transition="in" filter="blinds(horizontal)">
                                      <p:cBhvr>
                                        <p:cTn id="12" dur="500"/>
                                        <p:tgtEl>
                                          <p:spTgt spid="15155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1555">
                                            <p:txEl>
                                              <p:pRg st="5" end="5"/>
                                            </p:txEl>
                                          </p:spTgt>
                                        </p:tgtEl>
                                        <p:attrNameLst>
                                          <p:attrName>style.visibility</p:attrName>
                                        </p:attrNameLst>
                                      </p:cBhvr>
                                      <p:to>
                                        <p:strVal val="visible"/>
                                      </p:to>
                                    </p:set>
                                    <p:animEffect transition="in" filter="blinds(horizontal)">
                                      <p:cBhvr>
                                        <p:cTn id="17" dur="500"/>
                                        <p:tgtEl>
                                          <p:spTgt spid="151555">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1555">
                                            <p:txEl>
                                              <p:pRg st="7" end="7"/>
                                            </p:txEl>
                                          </p:spTgt>
                                        </p:tgtEl>
                                        <p:attrNameLst>
                                          <p:attrName>style.visibility</p:attrName>
                                        </p:attrNameLst>
                                      </p:cBhvr>
                                      <p:to>
                                        <p:strVal val="visible"/>
                                      </p:to>
                                    </p:set>
                                    <p:animEffect transition="in" filter="blinds(horizontal)">
                                      <p:cBhvr>
                                        <p:cTn id="22" dur="500"/>
                                        <p:tgtEl>
                                          <p:spTgt spid="151555">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51555">
                                            <p:txEl>
                                              <p:pRg st="8" end="8"/>
                                            </p:txEl>
                                          </p:spTgt>
                                        </p:tgtEl>
                                        <p:attrNameLst>
                                          <p:attrName>style.visibility</p:attrName>
                                        </p:attrNameLst>
                                      </p:cBhvr>
                                      <p:to>
                                        <p:strVal val="visible"/>
                                      </p:to>
                                    </p:set>
                                    <p:animEffect transition="in" filter="blinds(horizontal)">
                                      <p:cBhvr>
                                        <p:cTn id="27" dur="500"/>
                                        <p:tgtEl>
                                          <p:spTgt spid="1515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04800"/>
            <a:ext cx="8458200" cy="1143000"/>
          </a:xfrm>
        </p:spPr>
        <p:txBody>
          <a:bodyPr>
            <a:normAutofit/>
          </a:bodyPr>
          <a:lstStyle/>
          <a:p>
            <a:pPr algn="l"/>
            <a:r>
              <a:rPr lang="en-US" sz="2800" b="1" dirty="0"/>
              <a:t>Determine the Hierarchy of Authority for Cases</a:t>
            </a:r>
          </a:p>
        </p:txBody>
      </p:sp>
      <p:cxnSp>
        <p:nvCxnSpPr>
          <p:cNvPr id="5" name="Straight Connector 4"/>
          <p:cNvCxnSpPr/>
          <p:nvPr/>
        </p:nvCxnSpPr>
        <p:spPr>
          <a:xfrm>
            <a:off x="1752600" y="1143000"/>
            <a:ext cx="861060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7" name="Diagram 6"/>
          <p:cNvGraphicFramePr/>
          <p:nvPr>
            <p:extLst>
              <p:ext uri="{D42A27DB-BD31-4B8C-83A1-F6EECF244321}">
                <p14:modId xmlns:p14="http://schemas.microsoft.com/office/powerpoint/2010/main" val="1761423906"/>
              </p:ext>
            </p:extLst>
          </p:nvPr>
        </p:nvGraphicFramePr>
        <p:xfrm>
          <a:off x="2767148" y="1981201"/>
          <a:ext cx="5562600" cy="4724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p:cNvSpPr txBox="1"/>
          <p:nvPr/>
        </p:nvSpPr>
        <p:spPr>
          <a:xfrm>
            <a:off x="1524000" y="1447798"/>
            <a:ext cx="2895600" cy="3447098"/>
          </a:xfrm>
          <a:prstGeom prst="rect">
            <a:avLst/>
          </a:prstGeom>
          <a:noFill/>
        </p:spPr>
        <p:txBody>
          <a:bodyPr wrap="square" rtlCol="0">
            <a:spAutoFit/>
          </a:bodyPr>
          <a:lstStyle/>
          <a:p>
            <a:r>
              <a:rPr lang="en-US" sz="2000" u="sng" dirty="0"/>
              <a:t>Federal Court</a:t>
            </a:r>
            <a:r>
              <a:rPr lang="en-US" sz="2000" dirty="0"/>
              <a:t>:</a:t>
            </a:r>
          </a:p>
          <a:p>
            <a:pPr marL="176213" indent="-176213">
              <a:spcAft>
                <a:spcPts val="1200"/>
              </a:spcAft>
              <a:buFont typeface="Arial" pitchFamily="34" charset="0"/>
              <a:buChar char="•"/>
            </a:pPr>
            <a:r>
              <a:rPr lang="en-US" sz="2000" dirty="0"/>
              <a:t>U.S. Supreme Court and Circuit Court decisions from your circuit are mandatory</a:t>
            </a:r>
          </a:p>
          <a:p>
            <a:pPr marL="176213" indent="-176213">
              <a:spcAft>
                <a:spcPts val="1200"/>
              </a:spcAft>
              <a:buFont typeface="Arial" pitchFamily="34" charset="0"/>
              <a:buChar char="•"/>
            </a:pPr>
            <a:r>
              <a:rPr lang="en-US" sz="2000" dirty="0"/>
              <a:t>Out-of-circuit appellate court decisions and district court decisions are persuasive</a:t>
            </a:r>
          </a:p>
          <a:p>
            <a:pPr marL="285750" indent="-285750">
              <a:buFont typeface="Arial" pitchFamily="34" charset="0"/>
              <a:buChar char="•"/>
            </a:pPr>
            <a:endParaRPr lang="en-US" dirty="0"/>
          </a:p>
        </p:txBody>
      </p:sp>
      <p:sp>
        <p:nvSpPr>
          <p:cNvPr id="8" name="TextBox 7"/>
          <p:cNvSpPr txBox="1"/>
          <p:nvPr/>
        </p:nvSpPr>
        <p:spPr>
          <a:xfrm>
            <a:off x="7772400" y="1447798"/>
            <a:ext cx="2895600" cy="3785652"/>
          </a:xfrm>
          <a:prstGeom prst="rect">
            <a:avLst/>
          </a:prstGeom>
          <a:noFill/>
        </p:spPr>
        <p:txBody>
          <a:bodyPr wrap="square" rtlCol="0">
            <a:spAutoFit/>
          </a:bodyPr>
          <a:lstStyle/>
          <a:p>
            <a:r>
              <a:rPr lang="en-US" sz="2000" u="sng" dirty="0"/>
              <a:t>State Court</a:t>
            </a:r>
            <a:r>
              <a:rPr lang="en-US" sz="2000" dirty="0"/>
              <a:t>:</a:t>
            </a:r>
          </a:p>
          <a:p>
            <a:pPr marL="176213" indent="-176213">
              <a:spcAft>
                <a:spcPts val="1200"/>
              </a:spcAft>
              <a:buFont typeface="Arial" pitchFamily="34" charset="0"/>
              <a:buChar char="•"/>
            </a:pPr>
            <a:r>
              <a:rPr lang="en-US" sz="2000" dirty="0"/>
              <a:t>Supreme Court and Appellate Court decisions of your state are mandatory</a:t>
            </a:r>
          </a:p>
          <a:p>
            <a:pPr marL="176213" indent="-176213">
              <a:spcAft>
                <a:spcPts val="1200"/>
              </a:spcAft>
              <a:buFont typeface="Arial" pitchFamily="34" charset="0"/>
              <a:buChar char="•"/>
            </a:pPr>
            <a:r>
              <a:rPr lang="en-US" sz="2000" dirty="0"/>
              <a:t>Trial court decisions are persuasive, but not binding, and generally are not published</a:t>
            </a:r>
          </a:p>
          <a:p>
            <a:pPr marL="176213" indent="-176213">
              <a:spcAft>
                <a:spcPts val="1200"/>
              </a:spcAft>
              <a:buFont typeface="Arial" pitchFamily="34" charset="0"/>
              <a:buChar char="•"/>
            </a:pPr>
            <a:r>
              <a:rPr lang="en-US" sz="2000" dirty="0"/>
              <a:t>Out-of-state decisions are only persuasive </a:t>
            </a:r>
            <a:endParaRPr lang="en-US" dirty="0"/>
          </a:p>
        </p:txBody>
      </p:sp>
    </p:spTree>
    <p:custDataLst>
      <p:tags r:id="rId1"/>
    </p:custDataLst>
    <p:extLst>
      <p:ext uri="{BB962C8B-B14F-4D97-AF65-F5344CB8AC3E}">
        <p14:creationId xmlns:p14="http://schemas.microsoft.com/office/powerpoint/2010/main" val="161494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2514600" y="0"/>
            <a:ext cx="7772400" cy="685800"/>
          </a:xfrm>
        </p:spPr>
        <p:txBody>
          <a:bodyPr>
            <a:normAutofit fontScale="90000"/>
          </a:bodyPr>
          <a:lstStyle/>
          <a:p>
            <a:pPr eaLnBrk="1" hangingPunct="1">
              <a:defRPr/>
            </a:pPr>
            <a:r>
              <a:rPr lang="en-US" sz="4000" b="1"/>
              <a:t>LEVELS OF COURTS</a:t>
            </a:r>
          </a:p>
        </p:txBody>
      </p:sp>
      <p:sp>
        <p:nvSpPr>
          <p:cNvPr id="139267" name="Rectangle 3"/>
          <p:cNvSpPr>
            <a:spLocks noGrp="1" noChangeArrowheads="1"/>
          </p:cNvSpPr>
          <p:nvPr>
            <p:ph idx="1"/>
          </p:nvPr>
        </p:nvSpPr>
        <p:spPr>
          <a:xfrm>
            <a:off x="2133600" y="1371600"/>
            <a:ext cx="3733800" cy="4495800"/>
          </a:xfrm>
        </p:spPr>
        <p:txBody>
          <a:bodyPr/>
          <a:lstStyle/>
          <a:p>
            <a:pPr algn="ctr" eaLnBrk="1" hangingPunct="1">
              <a:lnSpc>
                <a:spcPct val="90000"/>
              </a:lnSpc>
              <a:buFont typeface="Wingdings" pitchFamily="2" charset="2"/>
              <a:buNone/>
              <a:defRPr/>
            </a:pPr>
            <a:r>
              <a:rPr lang="en-US" dirty="0">
                <a:solidFill>
                  <a:schemeClr val="tx2"/>
                </a:solidFill>
                <a:latin typeface="Arial Narrow" pitchFamily="34" charset="0"/>
                <a:cs typeface="Times New Roman" charset="0"/>
              </a:rPr>
              <a:t>Supreme Court </a:t>
            </a:r>
          </a:p>
          <a:p>
            <a:pPr algn="ctr" eaLnBrk="1" hangingPunct="1">
              <a:lnSpc>
                <a:spcPct val="90000"/>
              </a:lnSpc>
              <a:buFont typeface="Wingdings" pitchFamily="2" charset="2"/>
              <a:buNone/>
              <a:defRPr/>
            </a:pPr>
            <a:endParaRPr lang="en-US" dirty="0">
              <a:solidFill>
                <a:schemeClr val="tx2"/>
              </a:solidFill>
              <a:latin typeface="Arial Narrow" pitchFamily="34" charset="0"/>
              <a:cs typeface="Times New Roman" charset="0"/>
            </a:endParaRPr>
          </a:p>
          <a:p>
            <a:pPr algn="ctr" eaLnBrk="1" hangingPunct="1">
              <a:lnSpc>
                <a:spcPct val="90000"/>
              </a:lnSpc>
              <a:buFont typeface="Wingdings" pitchFamily="2" charset="2"/>
              <a:buNone/>
              <a:defRPr/>
            </a:pPr>
            <a:endParaRPr lang="en-US" dirty="0">
              <a:solidFill>
                <a:schemeClr val="tx2"/>
              </a:solidFill>
              <a:latin typeface="Arial Narrow" pitchFamily="34" charset="0"/>
              <a:cs typeface="Times New Roman" charset="0"/>
            </a:endParaRPr>
          </a:p>
          <a:p>
            <a:pPr algn="ctr" eaLnBrk="1" hangingPunct="1">
              <a:lnSpc>
                <a:spcPct val="90000"/>
              </a:lnSpc>
              <a:buFont typeface="Wingdings" pitchFamily="2" charset="2"/>
              <a:buNone/>
              <a:defRPr/>
            </a:pPr>
            <a:r>
              <a:rPr lang="en-US" dirty="0">
                <a:solidFill>
                  <a:schemeClr val="tx2"/>
                </a:solidFill>
                <a:latin typeface="Arial Narrow" pitchFamily="34" charset="0"/>
                <a:cs typeface="Times New Roman" charset="0"/>
              </a:rPr>
              <a:t>Intermediate Appellate Court</a:t>
            </a:r>
          </a:p>
          <a:p>
            <a:pPr algn="ctr" eaLnBrk="1" hangingPunct="1">
              <a:lnSpc>
                <a:spcPct val="90000"/>
              </a:lnSpc>
              <a:buFont typeface="Wingdings" pitchFamily="2" charset="2"/>
              <a:buNone/>
              <a:defRPr/>
            </a:pPr>
            <a:endParaRPr lang="en-US" dirty="0">
              <a:solidFill>
                <a:schemeClr val="tx2"/>
              </a:solidFill>
              <a:latin typeface="Arial Narrow" pitchFamily="34" charset="0"/>
              <a:cs typeface="Times New Roman" charset="0"/>
            </a:endParaRPr>
          </a:p>
          <a:p>
            <a:pPr algn="ctr" eaLnBrk="1" hangingPunct="1">
              <a:lnSpc>
                <a:spcPct val="90000"/>
              </a:lnSpc>
              <a:buFont typeface="Wingdings" pitchFamily="2" charset="2"/>
              <a:buNone/>
              <a:defRPr/>
            </a:pPr>
            <a:endParaRPr lang="en-US" dirty="0">
              <a:solidFill>
                <a:schemeClr val="tx2"/>
              </a:solidFill>
              <a:latin typeface="Arial Narrow" pitchFamily="34" charset="0"/>
              <a:cs typeface="Times New Roman" charset="0"/>
            </a:endParaRPr>
          </a:p>
          <a:p>
            <a:pPr algn="ctr" eaLnBrk="1" hangingPunct="1">
              <a:lnSpc>
                <a:spcPct val="90000"/>
              </a:lnSpc>
              <a:buFont typeface="Wingdings" pitchFamily="2" charset="2"/>
              <a:buNone/>
              <a:defRPr/>
            </a:pPr>
            <a:endParaRPr lang="en-US" dirty="0">
              <a:solidFill>
                <a:schemeClr val="tx2"/>
              </a:solidFill>
              <a:latin typeface="Arial Narrow" pitchFamily="34" charset="0"/>
              <a:cs typeface="Times New Roman" charset="0"/>
            </a:endParaRPr>
          </a:p>
          <a:p>
            <a:pPr algn="ctr" eaLnBrk="1" hangingPunct="1">
              <a:lnSpc>
                <a:spcPct val="90000"/>
              </a:lnSpc>
              <a:buFont typeface="Wingdings" pitchFamily="2" charset="2"/>
              <a:buNone/>
              <a:defRPr/>
            </a:pPr>
            <a:r>
              <a:rPr lang="en-US" dirty="0">
                <a:solidFill>
                  <a:schemeClr val="tx2"/>
                </a:solidFill>
                <a:latin typeface="Arial Narrow" pitchFamily="34" charset="0"/>
                <a:cs typeface="Times New Roman" charset="0"/>
              </a:rPr>
              <a:t>Trial Court</a:t>
            </a:r>
          </a:p>
          <a:p>
            <a:pPr algn="ctr" eaLnBrk="1" hangingPunct="1">
              <a:lnSpc>
                <a:spcPct val="90000"/>
              </a:lnSpc>
              <a:buFont typeface="Wingdings" pitchFamily="2" charset="2"/>
              <a:buNone/>
              <a:defRPr/>
            </a:pPr>
            <a:endParaRPr lang="en-US" i="1" dirty="0">
              <a:solidFill>
                <a:schemeClr val="tx2"/>
              </a:solidFill>
              <a:latin typeface="Arial Narrow" pitchFamily="34" charset="0"/>
              <a:cs typeface="Times New Roman" charset="0"/>
            </a:endParaRPr>
          </a:p>
        </p:txBody>
      </p:sp>
      <p:sp>
        <p:nvSpPr>
          <p:cNvPr id="19" name="Slide Number Placeholder 5"/>
          <p:cNvSpPr>
            <a:spLocks noGrp="1"/>
          </p:cNvSpPr>
          <p:nvPr>
            <p:ph type="sldNum" sz="quarter" idx="12"/>
          </p:nvPr>
        </p:nvSpPr>
        <p:spPr/>
        <p:txBody>
          <a:bodyPr/>
          <a:lstStyle/>
          <a:p>
            <a:pPr>
              <a:defRPr/>
            </a:pPr>
            <a:endParaRPr lang="en-US" dirty="0"/>
          </a:p>
        </p:txBody>
      </p:sp>
      <p:sp>
        <p:nvSpPr>
          <p:cNvPr id="16389" name="AutoShape 4"/>
          <p:cNvSpPr>
            <a:spLocks noChangeArrowheads="1"/>
          </p:cNvSpPr>
          <p:nvPr/>
        </p:nvSpPr>
        <p:spPr bwMode="auto">
          <a:xfrm>
            <a:off x="3733801" y="2133600"/>
            <a:ext cx="485775" cy="533400"/>
          </a:xfrm>
          <a:prstGeom prst="upArrow">
            <a:avLst>
              <a:gd name="adj1" fmla="val 50000"/>
              <a:gd name="adj2" fmla="val 27451"/>
            </a:avLst>
          </a:prstGeom>
          <a:solidFill>
            <a:schemeClr val="accent1"/>
          </a:solidFill>
          <a:ln w="9525">
            <a:solidFill>
              <a:schemeClr val="tx1"/>
            </a:solidFill>
            <a:miter lim="800000"/>
            <a:headEnd/>
            <a:tailEnd/>
          </a:ln>
        </p:spPr>
        <p:txBody>
          <a:bodyPr wrap="none" anchor="ctr"/>
          <a:lstStyle/>
          <a:p>
            <a:endParaRPr lang="en-US"/>
          </a:p>
        </p:txBody>
      </p:sp>
      <p:sp>
        <p:nvSpPr>
          <p:cNvPr id="16390" name="AutoShape 5"/>
          <p:cNvSpPr>
            <a:spLocks noChangeArrowheads="1"/>
          </p:cNvSpPr>
          <p:nvPr/>
        </p:nvSpPr>
        <p:spPr bwMode="auto">
          <a:xfrm>
            <a:off x="3733800" y="3581400"/>
            <a:ext cx="485775" cy="457200"/>
          </a:xfrm>
          <a:prstGeom prst="up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en-US" dirty="0"/>
          </a:p>
        </p:txBody>
      </p:sp>
      <p:sp>
        <p:nvSpPr>
          <p:cNvPr id="16391" name="Text Box 6"/>
          <p:cNvSpPr txBox="1">
            <a:spLocks noChangeArrowheads="1"/>
          </p:cNvSpPr>
          <p:nvPr/>
        </p:nvSpPr>
        <p:spPr bwMode="auto">
          <a:xfrm>
            <a:off x="6011249" y="1447801"/>
            <a:ext cx="1899879" cy="830997"/>
          </a:xfrm>
          <a:prstGeom prst="rect">
            <a:avLst/>
          </a:prstGeom>
          <a:noFill/>
          <a:ln w="9525">
            <a:noFill/>
            <a:miter lim="800000"/>
            <a:headEnd/>
            <a:tailEnd/>
          </a:ln>
        </p:spPr>
        <p:txBody>
          <a:bodyPr wrap="none">
            <a:spAutoFit/>
          </a:bodyPr>
          <a:lstStyle/>
          <a:p>
            <a:pPr algn="ctr" eaLnBrk="1" hangingPunct="1"/>
            <a:r>
              <a:rPr lang="en-US" sz="2400">
                <a:latin typeface="Arial Narrow" pitchFamily="34" charset="0"/>
              </a:rPr>
              <a:t>United States</a:t>
            </a:r>
          </a:p>
          <a:p>
            <a:pPr algn="ctr" eaLnBrk="1" hangingPunct="1"/>
            <a:r>
              <a:rPr lang="en-US" sz="2400">
                <a:latin typeface="Arial Narrow" pitchFamily="34" charset="0"/>
              </a:rPr>
              <a:t>Supreme Court</a:t>
            </a:r>
          </a:p>
        </p:txBody>
      </p:sp>
      <p:sp>
        <p:nvSpPr>
          <p:cNvPr id="16392" name="Rectangle 7"/>
          <p:cNvSpPr>
            <a:spLocks noChangeArrowheads="1"/>
          </p:cNvSpPr>
          <p:nvPr/>
        </p:nvSpPr>
        <p:spPr bwMode="auto">
          <a:xfrm>
            <a:off x="6019800" y="2819400"/>
            <a:ext cx="2209800" cy="1569660"/>
          </a:xfrm>
          <a:prstGeom prst="rect">
            <a:avLst/>
          </a:prstGeom>
          <a:noFill/>
          <a:ln w="9525">
            <a:noFill/>
            <a:miter lim="800000"/>
            <a:headEnd/>
            <a:tailEnd/>
          </a:ln>
        </p:spPr>
        <p:txBody>
          <a:bodyPr>
            <a:spAutoFit/>
          </a:bodyPr>
          <a:lstStyle/>
          <a:p>
            <a:pPr algn="ctr" eaLnBrk="1" hangingPunct="1"/>
            <a:r>
              <a:rPr lang="en-US" sz="2400" dirty="0">
                <a:latin typeface="Arial Narrow" pitchFamily="34" charset="0"/>
              </a:rPr>
              <a:t>United States Circuit </a:t>
            </a:r>
          </a:p>
          <a:p>
            <a:pPr algn="ctr" eaLnBrk="1" hangingPunct="1"/>
            <a:r>
              <a:rPr lang="en-US" sz="2400" dirty="0">
                <a:latin typeface="Arial Narrow" pitchFamily="34" charset="0"/>
              </a:rPr>
              <a:t>Courts of Appeals</a:t>
            </a:r>
          </a:p>
          <a:p>
            <a:pPr algn="ctr" eaLnBrk="1" hangingPunct="1"/>
            <a:r>
              <a:rPr lang="en-US" sz="2400" dirty="0">
                <a:latin typeface="Arial Narrow" pitchFamily="34" charset="0"/>
              </a:rPr>
              <a:t>(13 Circuits)</a:t>
            </a:r>
          </a:p>
        </p:txBody>
      </p:sp>
      <p:sp>
        <p:nvSpPr>
          <p:cNvPr id="16393" name="Rectangle 8"/>
          <p:cNvSpPr>
            <a:spLocks noChangeArrowheads="1"/>
          </p:cNvSpPr>
          <p:nvPr/>
        </p:nvSpPr>
        <p:spPr bwMode="auto">
          <a:xfrm>
            <a:off x="6019800" y="4572001"/>
            <a:ext cx="2209800" cy="1200329"/>
          </a:xfrm>
          <a:prstGeom prst="rect">
            <a:avLst/>
          </a:prstGeom>
          <a:noFill/>
          <a:ln w="9525">
            <a:noFill/>
            <a:miter lim="800000"/>
            <a:headEnd/>
            <a:tailEnd/>
          </a:ln>
        </p:spPr>
        <p:txBody>
          <a:bodyPr>
            <a:spAutoFit/>
          </a:bodyPr>
          <a:lstStyle/>
          <a:p>
            <a:pPr algn="ctr" eaLnBrk="1" hangingPunct="1"/>
            <a:r>
              <a:rPr lang="en-US" sz="2400" dirty="0">
                <a:latin typeface="Arial Narrow" pitchFamily="34" charset="0"/>
              </a:rPr>
              <a:t>United States</a:t>
            </a:r>
          </a:p>
          <a:p>
            <a:pPr algn="ctr" eaLnBrk="1" hangingPunct="1"/>
            <a:r>
              <a:rPr lang="en-US" sz="2400" dirty="0">
                <a:latin typeface="Arial Narrow" pitchFamily="34" charset="0"/>
              </a:rPr>
              <a:t>District Courts</a:t>
            </a:r>
          </a:p>
          <a:p>
            <a:pPr algn="ctr" eaLnBrk="1" hangingPunct="1"/>
            <a:r>
              <a:rPr lang="en-US" sz="2400" dirty="0">
                <a:latin typeface="Arial Narrow" pitchFamily="34" charset="0"/>
              </a:rPr>
              <a:t>(4 in Texas)</a:t>
            </a:r>
          </a:p>
        </p:txBody>
      </p:sp>
      <p:sp>
        <p:nvSpPr>
          <p:cNvPr id="16394" name="Line 9"/>
          <p:cNvSpPr>
            <a:spLocks noChangeShapeType="1"/>
          </p:cNvSpPr>
          <p:nvPr/>
        </p:nvSpPr>
        <p:spPr bwMode="auto">
          <a:xfrm flipV="1">
            <a:off x="7086600" y="4267200"/>
            <a:ext cx="0" cy="304800"/>
          </a:xfrm>
          <a:prstGeom prst="line">
            <a:avLst/>
          </a:prstGeom>
          <a:noFill/>
          <a:ln w="9525">
            <a:solidFill>
              <a:schemeClr val="tx1"/>
            </a:solidFill>
            <a:round/>
            <a:headEnd/>
            <a:tailEnd type="triangle" w="med" len="med"/>
          </a:ln>
        </p:spPr>
        <p:txBody>
          <a:bodyPr wrap="none" anchor="ctr"/>
          <a:lstStyle/>
          <a:p>
            <a:endParaRPr lang="en-US"/>
          </a:p>
        </p:txBody>
      </p:sp>
      <p:sp>
        <p:nvSpPr>
          <p:cNvPr id="16395" name="Line 10"/>
          <p:cNvSpPr>
            <a:spLocks noChangeShapeType="1"/>
          </p:cNvSpPr>
          <p:nvPr/>
        </p:nvSpPr>
        <p:spPr bwMode="auto">
          <a:xfrm flipV="1">
            <a:off x="7086600" y="2362200"/>
            <a:ext cx="0" cy="381000"/>
          </a:xfrm>
          <a:prstGeom prst="line">
            <a:avLst/>
          </a:prstGeom>
          <a:noFill/>
          <a:ln w="9525">
            <a:solidFill>
              <a:schemeClr val="tx1"/>
            </a:solidFill>
            <a:round/>
            <a:headEnd/>
            <a:tailEnd type="triangle" w="med" len="med"/>
          </a:ln>
        </p:spPr>
        <p:txBody>
          <a:bodyPr wrap="none" anchor="ctr"/>
          <a:lstStyle/>
          <a:p>
            <a:endParaRPr lang="en-US"/>
          </a:p>
        </p:txBody>
      </p:sp>
      <p:sp>
        <p:nvSpPr>
          <p:cNvPr id="16396" name="Text Box 11"/>
          <p:cNvSpPr txBox="1">
            <a:spLocks noChangeArrowheads="1"/>
          </p:cNvSpPr>
          <p:nvPr/>
        </p:nvSpPr>
        <p:spPr bwMode="auto">
          <a:xfrm>
            <a:off x="7543800" y="1524001"/>
            <a:ext cx="2819400" cy="830997"/>
          </a:xfrm>
          <a:prstGeom prst="rect">
            <a:avLst/>
          </a:prstGeom>
          <a:noFill/>
          <a:ln w="9525">
            <a:noFill/>
            <a:miter lim="800000"/>
            <a:headEnd/>
            <a:tailEnd/>
          </a:ln>
        </p:spPr>
        <p:txBody>
          <a:bodyPr>
            <a:spAutoFit/>
          </a:bodyPr>
          <a:lstStyle/>
          <a:p>
            <a:pPr eaLnBrk="1" hangingPunct="1"/>
            <a:r>
              <a:rPr lang="en-US" sz="2400" dirty="0">
                <a:latin typeface="Arial Narrow" pitchFamily="34" charset="0"/>
              </a:rPr>
              <a:t>   &lt;- - - - - </a:t>
            </a:r>
          </a:p>
          <a:p>
            <a:pPr eaLnBrk="1" hangingPunct="1"/>
            <a:r>
              <a:rPr lang="en-US" sz="2400" dirty="0">
                <a:latin typeface="Arial Narrow" pitchFamily="34" charset="0"/>
              </a:rPr>
              <a:t>	Supreme Court</a:t>
            </a:r>
          </a:p>
        </p:txBody>
      </p:sp>
      <p:sp>
        <p:nvSpPr>
          <p:cNvPr id="16397" name="Rectangle 12"/>
          <p:cNvSpPr>
            <a:spLocks noChangeArrowheads="1"/>
          </p:cNvSpPr>
          <p:nvPr/>
        </p:nvSpPr>
        <p:spPr bwMode="auto">
          <a:xfrm>
            <a:off x="8305800" y="2819401"/>
            <a:ext cx="2286000" cy="830997"/>
          </a:xfrm>
          <a:prstGeom prst="rect">
            <a:avLst/>
          </a:prstGeom>
          <a:noFill/>
          <a:ln w="9525">
            <a:noFill/>
            <a:miter lim="800000"/>
            <a:headEnd/>
            <a:tailEnd/>
          </a:ln>
        </p:spPr>
        <p:txBody>
          <a:bodyPr>
            <a:spAutoFit/>
          </a:bodyPr>
          <a:lstStyle/>
          <a:p>
            <a:pPr algn="ctr" eaLnBrk="1" hangingPunct="1"/>
            <a:endParaRPr lang="en-US" sz="2400" dirty="0">
              <a:latin typeface="Arial Narrow" pitchFamily="34" charset="0"/>
            </a:endParaRPr>
          </a:p>
          <a:p>
            <a:pPr algn="ctr" eaLnBrk="1" hangingPunct="1"/>
            <a:r>
              <a:rPr lang="en-US" sz="2400" dirty="0">
                <a:latin typeface="Arial Narrow" pitchFamily="34" charset="0"/>
              </a:rPr>
              <a:t>Court of Appeal</a:t>
            </a:r>
          </a:p>
        </p:txBody>
      </p:sp>
      <p:sp>
        <p:nvSpPr>
          <p:cNvPr id="16398" name="Rectangle 13"/>
          <p:cNvSpPr>
            <a:spLocks noChangeArrowheads="1"/>
          </p:cNvSpPr>
          <p:nvPr/>
        </p:nvSpPr>
        <p:spPr bwMode="auto">
          <a:xfrm>
            <a:off x="8382000" y="4648201"/>
            <a:ext cx="2209800" cy="769441"/>
          </a:xfrm>
          <a:prstGeom prst="rect">
            <a:avLst/>
          </a:prstGeom>
          <a:noFill/>
          <a:ln w="9525">
            <a:noFill/>
            <a:miter lim="800000"/>
            <a:headEnd/>
            <a:tailEnd/>
          </a:ln>
        </p:spPr>
        <p:txBody>
          <a:bodyPr>
            <a:spAutoFit/>
          </a:bodyPr>
          <a:lstStyle/>
          <a:p>
            <a:pPr algn="ctr" eaLnBrk="1" hangingPunct="1"/>
            <a:r>
              <a:rPr lang="en-US" sz="2400" dirty="0">
                <a:latin typeface="Arial Narrow" pitchFamily="34" charset="0"/>
              </a:rPr>
              <a:t>Superior Court</a:t>
            </a:r>
          </a:p>
          <a:p>
            <a:pPr algn="ctr" eaLnBrk="1" hangingPunct="1"/>
            <a:endParaRPr lang="en-US" sz="2000" dirty="0">
              <a:latin typeface="Arial Narrow" pitchFamily="34" charset="0"/>
            </a:endParaRPr>
          </a:p>
        </p:txBody>
      </p:sp>
      <p:sp>
        <p:nvSpPr>
          <p:cNvPr id="16399" name="Line 14"/>
          <p:cNvSpPr>
            <a:spLocks noChangeShapeType="1"/>
          </p:cNvSpPr>
          <p:nvPr/>
        </p:nvSpPr>
        <p:spPr bwMode="auto">
          <a:xfrm flipV="1">
            <a:off x="9448800" y="4114800"/>
            <a:ext cx="0" cy="381000"/>
          </a:xfrm>
          <a:prstGeom prst="line">
            <a:avLst/>
          </a:prstGeom>
          <a:noFill/>
          <a:ln w="9525">
            <a:solidFill>
              <a:schemeClr val="tx1"/>
            </a:solidFill>
            <a:round/>
            <a:headEnd/>
            <a:tailEnd type="triangle" w="med" len="med"/>
          </a:ln>
        </p:spPr>
        <p:txBody>
          <a:bodyPr wrap="none" anchor="ctr"/>
          <a:lstStyle/>
          <a:p>
            <a:endParaRPr lang="en-US"/>
          </a:p>
        </p:txBody>
      </p:sp>
      <p:sp>
        <p:nvSpPr>
          <p:cNvPr id="16400" name="Line 15"/>
          <p:cNvSpPr>
            <a:spLocks noChangeShapeType="1"/>
          </p:cNvSpPr>
          <p:nvPr/>
        </p:nvSpPr>
        <p:spPr bwMode="auto">
          <a:xfrm flipV="1">
            <a:off x="9296400" y="2362200"/>
            <a:ext cx="0" cy="381000"/>
          </a:xfrm>
          <a:prstGeom prst="line">
            <a:avLst/>
          </a:prstGeom>
          <a:noFill/>
          <a:ln w="9525">
            <a:solidFill>
              <a:schemeClr val="tx1"/>
            </a:solidFill>
            <a:round/>
            <a:headEnd/>
            <a:tailEnd type="triangle" w="med" len="med"/>
          </a:ln>
        </p:spPr>
        <p:txBody>
          <a:bodyPr wrap="none" anchor="ctr"/>
          <a:lstStyle/>
          <a:p>
            <a:endParaRPr lang="en-US"/>
          </a:p>
        </p:txBody>
      </p:sp>
      <p:sp>
        <p:nvSpPr>
          <p:cNvPr id="16401" name="Text Box 16"/>
          <p:cNvSpPr txBox="1">
            <a:spLocks noChangeArrowheads="1"/>
          </p:cNvSpPr>
          <p:nvPr/>
        </p:nvSpPr>
        <p:spPr bwMode="auto">
          <a:xfrm>
            <a:off x="6172200" y="914400"/>
            <a:ext cx="1752600" cy="457200"/>
          </a:xfrm>
          <a:prstGeom prst="rect">
            <a:avLst/>
          </a:prstGeom>
          <a:noFill/>
          <a:ln w="9525">
            <a:noFill/>
            <a:miter lim="800000"/>
            <a:headEnd/>
            <a:tailEnd/>
          </a:ln>
        </p:spPr>
        <p:txBody>
          <a:bodyPr>
            <a:spAutoFit/>
          </a:bodyPr>
          <a:lstStyle/>
          <a:p>
            <a:pPr algn="ctr" eaLnBrk="1" hangingPunct="1"/>
            <a:r>
              <a:rPr lang="en-US" sz="2400" b="1" u="sng">
                <a:latin typeface="Arial Narrow" pitchFamily="34" charset="0"/>
              </a:rPr>
              <a:t>FEDERAL</a:t>
            </a:r>
          </a:p>
        </p:txBody>
      </p:sp>
      <p:sp>
        <p:nvSpPr>
          <p:cNvPr id="16402" name="Text Box 17"/>
          <p:cNvSpPr txBox="1">
            <a:spLocks noChangeArrowheads="1"/>
          </p:cNvSpPr>
          <p:nvPr/>
        </p:nvSpPr>
        <p:spPr bwMode="auto">
          <a:xfrm>
            <a:off x="8610600" y="914401"/>
            <a:ext cx="1752600" cy="830997"/>
          </a:xfrm>
          <a:prstGeom prst="rect">
            <a:avLst/>
          </a:prstGeom>
          <a:noFill/>
          <a:ln w="9525">
            <a:noFill/>
            <a:miter lim="800000"/>
            <a:headEnd/>
            <a:tailEnd/>
          </a:ln>
        </p:spPr>
        <p:txBody>
          <a:bodyPr>
            <a:spAutoFit/>
          </a:bodyPr>
          <a:lstStyle/>
          <a:p>
            <a:pPr algn="ctr" eaLnBrk="1" hangingPunct="1"/>
            <a:r>
              <a:rPr lang="en-US" sz="2400" b="1" u="sng" dirty="0">
                <a:latin typeface="Arial Narrow" pitchFamily="34" charset="0"/>
              </a:rPr>
              <a:t>MOST STATES</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0173" y="624110"/>
            <a:ext cx="7284749" cy="1280890"/>
          </a:xfrm>
        </p:spPr>
        <p:txBody>
          <a:bodyPr>
            <a:normAutofit fontScale="90000"/>
          </a:bodyPr>
          <a:lstStyle/>
          <a:p>
            <a:pPr eaLnBrk="1" hangingPunct="1">
              <a:defRPr/>
            </a:pPr>
            <a:r>
              <a:rPr lang="en-US" b="1" u="sng" dirty="0"/>
              <a:t>ANALYSIS</a:t>
            </a:r>
            <a:r>
              <a:rPr lang="en-US" b="1" dirty="0"/>
              <a:t>  </a:t>
            </a:r>
            <a:br>
              <a:rPr lang="en-US" b="1" dirty="0"/>
            </a:br>
            <a:endParaRPr lang="en-US" dirty="0"/>
          </a:p>
        </p:txBody>
      </p:sp>
      <p:graphicFrame>
        <p:nvGraphicFramePr>
          <p:cNvPr id="6" name="Content Placeholder 2">
            <a:extLst>
              <a:ext uri="{FF2B5EF4-FFF2-40B4-BE49-F238E27FC236}">
                <a16:creationId xmlns:a16="http://schemas.microsoft.com/office/drawing/2014/main" id="{64548A92-595D-40A4-A6DD-B3699150E86D}"/>
              </a:ext>
            </a:extLst>
          </p:cNvPr>
          <p:cNvGraphicFramePr>
            <a:graphicFrameLocks noGrp="1"/>
          </p:cNvGraphicFramePr>
          <p:nvPr>
            <p:ph idx="1"/>
          </p:nvPr>
        </p:nvGraphicFramePr>
        <p:xfrm>
          <a:off x="2870173" y="2222984"/>
          <a:ext cx="6740553" cy="3653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BC97B-77AD-1145-B882-AA8597CF3DA8}"/>
              </a:ext>
            </a:extLst>
          </p:cNvPr>
          <p:cNvSpPr>
            <a:spLocks noGrp="1"/>
          </p:cNvSpPr>
          <p:nvPr>
            <p:ph type="title"/>
          </p:nvPr>
        </p:nvSpPr>
        <p:spPr>
          <a:xfrm>
            <a:off x="3465909" y="4529541"/>
            <a:ext cx="6686550" cy="1162423"/>
          </a:xfrm>
        </p:spPr>
        <p:txBody>
          <a:bodyPr vert="horz" lIns="91440" tIns="45720" rIns="91440" bIns="45720" rtlCol="0" anchor="b">
            <a:normAutofit fontScale="90000"/>
          </a:bodyPr>
          <a:lstStyle/>
          <a:p>
            <a:r>
              <a:rPr lang="en-US" sz="3600" dirty="0"/>
              <a:t>BLW Exercises Chapter 2 – 2.1, 2.3, 2.5</a:t>
            </a:r>
            <a:br>
              <a:rPr lang="en-US" sz="5400" dirty="0"/>
            </a:br>
            <a:r>
              <a:rPr lang="en-US" sz="1800" dirty="0">
                <a:hlinkClick r:id="rId2"/>
              </a:rPr>
              <a:t>https://www.fjc.gov/history/courts/u.s.-district-courts-districts-texas</a:t>
            </a:r>
            <a:r>
              <a:rPr lang="en-US" sz="1800" dirty="0"/>
              <a:t> and </a:t>
            </a:r>
            <a:r>
              <a:rPr lang="en-US" sz="1800" dirty="0">
                <a:hlinkClick r:id="rId3"/>
              </a:rPr>
              <a:t>https://txcourts.gov/</a:t>
            </a:r>
            <a:r>
              <a:rPr lang="en-US" sz="1800" dirty="0"/>
              <a:t> for Exercise 2.3</a:t>
            </a:r>
          </a:p>
        </p:txBody>
      </p:sp>
      <p:pic>
        <p:nvPicPr>
          <p:cNvPr id="60" name="Graphic 59" descr="Books">
            <a:extLst>
              <a:ext uri="{FF2B5EF4-FFF2-40B4-BE49-F238E27FC236}">
                <a16:creationId xmlns:a16="http://schemas.microsoft.com/office/drawing/2014/main" id="{88A3957D-30A2-4CB6-BFF0-01C85286E12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65909" y="640080"/>
            <a:ext cx="3602736" cy="3602736"/>
          </a:xfrm>
          <a:prstGeom prst="rect">
            <a:avLst/>
          </a:prstGeom>
        </p:spPr>
      </p:pic>
    </p:spTree>
    <p:extLst>
      <p:ext uri="{BB962C8B-B14F-4D97-AF65-F5344CB8AC3E}">
        <p14:creationId xmlns:p14="http://schemas.microsoft.com/office/powerpoint/2010/main" val="2831748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8B9538A-2A89-47DD-996C-7D2BE2AB6C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299F84-E598-6DCD-5E70-D7031F0B7C0B}"/>
              </a:ext>
            </a:extLst>
          </p:cNvPr>
          <p:cNvSpPr>
            <a:spLocks noGrp="1"/>
          </p:cNvSpPr>
          <p:nvPr>
            <p:ph type="title"/>
          </p:nvPr>
        </p:nvSpPr>
        <p:spPr>
          <a:xfrm>
            <a:off x="643855" y="1447800"/>
            <a:ext cx="3108626" cy="4572000"/>
          </a:xfrm>
        </p:spPr>
        <p:txBody>
          <a:bodyPr anchor="ctr">
            <a:normAutofit/>
          </a:bodyPr>
          <a:lstStyle/>
          <a:p>
            <a:r>
              <a:rPr lang="en-US" sz="3600" dirty="0">
                <a:solidFill>
                  <a:srgbClr val="EBEBEB"/>
                </a:solidFill>
              </a:rPr>
              <a:t>The Four-Step Legal Research Process </a:t>
            </a:r>
          </a:p>
        </p:txBody>
      </p:sp>
      <p:sp>
        <p:nvSpPr>
          <p:cNvPr id="19" name="Freeform: Shape 18">
            <a:extLst>
              <a:ext uri="{FF2B5EF4-FFF2-40B4-BE49-F238E27FC236}">
                <a16:creationId xmlns:a16="http://schemas.microsoft.com/office/drawing/2014/main" id="{E625979B-5325-4898-8EF9-5C174B192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1">
            <a:extLst>
              <a:ext uri="{FF2B5EF4-FFF2-40B4-BE49-F238E27FC236}">
                <a16:creationId xmlns:a16="http://schemas.microsoft.com/office/drawing/2014/main" id="{34B22E2B-30D5-47A4-97C5-091EA1AB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21" name="Rectangle 20">
            <a:extLst>
              <a:ext uri="{FF2B5EF4-FFF2-40B4-BE49-F238E27FC236}">
                <a16:creationId xmlns:a16="http://schemas.microsoft.com/office/drawing/2014/main" id="{9B6DA3CD-A002-40ED-8194-B4E637BD7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2" name="Content Placeholder 3">
            <a:extLst>
              <a:ext uri="{FF2B5EF4-FFF2-40B4-BE49-F238E27FC236}">
                <a16:creationId xmlns:a16="http://schemas.microsoft.com/office/drawing/2014/main" id="{BF64D904-07A6-EBEB-7D23-959913CB163B}"/>
              </a:ext>
            </a:extLst>
          </p:cNvPr>
          <p:cNvGraphicFramePr>
            <a:graphicFrameLocks noGrp="1"/>
          </p:cNvGraphicFramePr>
          <p:nvPr>
            <p:ph idx="1"/>
            <p:extLst>
              <p:ext uri="{D42A27DB-BD31-4B8C-83A1-F6EECF244321}">
                <p14:modId xmlns:p14="http://schemas.microsoft.com/office/powerpoint/2010/main" val="696289006"/>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9926690"/>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2113C-DF40-1470-EACA-D8007CCF726B}"/>
              </a:ext>
            </a:extLst>
          </p:cNvPr>
          <p:cNvSpPr>
            <a:spLocks noGrp="1"/>
          </p:cNvSpPr>
          <p:nvPr>
            <p:ph type="title"/>
          </p:nvPr>
        </p:nvSpPr>
        <p:spPr/>
        <p:txBody>
          <a:bodyPr/>
          <a:lstStyle/>
          <a:p>
            <a:r>
              <a:rPr lang="en-US" dirty="0"/>
              <a:t>Homework for Thursday</a:t>
            </a:r>
          </a:p>
        </p:txBody>
      </p:sp>
      <p:sp>
        <p:nvSpPr>
          <p:cNvPr id="3" name="Content Placeholder 2">
            <a:extLst>
              <a:ext uri="{FF2B5EF4-FFF2-40B4-BE49-F238E27FC236}">
                <a16:creationId xmlns:a16="http://schemas.microsoft.com/office/drawing/2014/main" id="{A8230421-47BC-B9B7-8EC2-D1D0EB91EDE9}"/>
              </a:ext>
            </a:extLst>
          </p:cNvPr>
          <p:cNvSpPr>
            <a:spLocks noGrp="1"/>
          </p:cNvSpPr>
          <p:nvPr>
            <p:ph idx="1"/>
          </p:nvPr>
        </p:nvSpPr>
        <p:spPr/>
        <p:txBody>
          <a:bodyPr/>
          <a:lstStyle/>
          <a:p>
            <a:r>
              <a:rPr lang="en-US" b="1" dirty="0"/>
              <a:t>Sign-Up for Conferences – Look for an e-mail for me later today with instructions</a:t>
            </a:r>
          </a:p>
          <a:p>
            <a:r>
              <a:rPr lang="en-US" b="1" dirty="0"/>
              <a:t>Complete Legal Research Modules 2.4-2.7  by 5 p.m. Tuesday, 9/22</a:t>
            </a:r>
            <a:endParaRPr lang="en-US" dirty="0"/>
          </a:p>
          <a:p>
            <a:pPr lvl="0"/>
            <a:r>
              <a:rPr lang="en-US" b="1" dirty="0"/>
              <a:t>Complete Legal Research Modules 3.1-3.3 by CLASS TIME Thursday, 9/24</a:t>
            </a:r>
            <a:endParaRPr lang="en-US" dirty="0"/>
          </a:p>
          <a:p>
            <a:pPr lvl="0"/>
            <a:r>
              <a:rPr lang="en-US" dirty="0"/>
              <a:t>Read Bennett-Glass Problem posted in the Week 5 Module in Canvas as we will do research exercises in class</a:t>
            </a:r>
          </a:p>
          <a:p>
            <a:r>
              <a:rPr lang="en-US" b="1" dirty="0"/>
              <a:t>For Sunday (9/27)</a:t>
            </a:r>
          </a:p>
          <a:p>
            <a:pPr lvl="1"/>
            <a:r>
              <a:rPr lang="en-US" b="1" dirty="0"/>
              <a:t>Complete selected ICW 6 and 7 by Sunday 9/27 at 5:00 p.m. (selected problems and instructions are posted in the Week 5 Canvas Module)</a:t>
            </a:r>
            <a:endParaRPr lang="en-US" dirty="0"/>
          </a:p>
          <a:p>
            <a:endParaRPr lang="en-US" dirty="0"/>
          </a:p>
        </p:txBody>
      </p:sp>
    </p:spTree>
    <p:extLst>
      <p:ext uri="{BB962C8B-B14F-4D97-AF65-F5344CB8AC3E}">
        <p14:creationId xmlns:p14="http://schemas.microsoft.com/office/powerpoint/2010/main" val="33962142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PREFERENCE" val="False"/>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510</TotalTime>
  <Words>1078</Words>
  <Application>Microsoft Office PowerPoint</Application>
  <PresentationFormat>Widescreen</PresentationFormat>
  <Paragraphs>168</Paragraphs>
  <Slides>19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Arial Narrow</vt:lpstr>
      <vt:lpstr>Calibri</vt:lpstr>
      <vt:lpstr>Century Gothic</vt:lpstr>
      <vt:lpstr>Georgia</vt:lpstr>
      <vt:lpstr>Wingdings</vt:lpstr>
      <vt:lpstr>Wingdings 3</vt:lpstr>
      <vt:lpstr>Ion</vt:lpstr>
      <vt:lpstr>Announcements</vt:lpstr>
      <vt:lpstr>Legal Writing Center Workshops – Required to Attend One of These</vt:lpstr>
      <vt:lpstr>How To Prepare For Your Closed Memo Discussion Section Conference</vt:lpstr>
      <vt:lpstr>Today</vt:lpstr>
      <vt:lpstr>PowerPoint Presentation</vt:lpstr>
      <vt:lpstr>Overview Question</vt:lpstr>
      <vt:lpstr>  Law vs. Guides for Finding Law </vt:lpstr>
      <vt:lpstr>          Types of Law</vt:lpstr>
      <vt:lpstr>What are the four principles for determining the weight of authority?</vt:lpstr>
      <vt:lpstr>Determine the Hierarchy of Authority</vt:lpstr>
      <vt:lpstr>Test our Understanding</vt:lpstr>
      <vt:lpstr>  Mandatory vs. Persuasive         Authority</vt:lpstr>
      <vt:lpstr>Mandatory vs. Persuasive Authority</vt:lpstr>
      <vt:lpstr>Determine the Hierarchy of Authority for Cases</vt:lpstr>
      <vt:lpstr>LEVELS OF COURTS</vt:lpstr>
      <vt:lpstr>ANALYSIS   </vt:lpstr>
      <vt:lpstr>BLW Exercises Chapter 2 – 2.1, 2.3, 2.5 https://www.fjc.gov/history/courts/u.s.-district-courts-districts-texas and https://txcourts.gov/ for Exercise 2.3</vt:lpstr>
      <vt:lpstr>The Four-Step Legal Research Process </vt:lpstr>
      <vt:lpstr>Homework for Thursday</vt:lpstr>
    </vt:vector>
  </TitlesOfParts>
  <Company>University of Houston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WELLNESS MOMENT</dc:title>
  <dc:creator>Reed, Hilary S</dc:creator>
  <cp:lastModifiedBy>Truskett, Harve A</cp:lastModifiedBy>
  <cp:revision>5</cp:revision>
  <dcterms:created xsi:type="dcterms:W3CDTF">2023-09-05T16:19:35Z</dcterms:created>
  <dcterms:modified xsi:type="dcterms:W3CDTF">2026-09-22T23:40:40Z</dcterms:modified>
</cp:coreProperties>
</file>