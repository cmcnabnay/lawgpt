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9" r:id="rId4"/>
    <p:sldId id="426" r:id="rId5"/>
    <p:sldId id="454" r:id="rId6"/>
    <p:sldId id="432" r:id="rId7"/>
    <p:sldId id="429" r:id="rId8"/>
    <p:sldId id="417" r:id="rId9"/>
    <p:sldId id="443" r:id="rId10"/>
    <p:sldId id="435" r:id="rId11"/>
    <p:sldId id="459" r:id="rId12"/>
    <p:sldId id="436" r:id="rId13"/>
    <p:sldId id="442" r:id="rId14"/>
    <p:sldId id="461" r:id="rId15"/>
    <p:sldId id="460" r:id="rId16"/>
    <p:sldId id="438" r:id="rId17"/>
    <p:sldId id="439" r:id="rId18"/>
    <p:sldId id="457" r:id="rId19"/>
    <p:sldId id="434" r:id="rId20"/>
    <p:sldId id="458" r:id="rId21"/>
    <p:sldId id="455" r:id="rId22"/>
    <p:sldId id="456" r:id="rId23"/>
    <p:sldId id="440" r:id="rId24"/>
    <p:sldId id="448" r:id="rId25"/>
    <p:sldId id="44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113"/>
    <p:restoredTop sz="94313"/>
  </p:normalViewPr>
  <p:slideViewPr>
    <p:cSldViewPr snapToGrid="0">
      <p:cViewPr varScale="1">
        <p:scale>
          <a:sx n="105" d="100"/>
          <a:sy n="105" d="100"/>
        </p:scale>
        <p:origin x="192"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9/22/26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B1A86BF-6829-5045-A663-F100E0247FC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84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6983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C36C72-0B33-0A48-B3F4-90C09BB8A58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8794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C36C72-0B33-0A48-B3F4-90C09BB8A580}"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90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C36C72-0B33-0A48-B3F4-90C09BB8A580}" type="datetimeFigureOut">
              <a:rPr lang="en-US" smtClean="0"/>
              <a:t>9/22/26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1A86BF-6829-5045-A663-F100E0247FC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7720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C36C72-0B33-0A48-B3F4-90C09BB8A580}" type="datetimeFigureOut">
              <a:rPr lang="en-US" smtClean="0"/>
              <a:t>9/22/26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1A86BF-6829-5045-A663-F100E0247FC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721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C36C72-0B33-0A48-B3F4-90C09BB8A580}" type="datetimeFigureOut">
              <a:rPr lang="en-US" smtClean="0"/>
              <a:t>9/22/26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1A86BF-6829-5045-A663-F100E0247FC7}" type="slidenum">
              <a:rPr lang="en-US" smtClean="0"/>
              <a:t>‹#›</a:t>
            </a:fld>
            <a:endParaRPr lang="en-US"/>
          </a:p>
        </p:txBody>
      </p:sp>
    </p:spTree>
    <p:extLst>
      <p:ext uri="{BB962C8B-B14F-4D97-AF65-F5344CB8AC3E}">
        <p14:creationId xmlns:p14="http://schemas.microsoft.com/office/powerpoint/2010/main" val="444876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C36C72-0B33-0A48-B3F4-90C09BB8A580}"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00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DC36C72-0B33-0A48-B3F4-90C09BB8A580}" type="datetimeFigureOut">
              <a:rPr lang="en-US" smtClean="0"/>
              <a:t>9/22/26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736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109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31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DC36C72-0B33-0A48-B3F4-90C09BB8A580}" type="datetimeFigureOut">
              <a:rPr lang="en-US" smtClean="0"/>
              <a:t>9/22/26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B1A86BF-6829-5045-A663-F100E0247FC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316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E135C-E1F7-457C-793B-6F84BBEA4FB1}"/>
              </a:ext>
            </a:extLst>
          </p:cNvPr>
          <p:cNvSpPr>
            <a:spLocks noGrp="1"/>
          </p:cNvSpPr>
          <p:nvPr>
            <p:ph type="ctrTitle"/>
          </p:nvPr>
        </p:nvSpPr>
        <p:spPr/>
        <p:txBody>
          <a:bodyPr/>
          <a:lstStyle/>
          <a:p>
            <a:r>
              <a:rPr lang="en-US" dirty="0"/>
              <a:t>Civil Procedure</a:t>
            </a:r>
          </a:p>
        </p:txBody>
      </p:sp>
      <p:sp>
        <p:nvSpPr>
          <p:cNvPr id="3" name="Subtitle 2">
            <a:extLst>
              <a:ext uri="{FF2B5EF4-FFF2-40B4-BE49-F238E27FC236}">
                <a16:creationId xmlns:a16="http://schemas.microsoft.com/office/drawing/2014/main" id="{8F6D2300-46B5-4ED8-98CD-7D18437CEC22}"/>
              </a:ext>
            </a:extLst>
          </p:cNvPr>
          <p:cNvSpPr>
            <a:spLocks noGrp="1"/>
          </p:cNvSpPr>
          <p:nvPr>
            <p:ph type="subTitle" idx="1"/>
          </p:nvPr>
        </p:nvSpPr>
        <p:spPr>
          <a:xfrm>
            <a:off x="2417780" y="3646951"/>
            <a:ext cx="8637072" cy="977621"/>
          </a:xfrm>
        </p:spPr>
        <p:txBody>
          <a:bodyPr>
            <a:normAutofit/>
          </a:bodyPr>
          <a:lstStyle/>
          <a:p>
            <a:r>
              <a:rPr lang="en-US" sz="3600">
                <a:latin typeface="Candara" panose="020E0502030303020204" pitchFamily="34" charset="0"/>
              </a:rPr>
              <a:t>Class 12</a:t>
            </a:r>
            <a:endParaRPr lang="en-US" sz="3600" dirty="0">
              <a:latin typeface="Candara" panose="020E0502030303020204" pitchFamily="34" charset="0"/>
            </a:endParaRPr>
          </a:p>
        </p:txBody>
      </p:sp>
    </p:spTree>
    <p:extLst>
      <p:ext uri="{BB962C8B-B14F-4D97-AF65-F5344CB8AC3E}">
        <p14:creationId xmlns:p14="http://schemas.microsoft.com/office/powerpoint/2010/main" val="274471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867AE-F040-67B6-9446-8FC8AA2B77C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B92D890-1782-3B9A-A9EE-7CCC33ACBBE4}"/>
              </a:ext>
            </a:extLst>
          </p:cNvPr>
          <p:cNvSpPr>
            <a:spLocks noGrp="1"/>
          </p:cNvSpPr>
          <p:nvPr>
            <p:ph idx="1"/>
          </p:nvPr>
        </p:nvSpPr>
        <p:spPr>
          <a:xfrm>
            <a:off x="1451579" y="2015732"/>
            <a:ext cx="9603275" cy="3933655"/>
          </a:xfrm>
        </p:spPr>
        <p:txBody>
          <a:bodyPr>
            <a:normAutofit lnSpcReduction="10000"/>
          </a:bodyPr>
          <a:lstStyle/>
          <a:p>
            <a:pPr marL="514350" indent="-514350">
              <a:buFont typeface="+mj-lt"/>
              <a:buAutoNum type="romanUcPeriod"/>
            </a:pPr>
            <a:r>
              <a:rPr lang="en-US" sz="3200" dirty="0"/>
              <a:t>Recap</a:t>
            </a:r>
          </a:p>
          <a:p>
            <a:pPr marL="514350" indent="-514350">
              <a:buFont typeface="+mj-lt"/>
              <a:buAutoNum type="romanUcPeriod"/>
            </a:pPr>
            <a:r>
              <a:rPr lang="en-US" sz="3200" dirty="0"/>
              <a:t>Work Product—the FRCP &amp; FRE</a:t>
            </a:r>
          </a:p>
          <a:p>
            <a:pPr marL="514350" indent="-514350">
              <a:buFont typeface="+mj-lt"/>
              <a:buAutoNum type="romanUcPeriod"/>
            </a:pPr>
            <a:r>
              <a:rPr lang="en-US" sz="3200" dirty="0"/>
              <a:t>Privilege Logs</a:t>
            </a:r>
          </a:p>
          <a:p>
            <a:pPr marL="514350" indent="-514350">
              <a:buFont typeface="+mj-lt"/>
              <a:buAutoNum type="romanUcPeriod"/>
            </a:pPr>
            <a:r>
              <a:rPr lang="en-US" sz="3200" dirty="0"/>
              <a:t>Crime-Fraud Exception</a:t>
            </a:r>
          </a:p>
          <a:p>
            <a:pPr marL="514350" indent="-514350">
              <a:buFont typeface="+mj-lt"/>
              <a:buAutoNum type="romanUcPeriod"/>
            </a:pPr>
            <a:r>
              <a:rPr lang="en-US" sz="3200" dirty="0"/>
              <a:t>Some Hypos</a:t>
            </a:r>
          </a:p>
          <a:p>
            <a:pPr marL="514350" indent="-514350">
              <a:buFont typeface="+mj-lt"/>
              <a:buAutoNum type="romanUcPeriod"/>
            </a:pPr>
            <a:r>
              <a:rPr lang="en-US" sz="3200" dirty="0"/>
              <a:t>Takeaways</a:t>
            </a:r>
          </a:p>
        </p:txBody>
      </p:sp>
    </p:spTree>
    <p:extLst>
      <p:ext uri="{BB962C8B-B14F-4D97-AF65-F5344CB8AC3E}">
        <p14:creationId xmlns:p14="http://schemas.microsoft.com/office/powerpoint/2010/main" val="168983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88D4-5A9B-0E41-96DF-5AA7E5E3CFAC}"/>
              </a:ext>
            </a:extLst>
          </p:cNvPr>
          <p:cNvSpPr>
            <a:spLocks noGrp="1"/>
          </p:cNvSpPr>
          <p:nvPr>
            <p:ph type="title"/>
          </p:nvPr>
        </p:nvSpPr>
        <p:spPr/>
        <p:txBody>
          <a:bodyPr/>
          <a:lstStyle/>
          <a:p>
            <a:r>
              <a:rPr lang="en-US" dirty="0"/>
              <a:t>I. Recap</a:t>
            </a:r>
          </a:p>
        </p:txBody>
      </p:sp>
    </p:spTree>
    <p:extLst>
      <p:ext uri="{BB962C8B-B14F-4D97-AF65-F5344CB8AC3E}">
        <p14:creationId xmlns:p14="http://schemas.microsoft.com/office/powerpoint/2010/main" val="3053693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1CE82-1FD4-75B2-5C04-0D33E640FE8A}"/>
              </a:ext>
            </a:extLst>
          </p:cNvPr>
          <p:cNvSpPr>
            <a:spLocks noGrp="1"/>
          </p:cNvSpPr>
          <p:nvPr>
            <p:ph type="title"/>
          </p:nvPr>
        </p:nvSpPr>
        <p:spPr>
          <a:xfrm>
            <a:off x="1451579" y="1038135"/>
            <a:ext cx="9603275" cy="707040"/>
          </a:xfrm>
        </p:spPr>
        <p:txBody>
          <a:bodyPr/>
          <a:lstStyle/>
          <a:p>
            <a:r>
              <a:rPr lang="en-US" dirty="0"/>
              <a:t>Privilege and Work product</a:t>
            </a:r>
          </a:p>
        </p:txBody>
      </p:sp>
      <p:sp>
        <p:nvSpPr>
          <p:cNvPr id="3" name="Content Placeholder 2">
            <a:extLst>
              <a:ext uri="{FF2B5EF4-FFF2-40B4-BE49-F238E27FC236}">
                <a16:creationId xmlns:a16="http://schemas.microsoft.com/office/drawing/2014/main" id="{2D363E8C-CD60-98FE-E009-ECAAC27B8D7D}"/>
              </a:ext>
            </a:extLst>
          </p:cNvPr>
          <p:cNvSpPr>
            <a:spLocks noGrp="1"/>
          </p:cNvSpPr>
          <p:nvPr>
            <p:ph idx="1"/>
          </p:nvPr>
        </p:nvSpPr>
        <p:spPr>
          <a:xfrm>
            <a:off x="1451579" y="2015732"/>
            <a:ext cx="9603275" cy="3937199"/>
          </a:xfrm>
        </p:spPr>
        <p:txBody>
          <a:bodyPr>
            <a:normAutofit/>
          </a:bodyPr>
          <a:lstStyle/>
          <a:p>
            <a:pPr>
              <a:spcAft>
                <a:spcPts val="1200"/>
              </a:spcAft>
            </a:pPr>
            <a:r>
              <a:rPr lang="en-US" sz="2800" dirty="0"/>
              <a:t>Privilege and work product provide exceptions to discovery</a:t>
            </a:r>
          </a:p>
          <a:p>
            <a:pPr>
              <a:spcAft>
                <a:spcPts val="1200"/>
              </a:spcAft>
            </a:pPr>
            <a:r>
              <a:rPr lang="en-US" sz="2800" dirty="0"/>
              <a:t>If it is established, </a:t>
            </a:r>
            <a:r>
              <a:rPr lang="en-US" sz="2800" u="sng" dirty="0"/>
              <a:t>privilege</a:t>
            </a:r>
            <a:r>
              <a:rPr lang="en-US" sz="2800" dirty="0"/>
              <a:t> is absolute—i.e., the other side can’t get the privileged communications</a:t>
            </a:r>
          </a:p>
          <a:p>
            <a:pPr>
              <a:spcAft>
                <a:spcPts val="1200"/>
              </a:spcAft>
            </a:pPr>
            <a:r>
              <a:rPr lang="en-US" sz="2800" dirty="0"/>
              <a:t>Work product is qualified—i.e., work product is </a:t>
            </a:r>
            <a:r>
              <a:rPr lang="en-US" sz="2800" u="sng" dirty="0"/>
              <a:t>presumptively</a:t>
            </a:r>
            <a:r>
              <a:rPr lang="en-US" sz="2800" dirty="0"/>
              <a:t> not discoverable, but sometimes it can be discoverable to obtain </a:t>
            </a:r>
            <a:r>
              <a:rPr lang="en-US" sz="2800" u="sng" dirty="0"/>
              <a:t>facts</a:t>
            </a:r>
          </a:p>
        </p:txBody>
      </p:sp>
    </p:spTree>
    <p:extLst>
      <p:ext uri="{BB962C8B-B14F-4D97-AF65-F5344CB8AC3E}">
        <p14:creationId xmlns:p14="http://schemas.microsoft.com/office/powerpoint/2010/main" val="163793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D6116-AD82-9680-6D91-E128A2306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9C8C6-5359-F1E3-AE11-28022DD79E34}"/>
              </a:ext>
            </a:extLst>
          </p:cNvPr>
          <p:cNvSpPr>
            <a:spLocks noGrp="1"/>
          </p:cNvSpPr>
          <p:nvPr>
            <p:ph type="title"/>
          </p:nvPr>
        </p:nvSpPr>
        <p:spPr>
          <a:xfrm>
            <a:off x="1451579" y="1058190"/>
            <a:ext cx="9603275" cy="666929"/>
          </a:xfrm>
        </p:spPr>
        <p:txBody>
          <a:bodyPr/>
          <a:lstStyle/>
          <a:p>
            <a:r>
              <a:rPr lang="en-US" dirty="0"/>
              <a:t>Attorney-Client privilege</a:t>
            </a:r>
          </a:p>
        </p:txBody>
      </p:sp>
      <p:sp>
        <p:nvSpPr>
          <p:cNvPr id="3" name="Content Placeholder 2">
            <a:extLst>
              <a:ext uri="{FF2B5EF4-FFF2-40B4-BE49-F238E27FC236}">
                <a16:creationId xmlns:a16="http://schemas.microsoft.com/office/drawing/2014/main" id="{0905F89F-ACDE-0CB8-8AF1-1D2FD594D7B5}"/>
              </a:ext>
            </a:extLst>
          </p:cNvPr>
          <p:cNvSpPr>
            <a:spLocks noGrp="1"/>
          </p:cNvSpPr>
          <p:nvPr>
            <p:ph idx="1"/>
          </p:nvPr>
        </p:nvSpPr>
        <p:spPr>
          <a:xfrm>
            <a:off x="1451579" y="2015732"/>
            <a:ext cx="9603275" cy="3964654"/>
          </a:xfrm>
        </p:spPr>
        <p:txBody>
          <a:bodyPr>
            <a:normAutofit/>
          </a:bodyPr>
          <a:lstStyle/>
          <a:p>
            <a:pPr marL="0" indent="0">
              <a:buNone/>
            </a:pPr>
            <a:r>
              <a:rPr lang="en-US" sz="2800" dirty="0"/>
              <a:t>To be privileged, the communication must:</a:t>
            </a:r>
          </a:p>
          <a:p>
            <a:pPr marL="514350" indent="-514350">
              <a:buFont typeface="+mj-lt"/>
              <a:buAutoNum type="arabicParenR"/>
            </a:pPr>
            <a:r>
              <a:rPr lang="en-US" sz="2800" dirty="0"/>
              <a:t>involve a </a:t>
            </a:r>
            <a:r>
              <a:rPr lang="en-US" sz="2800" u="sng" dirty="0"/>
              <a:t>client</a:t>
            </a:r>
            <a:r>
              <a:rPr lang="en-US" sz="2800" dirty="0"/>
              <a:t> or someone seeking to be a client</a:t>
            </a:r>
          </a:p>
          <a:p>
            <a:pPr marL="514350" indent="-514350">
              <a:buFont typeface="+mj-lt"/>
              <a:buAutoNum type="arabicParenR"/>
            </a:pPr>
            <a:r>
              <a:rPr lang="en-US" sz="2800" dirty="0"/>
              <a:t>be made to a lawyer, or a lawyer’s subordinate, acting in their </a:t>
            </a:r>
            <a:r>
              <a:rPr lang="en-US" sz="2800" u="sng" dirty="0"/>
              <a:t>capacity as a lawyer</a:t>
            </a:r>
          </a:p>
          <a:p>
            <a:pPr marL="514350" indent="-514350">
              <a:buFont typeface="+mj-lt"/>
              <a:buAutoNum type="arabicParenR"/>
            </a:pPr>
            <a:r>
              <a:rPr lang="en-US" sz="2800" dirty="0"/>
              <a:t>be </a:t>
            </a:r>
            <a:r>
              <a:rPr lang="en-US" sz="2800" u="sng" dirty="0"/>
              <a:t>confidential</a:t>
            </a:r>
            <a:r>
              <a:rPr lang="en-US" sz="2800" dirty="0"/>
              <a:t> and in the course of </a:t>
            </a:r>
            <a:r>
              <a:rPr lang="en-US" sz="2800" u="sng" dirty="0"/>
              <a:t>seeking legal advice</a:t>
            </a:r>
          </a:p>
          <a:p>
            <a:pPr marL="514350" indent="-514350">
              <a:buFont typeface="+mj-lt"/>
              <a:buAutoNum type="arabicParenR"/>
            </a:pPr>
            <a:r>
              <a:rPr lang="en-US" sz="2800" dirty="0"/>
              <a:t>and the privilege must be </a:t>
            </a:r>
            <a:r>
              <a:rPr lang="en-US" sz="2800" u="sng" dirty="0"/>
              <a:t>claimed</a:t>
            </a:r>
            <a:r>
              <a:rPr lang="en-US" sz="2800" dirty="0"/>
              <a:t> and not waived</a:t>
            </a:r>
          </a:p>
        </p:txBody>
      </p:sp>
    </p:spTree>
    <p:extLst>
      <p:ext uri="{BB962C8B-B14F-4D97-AF65-F5344CB8AC3E}">
        <p14:creationId xmlns:p14="http://schemas.microsoft.com/office/powerpoint/2010/main" val="103089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E7006-4677-A427-925C-C1650699A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C3E00-D6FF-4052-4E12-71EC5E432CC7}"/>
              </a:ext>
            </a:extLst>
          </p:cNvPr>
          <p:cNvSpPr>
            <a:spLocks noGrp="1"/>
          </p:cNvSpPr>
          <p:nvPr>
            <p:ph type="title"/>
          </p:nvPr>
        </p:nvSpPr>
        <p:spPr>
          <a:xfrm>
            <a:off x="1451579" y="995128"/>
            <a:ext cx="9603275" cy="793053"/>
          </a:xfrm>
        </p:spPr>
        <p:txBody>
          <a:bodyPr/>
          <a:lstStyle/>
          <a:p>
            <a:r>
              <a:rPr lang="en-US" dirty="0"/>
              <a:t>Work Product Protection</a:t>
            </a:r>
          </a:p>
        </p:txBody>
      </p:sp>
      <p:sp>
        <p:nvSpPr>
          <p:cNvPr id="3" name="Content Placeholder 2">
            <a:extLst>
              <a:ext uri="{FF2B5EF4-FFF2-40B4-BE49-F238E27FC236}">
                <a16:creationId xmlns:a16="http://schemas.microsoft.com/office/drawing/2014/main" id="{D460D980-001C-28BB-FDD8-77000D5AB7ED}"/>
              </a:ext>
            </a:extLst>
          </p:cNvPr>
          <p:cNvSpPr>
            <a:spLocks noGrp="1"/>
          </p:cNvSpPr>
          <p:nvPr>
            <p:ph idx="1"/>
          </p:nvPr>
        </p:nvSpPr>
        <p:spPr>
          <a:xfrm>
            <a:off x="1451579" y="2015732"/>
            <a:ext cx="9603275" cy="4111799"/>
          </a:xfrm>
        </p:spPr>
        <p:txBody>
          <a:bodyPr>
            <a:normAutofit lnSpcReduction="10000"/>
          </a:bodyPr>
          <a:lstStyle/>
          <a:p>
            <a:pPr>
              <a:spcAft>
                <a:spcPts val="1200"/>
              </a:spcAft>
            </a:pPr>
            <a:r>
              <a:rPr lang="en-US" sz="2400" dirty="0"/>
              <a:t>Documents or tangible things prepared in anticipation of litigation or trial, by a lawyer or party or at their direction, are presumptively not discoverable</a:t>
            </a:r>
          </a:p>
          <a:p>
            <a:pPr>
              <a:spcAft>
                <a:spcPts val="1200"/>
              </a:spcAft>
            </a:pPr>
            <a:r>
              <a:rPr lang="en-US" sz="2400" dirty="0"/>
              <a:t>But </a:t>
            </a:r>
            <a:r>
              <a:rPr lang="en-US" sz="2400" u="sng" dirty="0"/>
              <a:t>factual material</a:t>
            </a:r>
            <a:r>
              <a:rPr lang="en-US" sz="2400" dirty="0"/>
              <a:t> in those documents may be discoverable if the party seeking those facts shows </a:t>
            </a:r>
            <a:r>
              <a:rPr lang="en-US" sz="2400" u="sng" dirty="0"/>
              <a:t>need</a:t>
            </a:r>
            <a:r>
              <a:rPr lang="en-US" sz="2400" dirty="0"/>
              <a:t> and the </a:t>
            </a:r>
            <a:r>
              <a:rPr lang="en-US" sz="2400" u="sng" dirty="0"/>
              <a:t>facts can’t be obtained another way</a:t>
            </a:r>
            <a:r>
              <a:rPr lang="en-US" sz="2400" dirty="0"/>
              <a:t> without undue hardship</a:t>
            </a:r>
          </a:p>
          <a:p>
            <a:pPr>
              <a:spcAft>
                <a:spcPts val="1200"/>
              </a:spcAft>
            </a:pPr>
            <a:r>
              <a:rPr lang="en-US" sz="2400" dirty="0"/>
              <a:t>But even then, the attorney’s </a:t>
            </a:r>
            <a:r>
              <a:rPr lang="en-US" sz="2400" u="sng" dirty="0"/>
              <a:t>mental impressions, recollections, and opinions</a:t>
            </a:r>
            <a:r>
              <a:rPr lang="en-US" sz="2400" dirty="0"/>
              <a:t> in such documents are </a:t>
            </a:r>
            <a:r>
              <a:rPr lang="en-US" sz="2400" u="sng" dirty="0"/>
              <a:t>not discoverable</a:t>
            </a:r>
          </a:p>
        </p:txBody>
      </p:sp>
    </p:spTree>
    <p:extLst>
      <p:ext uri="{BB962C8B-B14F-4D97-AF65-F5344CB8AC3E}">
        <p14:creationId xmlns:p14="http://schemas.microsoft.com/office/powerpoint/2010/main" val="242767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B6DD1-1160-3606-1D01-0AEBF4643228}"/>
              </a:ext>
            </a:extLst>
          </p:cNvPr>
          <p:cNvSpPr>
            <a:spLocks noGrp="1"/>
          </p:cNvSpPr>
          <p:nvPr>
            <p:ph type="title"/>
          </p:nvPr>
        </p:nvSpPr>
        <p:spPr/>
        <p:txBody>
          <a:bodyPr/>
          <a:lstStyle/>
          <a:p>
            <a:r>
              <a:rPr lang="en-US" dirty="0"/>
              <a:t>II. FRCP &amp; FRE on Work product</a:t>
            </a:r>
          </a:p>
        </p:txBody>
      </p:sp>
    </p:spTree>
    <p:extLst>
      <p:ext uri="{BB962C8B-B14F-4D97-AF65-F5344CB8AC3E}">
        <p14:creationId xmlns:p14="http://schemas.microsoft.com/office/powerpoint/2010/main" val="4193503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85D02-26BC-D5C7-1DDA-0EF01DCECC4A}"/>
              </a:ext>
            </a:extLst>
          </p:cNvPr>
          <p:cNvSpPr>
            <a:spLocks noGrp="1"/>
          </p:cNvSpPr>
          <p:nvPr>
            <p:ph type="title"/>
          </p:nvPr>
        </p:nvSpPr>
        <p:spPr>
          <a:xfrm>
            <a:off x="1451579" y="995128"/>
            <a:ext cx="9603275" cy="793053"/>
          </a:xfrm>
        </p:spPr>
        <p:txBody>
          <a:bodyPr/>
          <a:lstStyle/>
          <a:p>
            <a:r>
              <a:rPr lang="en-US" dirty="0"/>
              <a:t>Work Product—</a:t>
            </a:r>
            <a:r>
              <a:rPr lang="en-US"/>
              <a:t>The FRCP, </a:t>
            </a:r>
            <a:r>
              <a:rPr lang="en-US" dirty="0"/>
              <a:t>rule 26</a:t>
            </a:r>
          </a:p>
        </p:txBody>
      </p:sp>
      <p:sp>
        <p:nvSpPr>
          <p:cNvPr id="3" name="Content Placeholder 2">
            <a:extLst>
              <a:ext uri="{FF2B5EF4-FFF2-40B4-BE49-F238E27FC236}">
                <a16:creationId xmlns:a16="http://schemas.microsoft.com/office/drawing/2014/main" id="{8A8650F5-50B8-C043-A797-B8347EE16D6F}"/>
              </a:ext>
            </a:extLst>
          </p:cNvPr>
          <p:cNvSpPr>
            <a:spLocks noGrp="1"/>
          </p:cNvSpPr>
          <p:nvPr>
            <p:ph idx="1"/>
          </p:nvPr>
        </p:nvSpPr>
        <p:spPr>
          <a:xfrm>
            <a:off x="1451579" y="2015732"/>
            <a:ext cx="9603275" cy="4111799"/>
          </a:xfrm>
        </p:spPr>
        <p:txBody>
          <a:bodyPr>
            <a:normAutofit/>
          </a:bodyPr>
          <a:lstStyle/>
          <a:p>
            <a:r>
              <a:rPr lang="en-US" sz="2400" dirty="0"/>
              <a:t>Rule 26(b)(3), “ordinarily, a party may not discover </a:t>
            </a:r>
            <a:r>
              <a:rPr lang="en-US" sz="2400" u="sng" dirty="0"/>
              <a:t>documents and tangible things</a:t>
            </a:r>
            <a:r>
              <a:rPr lang="en-US" sz="2400" dirty="0"/>
              <a:t> that are </a:t>
            </a:r>
            <a:r>
              <a:rPr lang="en-US" sz="2400" u="sng" dirty="0"/>
              <a:t>prepared in anticipation of litigation or for trial</a:t>
            </a:r>
            <a:r>
              <a:rPr lang="en-US" sz="2400" dirty="0"/>
              <a:t> by or for another party or its representative,”</a:t>
            </a:r>
          </a:p>
          <a:p>
            <a:r>
              <a:rPr lang="en-US" sz="2400" dirty="0"/>
              <a:t>Unless “the party shows that it has </a:t>
            </a:r>
            <a:r>
              <a:rPr lang="en-US" sz="2400" u="sng" dirty="0"/>
              <a:t>substantial need</a:t>
            </a:r>
            <a:r>
              <a:rPr lang="en-US" sz="2400" dirty="0"/>
              <a:t> for the materials to prepare its case and </a:t>
            </a:r>
            <a:r>
              <a:rPr lang="en-US" sz="2400" u="sng" dirty="0"/>
              <a:t>cannot, without undue hardship, obtain their substantial equivalent</a:t>
            </a:r>
            <a:r>
              <a:rPr lang="en-US" sz="2400" dirty="0"/>
              <a:t> by other means”</a:t>
            </a:r>
          </a:p>
          <a:p>
            <a:r>
              <a:rPr lang="en-US" sz="2400" dirty="0"/>
              <a:t>If disclosed, court still “must </a:t>
            </a:r>
            <a:r>
              <a:rPr lang="en-US" sz="2400" u="sng" dirty="0"/>
              <a:t>protect against disclosure of the mental impressions, conclusions, opinions, or legal theories</a:t>
            </a:r>
            <a:r>
              <a:rPr lang="en-US" sz="2400" dirty="0"/>
              <a:t> of a party’s attorney”</a:t>
            </a:r>
          </a:p>
        </p:txBody>
      </p:sp>
    </p:spTree>
    <p:extLst>
      <p:ext uri="{BB962C8B-B14F-4D97-AF65-F5344CB8AC3E}">
        <p14:creationId xmlns:p14="http://schemas.microsoft.com/office/powerpoint/2010/main" val="287732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22273-77DA-9EDA-711A-2949A8DD2EAB}"/>
              </a:ext>
            </a:extLst>
          </p:cNvPr>
          <p:cNvSpPr>
            <a:spLocks noGrp="1"/>
          </p:cNvSpPr>
          <p:nvPr>
            <p:ph type="title"/>
          </p:nvPr>
        </p:nvSpPr>
        <p:spPr>
          <a:xfrm>
            <a:off x="1451579" y="1098087"/>
            <a:ext cx="9603275" cy="587136"/>
          </a:xfrm>
        </p:spPr>
        <p:txBody>
          <a:bodyPr/>
          <a:lstStyle/>
          <a:p>
            <a:r>
              <a:rPr lang="en-US" dirty="0"/>
              <a:t>Hypo</a:t>
            </a:r>
          </a:p>
        </p:txBody>
      </p:sp>
      <p:sp>
        <p:nvSpPr>
          <p:cNvPr id="3" name="Content Placeholder 2">
            <a:extLst>
              <a:ext uri="{FF2B5EF4-FFF2-40B4-BE49-F238E27FC236}">
                <a16:creationId xmlns:a16="http://schemas.microsoft.com/office/drawing/2014/main" id="{2B32F64C-626E-BE0B-5DAD-84311A3FF716}"/>
              </a:ext>
            </a:extLst>
          </p:cNvPr>
          <p:cNvSpPr>
            <a:spLocks noGrp="1"/>
          </p:cNvSpPr>
          <p:nvPr>
            <p:ph idx="1"/>
          </p:nvPr>
        </p:nvSpPr>
        <p:spPr>
          <a:xfrm>
            <a:off x="1451579" y="2015732"/>
            <a:ext cx="9708790" cy="3933123"/>
          </a:xfrm>
        </p:spPr>
        <p:txBody>
          <a:bodyPr>
            <a:normAutofit fontScale="85000" lnSpcReduction="20000"/>
          </a:bodyPr>
          <a:lstStyle/>
          <a:p>
            <a:r>
              <a:rPr lang="en-US" sz="2800" dirty="0"/>
              <a:t>A junior attorney in a law office prepares a memo for the senior partner handling the lawsuit. The memo has no legal analysis, no case citations, or anything like that. Instead, it just has a list of the most important facts about the case that the partner should know before talking with the client.</a:t>
            </a:r>
          </a:p>
          <a:p>
            <a:r>
              <a:rPr lang="en-US" sz="2800" dirty="0"/>
              <a:t>Is that work product?</a:t>
            </a:r>
          </a:p>
          <a:p>
            <a:r>
              <a:rPr lang="en-US" sz="2800" dirty="0"/>
              <a:t>Is that </a:t>
            </a:r>
            <a:r>
              <a:rPr lang="en-US" sz="2800" u="sng" dirty="0"/>
              <a:t>fact</a:t>
            </a:r>
            <a:r>
              <a:rPr lang="en-US" sz="2800" dirty="0"/>
              <a:t> work product, or </a:t>
            </a:r>
            <a:r>
              <a:rPr lang="en-US" sz="2800" u="sng" dirty="0"/>
              <a:t>opinion</a:t>
            </a:r>
            <a:r>
              <a:rPr lang="en-US" sz="2800" dirty="0"/>
              <a:t> work product?</a:t>
            </a:r>
          </a:p>
          <a:p>
            <a:r>
              <a:rPr lang="en-US" sz="2800" dirty="0"/>
              <a:t>Likely is </a:t>
            </a:r>
            <a:r>
              <a:rPr lang="en-US" sz="2800" u="sng" dirty="0"/>
              <a:t>opinion</a:t>
            </a:r>
            <a:r>
              <a:rPr lang="en-US" sz="2800" dirty="0"/>
              <a:t> work product, because it shows the junior attorney’s </a:t>
            </a:r>
            <a:r>
              <a:rPr lang="en-US" sz="2800" u="sng" dirty="0"/>
              <a:t>legal theory</a:t>
            </a:r>
            <a:r>
              <a:rPr lang="en-US" sz="2800" dirty="0"/>
              <a:t> of what is key to the case (and even if fact work product, may be other ways to get those facts, making it not discoverable)</a:t>
            </a:r>
          </a:p>
        </p:txBody>
      </p:sp>
    </p:spTree>
    <p:extLst>
      <p:ext uri="{BB962C8B-B14F-4D97-AF65-F5344CB8AC3E}">
        <p14:creationId xmlns:p14="http://schemas.microsoft.com/office/powerpoint/2010/main" val="167800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F34C1-B99A-C235-DEE9-CA49F8B4E0E2}"/>
              </a:ext>
            </a:extLst>
          </p:cNvPr>
          <p:cNvSpPr>
            <a:spLocks noGrp="1"/>
          </p:cNvSpPr>
          <p:nvPr>
            <p:ph type="title"/>
          </p:nvPr>
        </p:nvSpPr>
        <p:spPr>
          <a:xfrm>
            <a:off x="1451579" y="1098087"/>
            <a:ext cx="9603275" cy="587136"/>
          </a:xfrm>
        </p:spPr>
        <p:txBody>
          <a:bodyPr>
            <a:normAutofit/>
          </a:bodyPr>
          <a:lstStyle/>
          <a:p>
            <a:r>
              <a:rPr lang="en-US" sz="2600" dirty="0">
                <a:latin typeface="+mn-lt"/>
              </a:rPr>
              <a:t>Inadvertent Disclosure—Federal Rules of Evidence</a:t>
            </a:r>
          </a:p>
        </p:txBody>
      </p:sp>
      <p:sp>
        <p:nvSpPr>
          <p:cNvPr id="3" name="Content Placeholder 2">
            <a:extLst>
              <a:ext uri="{FF2B5EF4-FFF2-40B4-BE49-F238E27FC236}">
                <a16:creationId xmlns:a16="http://schemas.microsoft.com/office/drawing/2014/main" id="{42839D01-5C02-ABA5-96E3-0864C8B6F619}"/>
              </a:ext>
            </a:extLst>
          </p:cNvPr>
          <p:cNvSpPr>
            <a:spLocks noGrp="1"/>
          </p:cNvSpPr>
          <p:nvPr>
            <p:ph idx="1"/>
          </p:nvPr>
        </p:nvSpPr>
        <p:spPr>
          <a:xfrm>
            <a:off x="1451579" y="2015732"/>
            <a:ext cx="9603275" cy="4017206"/>
          </a:xfrm>
        </p:spPr>
        <p:txBody>
          <a:bodyPr>
            <a:normAutofit/>
          </a:bodyPr>
          <a:lstStyle/>
          <a:p>
            <a:r>
              <a:rPr lang="en-US" sz="2400" dirty="0"/>
              <a:t>FRE 502(b), a disclosure of privileged material or work product </a:t>
            </a:r>
            <a:r>
              <a:rPr lang="en-US" sz="2400" u="sng" dirty="0"/>
              <a:t>does not</a:t>
            </a:r>
            <a:r>
              <a:rPr lang="en-US" sz="2400" dirty="0"/>
              <a:t> waive protection </a:t>
            </a:r>
            <a:r>
              <a:rPr lang="en-US" sz="2400" b="1" u="sng" dirty="0"/>
              <a:t>if</a:t>
            </a:r>
            <a:r>
              <a:rPr lang="en-US" sz="2400" dirty="0"/>
              <a:t>:</a:t>
            </a:r>
          </a:p>
          <a:p>
            <a:pPr marL="914400" lvl="1" indent="-457200">
              <a:buFont typeface="+mj-lt"/>
              <a:buAutoNum type="arabicParenR"/>
            </a:pPr>
            <a:r>
              <a:rPr lang="en-US" sz="2400" dirty="0"/>
              <a:t>The disclosure was inadvertent,</a:t>
            </a:r>
          </a:p>
          <a:p>
            <a:pPr marL="914400" lvl="1" indent="-457200">
              <a:buFont typeface="+mj-lt"/>
              <a:buAutoNum type="arabicParenR"/>
            </a:pPr>
            <a:r>
              <a:rPr lang="en-US" sz="2400" dirty="0"/>
              <a:t>The party took reasonable steps to prevent disclosure, and</a:t>
            </a:r>
          </a:p>
          <a:p>
            <a:pPr marL="914400" lvl="1" indent="-457200">
              <a:buFont typeface="+mj-lt"/>
              <a:buAutoNum type="arabicParenR"/>
            </a:pPr>
            <a:r>
              <a:rPr lang="en-US" sz="2400" dirty="0"/>
              <a:t>The party took reasonable steps to fix the error afterward</a:t>
            </a:r>
          </a:p>
          <a:p>
            <a:r>
              <a:rPr lang="en-US" sz="2400" dirty="0"/>
              <a:t>FRCP 26(b)(5), if privileged or work-product-protected material </a:t>
            </a:r>
            <a:r>
              <a:rPr lang="en-US" sz="2400" u="sng" dirty="0"/>
              <a:t>is</a:t>
            </a:r>
            <a:r>
              <a:rPr lang="en-US" sz="2400" dirty="0"/>
              <a:t> produced, the party claiming protection can notify the party that received the info, who has to return it, sequester it, or destroy it</a:t>
            </a:r>
          </a:p>
        </p:txBody>
      </p:sp>
    </p:spTree>
    <p:extLst>
      <p:ext uri="{BB962C8B-B14F-4D97-AF65-F5344CB8AC3E}">
        <p14:creationId xmlns:p14="http://schemas.microsoft.com/office/powerpoint/2010/main" val="380753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86E32-AFD3-4F22-FC6C-FCF943240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400F3-7179-FC6A-F2C2-4D6493B3B135}"/>
              </a:ext>
            </a:extLst>
          </p:cNvPr>
          <p:cNvSpPr>
            <a:spLocks noGrp="1"/>
          </p:cNvSpPr>
          <p:nvPr>
            <p:ph type="title"/>
          </p:nvPr>
        </p:nvSpPr>
        <p:spPr>
          <a:xfrm>
            <a:off x="1451579" y="1098087"/>
            <a:ext cx="9603275" cy="587136"/>
          </a:xfrm>
        </p:spPr>
        <p:txBody>
          <a:bodyPr>
            <a:normAutofit/>
          </a:bodyPr>
          <a:lstStyle/>
          <a:p>
            <a:r>
              <a:rPr lang="en-US" sz="2600" dirty="0">
                <a:latin typeface="+mn-lt"/>
              </a:rPr>
              <a:t>Limited Disclosure—FRE 502</a:t>
            </a:r>
          </a:p>
        </p:txBody>
      </p:sp>
      <p:sp>
        <p:nvSpPr>
          <p:cNvPr id="3" name="Content Placeholder 2">
            <a:extLst>
              <a:ext uri="{FF2B5EF4-FFF2-40B4-BE49-F238E27FC236}">
                <a16:creationId xmlns:a16="http://schemas.microsoft.com/office/drawing/2014/main" id="{DB605F8C-083C-00D5-F663-5BBC3608A770}"/>
              </a:ext>
            </a:extLst>
          </p:cNvPr>
          <p:cNvSpPr>
            <a:spLocks noGrp="1"/>
          </p:cNvSpPr>
          <p:nvPr>
            <p:ph idx="1"/>
          </p:nvPr>
        </p:nvSpPr>
        <p:spPr>
          <a:xfrm>
            <a:off x="1451579" y="2015732"/>
            <a:ext cx="9603275" cy="4017206"/>
          </a:xfrm>
        </p:spPr>
        <p:txBody>
          <a:bodyPr>
            <a:normAutofit/>
          </a:bodyPr>
          <a:lstStyle/>
          <a:p>
            <a:r>
              <a:rPr lang="en-US" sz="2400" dirty="0"/>
              <a:t>FRE 502(c), if a party discloses privileged material or work product in a </a:t>
            </a:r>
            <a:r>
              <a:rPr lang="en-US" sz="2400" u="sng" dirty="0"/>
              <a:t>state</a:t>
            </a:r>
            <a:r>
              <a:rPr lang="en-US" sz="2400" dirty="0"/>
              <a:t> lawsuit,</a:t>
            </a:r>
          </a:p>
          <a:p>
            <a:r>
              <a:rPr lang="en-US" sz="2400" dirty="0"/>
              <a:t>That doesn’t waive protection in the future in </a:t>
            </a:r>
            <a:r>
              <a:rPr lang="en-US" sz="2400" u="sng" dirty="0"/>
              <a:t>federal</a:t>
            </a:r>
            <a:r>
              <a:rPr lang="en-US" sz="2400" dirty="0"/>
              <a:t> court if it wouldn’t have been a waiver under federal law, or under the relevant state law</a:t>
            </a:r>
          </a:p>
          <a:p>
            <a:r>
              <a:rPr lang="en-US" sz="2400" dirty="0"/>
              <a:t>502(d), court can order that protected information disclosed in the case does not waive the protection in future cases</a:t>
            </a:r>
          </a:p>
          <a:p>
            <a:r>
              <a:rPr lang="en-US" sz="2400" dirty="0"/>
              <a:t>502(e), parties can agree about the effect of disclosure, and court can order that</a:t>
            </a:r>
          </a:p>
          <a:p>
            <a:endParaRPr lang="en-US" sz="2400" dirty="0"/>
          </a:p>
        </p:txBody>
      </p:sp>
    </p:spTree>
    <p:extLst>
      <p:ext uri="{BB962C8B-B14F-4D97-AF65-F5344CB8AC3E}">
        <p14:creationId xmlns:p14="http://schemas.microsoft.com/office/powerpoint/2010/main" val="81850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6A973-3F48-5807-5145-BA5731691B52}"/>
              </a:ext>
            </a:extLst>
          </p:cNvPr>
          <p:cNvSpPr>
            <a:spLocks noGrp="1"/>
          </p:cNvSpPr>
          <p:nvPr>
            <p:ph type="title"/>
          </p:nvPr>
        </p:nvSpPr>
        <p:spPr/>
        <p:txBody>
          <a:bodyPr/>
          <a:lstStyle/>
          <a:p>
            <a:r>
              <a:rPr lang="en-US" dirty="0"/>
              <a:t>III. Privilege Logs</a:t>
            </a:r>
          </a:p>
        </p:txBody>
      </p:sp>
    </p:spTree>
    <p:extLst>
      <p:ext uri="{BB962C8B-B14F-4D97-AF65-F5344CB8AC3E}">
        <p14:creationId xmlns:p14="http://schemas.microsoft.com/office/powerpoint/2010/main" val="3362604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731CD-F525-056A-3E5D-315482E44FFA}"/>
              </a:ext>
            </a:extLst>
          </p:cNvPr>
          <p:cNvSpPr>
            <a:spLocks noGrp="1"/>
          </p:cNvSpPr>
          <p:nvPr>
            <p:ph type="title"/>
          </p:nvPr>
        </p:nvSpPr>
        <p:spPr>
          <a:xfrm>
            <a:off x="1451579" y="1172382"/>
            <a:ext cx="9603275" cy="587136"/>
          </a:xfrm>
        </p:spPr>
        <p:txBody>
          <a:bodyPr/>
          <a:lstStyle/>
          <a:p>
            <a:r>
              <a:rPr lang="en-US" dirty="0"/>
              <a:t>Privilege Logs</a:t>
            </a:r>
          </a:p>
        </p:txBody>
      </p:sp>
      <p:sp>
        <p:nvSpPr>
          <p:cNvPr id="3" name="Content Placeholder 2">
            <a:extLst>
              <a:ext uri="{FF2B5EF4-FFF2-40B4-BE49-F238E27FC236}">
                <a16:creationId xmlns:a16="http://schemas.microsoft.com/office/drawing/2014/main" id="{E84A6749-9735-0EEC-660F-D620A9BD8B84}"/>
              </a:ext>
            </a:extLst>
          </p:cNvPr>
          <p:cNvSpPr>
            <a:spLocks noGrp="1"/>
          </p:cNvSpPr>
          <p:nvPr>
            <p:ph idx="1"/>
          </p:nvPr>
        </p:nvSpPr>
        <p:spPr>
          <a:xfrm>
            <a:off x="1451579" y="2015732"/>
            <a:ext cx="9603275" cy="3933123"/>
          </a:xfrm>
        </p:spPr>
        <p:txBody>
          <a:bodyPr>
            <a:normAutofit fontScale="92500"/>
          </a:bodyPr>
          <a:lstStyle/>
          <a:p>
            <a:r>
              <a:rPr lang="en-US" sz="2800" dirty="0"/>
              <a:t>26(b)(5), the party asserting privilege or work product protection must “expressly” assert it,</a:t>
            </a:r>
          </a:p>
          <a:p>
            <a:r>
              <a:rPr lang="en-US" sz="2800" dirty="0"/>
              <a:t>And must “describe the nature of the documents, communications,” or things being withheld, in a way that “will enable other parties to assess the claim”</a:t>
            </a:r>
          </a:p>
          <a:p>
            <a:r>
              <a:rPr lang="en-US" sz="2800" dirty="0"/>
              <a:t>Details might include: type of privilege; author; recipient; if any person is a lawyer; date; type of document; subject matter (</a:t>
            </a:r>
            <a:r>
              <a:rPr lang="en-US" sz="2800" i="1" dirty="0"/>
              <a:t>Abilify</a:t>
            </a:r>
            <a:r>
              <a:rPr lang="en-US" sz="2800" dirty="0"/>
              <a:t>)</a:t>
            </a:r>
          </a:p>
        </p:txBody>
      </p:sp>
    </p:spTree>
    <p:extLst>
      <p:ext uri="{BB962C8B-B14F-4D97-AF65-F5344CB8AC3E}">
        <p14:creationId xmlns:p14="http://schemas.microsoft.com/office/powerpoint/2010/main" val="215789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2C9703D-C8F9-44AD-A7C0-C2F3871F8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1601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document with text on it&#10;&#10;AI-generated content may be incorrect.">
            <a:extLst>
              <a:ext uri="{FF2B5EF4-FFF2-40B4-BE49-F238E27FC236}">
                <a16:creationId xmlns:a16="http://schemas.microsoft.com/office/drawing/2014/main" id="{17BA9A45-FF58-2C9E-090A-5199023C87D1}"/>
              </a:ext>
            </a:extLst>
          </p:cNvPr>
          <p:cNvPicPr>
            <a:picLocks noChangeAspect="1"/>
          </p:cNvPicPr>
          <p:nvPr/>
        </p:nvPicPr>
        <p:blipFill>
          <a:blip r:embed="rId2"/>
          <a:stretch>
            <a:fillRect/>
          </a:stretch>
        </p:blipFill>
        <p:spPr>
          <a:xfrm>
            <a:off x="643467" y="1676056"/>
            <a:ext cx="10905066" cy="2808055"/>
          </a:xfrm>
          <a:prstGeom prst="rect">
            <a:avLst/>
          </a:prstGeom>
        </p:spPr>
      </p:pic>
    </p:spTree>
    <p:extLst>
      <p:ext uri="{BB962C8B-B14F-4D97-AF65-F5344CB8AC3E}">
        <p14:creationId xmlns:p14="http://schemas.microsoft.com/office/powerpoint/2010/main" val="1610362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5F274-2697-3427-11D7-3D0F8D140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C0373-C112-B790-8022-A0E94AFB0D8A}"/>
              </a:ext>
            </a:extLst>
          </p:cNvPr>
          <p:cNvSpPr>
            <a:spLocks noGrp="1"/>
          </p:cNvSpPr>
          <p:nvPr>
            <p:ph type="title"/>
          </p:nvPr>
        </p:nvSpPr>
        <p:spPr>
          <a:xfrm>
            <a:off x="1451579" y="1172382"/>
            <a:ext cx="9603275" cy="587136"/>
          </a:xfrm>
        </p:spPr>
        <p:txBody>
          <a:bodyPr/>
          <a:lstStyle/>
          <a:p>
            <a:r>
              <a:rPr lang="en-US" dirty="0"/>
              <a:t>Privilege Logs</a:t>
            </a:r>
          </a:p>
        </p:txBody>
      </p:sp>
      <p:sp>
        <p:nvSpPr>
          <p:cNvPr id="3" name="Content Placeholder 2">
            <a:extLst>
              <a:ext uri="{FF2B5EF4-FFF2-40B4-BE49-F238E27FC236}">
                <a16:creationId xmlns:a16="http://schemas.microsoft.com/office/drawing/2014/main" id="{FEBCAFBE-2C9C-C988-33FE-DE6E630BD3EC}"/>
              </a:ext>
            </a:extLst>
          </p:cNvPr>
          <p:cNvSpPr>
            <a:spLocks noGrp="1"/>
          </p:cNvSpPr>
          <p:nvPr>
            <p:ph idx="1"/>
          </p:nvPr>
        </p:nvSpPr>
        <p:spPr>
          <a:xfrm>
            <a:off x="1451579" y="2015732"/>
            <a:ext cx="9603275" cy="4077158"/>
          </a:xfrm>
        </p:spPr>
        <p:txBody>
          <a:bodyPr>
            <a:noAutofit/>
          </a:bodyPr>
          <a:lstStyle/>
          <a:p>
            <a:r>
              <a:rPr lang="en-US" sz="2200" dirty="0"/>
              <a:t>When does privilege apply in corporate emails? </a:t>
            </a:r>
            <a:r>
              <a:rPr lang="en-US" sz="2200" i="1" dirty="0"/>
              <a:t>Abilify</a:t>
            </a:r>
            <a:r>
              <a:rPr lang="en-US" sz="2200" dirty="0"/>
              <a:t>:</a:t>
            </a:r>
            <a:endParaRPr lang="en-US" sz="2200" i="1" dirty="0"/>
          </a:p>
          <a:p>
            <a:pPr lvl="1"/>
            <a:r>
              <a:rPr lang="en-US" sz="2200" dirty="0"/>
              <a:t>“where the lawyer is performing a function primarily performed by a corporate employee the communication does not magically become privileged simply because a lawyer is involved”</a:t>
            </a:r>
            <a:endParaRPr lang="en-US" sz="2200" i="1" dirty="0"/>
          </a:p>
          <a:p>
            <a:pPr lvl="1"/>
            <a:r>
              <a:rPr lang="en-US" sz="2200" dirty="0"/>
              <a:t>“Conversely, simply because a lawyer is involved with a business related issue does not necessarily mean the communication is not privileged”</a:t>
            </a:r>
          </a:p>
          <a:p>
            <a:pPr lvl="1"/>
            <a:r>
              <a:rPr lang="en-US" sz="2200" dirty="0"/>
              <a:t>“the test is whether counsel was participating in the communications </a:t>
            </a:r>
            <a:r>
              <a:rPr lang="en-US" sz="2200" u="sng" dirty="0"/>
              <a:t>primarily for the purpose</a:t>
            </a:r>
            <a:r>
              <a:rPr lang="en-US" sz="2200" dirty="0"/>
              <a:t> of rendering legal advice”</a:t>
            </a:r>
          </a:p>
          <a:p>
            <a:r>
              <a:rPr lang="en-US" sz="2200" dirty="0"/>
              <a:t>D.C. Circuit uses “</a:t>
            </a:r>
            <a:r>
              <a:rPr lang="en-US" sz="2200" u="sng" dirty="0"/>
              <a:t>one significant purpose</a:t>
            </a:r>
            <a:r>
              <a:rPr lang="en-US" sz="2200" dirty="0"/>
              <a:t>” test, SCOTUS hasn’t decided this yet</a:t>
            </a:r>
          </a:p>
        </p:txBody>
      </p:sp>
    </p:spTree>
    <p:extLst>
      <p:ext uri="{BB962C8B-B14F-4D97-AF65-F5344CB8AC3E}">
        <p14:creationId xmlns:p14="http://schemas.microsoft.com/office/powerpoint/2010/main" val="103383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E4522-0A63-A59A-289C-027208FF3F06}"/>
              </a:ext>
            </a:extLst>
          </p:cNvPr>
          <p:cNvSpPr>
            <a:spLocks noGrp="1"/>
          </p:cNvSpPr>
          <p:nvPr>
            <p:ph type="title"/>
          </p:nvPr>
        </p:nvSpPr>
        <p:spPr/>
        <p:txBody>
          <a:bodyPr/>
          <a:lstStyle/>
          <a:p>
            <a:r>
              <a:rPr lang="en-US" dirty="0"/>
              <a:t>IV. Crime-Fraud Exception</a:t>
            </a:r>
          </a:p>
        </p:txBody>
      </p:sp>
    </p:spTree>
    <p:extLst>
      <p:ext uri="{BB962C8B-B14F-4D97-AF65-F5344CB8AC3E}">
        <p14:creationId xmlns:p14="http://schemas.microsoft.com/office/powerpoint/2010/main" val="3425028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B2920-313B-9C22-D090-C583F74F6942}"/>
              </a:ext>
            </a:extLst>
          </p:cNvPr>
          <p:cNvSpPr>
            <a:spLocks noGrp="1"/>
          </p:cNvSpPr>
          <p:nvPr>
            <p:ph type="title"/>
          </p:nvPr>
        </p:nvSpPr>
        <p:spPr>
          <a:xfrm>
            <a:off x="1451579" y="1161872"/>
            <a:ext cx="9603275" cy="677440"/>
          </a:xfrm>
        </p:spPr>
        <p:txBody>
          <a:bodyPr/>
          <a:lstStyle/>
          <a:p>
            <a:r>
              <a:rPr lang="en-US" dirty="0"/>
              <a:t>Crime-Fraud Exception</a:t>
            </a:r>
          </a:p>
        </p:txBody>
      </p:sp>
      <p:sp>
        <p:nvSpPr>
          <p:cNvPr id="3" name="Content Placeholder 2">
            <a:extLst>
              <a:ext uri="{FF2B5EF4-FFF2-40B4-BE49-F238E27FC236}">
                <a16:creationId xmlns:a16="http://schemas.microsoft.com/office/drawing/2014/main" id="{7FD433D2-39A0-2438-8491-635594900C05}"/>
              </a:ext>
            </a:extLst>
          </p:cNvPr>
          <p:cNvSpPr>
            <a:spLocks noGrp="1"/>
          </p:cNvSpPr>
          <p:nvPr>
            <p:ph idx="1"/>
          </p:nvPr>
        </p:nvSpPr>
        <p:spPr>
          <a:xfrm>
            <a:off x="1451579" y="2015732"/>
            <a:ext cx="9603275" cy="3964654"/>
          </a:xfrm>
        </p:spPr>
        <p:txBody>
          <a:bodyPr>
            <a:normAutofit/>
          </a:bodyPr>
          <a:lstStyle/>
          <a:p>
            <a:r>
              <a:rPr lang="en-US" sz="2800" dirty="0"/>
              <a:t>Communications are </a:t>
            </a:r>
            <a:r>
              <a:rPr lang="en-US" sz="2800" b="1" u="sng" dirty="0"/>
              <a:t>not</a:t>
            </a:r>
            <a:r>
              <a:rPr lang="en-US" sz="2800" dirty="0"/>
              <a:t> protected by attorney-client privilege or work product if:</a:t>
            </a:r>
          </a:p>
          <a:p>
            <a:r>
              <a:rPr lang="en-US" sz="2800" dirty="0"/>
              <a:t>“they relate to client communications in furtherance of contemplated or ongoing criminal or fraudulent conduct,”</a:t>
            </a:r>
          </a:p>
          <a:p>
            <a:r>
              <a:rPr lang="en-US" sz="2800" dirty="0"/>
              <a:t>“even if the attorney is unaware that his advice is sought in furtherance of such an improper purpose” (</a:t>
            </a:r>
            <a:r>
              <a:rPr lang="en-US" sz="2800" i="1" dirty="0"/>
              <a:t>Weinberg Group</a:t>
            </a:r>
            <a:r>
              <a:rPr lang="en-US" sz="2800" dirty="0"/>
              <a:t>)</a:t>
            </a:r>
          </a:p>
        </p:txBody>
      </p:sp>
    </p:spTree>
    <p:extLst>
      <p:ext uri="{BB962C8B-B14F-4D97-AF65-F5344CB8AC3E}">
        <p14:creationId xmlns:p14="http://schemas.microsoft.com/office/powerpoint/2010/main" val="2714663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48558-1DFC-F85C-560A-107687625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B950B-D3EA-1519-1554-0729C9508E4F}"/>
              </a:ext>
            </a:extLst>
          </p:cNvPr>
          <p:cNvSpPr>
            <a:spLocks noGrp="1"/>
          </p:cNvSpPr>
          <p:nvPr>
            <p:ph type="title"/>
          </p:nvPr>
        </p:nvSpPr>
        <p:spPr/>
        <p:txBody>
          <a:bodyPr/>
          <a:lstStyle/>
          <a:p>
            <a:r>
              <a:rPr lang="en-US" dirty="0"/>
              <a:t>V. hypos</a:t>
            </a:r>
          </a:p>
        </p:txBody>
      </p:sp>
    </p:spTree>
    <p:extLst>
      <p:ext uri="{BB962C8B-B14F-4D97-AF65-F5344CB8AC3E}">
        <p14:creationId xmlns:p14="http://schemas.microsoft.com/office/powerpoint/2010/main" val="348489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59F7-0809-C5AA-11ED-4CAC88495C16}"/>
              </a:ext>
            </a:extLst>
          </p:cNvPr>
          <p:cNvSpPr>
            <a:spLocks noGrp="1"/>
          </p:cNvSpPr>
          <p:nvPr>
            <p:ph type="title"/>
          </p:nvPr>
        </p:nvSpPr>
        <p:spPr>
          <a:xfrm>
            <a:off x="1451579" y="1037169"/>
            <a:ext cx="9603275" cy="708971"/>
          </a:xfrm>
        </p:spPr>
        <p:txBody>
          <a:bodyPr/>
          <a:lstStyle/>
          <a:p>
            <a:r>
              <a:rPr lang="en-US" dirty="0"/>
              <a:t>Hypo</a:t>
            </a:r>
          </a:p>
        </p:txBody>
      </p:sp>
      <p:sp>
        <p:nvSpPr>
          <p:cNvPr id="3" name="Content Placeholder 2">
            <a:extLst>
              <a:ext uri="{FF2B5EF4-FFF2-40B4-BE49-F238E27FC236}">
                <a16:creationId xmlns:a16="http://schemas.microsoft.com/office/drawing/2014/main" id="{BDDF7CC7-EAC6-4B06-F78D-BBB0A7379F1D}"/>
              </a:ext>
            </a:extLst>
          </p:cNvPr>
          <p:cNvSpPr>
            <a:spLocks noGrp="1"/>
          </p:cNvSpPr>
          <p:nvPr>
            <p:ph idx="1"/>
          </p:nvPr>
        </p:nvSpPr>
        <p:spPr>
          <a:xfrm>
            <a:off x="1451578" y="2006678"/>
            <a:ext cx="9603275" cy="4089323"/>
          </a:xfrm>
        </p:spPr>
        <p:txBody>
          <a:bodyPr>
            <a:normAutofit/>
          </a:bodyPr>
          <a:lstStyle/>
          <a:p>
            <a:pPr marL="0" indent="0">
              <a:buNone/>
            </a:pPr>
            <a:r>
              <a:rPr lang="en-US" sz="2400" dirty="0"/>
              <a:t>The </a:t>
            </a:r>
            <a:r>
              <a:rPr lang="en-US" sz="2400" dirty="0" err="1"/>
              <a:t>Aquaslide</a:t>
            </a:r>
            <a:r>
              <a:rPr lang="en-US" sz="2400" dirty="0"/>
              <a:t> corporation, after being sued over a waterslide, has its insurer examine the waterslide. The insurer prepares a report for </a:t>
            </a:r>
            <a:r>
              <a:rPr lang="en-US" sz="2400" dirty="0" err="1"/>
              <a:t>Aquaslide</a:t>
            </a:r>
            <a:r>
              <a:rPr lang="en-US" sz="2400" dirty="0"/>
              <a:t> and for </a:t>
            </a:r>
            <a:r>
              <a:rPr lang="en-US" sz="2400" dirty="0" err="1"/>
              <a:t>Aquaslide’s</a:t>
            </a:r>
            <a:r>
              <a:rPr lang="en-US" sz="2400" dirty="0"/>
              <a:t> lawyer evaluating the likelihood that the waterslide could be proven at trial to be made by </a:t>
            </a:r>
            <a:r>
              <a:rPr lang="en-US" sz="2400" dirty="0" err="1"/>
              <a:t>Aquaslide</a:t>
            </a:r>
            <a:r>
              <a:rPr lang="en-US" sz="2400" dirty="0"/>
              <a:t>. The plaintiff requests a copy of the insurer’s report during discovery. Is it discoverable?</a:t>
            </a:r>
          </a:p>
          <a:p>
            <a:pPr marL="0" indent="0">
              <a:buNone/>
            </a:pPr>
            <a:r>
              <a:rPr lang="en-US" sz="2400" dirty="0"/>
              <a:t>Looks like work product under 26(b)(3), which includes material prepared by a “party or its representative” for litigation</a:t>
            </a:r>
          </a:p>
          <a:p>
            <a:pPr marL="0" indent="0">
              <a:buNone/>
            </a:pPr>
            <a:r>
              <a:rPr lang="en-US" sz="2400" dirty="0"/>
              <a:t>Can plaintiff </a:t>
            </a:r>
            <a:r>
              <a:rPr lang="en-US" sz="2400" u="sng" dirty="0"/>
              <a:t>depose</a:t>
            </a:r>
            <a:r>
              <a:rPr lang="en-US" sz="2400" dirty="0"/>
              <a:t> the insurer to ask if it was an </a:t>
            </a:r>
            <a:r>
              <a:rPr lang="en-US" sz="2400" dirty="0" err="1"/>
              <a:t>Aquaslide</a:t>
            </a:r>
            <a:r>
              <a:rPr lang="en-US" sz="2400" dirty="0"/>
              <a:t>?</a:t>
            </a:r>
          </a:p>
        </p:txBody>
      </p:sp>
    </p:spTree>
    <p:extLst>
      <p:ext uri="{BB962C8B-B14F-4D97-AF65-F5344CB8AC3E}">
        <p14:creationId xmlns:p14="http://schemas.microsoft.com/office/powerpoint/2010/main" val="1947655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F5D9E-6984-B18F-79A4-6A6CF2C1B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AF056-32B4-291B-1043-B60946393E7F}"/>
              </a:ext>
            </a:extLst>
          </p:cNvPr>
          <p:cNvSpPr>
            <a:spLocks noGrp="1"/>
          </p:cNvSpPr>
          <p:nvPr>
            <p:ph type="title"/>
          </p:nvPr>
        </p:nvSpPr>
        <p:spPr>
          <a:xfrm>
            <a:off x="1451579" y="1037169"/>
            <a:ext cx="9603275" cy="708971"/>
          </a:xfrm>
        </p:spPr>
        <p:txBody>
          <a:bodyPr/>
          <a:lstStyle/>
          <a:p>
            <a:r>
              <a:rPr lang="en-US" dirty="0"/>
              <a:t>Hypo</a:t>
            </a:r>
          </a:p>
        </p:txBody>
      </p:sp>
      <p:sp>
        <p:nvSpPr>
          <p:cNvPr id="3" name="Content Placeholder 2">
            <a:extLst>
              <a:ext uri="{FF2B5EF4-FFF2-40B4-BE49-F238E27FC236}">
                <a16:creationId xmlns:a16="http://schemas.microsoft.com/office/drawing/2014/main" id="{2510B203-16E7-005C-DC80-C6548DE1CE02}"/>
              </a:ext>
            </a:extLst>
          </p:cNvPr>
          <p:cNvSpPr>
            <a:spLocks noGrp="1"/>
          </p:cNvSpPr>
          <p:nvPr>
            <p:ph idx="1"/>
          </p:nvPr>
        </p:nvSpPr>
        <p:spPr>
          <a:xfrm>
            <a:off x="1451578" y="2006678"/>
            <a:ext cx="9603275" cy="4089323"/>
          </a:xfrm>
        </p:spPr>
        <p:txBody>
          <a:bodyPr>
            <a:normAutofit/>
          </a:bodyPr>
          <a:lstStyle/>
          <a:p>
            <a:pPr marL="0" indent="0">
              <a:buNone/>
            </a:pPr>
            <a:r>
              <a:rPr lang="en-US" sz="2200" dirty="0"/>
              <a:t>The </a:t>
            </a:r>
            <a:r>
              <a:rPr lang="en-US" sz="2200" dirty="0" err="1"/>
              <a:t>Aquaslide</a:t>
            </a:r>
            <a:r>
              <a:rPr lang="en-US" sz="2200" dirty="0"/>
              <a:t> corporation, after being sued over a waterslide, has its insurer examine the waterslide. The insurer prepares a report for </a:t>
            </a:r>
            <a:r>
              <a:rPr lang="en-US" sz="2200" dirty="0" err="1"/>
              <a:t>Aquaslide</a:t>
            </a:r>
            <a:r>
              <a:rPr lang="en-US" sz="2200" dirty="0"/>
              <a:t> and for </a:t>
            </a:r>
            <a:r>
              <a:rPr lang="en-US" sz="2200" dirty="0" err="1"/>
              <a:t>Aquaslide’s</a:t>
            </a:r>
            <a:r>
              <a:rPr lang="en-US" sz="2200" dirty="0"/>
              <a:t> lawyer evaluating the likelihood that the waterslide could be proven at trial to be made by </a:t>
            </a:r>
            <a:r>
              <a:rPr lang="en-US" sz="2200" dirty="0" err="1"/>
              <a:t>Aquaslide</a:t>
            </a:r>
            <a:r>
              <a:rPr lang="en-US" sz="2200" dirty="0"/>
              <a:t>. The plaintiff requests a copy of the insurer’s report during discovery. </a:t>
            </a:r>
            <a:r>
              <a:rPr lang="en-US" sz="2200" dirty="0" err="1"/>
              <a:t>Aquaslide’s</a:t>
            </a:r>
            <a:r>
              <a:rPr lang="en-US" sz="2200" dirty="0"/>
              <a:t> lawyer looks at the report, thinks “that has to be work product,” then tosses it into a giant pile of documents. That afternoon, the lawyer is feeling rushed, so just hands the plaintiff’s lawyer the pile of documents. Can </a:t>
            </a:r>
            <a:r>
              <a:rPr lang="en-US" sz="2200" dirty="0" err="1"/>
              <a:t>Aquaslide</a:t>
            </a:r>
            <a:r>
              <a:rPr lang="en-US" sz="2200" dirty="0"/>
              <a:t> claw back the report?</a:t>
            </a:r>
          </a:p>
          <a:p>
            <a:pPr marL="0" indent="0">
              <a:buNone/>
            </a:pPr>
            <a:r>
              <a:rPr lang="en-US" sz="2200" dirty="0"/>
              <a:t>Probably not—hard to say lawyer “took reasonable steps to prevent disclosure”</a:t>
            </a:r>
          </a:p>
        </p:txBody>
      </p:sp>
    </p:spTree>
    <p:extLst>
      <p:ext uri="{BB962C8B-B14F-4D97-AF65-F5344CB8AC3E}">
        <p14:creationId xmlns:p14="http://schemas.microsoft.com/office/powerpoint/2010/main" val="254878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3601F-9CF0-E038-4C55-ACE8E8A98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A9139-FA3D-0EDD-5ED6-9B4B13FCE002}"/>
              </a:ext>
            </a:extLst>
          </p:cNvPr>
          <p:cNvSpPr>
            <a:spLocks noGrp="1"/>
          </p:cNvSpPr>
          <p:nvPr>
            <p:ph type="title"/>
          </p:nvPr>
        </p:nvSpPr>
        <p:spPr>
          <a:xfrm>
            <a:off x="1451579" y="1037169"/>
            <a:ext cx="9603275" cy="708971"/>
          </a:xfrm>
        </p:spPr>
        <p:txBody>
          <a:bodyPr/>
          <a:lstStyle/>
          <a:p>
            <a:r>
              <a:rPr lang="en-US" dirty="0"/>
              <a:t>Hypo</a:t>
            </a:r>
          </a:p>
        </p:txBody>
      </p:sp>
      <p:sp>
        <p:nvSpPr>
          <p:cNvPr id="3" name="Content Placeholder 2">
            <a:extLst>
              <a:ext uri="{FF2B5EF4-FFF2-40B4-BE49-F238E27FC236}">
                <a16:creationId xmlns:a16="http://schemas.microsoft.com/office/drawing/2014/main" id="{E2756A47-F499-45C8-0C43-811788276B6E}"/>
              </a:ext>
            </a:extLst>
          </p:cNvPr>
          <p:cNvSpPr>
            <a:spLocks noGrp="1"/>
          </p:cNvSpPr>
          <p:nvPr>
            <p:ph idx="1"/>
          </p:nvPr>
        </p:nvSpPr>
        <p:spPr>
          <a:xfrm>
            <a:off x="1451578" y="2006678"/>
            <a:ext cx="9603275" cy="4089323"/>
          </a:xfrm>
        </p:spPr>
        <p:txBody>
          <a:bodyPr>
            <a:normAutofit/>
          </a:bodyPr>
          <a:lstStyle/>
          <a:p>
            <a:pPr marL="0" indent="0">
              <a:buNone/>
            </a:pPr>
            <a:r>
              <a:rPr lang="en-US" sz="2400" dirty="0"/>
              <a:t>Saul is a lawyer. Walt is a drug cartel kingpin. Walt walks into Saul’s office and says, “I need to launder money, can you help?” Saul says, “Yes, just give me a dollar so that you’re officially my client and our conversations can be privileged.” Are their communications privileged?</a:t>
            </a:r>
          </a:p>
          <a:p>
            <a:pPr marL="0" indent="0">
              <a:buNone/>
            </a:pPr>
            <a:r>
              <a:rPr lang="en-US" sz="2400" dirty="0"/>
              <a:t>No—crime-fraud exception to privilege applies, because they’re planning to illegally launder money</a:t>
            </a:r>
          </a:p>
        </p:txBody>
      </p:sp>
    </p:spTree>
    <p:extLst>
      <p:ext uri="{BB962C8B-B14F-4D97-AF65-F5344CB8AC3E}">
        <p14:creationId xmlns:p14="http://schemas.microsoft.com/office/powerpoint/2010/main" val="267473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63BE0-E75C-71F8-B52E-3E14A6438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AEFAC-097D-D345-6D55-8786D61E98B0}"/>
              </a:ext>
            </a:extLst>
          </p:cNvPr>
          <p:cNvSpPr>
            <a:spLocks noGrp="1"/>
          </p:cNvSpPr>
          <p:nvPr>
            <p:ph type="title"/>
          </p:nvPr>
        </p:nvSpPr>
        <p:spPr>
          <a:xfrm>
            <a:off x="1451579" y="1037169"/>
            <a:ext cx="9603275" cy="708971"/>
          </a:xfrm>
        </p:spPr>
        <p:txBody>
          <a:bodyPr/>
          <a:lstStyle/>
          <a:p>
            <a:r>
              <a:rPr lang="en-US" dirty="0"/>
              <a:t>Hypo</a:t>
            </a:r>
          </a:p>
        </p:txBody>
      </p:sp>
      <p:sp>
        <p:nvSpPr>
          <p:cNvPr id="3" name="Content Placeholder 2">
            <a:extLst>
              <a:ext uri="{FF2B5EF4-FFF2-40B4-BE49-F238E27FC236}">
                <a16:creationId xmlns:a16="http://schemas.microsoft.com/office/drawing/2014/main" id="{A03406F1-647E-F066-6A5F-55741DA78811}"/>
              </a:ext>
            </a:extLst>
          </p:cNvPr>
          <p:cNvSpPr>
            <a:spLocks noGrp="1"/>
          </p:cNvSpPr>
          <p:nvPr>
            <p:ph idx="1"/>
          </p:nvPr>
        </p:nvSpPr>
        <p:spPr>
          <a:xfrm>
            <a:off x="1451578" y="2006678"/>
            <a:ext cx="9603275" cy="4089323"/>
          </a:xfrm>
        </p:spPr>
        <p:txBody>
          <a:bodyPr>
            <a:normAutofit lnSpcReduction="10000"/>
          </a:bodyPr>
          <a:lstStyle/>
          <a:p>
            <a:pPr marL="0" indent="0">
              <a:buNone/>
            </a:pPr>
            <a:r>
              <a:rPr lang="en-US" sz="2400" dirty="0"/>
              <a:t>Saul is a lawyer. Walt is a drug cartel kingpin. Walt walks into Saul’s office and says, “I laundered money and now I’m being prosecuted, can you help?” Saul says, “Yes, but our conversations aren’t privileged until you officially become my client.” Is what Walt told Saul privileged, or not?</a:t>
            </a:r>
          </a:p>
          <a:p>
            <a:pPr marL="0" indent="0">
              <a:buNone/>
            </a:pPr>
            <a:r>
              <a:rPr lang="en-US" sz="2400" dirty="0"/>
              <a:t>Yes—crime-fraud exception only applies to </a:t>
            </a:r>
            <a:r>
              <a:rPr lang="en-US" sz="2400" u="sng" dirty="0"/>
              <a:t>ongoing or future</a:t>
            </a:r>
            <a:r>
              <a:rPr lang="en-US" sz="2400" dirty="0"/>
              <a:t> criminal activity,</a:t>
            </a:r>
          </a:p>
          <a:p>
            <a:pPr marL="0" indent="0">
              <a:buNone/>
            </a:pPr>
            <a:r>
              <a:rPr lang="en-US" sz="2400" dirty="0"/>
              <a:t>This looks like </a:t>
            </a:r>
            <a:r>
              <a:rPr lang="en-US" sz="2400" u="sng" dirty="0"/>
              <a:t>past</a:t>
            </a:r>
            <a:r>
              <a:rPr lang="en-US" sz="2400" dirty="0"/>
              <a:t> criminal activity</a:t>
            </a:r>
          </a:p>
          <a:p>
            <a:pPr marL="0" indent="0">
              <a:buNone/>
            </a:pPr>
            <a:r>
              <a:rPr lang="en-US" sz="2400" dirty="0"/>
              <a:t>And Saul is incorrect: attorney-client privilege applies to people </a:t>
            </a:r>
            <a:r>
              <a:rPr lang="en-US" sz="2400" u="sng" dirty="0"/>
              <a:t>seeking to be</a:t>
            </a:r>
            <a:r>
              <a:rPr lang="en-US" sz="2400" dirty="0"/>
              <a:t> clients too</a:t>
            </a:r>
          </a:p>
        </p:txBody>
      </p:sp>
    </p:spTree>
    <p:extLst>
      <p:ext uri="{BB962C8B-B14F-4D97-AF65-F5344CB8AC3E}">
        <p14:creationId xmlns:p14="http://schemas.microsoft.com/office/powerpoint/2010/main" val="227844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68D2D-9495-F628-1239-942C448F5587}"/>
              </a:ext>
            </a:extLst>
          </p:cNvPr>
          <p:cNvSpPr>
            <a:spLocks noGrp="1"/>
          </p:cNvSpPr>
          <p:nvPr>
            <p:ph type="title"/>
          </p:nvPr>
        </p:nvSpPr>
        <p:spPr/>
        <p:txBody>
          <a:bodyPr/>
          <a:lstStyle/>
          <a:p>
            <a:r>
              <a:rPr lang="en-US" dirty="0"/>
              <a:t>VI. Takeaways</a:t>
            </a:r>
          </a:p>
        </p:txBody>
      </p:sp>
    </p:spTree>
    <p:extLst>
      <p:ext uri="{BB962C8B-B14F-4D97-AF65-F5344CB8AC3E}">
        <p14:creationId xmlns:p14="http://schemas.microsoft.com/office/powerpoint/2010/main" val="3929659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85F4-10BA-CE89-6221-3B82E26CCEA0}"/>
              </a:ext>
            </a:extLst>
          </p:cNvPr>
          <p:cNvSpPr>
            <a:spLocks noGrp="1"/>
          </p:cNvSpPr>
          <p:nvPr>
            <p:ph type="title"/>
          </p:nvPr>
        </p:nvSpPr>
        <p:spPr>
          <a:xfrm>
            <a:off x="1451579" y="1047680"/>
            <a:ext cx="9603275" cy="687950"/>
          </a:xfrm>
        </p:spPr>
        <p:txBody>
          <a:bodyPr/>
          <a:lstStyle/>
          <a:p>
            <a:r>
              <a:rPr lang="en-US" dirty="0"/>
              <a:t>Key takeaways for FRCP &amp; FRE</a:t>
            </a:r>
          </a:p>
        </p:txBody>
      </p:sp>
      <p:sp>
        <p:nvSpPr>
          <p:cNvPr id="3" name="Content Placeholder 2">
            <a:extLst>
              <a:ext uri="{FF2B5EF4-FFF2-40B4-BE49-F238E27FC236}">
                <a16:creationId xmlns:a16="http://schemas.microsoft.com/office/drawing/2014/main" id="{8E33A92F-2D8F-FBD2-CA8E-29ED08D226F6}"/>
              </a:ext>
            </a:extLst>
          </p:cNvPr>
          <p:cNvSpPr>
            <a:spLocks noGrp="1"/>
          </p:cNvSpPr>
          <p:nvPr>
            <p:ph idx="1"/>
          </p:nvPr>
        </p:nvSpPr>
        <p:spPr>
          <a:xfrm>
            <a:off x="1451579" y="1963180"/>
            <a:ext cx="9973166" cy="4132819"/>
          </a:xfrm>
        </p:spPr>
        <p:txBody>
          <a:bodyPr>
            <a:normAutofit fontScale="92500"/>
          </a:bodyPr>
          <a:lstStyle/>
          <a:p>
            <a:pPr>
              <a:spcAft>
                <a:spcPts val="1200"/>
              </a:spcAft>
            </a:pPr>
            <a:r>
              <a:rPr lang="en-US" sz="2400" dirty="0"/>
              <a:t>FRCP 26(b)(3) protects work product, but allows discovery of </a:t>
            </a:r>
            <a:r>
              <a:rPr lang="en-US" sz="2400" u="sng" dirty="0"/>
              <a:t>fact</a:t>
            </a:r>
            <a:r>
              <a:rPr lang="en-US" sz="2400" dirty="0"/>
              <a:t> work product if the party seeking it shows need and no other way to obtain the information; but can’t discover </a:t>
            </a:r>
            <a:r>
              <a:rPr lang="en-US" sz="2400" u="sng" dirty="0"/>
              <a:t>opinion</a:t>
            </a:r>
            <a:r>
              <a:rPr lang="en-US" sz="2400" dirty="0"/>
              <a:t> work product</a:t>
            </a:r>
          </a:p>
          <a:p>
            <a:pPr>
              <a:spcAft>
                <a:spcPts val="1200"/>
              </a:spcAft>
            </a:pPr>
            <a:r>
              <a:rPr lang="en-US" sz="2400" dirty="0"/>
              <a:t>FRE 502(b) and FRCP 26(b)(5) allow </a:t>
            </a:r>
            <a:r>
              <a:rPr lang="en-US" sz="2400" dirty="0" err="1"/>
              <a:t>clawback</a:t>
            </a:r>
            <a:r>
              <a:rPr lang="en-US" sz="2400" dirty="0"/>
              <a:t> of inadvertently disclosed materials protected by privilege or work product</a:t>
            </a:r>
          </a:p>
          <a:p>
            <a:pPr>
              <a:spcAft>
                <a:spcPts val="1200"/>
              </a:spcAft>
            </a:pPr>
            <a:r>
              <a:rPr lang="en-US" sz="2400" dirty="0"/>
              <a:t>Parties and court can also set rules for the case about the effect of disclosure, 502</a:t>
            </a:r>
          </a:p>
          <a:p>
            <a:pPr>
              <a:spcAft>
                <a:spcPts val="1200"/>
              </a:spcAft>
            </a:pPr>
            <a:r>
              <a:rPr lang="en-US" sz="2400" dirty="0"/>
              <a:t>Party asserting protection creates a privilege log providing explanations of why the material is privileged or work product, 26(b)(5)</a:t>
            </a:r>
          </a:p>
        </p:txBody>
      </p:sp>
    </p:spTree>
    <p:extLst>
      <p:ext uri="{BB962C8B-B14F-4D97-AF65-F5344CB8AC3E}">
        <p14:creationId xmlns:p14="http://schemas.microsoft.com/office/powerpoint/2010/main" val="3567813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B2920-313B-9C22-D090-C583F74F6942}"/>
              </a:ext>
            </a:extLst>
          </p:cNvPr>
          <p:cNvSpPr>
            <a:spLocks noGrp="1"/>
          </p:cNvSpPr>
          <p:nvPr>
            <p:ph type="title"/>
          </p:nvPr>
        </p:nvSpPr>
        <p:spPr>
          <a:xfrm>
            <a:off x="1451579" y="1161872"/>
            <a:ext cx="9603275" cy="677440"/>
          </a:xfrm>
        </p:spPr>
        <p:txBody>
          <a:bodyPr/>
          <a:lstStyle/>
          <a:p>
            <a:r>
              <a:rPr lang="en-US" dirty="0"/>
              <a:t>Crime-Fraud Exception</a:t>
            </a:r>
          </a:p>
        </p:txBody>
      </p:sp>
      <p:sp>
        <p:nvSpPr>
          <p:cNvPr id="3" name="Content Placeholder 2">
            <a:extLst>
              <a:ext uri="{FF2B5EF4-FFF2-40B4-BE49-F238E27FC236}">
                <a16:creationId xmlns:a16="http://schemas.microsoft.com/office/drawing/2014/main" id="{7FD433D2-39A0-2438-8491-635594900C05}"/>
              </a:ext>
            </a:extLst>
          </p:cNvPr>
          <p:cNvSpPr>
            <a:spLocks noGrp="1"/>
          </p:cNvSpPr>
          <p:nvPr>
            <p:ph idx="1"/>
          </p:nvPr>
        </p:nvSpPr>
        <p:spPr>
          <a:xfrm>
            <a:off x="1451579" y="2015732"/>
            <a:ext cx="9603275" cy="3964654"/>
          </a:xfrm>
        </p:spPr>
        <p:txBody>
          <a:bodyPr>
            <a:normAutofit/>
          </a:bodyPr>
          <a:lstStyle/>
          <a:p>
            <a:r>
              <a:rPr lang="en-US" sz="2800" dirty="0"/>
              <a:t>Communications are not protected by attorney-client privilege or work product if:</a:t>
            </a:r>
          </a:p>
          <a:p>
            <a:r>
              <a:rPr lang="en-US" sz="2800" dirty="0"/>
              <a:t>“they relate to client communications in furtherance of contemplated or ongoing criminal or fraudulent conduct”</a:t>
            </a:r>
          </a:p>
          <a:p>
            <a:r>
              <a:rPr lang="en-US" sz="2800" dirty="0"/>
              <a:t>and “even if the attorney is unaware that his advice is sought in furtherance of such an improper purpose” (</a:t>
            </a:r>
            <a:r>
              <a:rPr lang="en-US" sz="2800" i="1" dirty="0"/>
              <a:t>Weinberg Group</a:t>
            </a:r>
            <a:r>
              <a:rPr lang="en-US" sz="2800" dirty="0"/>
              <a:t>)</a:t>
            </a:r>
          </a:p>
        </p:txBody>
      </p:sp>
    </p:spTree>
    <p:extLst>
      <p:ext uri="{BB962C8B-B14F-4D97-AF65-F5344CB8AC3E}">
        <p14:creationId xmlns:p14="http://schemas.microsoft.com/office/powerpoint/2010/main" val="89803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5123</TotalTime>
  <Words>1454</Words>
  <Application>Microsoft Macintosh PowerPoint</Application>
  <PresentationFormat>Widescreen</PresentationFormat>
  <Paragraphs>87</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Candara</vt:lpstr>
      <vt:lpstr>Gill Sans MT</vt:lpstr>
      <vt:lpstr>Gallery</vt:lpstr>
      <vt:lpstr>Civil Procedure</vt:lpstr>
      <vt:lpstr>Agenda</vt:lpstr>
      <vt:lpstr>I. Recap</vt:lpstr>
      <vt:lpstr>Privilege and Work product</vt:lpstr>
      <vt:lpstr>Attorney-Client privilege</vt:lpstr>
      <vt:lpstr>Work Product Protection</vt:lpstr>
      <vt:lpstr>II. FRCP &amp; FRE on Work product</vt:lpstr>
      <vt:lpstr>Work Product—The FRCP, rule 26</vt:lpstr>
      <vt:lpstr>Hypo</vt:lpstr>
      <vt:lpstr>Inadvertent Disclosure—Federal Rules of Evidence</vt:lpstr>
      <vt:lpstr>Limited Disclosure—FRE 502</vt:lpstr>
      <vt:lpstr>III. Privilege Logs</vt:lpstr>
      <vt:lpstr>Privilege Logs</vt:lpstr>
      <vt:lpstr>PowerPoint Presentation</vt:lpstr>
      <vt:lpstr>Privilege Logs</vt:lpstr>
      <vt:lpstr>IV. Crime-Fraud Exception</vt:lpstr>
      <vt:lpstr>Crime-Fraud Exception</vt:lpstr>
      <vt:lpstr>V. hypos</vt:lpstr>
      <vt:lpstr>Hypo</vt:lpstr>
      <vt:lpstr>Hypo</vt:lpstr>
      <vt:lpstr>Hypo</vt:lpstr>
      <vt:lpstr>Hypo</vt:lpstr>
      <vt:lpstr>VI. Takeaways</vt:lpstr>
      <vt:lpstr>Key takeaways for FRCP &amp; FRE</vt:lpstr>
      <vt:lpstr>Crime-Fraud Exception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Lanham</dc:creator>
  <cp:lastModifiedBy>Andrew Lanham</cp:lastModifiedBy>
  <cp:revision>291</cp:revision>
  <dcterms:created xsi:type="dcterms:W3CDTF">2024-08-16T15:30:55Z</dcterms:created>
  <dcterms:modified xsi:type="dcterms:W3CDTF">2026-09-22T16:12:40Z</dcterms:modified>
</cp:coreProperties>
</file>