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9" r:id="rId4"/>
    <p:sldId id="391" r:id="rId5"/>
    <p:sldId id="394" r:id="rId6"/>
    <p:sldId id="392" r:id="rId7"/>
    <p:sldId id="396" r:id="rId8"/>
    <p:sldId id="393" r:id="rId9"/>
    <p:sldId id="395" r:id="rId10"/>
    <p:sldId id="397" r:id="rId11"/>
    <p:sldId id="398" r:id="rId12"/>
    <p:sldId id="399" r:id="rId13"/>
    <p:sldId id="400" r:id="rId14"/>
    <p:sldId id="401" r:id="rId15"/>
    <p:sldId id="402" r:id="rId16"/>
    <p:sldId id="414" r:id="rId17"/>
    <p:sldId id="415" r:id="rId18"/>
    <p:sldId id="403" r:id="rId19"/>
    <p:sldId id="404" r:id="rId20"/>
    <p:sldId id="418" r:id="rId21"/>
    <p:sldId id="405" r:id="rId22"/>
    <p:sldId id="406" r:id="rId23"/>
    <p:sldId id="417" r:id="rId24"/>
    <p:sldId id="407" r:id="rId25"/>
    <p:sldId id="416" r:id="rId26"/>
    <p:sldId id="408" r:id="rId27"/>
    <p:sldId id="409" r:id="rId28"/>
    <p:sldId id="410" r:id="rId29"/>
    <p:sldId id="419" r:id="rId30"/>
    <p:sldId id="420" r:id="rId31"/>
    <p:sldId id="42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33"/>
    <p:restoredTop sz="94601"/>
  </p:normalViewPr>
  <p:slideViewPr>
    <p:cSldViewPr snapToGrid="0">
      <p:cViewPr varScale="1">
        <p:scale>
          <a:sx n="101" d="100"/>
          <a:sy n="101" d="100"/>
        </p:scale>
        <p:origin x="20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83C5D-9158-D344-A442-F16F463AC701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42A25-8AC0-6E40-A416-08D2792D8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55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42A25-8AC0-6E40-A416-08D2792D84E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84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9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7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6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36C72-0B33-0A48-B3F4-90C09BB8A58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135C-E1F7-457C-793B-6F84BBEA4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Civil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D2300-46B5-4ED8-98CD-7D18437C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46951"/>
            <a:ext cx="8637072" cy="97762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Class 10</a:t>
            </a:r>
          </a:p>
        </p:txBody>
      </p:sp>
    </p:spTree>
    <p:extLst>
      <p:ext uri="{BB962C8B-B14F-4D97-AF65-F5344CB8AC3E}">
        <p14:creationId xmlns:p14="http://schemas.microsoft.com/office/powerpoint/2010/main" val="27447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67AE-F040-67B6-9446-8FC8AA2B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D890-1782-3B9A-A9EE-7CCC33AC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36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3200" dirty="0"/>
              <a:t>Recap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Discovery!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16898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Recap</a:t>
            </a:r>
          </a:p>
        </p:txBody>
      </p:sp>
    </p:spTree>
    <p:extLst>
      <p:ext uri="{BB962C8B-B14F-4D97-AF65-F5344CB8AC3E}">
        <p14:creationId xmlns:p14="http://schemas.microsoft.com/office/powerpoint/2010/main" val="305369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2DAC-CD48-7364-2587-8D58CB3C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83026"/>
            <a:ext cx="9603275" cy="553178"/>
          </a:xfrm>
        </p:spPr>
        <p:txBody>
          <a:bodyPr>
            <a:normAutofit/>
          </a:bodyPr>
          <a:lstStyle/>
          <a:p>
            <a:r>
              <a:rPr lang="en-US" dirty="0"/>
              <a:t>Responsive Pleadings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95AC-C683-7B09-F86D-2BCD5DE1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556" y="1986330"/>
            <a:ext cx="10007358" cy="403774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300" dirty="0"/>
              <a:t>8(b), in the Answer, a party must “admit or deny the allegations,” or deny because the party “lacks knowledge or information sufficient to form a belief”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300" dirty="0"/>
              <a:t>12(b), party must assert “every defense to a claim” in “the responsive pleading”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300" dirty="0"/>
              <a:t>But some defenses—like “failure to state a claim,” 12(b)(6)—can also be raised in a Rule 12 motion </a:t>
            </a:r>
            <a:r>
              <a:rPr lang="en-US" sz="2300" u="sng" dirty="0"/>
              <a:t>before</a:t>
            </a:r>
            <a:r>
              <a:rPr lang="en-US" sz="2300" dirty="0"/>
              <a:t> filing the responsive pleading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300" dirty="0"/>
              <a:t>So there is a </a:t>
            </a:r>
            <a:r>
              <a:rPr lang="en-US" sz="2300" u="sng" dirty="0"/>
              <a:t>choice</a:t>
            </a:r>
            <a:r>
              <a:rPr lang="en-US" sz="2300" dirty="0"/>
              <a:t> between filing an Answer </a:t>
            </a:r>
            <a:r>
              <a:rPr lang="en-US" sz="2300" b="1" dirty="0"/>
              <a:t>OR</a:t>
            </a:r>
            <a:r>
              <a:rPr lang="en-US" sz="2300" dirty="0"/>
              <a:t> a pre-Answer Rule 12 motion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300" dirty="0"/>
              <a:t>For most defenses, if not raised in either the responsive pleading or a Rule 12 motion, that defense may be lost—so plan ahead!</a:t>
            </a:r>
          </a:p>
        </p:txBody>
      </p:sp>
    </p:spTree>
    <p:extLst>
      <p:ext uri="{BB962C8B-B14F-4D97-AF65-F5344CB8AC3E}">
        <p14:creationId xmlns:p14="http://schemas.microsoft.com/office/powerpoint/2010/main" val="409497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2DAC-CD48-7364-2587-8D58CB3C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2004"/>
            <a:ext cx="9603275" cy="574199"/>
          </a:xfrm>
        </p:spPr>
        <p:txBody>
          <a:bodyPr>
            <a:normAutofit/>
          </a:bodyPr>
          <a:lstStyle/>
          <a:p>
            <a:r>
              <a:rPr lang="en-US" dirty="0"/>
              <a:t>Amendment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95AC-C683-7B09-F86D-2BCD5DE1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45134"/>
            <a:ext cx="9603275" cy="4037749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/>
              <a:t>15(a)(1), can amend a pleading “as a matter of course” within 21 days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/>
              <a:t>15(a)(2), “in all other cases,” a pleading can be amended either with other party’s </a:t>
            </a:r>
            <a:r>
              <a:rPr lang="en-US" sz="2400" i="1" u="sng" dirty="0"/>
              <a:t>consent</a:t>
            </a:r>
            <a:r>
              <a:rPr lang="en-US" sz="2400" dirty="0"/>
              <a:t> or “the </a:t>
            </a:r>
            <a:r>
              <a:rPr lang="en-US" sz="2400" i="1" u="sng" dirty="0"/>
              <a:t>court’s leave</a:t>
            </a:r>
            <a:r>
              <a:rPr lang="en-US" sz="2400" dirty="0"/>
              <a:t>,” and court “should freely give leave” to amend “when justice so requires”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/>
              <a:t>Court should give leave to amend freely, unless “undue delay,” “bad faith,” “futility of amendment,” “repeated failure” of prior amendments, or “undue prejudice” (</a:t>
            </a:r>
            <a:r>
              <a:rPr lang="en-US" sz="2400" i="1" dirty="0" err="1"/>
              <a:t>Aquaslide</a:t>
            </a:r>
            <a:r>
              <a:rPr lang="en-US" sz="2400" dirty="0"/>
              <a:t>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/>
              <a:t>Party opposing amendment must show prejudice (</a:t>
            </a:r>
            <a:r>
              <a:rPr lang="en-US" sz="2400" i="1" dirty="0" err="1"/>
              <a:t>Aquaslide</a:t>
            </a:r>
            <a:r>
              <a:rPr lang="en-US" sz="2400" dirty="0"/>
              <a:t>); prejudice means reduction in the party’s “ability to meet the defense on the merits” (</a:t>
            </a:r>
            <a:r>
              <a:rPr lang="en-US" sz="2400" i="1" dirty="0"/>
              <a:t>Global Tech.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13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66E9-A9A8-9F19-62A9-9A70DF21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Discovery Rules</a:t>
            </a:r>
          </a:p>
        </p:txBody>
      </p:sp>
    </p:spTree>
    <p:extLst>
      <p:ext uri="{BB962C8B-B14F-4D97-AF65-F5344CB8AC3E}">
        <p14:creationId xmlns:p14="http://schemas.microsoft.com/office/powerpoint/2010/main" val="401784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FAF6-C542-A410-6C5A-120D93999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26:  The overall framework for discovery</a:t>
            </a:r>
          </a:p>
        </p:txBody>
      </p:sp>
    </p:spTree>
    <p:extLst>
      <p:ext uri="{BB962C8B-B14F-4D97-AF65-F5344CB8AC3E}">
        <p14:creationId xmlns:p14="http://schemas.microsoft.com/office/powerpoint/2010/main" val="310962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2DAC-CD48-7364-2587-8D58CB3C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48"/>
            <a:ext cx="9603275" cy="687950"/>
          </a:xfrm>
        </p:spPr>
        <p:txBody>
          <a:bodyPr>
            <a:normAutofit/>
          </a:bodyPr>
          <a:lstStyle/>
          <a:p>
            <a:r>
              <a:rPr lang="en-US" dirty="0"/>
              <a:t>Initial Disclosures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95AC-C683-7B09-F86D-2BCD5DE1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868462" cy="4037749"/>
          </a:xfrm>
        </p:spPr>
        <p:txBody>
          <a:bodyPr>
            <a:normAutofit/>
          </a:bodyPr>
          <a:lstStyle/>
          <a:p>
            <a:r>
              <a:rPr lang="en-US" sz="2800" dirty="0"/>
              <a:t>26(a), parties must make initial disclosures, including:</a:t>
            </a:r>
          </a:p>
          <a:p>
            <a:pPr marL="571500" indent="-571500">
              <a:buAutoNum type="romanLcParenBoth"/>
            </a:pPr>
            <a:r>
              <a:rPr lang="en-US" sz="2800" dirty="0"/>
              <a:t>“each individual likely to have discoverable information” that the party “may use to support its claims or defenses,”</a:t>
            </a:r>
          </a:p>
          <a:p>
            <a:pPr marL="571500" indent="-571500">
              <a:buAutoNum type="romanLcParenBoth"/>
            </a:pPr>
            <a:r>
              <a:rPr lang="en-US" sz="2800" dirty="0"/>
              <a:t>“documents, electronically stored information, and tangible things” the party “may use to support its claims or defenses,”</a:t>
            </a:r>
          </a:p>
          <a:p>
            <a:pPr marL="571500" indent="-571500">
              <a:buAutoNum type="romanLcParenBoth"/>
            </a:pPr>
            <a:r>
              <a:rPr lang="en-US" sz="2800" dirty="0"/>
              <a:t>“computation” of damages and its “evidentiary” basis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149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2DAC-CD48-7364-2587-8D58CB3C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4726"/>
            <a:ext cx="9603275" cy="719481"/>
          </a:xfrm>
        </p:spPr>
        <p:txBody>
          <a:bodyPr>
            <a:normAutofit/>
          </a:bodyPr>
          <a:lstStyle/>
          <a:p>
            <a:r>
              <a:rPr lang="en-US" dirty="0"/>
              <a:t>Planning conference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95AC-C683-7B09-F86D-2BCD5DE1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25063"/>
            <a:ext cx="9754486" cy="4037749"/>
          </a:xfrm>
        </p:spPr>
        <p:txBody>
          <a:bodyPr>
            <a:normAutofit/>
          </a:bodyPr>
          <a:lstStyle/>
          <a:p>
            <a:r>
              <a:rPr lang="en-US" sz="2800" dirty="0"/>
              <a:t>26(f), parties must have a conference to plan discovery “as soon as practicable,” and at least 21 days before a “scheduling conference”</a:t>
            </a:r>
          </a:p>
          <a:p>
            <a:r>
              <a:rPr lang="en-US" sz="2800" dirty="0"/>
              <a:t>After conference, parties submit “discovery plan” proposing “the subjects” for discovery, “when discovery should be completed,” and whether it should be in phases</a:t>
            </a:r>
          </a:p>
          <a:p>
            <a:r>
              <a:rPr lang="en-US" sz="2800" dirty="0"/>
              <a:t>And proposing any other changes to discovery requirements</a:t>
            </a:r>
          </a:p>
        </p:txBody>
      </p:sp>
    </p:spTree>
    <p:extLst>
      <p:ext uri="{BB962C8B-B14F-4D97-AF65-F5344CB8AC3E}">
        <p14:creationId xmlns:p14="http://schemas.microsoft.com/office/powerpoint/2010/main" val="18931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2DAC-CD48-7364-2587-8D58CB3C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4726"/>
            <a:ext cx="9603275" cy="719481"/>
          </a:xfrm>
        </p:spPr>
        <p:txBody>
          <a:bodyPr>
            <a:normAutofit/>
          </a:bodyPr>
          <a:lstStyle/>
          <a:p>
            <a:r>
              <a:rPr lang="en-US" dirty="0"/>
              <a:t>Scope of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95AC-C683-7B09-F86D-2BCD5DE1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868462" cy="4037749"/>
          </a:xfrm>
        </p:spPr>
        <p:txBody>
          <a:bodyPr>
            <a:noAutofit/>
          </a:bodyPr>
          <a:lstStyle/>
          <a:p>
            <a:r>
              <a:rPr lang="en-US" sz="2500" dirty="0"/>
              <a:t>26(b) sets the overall scope and limits on discovery</a:t>
            </a:r>
          </a:p>
          <a:p>
            <a:r>
              <a:rPr lang="en-US" sz="2500" dirty="0"/>
              <a:t>26(b)(1), a party can discover:</a:t>
            </a:r>
          </a:p>
          <a:p>
            <a:pPr lvl="1"/>
            <a:r>
              <a:rPr lang="en-US" sz="2500" dirty="0"/>
              <a:t>“any nonprivileged matter that is </a:t>
            </a:r>
            <a:r>
              <a:rPr lang="en-US" sz="2500" b="1" u="sng" dirty="0"/>
              <a:t>relevant</a:t>
            </a:r>
            <a:r>
              <a:rPr lang="en-US" sz="2500" dirty="0"/>
              <a:t> to” any “claim or defense”</a:t>
            </a:r>
          </a:p>
          <a:p>
            <a:pPr lvl="1"/>
            <a:r>
              <a:rPr lang="en-US" sz="2500" dirty="0"/>
              <a:t>“and </a:t>
            </a:r>
            <a:r>
              <a:rPr lang="en-US" sz="2500" b="1" u="sng" dirty="0"/>
              <a:t>proportional</a:t>
            </a:r>
            <a:r>
              <a:rPr lang="en-US" sz="2500" dirty="0"/>
              <a:t> to the needs of the case”</a:t>
            </a:r>
          </a:p>
          <a:p>
            <a:pPr lvl="1"/>
            <a:r>
              <a:rPr lang="en-US" sz="2500" dirty="0"/>
              <a:t>Factors for proportionality include: importance of the issue; amount in controversy; importance of the discovery to the issue; and whether the “burden” “outweighs” the “likely benefit”</a:t>
            </a:r>
          </a:p>
        </p:txBody>
      </p:sp>
    </p:spTree>
    <p:extLst>
      <p:ext uri="{BB962C8B-B14F-4D97-AF65-F5344CB8AC3E}">
        <p14:creationId xmlns:p14="http://schemas.microsoft.com/office/powerpoint/2010/main" val="149515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2DAC-CD48-7364-2587-8D58CB3C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4726"/>
            <a:ext cx="9603275" cy="719481"/>
          </a:xfrm>
        </p:spPr>
        <p:txBody>
          <a:bodyPr>
            <a:normAutofit/>
          </a:bodyPr>
          <a:lstStyle/>
          <a:p>
            <a:r>
              <a:rPr lang="en-US" dirty="0"/>
              <a:t>Limits on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95AC-C683-7B09-F86D-2BCD5DE1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868462" cy="4037749"/>
          </a:xfrm>
        </p:spPr>
        <p:txBody>
          <a:bodyPr>
            <a:normAutofit/>
          </a:bodyPr>
          <a:lstStyle/>
          <a:p>
            <a:r>
              <a:rPr lang="en-US" sz="2600" dirty="0"/>
              <a:t>26(b)(2), court can adjust limits on discovery in light of what’s necessary for the case, or what’s too burdensome/expensive</a:t>
            </a:r>
          </a:p>
          <a:p>
            <a:r>
              <a:rPr lang="en-US" sz="2600" dirty="0"/>
              <a:t>26(c), a party or any person from whom discovery is being sought can seek a protective order (if they certify that they tried in “good faith” to “resolve the dispute”)</a:t>
            </a:r>
          </a:p>
          <a:p>
            <a:r>
              <a:rPr lang="en-US" sz="2600" dirty="0"/>
              <a:t>Protective order can limit subject, time, place, method of discovery, or require some information to be sealed</a:t>
            </a:r>
          </a:p>
        </p:txBody>
      </p:sp>
    </p:spTree>
    <p:extLst>
      <p:ext uri="{BB962C8B-B14F-4D97-AF65-F5344CB8AC3E}">
        <p14:creationId xmlns:p14="http://schemas.microsoft.com/office/powerpoint/2010/main" val="26128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2DAC-CD48-7364-2587-8D58CB3C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4726"/>
            <a:ext cx="9603275" cy="719481"/>
          </a:xfrm>
        </p:spPr>
        <p:txBody>
          <a:bodyPr>
            <a:normAutofit/>
          </a:bodyPr>
          <a:lstStyle/>
          <a:p>
            <a:r>
              <a:rPr lang="en-US" dirty="0"/>
              <a:t>Candor in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95AC-C683-7B09-F86D-2BCD5DE1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868462" cy="4037749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26(e), if party learns it gave “incomplete or incorrect” information in discovery, “must supplement or correct” in “a timely manner”</a:t>
            </a:r>
          </a:p>
          <a:p>
            <a:r>
              <a:rPr lang="en-US" sz="2600" dirty="0"/>
              <a:t>26(g), when making a disclosure or a discovery request, certify “to the best of the person’s knowledge, information, and belief </a:t>
            </a:r>
            <a:r>
              <a:rPr lang="en-US" sz="2600" i="1" dirty="0"/>
              <a:t>formed after a reasonable inquiry</a:t>
            </a:r>
            <a:r>
              <a:rPr lang="en-US" sz="2600" dirty="0"/>
              <a:t>” that:</a:t>
            </a:r>
          </a:p>
          <a:p>
            <a:r>
              <a:rPr lang="en-US" sz="2600" dirty="0"/>
              <a:t>the disclosure is “complete and correct” and requests are “warranted” by law, not for improper purpose, not unduly burdensome</a:t>
            </a:r>
          </a:p>
          <a:p>
            <a:r>
              <a:rPr lang="en-US" sz="2600" dirty="0"/>
              <a:t>26(g)(3) provides sanctions for violating this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95389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C1A20-6A7B-8DC7-1198-8E58CA8A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241" y="1019232"/>
            <a:ext cx="9603275" cy="632288"/>
          </a:xfrm>
        </p:spPr>
        <p:txBody>
          <a:bodyPr/>
          <a:lstStyle/>
          <a:p>
            <a:r>
              <a:rPr lang="en-US" u="sng" dirty="0"/>
              <a:t>Key takeaways from Rule 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39FEF-9FCE-2C85-7682-4F6160C9E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915" y="1931649"/>
            <a:ext cx="9846497" cy="4037749"/>
          </a:xfrm>
        </p:spPr>
        <p:txBody>
          <a:bodyPr>
            <a:normAutofit lnSpcReduction="10000"/>
          </a:bodyPr>
          <a:lstStyle/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Some required disclosures of the basis for your claims or defenses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Parties plan discovery, conferring with each other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The scope of discovery is: </a:t>
            </a:r>
            <a:r>
              <a:rPr lang="en-US" sz="2800" b="1" u="sng" dirty="0"/>
              <a:t>nonprivileged</a:t>
            </a:r>
            <a:r>
              <a:rPr lang="en-US" sz="2800" dirty="0"/>
              <a:t>, </a:t>
            </a:r>
            <a:r>
              <a:rPr lang="en-US" sz="2800" b="1" u="sng" dirty="0"/>
              <a:t>relevant</a:t>
            </a:r>
            <a:r>
              <a:rPr lang="en-US" sz="2800" dirty="0"/>
              <a:t>, and </a:t>
            </a:r>
            <a:r>
              <a:rPr lang="en-US" sz="2800" b="1" u="sng" dirty="0"/>
              <a:t>proportional</a:t>
            </a:r>
            <a:r>
              <a:rPr lang="en-US" sz="2800" dirty="0"/>
              <a:t> information</a:t>
            </a:r>
            <a:endParaRPr lang="en-US" sz="2800" b="1" u="sng" dirty="0"/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The court can adjust the limits of discovery to fit the case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Parties can be sanctioned for improper actions in discovery</a:t>
            </a:r>
          </a:p>
        </p:txBody>
      </p:sp>
    </p:spTree>
    <p:extLst>
      <p:ext uri="{BB962C8B-B14F-4D97-AF65-F5344CB8AC3E}">
        <p14:creationId xmlns:p14="http://schemas.microsoft.com/office/powerpoint/2010/main" val="150286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297A-93D1-96C8-9CFE-64720DEC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discovery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CA915-0E1B-0509-F3E6-AE0CA31E1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6947" y="4089974"/>
            <a:ext cx="8630446" cy="1012929"/>
          </a:xfrm>
        </p:spPr>
        <p:txBody>
          <a:bodyPr>
            <a:normAutofit/>
          </a:bodyPr>
          <a:lstStyle/>
          <a:p>
            <a:r>
              <a:rPr lang="en-US" sz="2800" dirty="0"/>
              <a:t>I.e., how do you actually take discovery?</a:t>
            </a:r>
          </a:p>
        </p:txBody>
      </p:sp>
    </p:spTree>
    <p:extLst>
      <p:ext uri="{BB962C8B-B14F-4D97-AF65-F5344CB8AC3E}">
        <p14:creationId xmlns:p14="http://schemas.microsoft.com/office/powerpoint/2010/main" val="3074424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EFC9-F63C-A692-B66A-48A693CC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Depositions—Rule 30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EAEB-8112-7196-86CE-AC4D8F1B5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96185"/>
          </a:xfrm>
        </p:spPr>
        <p:txBody>
          <a:bodyPr>
            <a:normAutofit/>
          </a:bodyPr>
          <a:lstStyle/>
          <a:p>
            <a:r>
              <a:rPr lang="en-US" sz="2600" dirty="0"/>
              <a:t>witness testimony (can compel with subpoena)</a:t>
            </a:r>
          </a:p>
          <a:p>
            <a:r>
              <a:rPr lang="en-US" sz="2600" dirty="0"/>
              <a:t>after first 10, need leave of court for more</a:t>
            </a:r>
          </a:p>
          <a:p>
            <a:r>
              <a:rPr lang="en-US" sz="2600" dirty="0"/>
              <a:t>provide notice of deposition to other parties</a:t>
            </a:r>
          </a:p>
          <a:p>
            <a:r>
              <a:rPr lang="en-US" sz="2600" dirty="0"/>
              <a:t>a group entity, like a corporation or a government, can designate a deponent to “testify on its behalf”</a:t>
            </a:r>
          </a:p>
          <a:p>
            <a:r>
              <a:rPr lang="en-US" sz="2600" dirty="0"/>
              <a:t>can object to a question on the record; can seek order from court to limit or terminate if “conducted in bad faith”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2992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9035-3405-38D6-1886-6B3A2D1F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3769"/>
            <a:ext cx="9603275" cy="520428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 Deposition from </a:t>
            </a:r>
            <a:r>
              <a:rPr lang="en-US" i="1" dirty="0"/>
              <a:t>B.L.</a:t>
            </a:r>
            <a:r>
              <a:rPr lang="en-US" dirty="0"/>
              <a:t> Case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7661A-023B-EE36-7EE8-6043A4B4F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16" y="2179057"/>
            <a:ext cx="7772400" cy="344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65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6F1E-D9CF-2097-E942-2FE644DF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0E35-8386-D414-F83A-06EA24CB9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3769"/>
            <a:ext cx="9603275" cy="520428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 Deposition from </a:t>
            </a:r>
            <a:r>
              <a:rPr lang="en-US" i="1" dirty="0"/>
              <a:t>B.L.</a:t>
            </a:r>
            <a:r>
              <a:rPr lang="en-US" dirty="0"/>
              <a:t> Case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8EC7B-9650-4808-5A7A-57C72D32A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87147"/>
            <a:ext cx="7772400" cy="202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8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EFC9-F63C-A692-B66A-48A693CC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Interrogatories—Rule 33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EAEB-8112-7196-86CE-AC4D8F1B5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96185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May serve </a:t>
            </a:r>
            <a:r>
              <a:rPr lang="en-US" sz="2600" i="1" dirty="0"/>
              <a:t>on other party</a:t>
            </a:r>
            <a:r>
              <a:rPr lang="en-US" sz="2600" dirty="0"/>
              <a:t> 25 written interrogatories (including “all discrete subparts”), asking about </a:t>
            </a:r>
            <a:r>
              <a:rPr lang="en-US" sz="2600" u="sng" dirty="0"/>
              <a:t>facts</a:t>
            </a:r>
            <a:r>
              <a:rPr lang="en-US" sz="2600" dirty="0"/>
              <a:t> or </a:t>
            </a:r>
            <a:r>
              <a:rPr lang="en-US" sz="2600" u="sng" dirty="0"/>
              <a:t>legal contentions</a:t>
            </a:r>
          </a:p>
          <a:p>
            <a:r>
              <a:rPr lang="en-US" sz="2600" dirty="0"/>
              <a:t>Other party must answer, “fully” and “under oath,” within 30 days</a:t>
            </a:r>
          </a:p>
          <a:p>
            <a:r>
              <a:rPr lang="en-US" sz="2600" dirty="0"/>
              <a:t>Can object to an interrogatory, but must state objection “with specificity”</a:t>
            </a:r>
          </a:p>
          <a:p>
            <a:r>
              <a:rPr lang="en-US" sz="2600" dirty="0"/>
              <a:t>If the answer can be determined by examining business records, and the burden of examining is the same for both parties, the answering party can make the records available</a:t>
            </a:r>
          </a:p>
        </p:txBody>
      </p:sp>
    </p:spTree>
    <p:extLst>
      <p:ext uri="{BB962C8B-B14F-4D97-AF65-F5344CB8AC3E}">
        <p14:creationId xmlns:p14="http://schemas.microsoft.com/office/powerpoint/2010/main" val="337956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EFC9-F63C-A692-B66A-48A693CC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Document Requests—Rule 34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EAEB-8112-7196-86CE-AC4D8F1B5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57772"/>
            <a:ext cx="9603275" cy="3996185"/>
          </a:xfrm>
        </p:spPr>
        <p:txBody>
          <a:bodyPr>
            <a:normAutofit/>
          </a:bodyPr>
          <a:lstStyle/>
          <a:p>
            <a:r>
              <a:rPr lang="en-US" sz="2600" dirty="0"/>
              <a:t>Can serve on other party a request to produce and permit inspection and copying of:</a:t>
            </a:r>
          </a:p>
          <a:p>
            <a:pPr lvl="1"/>
            <a:r>
              <a:rPr lang="en-US" sz="2600" dirty="0"/>
              <a:t>Documents</a:t>
            </a:r>
          </a:p>
          <a:p>
            <a:pPr lvl="1"/>
            <a:r>
              <a:rPr lang="en-US" sz="2600" dirty="0"/>
              <a:t>ESI (electronically stored information)</a:t>
            </a:r>
          </a:p>
          <a:p>
            <a:pPr lvl="1"/>
            <a:r>
              <a:rPr lang="en-US" sz="2600" dirty="0"/>
              <a:t>“tangible things”</a:t>
            </a:r>
          </a:p>
          <a:p>
            <a:pPr lvl="1"/>
            <a:r>
              <a:rPr lang="en-US" sz="2600" dirty="0"/>
              <a:t>permit entry onto land to inspect</a:t>
            </a:r>
          </a:p>
          <a:p>
            <a:r>
              <a:rPr lang="en-US" sz="2600" dirty="0"/>
              <a:t>34(c) also allows subpoena for documents from nonparty</a:t>
            </a:r>
          </a:p>
        </p:txBody>
      </p:sp>
    </p:spTree>
    <p:extLst>
      <p:ext uri="{BB962C8B-B14F-4D97-AF65-F5344CB8AC3E}">
        <p14:creationId xmlns:p14="http://schemas.microsoft.com/office/powerpoint/2010/main" val="344581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2B34-B510-3A0B-B88F-6E1C5DC6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B658-34E8-3F88-B9DD-49A58BB7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587" y="813851"/>
            <a:ext cx="9603275" cy="958966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 Interrogatory and Document Request, from an Environmental Protection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9022F3-1A42-AD59-6366-60DB5BC74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024" y="2463983"/>
            <a:ext cx="7772400" cy="287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43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EFC9-F63C-A692-B66A-48A693CC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Physical and Mental examination—Rule 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EAEB-8112-7196-86CE-AC4D8F1B5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015730"/>
            <a:ext cx="9510711" cy="3996185"/>
          </a:xfrm>
        </p:spPr>
        <p:txBody>
          <a:bodyPr>
            <a:normAutofit/>
          </a:bodyPr>
          <a:lstStyle/>
          <a:p>
            <a:r>
              <a:rPr lang="en-US" sz="2600" dirty="0"/>
              <a:t>If a party’s “mental or physical condition” “is in controversy,”</a:t>
            </a:r>
          </a:p>
          <a:p>
            <a:r>
              <a:rPr lang="en-US" sz="2600" dirty="0"/>
              <a:t>The other party may make a motion, showing “good cause,” and</a:t>
            </a:r>
          </a:p>
          <a:p>
            <a:r>
              <a:rPr lang="en-US" sz="2600" dirty="0"/>
              <a:t>The court may order “a physical or mental examination”</a:t>
            </a:r>
          </a:p>
        </p:txBody>
      </p:sp>
    </p:spTree>
    <p:extLst>
      <p:ext uri="{BB962C8B-B14F-4D97-AF65-F5344CB8AC3E}">
        <p14:creationId xmlns:p14="http://schemas.microsoft.com/office/powerpoint/2010/main" val="159815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EFC9-F63C-A692-B66A-48A693CC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Requests for Admission—Rule 36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EAEB-8112-7196-86CE-AC4D8F1B5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015730"/>
            <a:ext cx="9510711" cy="3996185"/>
          </a:xfrm>
        </p:spPr>
        <p:txBody>
          <a:bodyPr>
            <a:normAutofit/>
          </a:bodyPr>
          <a:lstStyle/>
          <a:p>
            <a:r>
              <a:rPr lang="en-US" sz="2400" dirty="0"/>
              <a:t>Can serve on other party “written request to admit, for purposes of the pending action only, the truth of any matters within the scope of” discovery</a:t>
            </a:r>
          </a:p>
          <a:p>
            <a:r>
              <a:rPr lang="en-US" sz="2400" dirty="0"/>
              <a:t>Related to “facts, the application of law to fact, or opinions about either,” or to confirm a document is “genuine”</a:t>
            </a:r>
          </a:p>
          <a:p>
            <a:r>
              <a:rPr lang="en-US" sz="2400" dirty="0"/>
              <a:t>An admission is “conclusively established” for the litigation</a:t>
            </a:r>
          </a:p>
          <a:p>
            <a:r>
              <a:rPr lang="en-US" sz="2400" dirty="0"/>
              <a:t>Not limited in number</a:t>
            </a:r>
          </a:p>
        </p:txBody>
      </p:sp>
    </p:spTree>
    <p:extLst>
      <p:ext uri="{BB962C8B-B14F-4D97-AF65-F5344CB8AC3E}">
        <p14:creationId xmlns:p14="http://schemas.microsoft.com/office/powerpoint/2010/main" val="368326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94DCC-00D7-6ABD-EB4A-912FA6E3D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F94E-2BDF-943D-F018-398219FD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96" y="767197"/>
            <a:ext cx="9603275" cy="1024280"/>
          </a:xfrm>
        </p:spPr>
        <p:txBody>
          <a:bodyPr>
            <a:normAutofit/>
          </a:bodyPr>
          <a:lstStyle/>
          <a:p>
            <a:r>
              <a:rPr lang="en-US" dirty="0"/>
              <a:t>Sample Request for Admission, from an Environmental Protection Case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1DFBD-4F31-B5DE-6A6F-92B0D8B72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479" y="5203972"/>
            <a:ext cx="7772400" cy="8868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6AA0BA-7977-B59B-5B4F-19C34205E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479" y="1975158"/>
            <a:ext cx="7772400" cy="312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6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AC758-472E-48AF-DB31-E9316B5B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3768"/>
            <a:ext cx="9603275" cy="623065"/>
          </a:xfrm>
        </p:spPr>
        <p:txBody>
          <a:bodyPr/>
          <a:lstStyle/>
          <a:p>
            <a:r>
              <a:rPr lang="en-US" dirty="0"/>
              <a:t>Summary: Types of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03E9F-CE83-6B2C-552F-24E4957A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54144"/>
          </a:xfrm>
        </p:spPr>
        <p:txBody>
          <a:bodyPr>
            <a:normAutofit/>
          </a:bodyPr>
          <a:lstStyle/>
          <a:p>
            <a:r>
              <a:rPr lang="en-US" sz="2800" dirty="0"/>
              <a:t>Depositions (Rule 30)</a:t>
            </a:r>
          </a:p>
          <a:p>
            <a:r>
              <a:rPr lang="en-US" sz="2800" dirty="0"/>
              <a:t>Interrogatories (Rule 33)</a:t>
            </a:r>
          </a:p>
          <a:p>
            <a:r>
              <a:rPr lang="en-US" sz="2800" dirty="0"/>
              <a:t>Documents, Electronically Stored Information, Tangible Things, and Property (Rule 34)</a:t>
            </a:r>
          </a:p>
          <a:p>
            <a:r>
              <a:rPr lang="en-US" sz="2800" dirty="0"/>
              <a:t>Mental and Physical Examination (Rule 35)</a:t>
            </a:r>
          </a:p>
          <a:p>
            <a:r>
              <a:rPr lang="en-US" sz="2800" dirty="0"/>
              <a:t>Requests for Admission (Rule 36)</a:t>
            </a:r>
          </a:p>
        </p:txBody>
      </p:sp>
    </p:spTree>
    <p:extLst>
      <p:ext uri="{BB962C8B-B14F-4D97-AF65-F5344CB8AC3E}">
        <p14:creationId xmlns:p14="http://schemas.microsoft.com/office/powerpoint/2010/main" val="187096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959DC-3726-4061-ACF8-0AE90EE4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8B7C-D1D9-7981-2B82-50A96147D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3769"/>
            <a:ext cx="9603275" cy="520428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 Interrogatory from </a:t>
            </a:r>
            <a:r>
              <a:rPr lang="en-US" i="1" dirty="0"/>
              <a:t>B.L.</a:t>
            </a:r>
            <a:r>
              <a:rPr lang="en-US" dirty="0"/>
              <a:t> Case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1E8CEA-1F2D-9210-2CCB-7081C641F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598" y="2057623"/>
            <a:ext cx="5012803" cy="390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33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2292-846B-FCAE-7E66-8C67D3B2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65776"/>
            <a:ext cx="9603275" cy="716371"/>
          </a:xfrm>
        </p:spPr>
        <p:txBody>
          <a:bodyPr/>
          <a:lstStyle/>
          <a:p>
            <a:r>
              <a:rPr lang="en-US" dirty="0"/>
              <a:t>Enforcing Discovery—Rule 37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AE1FD-7135-2D9C-DCFE-429A657C1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sz="2800" dirty="0"/>
              <a:t>37(a), for noncompliance with discovery, a party must first work “in good faith” with the other party or person to obtain discovery</a:t>
            </a:r>
          </a:p>
          <a:p>
            <a:r>
              <a:rPr lang="en-US" sz="2800" dirty="0"/>
              <a:t>If that fails, may seek order from the court to compel discovery</a:t>
            </a:r>
          </a:p>
          <a:p>
            <a:r>
              <a:rPr lang="en-US" sz="2800" dirty="0"/>
              <a:t>37(b), if someone fails to comply with an order compelling discovery, the court may sanction</a:t>
            </a:r>
          </a:p>
        </p:txBody>
      </p:sp>
    </p:spTree>
    <p:extLst>
      <p:ext uri="{BB962C8B-B14F-4D97-AF65-F5344CB8AC3E}">
        <p14:creationId xmlns:p14="http://schemas.microsoft.com/office/powerpoint/2010/main" val="261644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0BAF-CAFE-BB63-71C9-B48927A25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56796"/>
            <a:ext cx="9603275" cy="669718"/>
          </a:xfrm>
        </p:spPr>
        <p:txBody>
          <a:bodyPr/>
          <a:lstStyle/>
          <a:p>
            <a:r>
              <a:rPr lang="en-US" dirty="0"/>
              <a:t>Spoliation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87ED-9E09-37C5-7717-F7B8B427E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Duty to preserve information that you knew or should have known would be relevant to anticipated litigation</a:t>
            </a:r>
          </a:p>
          <a:p>
            <a:r>
              <a:rPr lang="en-US" sz="2800" dirty="0"/>
              <a:t>Can be sanctioned for spoliation if the other party is prejudiced</a:t>
            </a:r>
          </a:p>
        </p:txBody>
      </p:sp>
    </p:spTree>
    <p:extLst>
      <p:ext uri="{BB962C8B-B14F-4D97-AF65-F5344CB8AC3E}">
        <p14:creationId xmlns:p14="http://schemas.microsoft.com/office/powerpoint/2010/main" val="154035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5988E-42EC-E52D-2AE3-7486510D2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Overall Takeaways</a:t>
            </a:r>
          </a:p>
        </p:txBody>
      </p:sp>
    </p:spTree>
    <p:extLst>
      <p:ext uri="{BB962C8B-B14F-4D97-AF65-F5344CB8AC3E}">
        <p14:creationId xmlns:p14="http://schemas.microsoft.com/office/powerpoint/2010/main" val="31866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2791-ABF8-2EF6-7E70-E88F3F206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C92E-7A14-3CA5-32B5-DE8F4E06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241" y="1019232"/>
            <a:ext cx="9603275" cy="632288"/>
          </a:xfrm>
        </p:spPr>
        <p:txBody>
          <a:bodyPr/>
          <a:lstStyle/>
          <a:p>
            <a:r>
              <a:rPr lang="en-US" u="sng" dirty="0"/>
              <a:t>Key takeaways from Rule 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1790-85D3-99C3-A86F-33DDCA90E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915" y="1931649"/>
            <a:ext cx="9846497" cy="4037749"/>
          </a:xfrm>
        </p:spPr>
        <p:txBody>
          <a:bodyPr>
            <a:normAutofit lnSpcReduction="10000"/>
          </a:bodyPr>
          <a:lstStyle/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Some required disclosures of the basis for your claims or defenses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Parties plan discovery, conferring with each other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The scope of discovery is: </a:t>
            </a:r>
            <a:r>
              <a:rPr lang="en-US" sz="2800" b="1" u="sng" dirty="0"/>
              <a:t>nonprivileged</a:t>
            </a:r>
            <a:r>
              <a:rPr lang="en-US" sz="2800" dirty="0"/>
              <a:t>, </a:t>
            </a:r>
            <a:r>
              <a:rPr lang="en-US" sz="2800" b="1" u="sng" dirty="0"/>
              <a:t>relevant</a:t>
            </a:r>
            <a:r>
              <a:rPr lang="en-US" sz="2800" dirty="0"/>
              <a:t>, and </a:t>
            </a:r>
            <a:r>
              <a:rPr lang="en-US" sz="2800" b="1" u="sng" dirty="0"/>
              <a:t>proportional</a:t>
            </a:r>
            <a:r>
              <a:rPr lang="en-US" sz="2800" dirty="0"/>
              <a:t> information</a:t>
            </a:r>
            <a:endParaRPr lang="en-US" sz="2800" b="1" u="sng" dirty="0"/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The court can adjust the limits of discovery to fit the case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Parties can be sanctioned for improper actions in discovery</a:t>
            </a:r>
          </a:p>
        </p:txBody>
      </p:sp>
    </p:spTree>
    <p:extLst>
      <p:ext uri="{BB962C8B-B14F-4D97-AF65-F5344CB8AC3E}">
        <p14:creationId xmlns:p14="http://schemas.microsoft.com/office/powerpoint/2010/main" val="96881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7E52-BECB-FA68-120A-8106B04E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A4B3-3F31-7FA1-4CB2-2FA6F8E8D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3768"/>
            <a:ext cx="9603275" cy="623065"/>
          </a:xfrm>
        </p:spPr>
        <p:txBody>
          <a:bodyPr/>
          <a:lstStyle/>
          <a:p>
            <a:r>
              <a:rPr lang="en-US" dirty="0"/>
              <a:t>Types of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12FC3-F584-44E6-20A9-3ED056785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54144"/>
          </a:xfrm>
        </p:spPr>
        <p:txBody>
          <a:bodyPr>
            <a:normAutofit/>
          </a:bodyPr>
          <a:lstStyle/>
          <a:p>
            <a:r>
              <a:rPr lang="en-US" sz="2800" dirty="0"/>
              <a:t>Depositions (Rule 30)</a:t>
            </a:r>
          </a:p>
          <a:p>
            <a:r>
              <a:rPr lang="en-US" sz="2800" dirty="0"/>
              <a:t>Interrogatories (Rule 33)</a:t>
            </a:r>
          </a:p>
          <a:p>
            <a:r>
              <a:rPr lang="en-US" sz="2800" dirty="0"/>
              <a:t>Documents, Electronically Stored Information, Tangible Things, and Property (Rule 34)</a:t>
            </a:r>
          </a:p>
          <a:p>
            <a:r>
              <a:rPr lang="en-US" sz="2800" dirty="0"/>
              <a:t>Mental and Physical Examination (Rule 35)</a:t>
            </a:r>
          </a:p>
          <a:p>
            <a:r>
              <a:rPr lang="en-US" sz="2800" dirty="0"/>
              <a:t>Requests for Admission (Rule 36)</a:t>
            </a:r>
          </a:p>
        </p:txBody>
      </p:sp>
    </p:spTree>
    <p:extLst>
      <p:ext uri="{BB962C8B-B14F-4D97-AF65-F5344CB8AC3E}">
        <p14:creationId xmlns:p14="http://schemas.microsoft.com/office/powerpoint/2010/main" val="299771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D20C6-C5C4-5466-A6FA-35864837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7F2F-1A71-0764-02EE-B22F27C33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65776"/>
            <a:ext cx="9603275" cy="716371"/>
          </a:xfrm>
        </p:spPr>
        <p:txBody>
          <a:bodyPr/>
          <a:lstStyle/>
          <a:p>
            <a:r>
              <a:rPr lang="en-US" dirty="0"/>
              <a:t>Enforcing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4F76-EC84-137C-0744-6EBD6C4B7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sz="2800" dirty="0"/>
              <a:t>37(a), for noncompliance with discovery, a party must first work “in good faith” with the other party or person to obtain discovery</a:t>
            </a:r>
          </a:p>
          <a:p>
            <a:r>
              <a:rPr lang="en-US" sz="2800" dirty="0"/>
              <a:t>If that fails, may seek order from the court to compel discovery</a:t>
            </a:r>
          </a:p>
          <a:p>
            <a:r>
              <a:rPr lang="en-US" sz="2800" dirty="0"/>
              <a:t>37(b), if someone fails to comply with an order compelling discovery, the court may sanction</a:t>
            </a:r>
          </a:p>
          <a:p>
            <a:r>
              <a:rPr lang="en-US" sz="2800" dirty="0"/>
              <a:t>General duty to avoid “spoliation”</a:t>
            </a:r>
          </a:p>
        </p:txBody>
      </p:sp>
    </p:spTree>
    <p:extLst>
      <p:ext uri="{BB962C8B-B14F-4D97-AF65-F5344CB8AC3E}">
        <p14:creationId xmlns:p14="http://schemas.microsoft.com/office/powerpoint/2010/main" val="849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4107</TotalTime>
  <Words>1471</Words>
  <Application>Microsoft Macintosh PowerPoint</Application>
  <PresentationFormat>Widescreen</PresentationFormat>
  <Paragraphs>116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Candara</vt:lpstr>
      <vt:lpstr>Gill Sans MT</vt:lpstr>
      <vt:lpstr>Gallery</vt:lpstr>
      <vt:lpstr>Civil Procedure</vt:lpstr>
      <vt:lpstr>Agenda</vt:lpstr>
      <vt:lpstr>I. Recap</vt:lpstr>
      <vt:lpstr>Responsive Pleadings</vt:lpstr>
      <vt:lpstr>Amendment</vt:lpstr>
      <vt:lpstr>II. Discovery Rules</vt:lpstr>
      <vt:lpstr>Rule 26:  The overall framework for discovery</vt:lpstr>
      <vt:lpstr>Initial Disclosures</vt:lpstr>
      <vt:lpstr>Planning conference</vt:lpstr>
      <vt:lpstr>Scope of discovery</vt:lpstr>
      <vt:lpstr>Limits on discovery</vt:lpstr>
      <vt:lpstr>Candor in discovery</vt:lpstr>
      <vt:lpstr>Key takeaways from Rule 26</vt:lpstr>
      <vt:lpstr>Types of discovery</vt:lpstr>
      <vt:lpstr>Depositions—Rule 30</vt:lpstr>
      <vt:lpstr>Sample Deposition from B.L. Case</vt:lpstr>
      <vt:lpstr>Sample Deposition from B.L. Case</vt:lpstr>
      <vt:lpstr>Interrogatories—Rule 33</vt:lpstr>
      <vt:lpstr>Document Requests—Rule 34</vt:lpstr>
      <vt:lpstr>Sample Interrogatory and Document Request, from an Environmental Protection Case</vt:lpstr>
      <vt:lpstr>Physical and Mental examination—Rule 35</vt:lpstr>
      <vt:lpstr>Requests for Admission—Rule 36</vt:lpstr>
      <vt:lpstr>Sample Request for Admission, from an Environmental Protection Case</vt:lpstr>
      <vt:lpstr>Summary: Types of Discovery</vt:lpstr>
      <vt:lpstr>Sample Interrogatory from B.L. Case</vt:lpstr>
      <vt:lpstr>Enforcing Discovery—Rule 37</vt:lpstr>
      <vt:lpstr>Spoliation</vt:lpstr>
      <vt:lpstr>III. Overall Takeaways</vt:lpstr>
      <vt:lpstr>Key takeaways from Rule 26</vt:lpstr>
      <vt:lpstr>Types of Discovery</vt:lpstr>
      <vt:lpstr>Enforcing Discovery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Lanham</dc:creator>
  <cp:lastModifiedBy>Andrew Lanham</cp:lastModifiedBy>
  <cp:revision>254</cp:revision>
  <dcterms:created xsi:type="dcterms:W3CDTF">2024-08-16T15:30:55Z</dcterms:created>
  <dcterms:modified xsi:type="dcterms:W3CDTF">2026-09-12T14:39:25Z</dcterms:modified>
</cp:coreProperties>
</file>