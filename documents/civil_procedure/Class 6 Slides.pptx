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356" r:id="rId5"/>
    <p:sldId id="372" r:id="rId6"/>
    <p:sldId id="371" r:id="rId7"/>
    <p:sldId id="358" r:id="rId8"/>
    <p:sldId id="359" r:id="rId9"/>
    <p:sldId id="370" r:id="rId10"/>
    <p:sldId id="363" r:id="rId11"/>
    <p:sldId id="369" r:id="rId12"/>
    <p:sldId id="373" r:id="rId13"/>
    <p:sldId id="374" r:id="rId14"/>
    <p:sldId id="376" r:id="rId15"/>
    <p:sldId id="377" r:id="rId16"/>
    <p:sldId id="360" r:id="rId17"/>
    <p:sldId id="361" r:id="rId18"/>
    <p:sldId id="362" r:id="rId19"/>
    <p:sldId id="368" r:id="rId20"/>
    <p:sldId id="36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44"/>
    <p:restoredTop sz="94475"/>
  </p:normalViewPr>
  <p:slideViewPr>
    <p:cSldViewPr snapToGrid="0">
      <p:cViewPr varScale="1">
        <p:scale>
          <a:sx n="85" d="100"/>
          <a:sy n="85" d="100"/>
        </p:scale>
        <p:origin x="18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84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983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794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900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7720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211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87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0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DC36C72-0B33-0A48-B3F4-90C09BB8A580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7367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098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15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C36C72-0B33-0A48-B3F4-90C09BB8A580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31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E135C-E1F7-457C-793B-6F84BBEA4F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Civil Procedure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D2300-46B5-4ED8-98CD-7D18437CE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646951"/>
            <a:ext cx="8637072" cy="97762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ndara" panose="020E0502030303020204" pitchFamily="34" charset="0"/>
              </a:rPr>
              <a:t>Class 6</a:t>
            </a:r>
          </a:p>
        </p:txBody>
      </p:sp>
    </p:spTree>
    <p:extLst>
      <p:ext uri="{BB962C8B-B14F-4D97-AF65-F5344CB8AC3E}">
        <p14:creationId xmlns:p14="http://schemas.microsoft.com/office/powerpoint/2010/main" val="274471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867AE-F040-67B6-9446-8FC8AA2B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17037"/>
            <a:ext cx="9603275" cy="642316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2D890-1782-3B9A-A9EE-7CCC33ACB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3365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romanUcPeriod"/>
            </a:pPr>
            <a:r>
              <a:rPr lang="en-US" sz="3200" dirty="0"/>
              <a:t>Recap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3200" dirty="0"/>
              <a:t>The Pleading Standard, Continued</a:t>
            </a:r>
          </a:p>
        </p:txBody>
      </p:sp>
    </p:spTree>
    <p:extLst>
      <p:ext uri="{BB962C8B-B14F-4D97-AF65-F5344CB8AC3E}">
        <p14:creationId xmlns:p14="http://schemas.microsoft.com/office/powerpoint/2010/main" val="168983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288D4-5A9B-0E41-96DF-5AA7E5E3C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Recap</a:t>
            </a:r>
          </a:p>
        </p:txBody>
      </p:sp>
    </p:spTree>
    <p:extLst>
      <p:ext uri="{BB962C8B-B14F-4D97-AF65-F5344CB8AC3E}">
        <p14:creationId xmlns:p14="http://schemas.microsoft.com/office/powerpoint/2010/main" val="3053693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762A5-0A9B-E261-7B59-864F4DE8C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36013"/>
            <a:ext cx="9603275" cy="665466"/>
          </a:xfrm>
        </p:spPr>
        <p:txBody>
          <a:bodyPr/>
          <a:lstStyle/>
          <a:p>
            <a:r>
              <a:rPr lang="en-US" dirty="0"/>
              <a:t>FRCP Rules for the Complaint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4785F-FC3A-415C-8B95-E015B0140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54144"/>
          </a:xfrm>
        </p:spPr>
        <p:txBody>
          <a:bodyPr>
            <a:normAutofit fontScale="85000" lnSpcReduction="20000"/>
          </a:bodyPr>
          <a:lstStyle/>
          <a:p>
            <a:pPr>
              <a:spcAft>
                <a:spcPts val="1200"/>
              </a:spcAft>
            </a:pPr>
            <a:r>
              <a:rPr lang="en-US" sz="3200" dirty="0"/>
              <a:t>Rule 3: a civil case begins with Plaintiff filing Complaint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8(a)(2), Complaint has “short and plain statement of the claim showing that the pleader is entitled to relief”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And 8(a)(3), “a demand for the relief sought”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12(b)(6), Defendant can file motion to dismiss the Complaint for “failure to state a claim upon which relief can be granted” (we’ll look at Rule 12 closely next week)</a:t>
            </a:r>
          </a:p>
        </p:txBody>
      </p:sp>
    </p:spTree>
    <p:extLst>
      <p:ext uri="{BB962C8B-B14F-4D97-AF65-F5344CB8AC3E}">
        <p14:creationId xmlns:p14="http://schemas.microsoft.com/office/powerpoint/2010/main" val="861228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B5BB2-A287-EC66-FFEF-4ED624C03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28455"/>
            <a:ext cx="9603275" cy="735032"/>
          </a:xfrm>
        </p:spPr>
        <p:txBody>
          <a:bodyPr/>
          <a:lstStyle/>
          <a:p>
            <a:r>
              <a:rPr lang="en-US" dirty="0"/>
              <a:t>Sufficiency of the Complaint—</a:t>
            </a:r>
            <a:r>
              <a:rPr lang="en-US" i="1" dirty="0"/>
              <a:t>Conley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4A9B8-A1EA-5801-CC99-FE0B37752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sz="2800" dirty="0"/>
              <a:t>Legal sufficiency:</a:t>
            </a:r>
          </a:p>
          <a:p>
            <a:pPr lvl="1"/>
            <a:r>
              <a:rPr lang="en-US" sz="2800" dirty="0"/>
              <a:t>The harm alleged in the Complaint must actually be a basis for legal liability—i.e., Defendant’s alleged conduct must violate the law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800" dirty="0"/>
              <a:t>Factual sufficiency:</a:t>
            </a:r>
          </a:p>
          <a:p>
            <a:pPr lvl="1"/>
            <a:r>
              <a:rPr lang="en-US" sz="2800" dirty="0"/>
              <a:t>The Complaint must allege enough facts to notify Defendant of the factual “grounds” for legal liability</a:t>
            </a:r>
          </a:p>
        </p:txBody>
      </p:sp>
    </p:spTree>
    <p:extLst>
      <p:ext uri="{BB962C8B-B14F-4D97-AF65-F5344CB8AC3E}">
        <p14:creationId xmlns:p14="http://schemas.microsoft.com/office/powerpoint/2010/main" val="2354551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AF29C-B278-AD4F-BDEF-19CE3F002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D2A3D-0C89-439C-0B1F-49C6239B1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24438"/>
            <a:ext cx="9603275" cy="746489"/>
          </a:xfrm>
        </p:spPr>
        <p:txBody>
          <a:bodyPr/>
          <a:lstStyle/>
          <a:p>
            <a:r>
              <a:rPr lang="en-US" dirty="0"/>
              <a:t>Sufficiency of the Complaint—</a:t>
            </a:r>
            <a:r>
              <a:rPr lang="en-US" i="1" dirty="0"/>
              <a:t>Conley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73AFE-43E1-1058-CE4C-FA4611091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168132"/>
            <a:ext cx="9603275" cy="3909939"/>
          </a:xfrm>
        </p:spPr>
        <p:txBody>
          <a:bodyPr>
            <a:noAutofit/>
          </a:bodyPr>
          <a:lstStyle/>
          <a:p>
            <a:r>
              <a:rPr lang="en-US" sz="2800" dirty="0"/>
              <a:t>E.g., it is not legally sufficient if my complaint only alleges: “My roommate refused to do the dishes last night.”</a:t>
            </a:r>
          </a:p>
          <a:p>
            <a:pPr lvl="1">
              <a:buFont typeface="Wingdings" pitchFamily="2" charset="2"/>
              <a:buChar char="Ø"/>
            </a:pPr>
            <a:r>
              <a:rPr lang="en-US" sz="2800" dirty="0"/>
              <a:t>Because it isn’t usually illegal to skip household chores!</a:t>
            </a:r>
          </a:p>
          <a:p>
            <a:r>
              <a:rPr lang="en-US" sz="2800" dirty="0"/>
              <a:t>And it is not factually sufficient if I only allege: “My roommate committed a tort.”</a:t>
            </a:r>
          </a:p>
          <a:p>
            <a:pPr lvl="1">
              <a:buFont typeface="Wingdings" pitchFamily="2" charset="2"/>
              <a:buChar char="Ø"/>
            </a:pPr>
            <a:r>
              <a:rPr lang="en-US" sz="2800" dirty="0"/>
              <a:t>Because it doesn’t tell us </a:t>
            </a:r>
            <a:r>
              <a:rPr lang="en-US" sz="2800" u="sng" dirty="0"/>
              <a:t>any</a:t>
            </a:r>
            <a:r>
              <a:rPr lang="en-US" sz="2800" dirty="0"/>
              <a:t> facts to show a tort occurred</a:t>
            </a:r>
          </a:p>
        </p:txBody>
      </p:sp>
    </p:spTree>
    <p:extLst>
      <p:ext uri="{BB962C8B-B14F-4D97-AF65-F5344CB8AC3E}">
        <p14:creationId xmlns:p14="http://schemas.microsoft.com/office/powerpoint/2010/main" val="745252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EF853-EB99-63AE-6C2A-DC3CD0682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II. The Pleading Standard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2434C-DE63-0183-ECE0-1F6A01A90C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i="1" dirty="0"/>
              <a:t>Twombly</a:t>
            </a:r>
            <a:r>
              <a:rPr lang="en-US" sz="3200" dirty="0"/>
              <a:t> and </a:t>
            </a:r>
            <a:r>
              <a:rPr lang="en-US" sz="3200" i="1" dirty="0"/>
              <a:t>Iqbal</a:t>
            </a:r>
          </a:p>
        </p:txBody>
      </p:sp>
    </p:spTree>
    <p:extLst>
      <p:ext uri="{BB962C8B-B14F-4D97-AF65-F5344CB8AC3E}">
        <p14:creationId xmlns:p14="http://schemas.microsoft.com/office/powerpoint/2010/main" val="804786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97DFA-DFCE-3F32-32A4-625C46361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16149"/>
            <a:ext cx="9603275" cy="751012"/>
          </a:xfrm>
        </p:spPr>
        <p:txBody>
          <a:bodyPr/>
          <a:lstStyle/>
          <a:p>
            <a:r>
              <a:rPr lang="en-US" dirty="0"/>
              <a:t>Plausibility Pleading—</a:t>
            </a:r>
            <a:r>
              <a:rPr lang="en-US" i="1" dirty="0"/>
              <a:t>Twombly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7F552-712C-3178-D025-2198221F5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8227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3200" dirty="0"/>
              <a:t>The Complaint must allege “enough factual matter (taken as true)” to give “plausible grounds to infer” that the Defendant acted unlawfully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Need “enough factual enhancement” to nudge the Complaint over “the line between possibility and plausibility of ‘entitle[</a:t>
            </a:r>
            <a:r>
              <a:rPr lang="en-US" sz="3200" dirty="0" err="1"/>
              <a:t>ment</a:t>
            </a:r>
            <a:r>
              <a:rPr lang="en-US" sz="3200" dirty="0"/>
              <a:t>] to relief’”</a:t>
            </a:r>
          </a:p>
        </p:txBody>
      </p:sp>
    </p:spTree>
    <p:extLst>
      <p:ext uri="{BB962C8B-B14F-4D97-AF65-F5344CB8AC3E}">
        <p14:creationId xmlns:p14="http://schemas.microsoft.com/office/powerpoint/2010/main" val="2970078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97DFA-DFCE-3F32-32A4-625C46361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16149"/>
            <a:ext cx="9603275" cy="751012"/>
          </a:xfrm>
        </p:spPr>
        <p:txBody>
          <a:bodyPr/>
          <a:lstStyle/>
          <a:p>
            <a:r>
              <a:rPr lang="en-US" dirty="0"/>
              <a:t>Plausibility Pleading—</a:t>
            </a:r>
            <a:r>
              <a:rPr lang="en-US" i="1" dirty="0"/>
              <a:t>Twombly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7F552-712C-3178-D025-2198221F5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8227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3200" dirty="0"/>
              <a:t>Or, put another way: “enough fact to raise a reasonable expectation that discovery will reveal evidence of illegal” conduct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I.e., you can’t just assert “the defendant did something wrong” and then go on a fishing expedition during Discovery to look for some unexpected wrongdoing</a:t>
            </a:r>
          </a:p>
        </p:txBody>
      </p:sp>
    </p:spTree>
    <p:extLst>
      <p:ext uri="{BB962C8B-B14F-4D97-AF65-F5344CB8AC3E}">
        <p14:creationId xmlns:p14="http://schemas.microsoft.com/office/powerpoint/2010/main" val="736832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292A1-4CD7-A86D-00D8-560348380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47589"/>
            <a:ext cx="9603275" cy="607592"/>
          </a:xfrm>
        </p:spPr>
        <p:txBody>
          <a:bodyPr/>
          <a:lstStyle/>
          <a:p>
            <a:r>
              <a:rPr lang="en-US" dirty="0"/>
              <a:t>What does “conclusory” mean?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03D4C-8915-C560-D318-910573787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710407" cy="4037749"/>
          </a:xfrm>
        </p:spPr>
        <p:txBody>
          <a:bodyPr>
            <a:normAutofit fontScale="92500" lnSpcReduction="20000"/>
          </a:bodyPr>
          <a:lstStyle/>
          <a:p>
            <a:pPr>
              <a:spcAft>
                <a:spcPts val="1200"/>
              </a:spcAft>
            </a:pPr>
            <a:r>
              <a:rPr lang="en-US" sz="3200" dirty="0"/>
              <a:t>A “conclusory” statement in a Complaint is one that alleges a </a:t>
            </a:r>
            <a:r>
              <a:rPr lang="en-US" sz="3200" u="sng" dirty="0"/>
              <a:t>legal conclusion</a:t>
            </a:r>
            <a:r>
              <a:rPr lang="en-US" sz="3200" dirty="0"/>
              <a:t> as a </a:t>
            </a:r>
            <a:r>
              <a:rPr lang="en-US" sz="3200" u="sng" dirty="0"/>
              <a:t>fact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“The defendant was negligent” is conclusory—it isn’t a </a:t>
            </a:r>
            <a:r>
              <a:rPr lang="en-US" sz="3200" u="sng" dirty="0"/>
              <a:t>fact</a:t>
            </a:r>
            <a:r>
              <a:rPr lang="en-US" sz="3200" dirty="0"/>
              <a:t> that the defendant was negligent, it’s a legal conclusion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But it isn’t conclusory to say, “The defendant was texting while driving, which is negligent”—that gives the </a:t>
            </a:r>
            <a:r>
              <a:rPr lang="en-US" sz="3200" u="sng" dirty="0"/>
              <a:t>facts</a:t>
            </a:r>
            <a:r>
              <a:rPr lang="en-US" sz="3200" dirty="0"/>
              <a:t> that allegedly lead to the legal </a:t>
            </a:r>
            <a:r>
              <a:rPr lang="en-US" sz="3200" u="sng" dirty="0"/>
              <a:t>conclusion</a:t>
            </a:r>
            <a:r>
              <a:rPr lang="en-US" sz="3200" dirty="0"/>
              <a:t> of negligence</a:t>
            </a:r>
          </a:p>
        </p:txBody>
      </p:sp>
    </p:spTree>
    <p:extLst>
      <p:ext uri="{BB962C8B-B14F-4D97-AF65-F5344CB8AC3E}">
        <p14:creationId xmlns:p14="http://schemas.microsoft.com/office/powerpoint/2010/main" val="1802238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3E9FA-7885-366F-B468-EF21FB47A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61C91-70B2-8CD4-5A84-C5273D95F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Are the following complaints “plausible”?</a:t>
            </a:r>
          </a:p>
        </p:txBody>
      </p:sp>
    </p:spTree>
    <p:extLst>
      <p:ext uri="{BB962C8B-B14F-4D97-AF65-F5344CB8AC3E}">
        <p14:creationId xmlns:p14="http://schemas.microsoft.com/office/powerpoint/2010/main" val="349868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5F99-391F-610E-A0D8-1EF7A7577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09320"/>
            <a:ext cx="9603275" cy="624888"/>
          </a:xfrm>
        </p:spPr>
        <p:txBody>
          <a:bodyPr/>
          <a:lstStyle/>
          <a:p>
            <a:r>
              <a:rPr lang="en-US" dirty="0"/>
              <a:t>Complaint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FF4DB-0440-A625-4B48-087712250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1. The defendant stole my property.</a:t>
            </a:r>
          </a:p>
          <a:p>
            <a:pPr marL="0" indent="0">
              <a:buNone/>
            </a:pPr>
            <a:r>
              <a:rPr lang="en-US" sz="3200" dirty="0"/>
              <a:t>2. I request $1,000 damages.</a:t>
            </a:r>
          </a:p>
        </p:txBody>
      </p:sp>
    </p:spTree>
    <p:extLst>
      <p:ext uri="{BB962C8B-B14F-4D97-AF65-F5344CB8AC3E}">
        <p14:creationId xmlns:p14="http://schemas.microsoft.com/office/powerpoint/2010/main" val="1149423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5F99-391F-610E-A0D8-1EF7A7577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61546"/>
            <a:ext cx="9603275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complaint B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FF4DB-0440-A625-4B48-087712250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1. On March 1, 2023, the defendant stole my property.</a:t>
            </a:r>
          </a:p>
          <a:p>
            <a:pPr marL="0" indent="0">
              <a:buNone/>
            </a:pPr>
            <a:r>
              <a:rPr lang="en-US" sz="3200" dirty="0"/>
              <a:t>2. I request $1,000 damages.</a:t>
            </a:r>
          </a:p>
        </p:txBody>
      </p:sp>
    </p:spTree>
    <p:extLst>
      <p:ext uri="{BB962C8B-B14F-4D97-AF65-F5344CB8AC3E}">
        <p14:creationId xmlns:p14="http://schemas.microsoft.com/office/powerpoint/2010/main" val="2629153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5F99-391F-610E-A0D8-1EF7A7577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30340"/>
            <a:ext cx="9603275" cy="593357"/>
          </a:xfrm>
        </p:spPr>
        <p:txBody>
          <a:bodyPr/>
          <a:lstStyle/>
          <a:p>
            <a:r>
              <a:rPr lang="en-US" dirty="0"/>
              <a:t>Complaint 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FF4DB-0440-A625-4B48-087712250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1. On March 1, 2023, the defendant took my computer.</a:t>
            </a:r>
          </a:p>
          <a:p>
            <a:pPr marL="0" indent="0">
              <a:buNone/>
            </a:pPr>
            <a:r>
              <a:rPr lang="en-US" sz="3200" dirty="0"/>
              <a:t>2. I request $1,000 damages for this theft.</a:t>
            </a:r>
          </a:p>
        </p:txBody>
      </p:sp>
    </p:spTree>
    <p:extLst>
      <p:ext uri="{BB962C8B-B14F-4D97-AF65-F5344CB8AC3E}">
        <p14:creationId xmlns:p14="http://schemas.microsoft.com/office/powerpoint/2010/main" val="2904763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5F99-391F-610E-A0D8-1EF7A7577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14727"/>
            <a:ext cx="9603275" cy="687950"/>
          </a:xfrm>
        </p:spPr>
        <p:txBody>
          <a:bodyPr/>
          <a:lstStyle/>
          <a:p>
            <a:r>
              <a:rPr lang="en-US" dirty="0"/>
              <a:t>Complaint 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FF4DB-0440-A625-4B48-087712250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1. On March 1, 2023, the defendant entered my office.</a:t>
            </a:r>
          </a:p>
          <a:p>
            <a:pPr marL="0" indent="0">
              <a:buNone/>
            </a:pPr>
            <a:r>
              <a:rPr lang="en-US" sz="3200" dirty="0"/>
              <a:t>2. The defendant then took my computer without my permission and departed.</a:t>
            </a:r>
          </a:p>
          <a:p>
            <a:pPr marL="0" indent="0">
              <a:buNone/>
            </a:pPr>
            <a:r>
              <a:rPr lang="en-US" sz="3200" dirty="0"/>
              <a:t>3. Defendant has refused to return my computer when I have asked, so I need to buy a new computer for $1,000.</a:t>
            </a:r>
          </a:p>
          <a:p>
            <a:pPr marL="0" indent="0">
              <a:buNone/>
            </a:pPr>
            <a:r>
              <a:rPr lang="en-US" sz="3200" dirty="0"/>
              <a:t>4. I request $1,000 damages for this theft.</a:t>
            </a:r>
          </a:p>
        </p:txBody>
      </p:sp>
    </p:spTree>
    <p:extLst>
      <p:ext uri="{BB962C8B-B14F-4D97-AF65-F5344CB8AC3E}">
        <p14:creationId xmlns:p14="http://schemas.microsoft.com/office/powerpoint/2010/main" val="3585139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97DFA-DFCE-3F32-32A4-625C46361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16149"/>
            <a:ext cx="9603275" cy="751012"/>
          </a:xfrm>
        </p:spPr>
        <p:txBody>
          <a:bodyPr/>
          <a:lstStyle/>
          <a:p>
            <a:r>
              <a:rPr lang="en-US" dirty="0"/>
              <a:t>Plausibility Pleading—</a:t>
            </a:r>
            <a:r>
              <a:rPr lang="en-US" i="1" dirty="0"/>
              <a:t>Iqbal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7F552-712C-3178-D025-2198221F5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8227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3200" dirty="0"/>
              <a:t>The plausibility standard is trans-substantive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I.e., it applies “for all civil actions,” with all types of substantive claims, not just antitrust cases like </a:t>
            </a:r>
            <a:r>
              <a:rPr lang="en-US" sz="3200" i="1" dirty="0"/>
              <a:t>Twombly</a:t>
            </a:r>
            <a:endParaRPr lang="en-US" sz="3200" dirty="0"/>
          </a:p>
          <a:p>
            <a:pPr>
              <a:spcAft>
                <a:spcPts val="1200"/>
              </a:spcAft>
            </a:pPr>
            <a:r>
              <a:rPr lang="en-US" sz="3200" dirty="0"/>
              <a:t>So for all civil cases, the Complaint must meet the plausibility standard</a:t>
            </a:r>
          </a:p>
        </p:txBody>
      </p:sp>
    </p:spTree>
    <p:extLst>
      <p:ext uri="{BB962C8B-B14F-4D97-AF65-F5344CB8AC3E}">
        <p14:creationId xmlns:p14="http://schemas.microsoft.com/office/powerpoint/2010/main" val="4159630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97DFA-DFCE-3F32-32A4-625C46361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16149"/>
            <a:ext cx="9603275" cy="751012"/>
          </a:xfrm>
        </p:spPr>
        <p:txBody>
          <a:bodyPr/>
          <a:lstStyle/>
          <a:p>
            <a:r>
              <a:rPr lang="en-US" dirty="0"/>
              <a:t>Plausibility Pleading—</a:t>
            </a:r>
            <a:r>
              <a:rPr lang="en-US" i="1" dirty="0"/>
              <a:t>Iqbal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7F552-712C-3178-D025-2198221F5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8227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3200" dirty="0"/>
              <a:t>The pleading standard “does not require detailed factual allegations, but it demands more than an unadorned, the-defendant-unlawfully-harmed-me accusation. A pleading that offers labels and conclusions or a formulaic recitation of the elements of a cause of action will not do,” need some “factual enhancement”</a:t>
            </a:r>
          </a:p>
        </p:txBody>
      </p:sp>
    </p:spTree>
    <p:extLst>
      <p:ext uri="{BB962C8B-B14F-4D97-AF65-F5344CB8AC3E}">
        <p14:creationId xmlns:p14="http://schemas.microsoft.com/office/powerpoint/2010/main" val="2486143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97DFA-DFCE-3F32-32A4-625C46361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16149"/>
            <a:ext cx="9603275" cy="751012"/>
          </a:xfrm>
        </p:spPr>
        <p:txBody>
          <a:bodyPr/>
          <a:lstStyle/>
          <a:p>
            <a:r>
              <a:rPr lang="en-US" dirty="0"/>
              <a:t>Plausibility Pleading—</a:t>
            </a:r>
            <a:r>
              <a:rPr lang="en-US" i="1" dirty="0"/>
              <a:t>Iqbal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7F552-712C-3178-D025-2198221F5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961059" cy="4038227"/>
          </a:xfrm>
        </p:spPr>
        <p:txBody>
          <a:bodyPr>
            <a:normAutofit fontScale="85000" lnSpcReduction="10000"/>
          </a:bodyPr>
          <a:lstStyle/>
          <a:p>
            <a:pPr>
              <a:spcAft>
                <a:spcPts val="1200"/>
              </a:spcAft>
            </a:pPr>
            <a:r>
              <a:rPr lang="en-US" sz="3200" dirty="0"/>
              <a:t>“begin by identifying pleadings that” are only conclusory, which “are not entitled to the assumption of truth”;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“When there are well-pleaded </a:t>
            </a:r>
            <a:r>
              <a:rPr lang="en-US" sz="3200" u="sng" dirty="0"/>
              <a:t>factual</a:t>
            </a:r>
            <a:r>
              <a:rPr lang="en-US" sz="3200" dirty="0"/>
              <a:t> allegations, a court should </a:t>
            </a:r>
            <a:r>
              <a:rPr lang="en-US" sz="3200" u="sng" dirty="0"/>
              <a:t>assume their veracity</a:t>
            </a:r>
            <a:r>
              <a:rPr lang="en-US" sz="3200" dirty="0"/>
              <a:t> and then determine whether they plausibly give rise to an entitlement to relief”</a:t>
            </a:r>
          </a:p>
          <a:p>
            <a:pPr>
              <a:spcAft>
                <a:spcPts val="1200"/>
              </a:spcAft>
            </a:pPr>
            <a:r>
              <a:rPr lang="en-US" sz="3200" dirty="0"/>
              <a:t>So: (A) set aside conclusory allegations, (B) assume all factual allegations are true, and ask if those facts could lead to legal liability</a:t>
            </a:r>
          </a:p>
        </p:txBody>
      </p:sp>
    </p:spTree>
    <p:extLst>
      <p:ext uri="{BB962C8B-B14F-4D97-AF65-F5344CB8AC3E}">
        <p14:creationId xmlns:p14="http://schemas.microsoft.com/office/powerpoint/2010/main" val="2507191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80C2A-1F27-FD54-E625-01D558AD9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Takeaways</a:t>
            </a:r>
          </a:p>
        </p:txBody>
      </p:sp>
    </p:spTree>
    <p:extLst>
      <p:ext uri="{BB962C8B-B14F-4D97-AF65-F5344CB8AC3E}">
        <p14:creationId xmlns:p14="http://schemas.microsoft.com/office/powerpoint/2010/main" val="1831846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8B4CD-C092-C55F-56AF-B10F1F9C4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35746"/>
            <a:ext cx="9603275" cy="719481"/>
          </a:xfrm>
        </p:spPr>
        <p:txBody>
          <a:bodyPr/>
          <a:lstStyle/>
          <a:p>
            <a:r>
              <a:rPr lang="en-US" dirty="0"/>
              <a:t>Takeaways: Plausibility Pleading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7F25B-9114-B2D9-C115-162BBE6AC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91082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/>
              <a:t>The Complaint does not need to have exhaustive factual detail</a:t>
            </a:r>
          </a:p>
          <a:p>
            <a:r>
              <a:rPr lang="en-US" sz="3200" dirty="0"/>
              <a:t>But it must allege sufficient facts—if we assume those facts are true—to make it “plausible” that the pleader is entitled to relief</a:t>
            </a:r>
          </a:p>
          <a:p>
            <a:r>
              <a:rPr lang="en-US" sz="3200" dirty="0"/>
              <a:t>Mere legal “conclusions” “will not do”—no “conclusory” statements</a:t>
            </a:r>
          </a:p>
        </p:txBody>
      </p:sp>
    </p:spTree>
    <p:extLst>
      <p:ext uri="{BB962C8B-B14F-4D97-AF65-F5344CB8AC3E}">
        <p14:creationId xmlns:p14="http://schemas.microsoft.com/office/powerpoint/2010/main" val="3446697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3480</TotalTime>
  <Words>829</Words>
  <Application>Microsoft Macintosh PowerPoint</Application>
  <PresentationFormat>Widescreen</PresentationFormat>
  <Paragraphs>64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Candara</vt:lpstr>
      <vt:lpstr>Gill Sans MT</vt:lpstr>
      <vt:lpstr>Wingdings</vt:lpstr>
      <vt:lpstr>Gallery</vt:lpstr>
      <vt:lpstr>Civil Procedure</vt:lpstr>
      <vt:lpstr>Agenda</vt:lpstr>
      <vt:lpstr>I. Recap</vt:lpstr>
      <vt:lpstr>FRCP Rules for the Complaint</vt:lpstr>
      <vt:lpstr>Sufficiency of the Complaint—Conley</vt:lpstr>
      <vt:lpstr>Sufficiency of the Complaint—Conley</vt:lpstr>
      <vt:lpstr>II. The Pleading Standard</vt:lpstr>
      <vt:lpstr>Plausibility Pleading—Twombly</vt:lpstr>
      <vt:lpstr>Plausibility Pleading—Twombly</vt:lpstr>
      <vt:lpstr>What does “conclusory” mean?</vt:lpstr>
      <vt:lpstr>hypos</vt:lpstr>
      <vt:lpstr>Complaint A</vt:lpstr>
      <vt:lpstr>complaint B </vt:lpstr>
      <vt:lpstr>Complaint C</vt:lpstr>
      <vt:lpstr>Complaint D</vt:lpstr>
      <vt:lpstr>Plausibility Pleading—Iqbal</vt:lpstr>
      <vt:lpstr>Plausibility Pleading—Iqbal</vt:lpstr>
      <vt:lpstr>Plausibility Pleading—Iqbal</vt:lpstr>
      <vt:lpstr>III. Takeaways</vt:lpstr>
      <vt:lpstr>Takeaways: Plausibility Pleading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Lanham</dc:creator>
  <cp:lastModifiedBy>Lanham, Andrew J</cp:lastModifiedBy>
  <cp:revision>210</cp:revision>
  <dcterms:created xsi:type="dcterms:W3CDTF">2024-08-16T15:30:55Z</dcterms:created>
  <dcterms:modified xsi:type="dcterms:W3CDTF">2026-09-03T16:50:06Z</dcterms:modified>
</cp:coreProperties>
</file>