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9" r:id="rId4"/>
    <p:sldId id="381" r:id="rId5"/>
    <p:sldId id="394" r:id="rId6"/>
    <p:sldId id="393" r:id="rId7"/>
    <p:sldId id="390" r:id="rId8"/>
    <p:sldId id="389" r:id="rId9"/>
    <p:sldId id="391" r:id="rId10"/>
    <p:sldId id="396" r:id="rId11"/>
    <p:sldId id="370" r:id="rId12"/>
    <p:sldId id="375" r:id="rId13"/>
    <p:sldId id="379" r:id="rId14"/>
    <p:sldId id="380" r:id="rId15"/>
    <p:sldId id="386" r:id="rId16"/>
    <p:sldId id="387" r:id="rId17"/>
    <p:sldId id="395" r:id="rId18"/>
    <p:sldId id="388" r:id="rId19"/>
    <p:sldId id="382" r:id="rId20"/>
    <p:sldId id="383" r:id="rId21"/>
    <p:sldId id="384" r:id="rId22"/>
    <p:sldId id="38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475"/>
  </p:normalViewPr>
  <p:slideViewPr>
    <p:cSldViewPr snapToGrid="0">
      <p:cViewPr varScale="1">
        <p:scale>
          <a:sx n="76" d="100"/>
          <a:sy n="76" d="100"/>
        </p:scale>
        <p:origin x="216"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9/8/26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B1A86BF-6829-5045-A663-F100E0247FC7}"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484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6983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C36C72-0B33-0A48-B3F4-90C09BB8A580}"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8794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C36C72-0B33-0A48-B3F4-90C09BB8A580}" type="datetimeFigureOut">
              <a:rPr lang="en-US" smtClean="0"/>
              <a:t>9/8/26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4900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C36C72-0B33-0A48-B3F4-90C09BB8A580}" type="datetimeFigureOut">
              <a:rPr lang="en-US" smtClean="0"/>
              <a:t>9/8/26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1A86BF-6829-5045-A663-F100E0247FC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7720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C36C72-0B33-0A48-B3F4-90C09BB8A580}" type="datetimeFigureOut">
              <a:rPr lang="en-US" smtClean="0"/>
              <a:t>9/8/26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1A86BF-6829-5045-A663-F100E0247FC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721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C36C72-0B33-0A48-B3F4-90C09BB8A580}" type="datetimeFigureOut">
              <a:rPr lang="en-US" smtClean="0"/>
              <a:t>9/8/26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1A86BF-6829-5045-A663-F100E0247FC7}" type="slidenum">
              <a:rPr lang="en-US" smtClean="0"/>
              <a:t>‹#›</a:t>
            </a:fld>
            <a:endParaRPr lang="en-US"/>
          </a:p>
        </p:txBody>
      </p:sp>
    </p:spTree>
    <p:extLst>
      <p:ext uri="{BB962C8B-B14F-4D97-AF65-F5344CB8AC3E}">
        <p14:creationId xmlns:p14="http://schemas.microsoft.com/office/powerpoint/2010/main" val="444876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C36C72-0B33-0A48-B3F4-90C09BB8A580}" type="datetimeFigureOut">
              <a:rPr lang="en-US" smtClean="0"/>
              <a:t>9/8/26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00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DC36C72-0B33-0A48-B3F4-90C09BB8A580}" type="datetimeFigureOut">
              <a:rPr lang="en-US" smtClean="0"/>
              <a:t>9/8/26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736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5109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831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DC36C72-0B33-0A48-B3F4-90C09BB8A580}" type="datetimeFigureOut">
              <a:rPr lang="en-US" smtClean="0"/>
              <a:t>9/8/26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B1A86BF-6829-5045-A663-F100E0247FC7}"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9316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E135C-E1F7-457C-793B-6F84BBEA4FB1}"/>
              </a:ext>
            </a:extLst>
          </p:cNvPr>
          <p:cNvSpPr>
            <a:spLocks noGrp="1"/>
          </p:cNvSpPr>
          <p:nvPr>
            <p:ph type="ctrTitle"/>
          </p:nvPr>
        </p:nvSpPr>
        <p:spPr/>
        <p:txBody>
          <a:bodyPr/>
          <a:lstStyle/>
          <a:p>
            <a:r>
              <a:rPr lang="en-US" dirty="0"/>
              <a:t>Civil Procedure</a:t>
            </a:r>
          </a:p>
        </p:txBody>
      </p:sp>
      <p:sp>
        <p:nvSpPr>
          <p:cNvPr id="3" name="Subtitle 2">
            <a:extLst>
              <a:ext uri="{FF2B5EF4-FFF2-40B4-BE49-F238E27FC236}">
                <a16:creationId xmlns:a16="http://schemas.microsoft.com/office/drawing/2014/main" id="{8F6D2300-46B5-4ED8-98CD-7D18437CEC22}"/>
              </a:ext>
            </a:extLst>
          </p:cNvPr>
          <p:cNvSpPr>
            <a:spLocks noGrp="1"/>
          </p:cNvSpPr>
          <p:nvPr>
            <p:ph type="subTitle" idx="1"/>
          </p:nvPr>
        </p:nvSpPr>
        <p:spPr>
          <a:xfrm>
            <a:off x="2417780" y="3646951"/>
            <a:ext cx="8637072" cy="977621"/>
          </a:xfrm>
        </p:spPr>
        <p:txBody>
          <a:bodyPr>
            <a:normAutofit/>
          </a:bodyPr>
          <a:lstStyle/>
          <a:p>
            <a:r>
              <a:rPr lang="en-US" sz="3600" dirty="0">
                <a:latin typeface="Candara" panose="020E0502030303020204" pitchFamily="34" charset="0"/>
              </a:rPr>
              <a:t>Class 8</a:t>
            </a:r>
          </a:p>
        </p:txBody>
      </p:sp>
    </p:spTree>
    <p:extLst>
      <p:ext uri="{BB962C8B-B14F-4D97-AF65-F5344CB8AC3E}">
        <p14:creationId xmlns:p14="http://schemas.microsoft.com/office/powerpoint/2010/main" val="274471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867AE-F040-67B6-9446-8FC8AA2B77C8}"/>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B92D890-1782-3B9A-A9EE-7CCC33ACBBE4}"/>
              </a:ext>
            </a:extLst>
          </p:cNvPr>
          <p:cNvSpPr>
            <a:spLocks noGrp="1"/>
          </p:cNvSpPr>
          <p:nvPr>
            <p:ph idx="1"/>
          </p:nvPr>
        </p:nvSpPr>
        <p:spPr>
          <a:xfrm>
            <a:off x="1451579" y="2015732"/>
            <a:ext cx="9603275" cy="3933655"/>
          </a:xfrm>
        </p:spPr>
        <p:txBody>
          <a:bodyPr>
            <a:normAutofit/>
          </a:bodyPr>
          <a:lstStyle/>
          <a:p>
            <a:pPr marL="514350" indent="-514350">
              <a:buFont typeface="+mj-lt"/>
              <a:buAutoNum type="romanUcPeriod"/>
            </a:pPr>
            <a:r>
              <a:rPr lang="en-US" sz="3200" dirty="0"/>
              <a:t>Recap</a:t>
            </a:r>
          </a:p>
          <a:p>
            <a:pPr marL="514350" indent="-514350">
              <a:buFont typeface="+mj-lt"/>
              <a:buAutoNum type="romanUcPeriod"/>
            </a:pPr>
            <a:r>
              <a:rPr lang="en-US" sz="3200" dirty="0"/>
              <a:t>Pleading in the Alternative</a:t>
            </a:r>
          </a:p>
          <a:p>
            <a:pPr marL="514350" indent="-514350">
              <a:buFont typeface="+mj-lt"/>
              <a:buAutoNum type="romanUcPeriod"/>
            </a:pPr>
            <a:r>
              <a:rPr lang="en-US" sz="3200" dirty="0"/>
              <a:t>Rule 11 Sanctions</a:t>
            </a:r>
          </a:p>
          <a:p>
            <a:pPr marL="514350" indent="-514350">
              <a:buFont typeface="+mj-lt"/>
              <a:buAutoNum type="romanUcPeriod"/>
            </a:pPr>
            <a:r>
              <a:rPr lang="en-US" sz="3200" dirty="0"/>
              <a:t>Heightened Pleading Standards</a:t>
            </a:r>
          </a:p>
          <a:p>
            <a:pPr marL="514350" indent="-514350">
              <a:buFont typeface="+mj-lt"/>
              <a:buAutoNum type="romanUcPeriod"/>
            </a:pPr>
            <a:r>
              <a:rPr lang="en-US" sz="3200"/>
              <a:t>Takeaways</a:t>
            </a:r>
            <a:endParaRPr lang="en-US" sz="3200" dirty="0"/>
          </a:p>
        </p:txBody>
      </p:sp>
    </p:spTree>
    <p:extLst>
      <p:ext uri="{BB962C8B-B14F-4D97-AF65-F5344CB8AC3E}">
        <p14:creationId xmlns:p14="http://schemas.microsoft.com/office/powerpoint/2010/main" val="168983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288D4-5A9B-0E41-96DF-5AA7E5E3CFAC}"/>
              </a:ext>
            </a:extLst>
          </p:cNvPr>
          <p:cNvSpPr>
            <a:spLocks noGrp="1"/>
          </p:cNvSpPr>
          <p:nvPr>
            <p:ph type="title"/>
          </p:nvPr>
        </p:nvSpPr>
        <p:spPr/>
        <p:txBody>
          <a:bodyPr/>
          <a:lstStyle/>
          <a:p>
            <a:r>
              <a:rPr lang="en-US" dirty="0"/>
              <a:t>I. Recap</a:t>
            </a:r>
          </a:p>
        </p:txBody>
      </p:sp>
    </p:spTree>
    <p:extLst>
      <p:ext uri="{BB962C8B-B14F-4D97-AF65-F5344CB8AC3E}">
        <p14:creationId xmlns:p14="http://schemas.microsoft.com/office/powerpoint/2010/main" val="3053693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C7AD-0F59-812E-3580-4E6C249DFF4D}"/>
              </a:ext>
            </a:extLst>
          </p:cNvPr>
          <p:cNvSpPr>
            <a:spLocks noGrp="1"/>
          </p:cNvSpPr>
          <p:nvPr>
            <p:ph type="title"/>
          </p:nvPr>
        </p:nvSpPr>
        <p:spPr>
          <a:xfrm>
            <a:off x="1378007" y="1098087"/>
            <a:ext cx="9603275" cy="587136"/>
          </a:xfrm>
        </p:spPr>
        <p:txBody>
          <a:bodyPr/>
          <a:lstStyle/>
          <a:p>
            <a:r>
              <a:rPr lang="en-US" dirty="0"/>
              <a:t>Recap on Plausibility Pleading</a:t>
            </a:r>
          </a:p>
        </p:txBody>
      </p:sp>
      <p:sp>
        <p:nvSpPr>
          <p:cNvPr id="3" name="Content Placeholder 2">
            <a:extLst>
              <a:ext uri="{FF2B5EF4-FFF2-40B4-BE49-F238E27FC236}">
                <a16:creationId xmlns:a16="http://schemas.microsoft.com/office/drawing/2014/main" id="{4179013C-7DEE-E18E-92E7-D761EE5E1482}"/>
              </a:ext>
            </a:extLst>
          </p:cNvPr>
          <p:cNvSpPr>
            <a:spLocks noGrp="1"/>
          </p:cNvSpPr>
          <p:nvPr>
            <p:ph idx="1"/>
          </p:nvPr>
        </p:nvSpPr>
        <p:spPr>
          <a:xfrm>
            <a:off x="1451579" y="2015732"/>
            <a:ext cx="9603275" cy="4006696"/>
          </a:xfrm>
        </p:spPr>
        <p:txBody>
          <a:bodyPr>
            <a:normAutofit/>
          </a:bodyPr>
          <a:lstStyle/>
          <a:p>
            <a:pPr>
              <a:spcAft>
                <a:spcPts val="1200"/>
              </a:spcAft>
            </a:pPr>
            <a:r>
              <a:rPr lang="en-US" sz="3200" dirty="0"/>
              <a:t>Complaint must plead enough facts, if we assume those facts are true, to raise a “plausible” claim (</a:t>
            </a:r>
            <a:r>
              <a:rPr lang="en-US" sz="3200" i="1" dirty="0"/>
              <a:t>Twombly</a:t>
            </a:r>
            <a:r>
              <a:rPr lang="en-US" sz="3200" dirty="0"/>
              <a:t>)</a:t>
            </a:r>
          </a:p>
          <a:p>
            <a:pPr>
              <a:spcAft>
                <a:spcPts val="1200"/>
              </a:spcAft>
            </a:pPr>
            <a:r>
              <a:rPr lang="en-US" sz="3200" dirty="0"/>
              <a:t>“Conclusory” allegations aren’t enough (</a:t>
            </a:r>
            <a:r>
              <a:rPr lang="en-US" sz="3200" i="1" dirty="0"/>
              <a:t>Twombly</a:t>
            </a:r>
            <a:r>
              <a:rPr lang="en-US" sz="3200" dirty="0"/>
              <a:t>)</a:t>
            </a:r>
          </a:p>
          <a:p>
            <a:pPr>
              <a:spcAft>
                <a:spcPts val="1200"/>
              </a:spcAft>
            </a:pPr>
            <a:r>
              <a:rPr lang="en-US" sz="3200" dirty="0"/>
              <a:t>But Complaint doesn’t have to “invoke [the exact law] expressly in order to state a claim” (</a:t>
            </a:r>
            <a:r>
              <a:rPr lang="en-US" sz="3200" i="1" dirty="0"/>
              <a:t>Johnson</a:t>
            </a:r>
            <a:r>
              <a:rPr lang="en-US" sz="3200" dirty="0"/>
              <a:t>)</a:t>
            </a:r>
          </a:p>
        </p:txBody>
      </p:sp>
    </p:spTree>
    <p:extLst>
      <p:ext uri="{BB962C8B-B14F-4D97-AF65-F5344CB8AC3E}">
        <p14:creationId xmlns:p14="http://schemas.microsoft.com/office/powerpoint/2010/main" val="3100984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C7AD-0F59-812E-3580-4E6C249DFF4D}"/>
              </a:ext>
            </a:extLst>
          </p:cNvPr>
          <p:cNvSpPr>
            <a:spLocks noGrp="1"/>
          </p:cNvSpPr>
          <p:nvPr>
            <p:ph type="title"/>
          </p:nvPr>
        </p:nvSpPr>
        <p:spPr>
          <a:xfrm>
            <a:off x="1378007" y="1098087"/>
            <a:ext cx="9603275" cy="587136"/>
          </a:xfrm>
        </p:spPr>
        <p:txBody>
          <a:bodyPr/>
          <a:lstStyle/>
          <a:p>
            <a:r>
              <a:rPr lang="en-US" dirty="0"/>
              <a:t>Recap on Plausibility Pleading</a:t>
            </a:r>
          </a:p>
        </p:txBody>
      </p:sp>
      <p:sp>
        <p:nvSpPr>
          <p:cNvPr id="3" name="Content Placeholder 2">
            <a:extLst>
              <a:ext uri="{FF2B5EF4-FFF2-40B4-BE49-F238E27FC236}">
                <a16:creationId xmlns:a16="http://schemas.microsoft.com/office/drawing/2014/main" id="{4179013C-7DEE-E18E-92E7-D761EE5E1482}"/>
              </a:ext>
            </a:extLst>
          </p:cNvPr>
          <p:cNvSpPr>
            <a:spLocks noGrp="1"/>
          </p:cNvSpPr>
          <p:nvPr>
            <p:ph idx="1"/>
          </p:nvPr>
        </p:nvSpPr>
        <p:spPr>
          <a:xfrm>
            <a:off x="1451579" y="2135002"/>
            <a:ext cx="9603275" cy="3744181"/>
          </a:xfrm>
        </p:spPr>
        <p:txBody>
          <a:bodyPr>
            <a:normAutofit fontScale="92500" lnSpcReduction="20000"/>
          </a:bodyPr>
          <a:lstStyle/>
          <a:p>
            <a:pPr>
              <a:spcAft>
                <a:spcPts val="2400"/>
              </a:spcAft>
            </a:pPr>
            <a:r>
              <a:rPr lang="en-US" sz="3200" dirty="0"/>
              <a:t>Can reach “plausibility” with circumstantial evidence,</a:t>
            </a:r>
          </a:p>
          <a:p>
            <a:pPr>
              <a:spcAft>
                <a:spcPts val="2400"/>
              </a:spcAft>
            </a:pPr>
            <a:r>
              <a:rPr lang="en-US" sz="3200" dirty="0"/>
              <a:t>If the circumstantial factual allegations, assumed to be true, are enough to </a:t>
            </a:r>
            <a:r>
              <a:rPr lang="en-US" sz="3200" u="sng" dirty="0"/>
              <a:t>infer</a:t>
            </a:r>
            <a:r>
              <a:rPr lang="en-US" sz="3200" dirty="0"/>
              <a:t> wrongdoing (</a:t>
            </a:r>
            <a:r>
              <a:rPr lang="en-US" sz="3200" i="1" dirty="0"/>
              <a:t>Text Messaging</a:t>
            </a:r>
            <a:r>
              <a:rPr lang="en-US" sz="3200" dirty="0"/>
              <a:t>)</a:t>
            </a:r>
          </a:p>
          <a:p>
            <a:pPr>
              <a:spcAft>
                <a:spcPts val="2400"/>
              </a:spcAft>
            </a:pPr>
            <a:r>
              <a:rPr lang="en-US" sz="3200" dirty="0"/>
              <a:t>Doesn’t have to be the </a:t>
            </a:r>
            <a:r>
              <a:rPr lang="en-US" sz="3200" u="sng" dirty="0"/>
              <a:t>most likely</a:t>
            </a:r>
            <a:r>
              <a:rPr lang="en-US" sz="3200" dirty="0"/>
              <a:t> inference, as long as it’s a </a:t>
            </a:r>
            <a:r>
              <a:rPr lang="en-US" sz="3200" u="sng" dirty="0"/>
              <a:t>plausible</a:t>
            </a:r>
            <a:r>
              <a:rPr lang="en-US" sz="3200" dirty="0"/>
              <a:t> one (</a:t>
            </a:r>
            <a:r>
              <a:rPr lang="en-US" sz="3200" i="1" dirty="0"/>
              <a:t>Swanson</a:t>
            </a:r>
            <a:r>
              <a:rPr lang="en-US" sz="3200" dirty="0"/>
              <a:t>)</a:t>
            </a:r>
          </a:p>
          <a:p>
            <a:endParaRPr lang="en-US" sz="3200" dirty="0"/>
          </a:p>
        </p:txBody>
      </p:sp>
    </p:spTree>
    <p:extLst>
      <p:ext uri="{BB962C8B-B14F-4D97-AF65-F5344CB8AC3E}">
        <p14:creationId xmlns:p14="http://schemas.microsoft.com/office/powerpoint/2010/main" val="3106077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75F99-391F-610E-A0D8-1EF7A75778CC}"/>
              </a:ext>
            </a:extLst>
          </p:cNvPr>
          <p:cNvSpPr>
            <a:spLocks noGrp="1"/>
          </p:cNvSpPr>
          <p:nvPr>
            <p:ph type="title"/>
          </p:nvPr>
        </p:nvSpPr>
        <p:spPr>
          <a:xfrm>
            <a:off x="1451580" y="1025237"/>
            <a:ext cx="9603275" cy="740501"/>
          </a:xfrm>
        </p:spPr>
        <p:txBody>
          <a:bodyPr/>
          <a:lstStyle/>
          <a:p>
            <a:r>
              <a:rPr lang="en-US" dirty="0"/>
              <a:t>Hypo: Is this Complaint Plausible?</a:t>
            </a:r>
          </a:p>
        </p:txBody>
      </p:sp>
      <p:sp>
        <p:nvSpPr>
          <p:cNvPr id="3" name="Content Placeholder 2">
            <a:extLst>
              <a:ext uri="{FF2B5EF4-FFF2-40B4-BE49-F238E27FC236}">
                <a16:creationId xmlns:a16="http://schemas.microsoft.com/office/drawing/2014/main" id="{8CFFF4DB-0440-A625-4B48-08771225019F}"/>
              </a:ext>
            </a:extLst>
          </p:cNvPr>
          <p:cNvSpPr>
            <a:spLocks noGrp="1"/>
          </p:cNvSpPr>
          <p:nvPr>
            <p:ph idx="1"/>
          </p:nvPr>
        </p:nvSpPr>
        <p:spPr>
          <a:xfrm>
            <a:off x="1451580" y="2015732"/>
            <a:ext cx="9603274" cy="4037749"/>
          </a:xfrm>
        </p:spPr>
        <p:txBody>
          <a:bodyPr>
            <a:normAutofit fontScale="92500" lnSpcReduction="10000"/>
          </a:bodyPr>
          <a:lstStyle/>
          <a:p>
            <a:pPr marL="0" indent="0">
              <a:spcAft>
                <a:spcPts val="800"/>
              </a:spcAft>
              <a:buNone/>
            </a:pPr>
            <a:r>
              <a:rPr lang="en-US" sz="2800" dirty="0"/>
              <a:t>To win a claim for “constructive discharge,” an employee must show that their employer: (1) acted deliberately to (2) subject them to working conditions that a reasonable person would find intolerable. Imagine the relevant portion of a complaint says:</a:t>
            </a:r>
          </a:p>
          <a:p>
            <a:pPr marL="0" indent="0">
              <a:buNone/>
            </a:pPr>
            <a:r>
              <a:rPr lang="en-US" sz="2800" dirty="0"/>
              <a:t>“I am an accountant. A few months after I began work, suddenly I had to work in total darkness, while the worst music in the world was blasting from speakers. My employer deliberately created those conditions.”</a:t>
            </a:r>
          </a:p>
        </p:txBody>
      </p:sp>
    </p:spTree>
    <p:extLst>
      <p:ext uri="{BB962C8B-B14F-4D97-AF65-F5344CB8AC3E}">
        <p14:creationId xmlns:p14="http://schemas.microsoft.com/office/powerpoint/2010/main" val="673820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7F3D5-384C-E812-04A7-CFA8E704A887}"/>
              </a:ext>
            </a:extLst>
          </p:cNvPr>
          <p:cNvSpPr>
            <a:spLocks noGrp="1"/>
          </p:cNvSpPr>
          <p:nvPr>
            <p:ph type="title"/>
          </p:nvPr>
        </p:nvSpPr>
        <p:spPr/>
        <p:txBody>
          <a:bodyPr/>
          <a:lstStyle/>
          <a:p>
            <a:r>
              <a:rPr lang="en-US" dirty="0"/>
              <a:t>Answering Essay Questions</a:t>
            </a:r>
          </a:p>
        </p:txBody>
      </p:sp>
    </p:spTree>
    <p:extLst>
      <p:ext uri="{BB962C8B-B14F-4D97-AF65-F5344CB8AC3E}">
        <p14:creationId xmlns:p14="http://schemas.microsoft.com/office/powerpoint/2010/main" val="2733082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10E99-F38E-5AC6-881E-AD253C2A9D35}"/>
              </a:ext>
            </a:extLst>
          </p:cNvPr>
          <p:cNvSpPr>
            <a:spLocks noGrp="1"/>
          </p:cNvSpPr>
          <p:nvPr>
            <p:ph type="title"/>
          </p:nvPr>
        </p:nvSpPr>
        <p:spPr>
          <a:xfrm>
            <a:off x="1451579" y="1035772"/>
            <a:ext cx="9603275" cy="711765"/>
          </a:xfrm>
        </p:spPr>
        <p:txBody>
          <a:bodyPr/>
          <a:lstStyle/>
          <a:p>
            <a:r>
              <a:rPr lang="en-US" dirty="0"/>
              <a:t>Essay Question Style</a:t>
            </a:r>
          </a:p>
        </p:txBody>
      </p:sp>
      <p:sp>
        <p:nvSpPr>
          <p:cNvPr id="3" name="Content Placeholder 2">
            <a:extLst>
              <a:ext uri="{FF2B5EF4-FFF2-40B4-BE49-F238E27FC236}">
                <a16:creationId xmlns:a16="http://schemas.microsoft.com/office/drawing/2014/main" id="{8CC37881-5361-7CCC-0F78-07BF16373598}"/>
              </a:ext>
            </a:extLst>
          </p:cNvPr>
          <p:cNvSpPr>
            <a:spLocks noGrp="1"/>
          </p:cNvSpPr>
          <p:nvPr>
            <p:ph idx="1"/>
          </p:nvPr>
        </p:nvSpPr>
        <p:spPr>
          <a:xfrm>
            <a:off x="1451579" y="2015732"/>
            <a:ext cx="9603275" cy="4049402"/>
          </a:xfrm>
        </p:spPr>
        <p:txBody>
          <a:bodyPr>
            <a:normAutofit/>
          </a:bodyPr>
          <a:lstStyle/>
          <a:p>
            <a:r>
              <a:rPr lang="en-US" sz="2800" dirty="0"/>
              <a:t>I will give you a fact pattern and then ask a series of questions based on those facts, asking you to address the case at various stages in the litigation process</a:t>
            </a:r>
          </a:p>
          <a:p>
            <a:r>
              <a:rPr lang="en-US" sz="2800" dirty="0"/>
              <a:t>E.g., a question might ask you to apply the standard for “notice,” or to apply the “plausibility” standard to a hypothetical Complaint, or to apply the preliminary injunction test, etc.</a:t>
            </a:r>
          </a:p>
        </p:txBody>
      </p:sp>
    </p:spTree>
    <p:extLst>
      <p:ext uri="{BB962C8B-B14F-4D97-AF65-F5344CB8AC3E}">
        <p14:creationId xmlns:p14="http://schemas.microsoft.com/office/powerpoint/2010/main" val="668718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10E99-F38E-5AC6-881E-AD253C2A9D35}"/>
              </a:ext>
            </a:extLst>
          </p:cNvPr>
          <p:cNvSpPr>
            <a:spLocks noGrp="1"/>
          </p:cNvSpPr>
          <p:nvPr>
            <p:ph type="title"/>
          </p:nvPr>
        </p:nvSpPr>
        <p:spPr>
          <a:xfrm>
            <a:off x="1451579" y="1035772"/>
            <a:ext cx="9603275" cy="711765"/>
          </a:xfrm>
        </p:spPr>
        <p:txBody>
          <a:bodyPr/>
          <a:lstStyle/>
          <a:p>
            <a:r>
              <a:rPr lang="en-US" dirty="0"/>
              <a:t>Tips for drafting an answer:</a:t>
            </a:r>
          </a:p>
        </p:txBody>
      </p:sp>
      <p:sp>
        <p:nvSpPr>
          <p:cNvPr id="3" name="Content Placeholder 2">
            <a:extLst>
              <a:ext uri="{FF2B5EF4-FFF2-40B4-BE49-F238E27FC236}">
                <a16:creationId xmlns:a16="http://schemas.microsoft.com/office/drawing/2014/main" id="{8CC37881-5361-7CCC-0F78-07BF16373598}"/>
              </a:ext>
            </a:extLst>
          </p:cNvPr>
          <p:cNvSpPr>
            <a:spLocks noGrp="1"/>
          </p:cNvSpPr>
          <p:nvPr>
            <p:ph idx="1"/>
          </p:nvPr>
        </p:nvSpPr>
        <p:spPr>
          <a:xfrm>
            <a:off x="1451579" y="2015732"/>
            <a:ext cx="9603275" cy="4049402"/>
          </a:xfrm>
        </p:spPr>
        <p:txBody>
          <a:bodyPr>
            <a:normAutofit/>
          </a:bodyPr>
          <a:lstStyle/>
          <a:p>
            <a:pPr>
              <a:spcAft>
                <a:spcPts val="1200"/>
              </a:spcAft>
            </a:pPr>
            <a:r>
              <a:rPr lang="en-US" sz="2800" dirty="0"/>
              <a:t>Read the problem through carefully at least once, taking notes</a:t>
            </a:r>
          </a:p>
          <a:p>
            <a:pPr>
              <a:spcAft>
                <a:spcPts val="1200"/>
              </a:spcAft>
            </a:pPr>
            <a:r>
              <a:rPr lang="en-US" sz="2800" dirty="0"/>
              <a:t>Identify: (a) what the question is asking you; (b) what law you plan to apply; and (c) the key facts for applying that law to the case</a:t>
            </a:r>
          </a:p>
          <a:p>
            <a:pPr>
              <a:spcAft>
                <a:spcPts val="1200"/>
              </a:spcAft>
            </a:pPr>
            <a:r>
              <a:rPr lang="en-US" sz="2800" dirty="0"/>
              <a:t>It is often helpful to make an outline of your answer, before writing it up in full sentence and paragraph form</a:t>
            </a:r>
          </a:p>
          <a:p>
            <a:endParaRPr lang="en-US" sz="2800" dirty="0"/>
          </a:p>
        </p:txBody>
      </p:sp>
    </p:spTree>
    <p:extLst>
      <p:ext uri="{BB962C8B-B14F-4D97-AF65-F5344CB8AC3E}">
        <p14:creationId xmlns:p14="http://schemas.microsoft.com/office/powerpoint/2010/main" val="3929702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53708-D2F1-D92C-2C05-3AF71189F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2FA392-3B07-76EF-3354-BBB96F7BF8BD}"/>
              </a:ext>
            </a:extLst>
          </p:cNvPr>
          <p:cNvSpPr>
            <a:spLocks noGrp="1"/>
          </p:cNvSpPr>
          <p:nvPr>
            <p:ph type="title"/>
          </p:nvPr>
        </p:nvSpPr>
        <p:spPr>
          <a:xfrm>
            <a:off x="1451579" y="1035772"/>
            <a:ext cx="9603275" cy="711765"/>
          </a:xfrm>
        </p:spPr>
        <p:txBody>
          <a:bodyPr/>
          <a:lstStyle/>
          <a:p>
            <a:r>
              <a:rPr lang="en-US" dirty="0"/>
              <a:t>Structuring your answer—IRAC</a:t>
            </a:r>
          </a:p>
        </p:txBody>
      </p:sp>
      <p:sp>
        <p:nvSpPr>
          <p:cNvPr id="3" name="Content Placeholder 2">
            <a:extLst>
              <a:ext uri="{FF2B5EF4-FFF2-40B4-BE49-F238E27FC236}">
                <a16:creationId xmlns:a16="http://schemas.microsoft.com/office/drawing/2014/main" id="{526281A2-7479-6F7F-B38A-2F31A603870A}"/>
              </a:ext>
            </a:extLst>
          </p:cNvPr>
          <p:cNvSpPr>
            <a:spLocks noGrp="1"/>
          </p:cNvSpPr>
          <p:nvPr>
            <p:ph idx="1"/>
          </p:nvPr>
        </p:nvSpPr>
        <p:spPr>
          <a:xfrm>
            <a:off x="1451579" y="2004157"/>
            <a:ext cx="10104317" cy="4049402"/>
          </a:xfrm>
        </p:spPr>
        <p:txBody>
          <a:bodyPr>
            <a:normAutofit fontScale="92500" lnSpcReduction="20000"/>
          </a:bodyPr>
          <a:lstStyle/>
          <a:p>
            <a:pPr>
              <a:spcAft>
                <a:spcPts val="600"/>
              </a:spcAft>
            </a:pPr>
            <a:r>
              <a:rPr lang="en-US" sz="2600" b="1" dirty="0"/>
              <a:t>Issue:</a:t>
            </a:r>
            <a:r>
              <a:rPr lang="en-US" sz="2600" dirty="0"/>
              <a:t> State the issue you’re addressing, e.g., “The issue is whether there was sufficient notice.”</a:t>
            </a:r>
          </a:p>
          <a:p>
            <a:pPr>
              <a:spcAft>
                <a:spcPts val="600"/>
              </a:spcAft>
            </a:pPr>
            <a:r>
              <a:rPr lang="en-US" sz="2600" b="1" dirty="0"/>
              <a:t>Rule:</a:t>
            </a:r>
            <a:r>
              <a:rPr lang="en-US" sz="2600" dirty="0"/>
              <a:t> Explain the legal rules that apply, e.g., “Notice must be reasonably calculated, in all the circumstances, to apprise the party…” Citations to case names are not needed on </a:t>
            </a:r>
            <a:r>
              <a:rPr lang="en-US" sz="2600"/>
              <a:t>my exams.</a:t>
            </a:r>
            <a:endParaRPr lang="en-US" sz="2600" dirty="0"/>
          </a:p>
          <a:p>
            <a:pPr>
              <a:spcAft>
                <a:spcPts val="600"/>
              </a:spcAft>
            </a:pPr>
            <a:r>
              <a:rPr lang="en-US" sz="2600" b="1" dirty="0"/>
              <a:t>Analysis/Application:</a:t>
            </a:r>
            <a:r>
              <a:rPr lang="en-US" sz="2600" dirty="0"/>
              <a:t> Analyze how the legal rules apply to the facts, and be factually </a:t>
            </a:r>
            <a:r>
              <a:rPr lang="en-US" sz="2600" u="sng" dirty="0"/>
              <a:t>detailed</a:t>
            </a:r>
            <a:r>
              <a:rPr lang="en-US" sz="2600" dirty="0"/>
              <a:t>. E.g., “In this case, notice was insufficient, because it was unreasonable to send it by carrier pigeon…”</a:t>
            </a:r>
          </a:p>
          <a:p>
            <a:pPr>
              <a:spcAft>
                <a:spcPts val="600"/>
              </a:spcAft>
            </a:pPr>
            <a:r>
              <a:rPr lang="en-US" sz="2600" b="1" dirty="0"/>
              <a:t>Conclusion:</a:t>
            </a:r>
            <a:r>
              <a:rPr lang="en-US" sz="2600" dirty="0"/>
              <a:t> State your overall conclusion, e.g., “Thus, notice was insufficient.”</a:t>
            </a:r>
            <a:endParaRPr lang="en-US" sz="2600" b="1" dirty="0"/>
          </a:p>
        </p:txBody>
      </p:sp>
    </p:spTree>
    <p:extLst>
      <p:ext uri="{BB962C8B-B14F-4D97-AF65-F5344CB8AC3E}">
        <p14:creationId xmlns:p14="http://schemas.microsoft.com/office/powerpoint/2010/main" val="3098801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5DC5E-79C8-78F6-FBAD-DAFDA1004BFF}"/>
              </a:ext>
            </a:extLst>
          </p:cNvPr>
          <p:cNvSpPr>
            <a:spLocks noGrp="1"/>
          </p:cNvSpPr>
          <p:nvPr>
            <p:ph type="title"/>
          </p:nvPr>
        </p:nvSpPr>
        <p:spPr/>
        <p:txBody>
          <a:bodyPr/>
          <a:lstStyle/>
          <a:p>
            <a:r>
              <a:rPr lang="en-US" dirty="0"/>
              <a:t>II. Pleading in the alternative </a:t>
            </a:r>
          </a:p>
        </p:txBody>
      </p:sp>
    </p:spTree>
    <p:extLst>
      <p:ext uri="{BB962C8B-B14F-4D97-AF65-F5344CB8AC3E}">
        <p14:creationId xmlns:p14="http://schemas.microsoft.com/office/powerpoint/2010/main" val="1095655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75F99-391F-610E-A0D8-1EF7A75778CC}"/>
              </a:ext>
            </a:extLst>
          </p:cNvPr>
          <p:cNvSpPr>
            <a:spLocks noGrp="1"/>
          </p:cNvSpPr>
          <p:nvPr>
            <p:ph type="title"/>
          </p:nvPr>
        </p:nvSpPr>
        <p:spPr>
          <a:xfrm>
            <a:off x="1451580" y="1025237"/>
            <a:ext cx="9603275" cy="740501"/>
          </a:xfrm>
        </p:spPr>
        <p:txBody>
          <a:bodyPr/>
          <a:lstStyle/>
          <a:p>
            <a:r>
              <a:rPr lang="en-US" dirty="0"/>
              <a:t>Rule 8(d)</a:t>
            </a:r>
          </a:p>
        </p:txBody>
      </p:sp>
      <p:sp>
        <p:nvSpPr>
          <p:cNvPr id="3" name="Content Placeholder 2">
            <a:extLst>
              <a:ext uri="{FF2B5EF4-FFF2-40B4-BE49-F238E27FC236}">
                <a16:creationId xmlns:a16="http://schemas.microsoft.com/office/drawing/2014/main" id="{8CFFF4DB-0440-A625-4B48-08771225019F}"/>
              </a:ext>
            </a:extLst>
          </p:cNvPr>
          <p:cNvSpPr>
            <a:spLocks noGrp="1"/>
          </p:cNvSpPr>
          <p:nvPr>
            <p:ph idx="1"/>
          </p:nvPr>
        </p:nvSpPr>
        <p:spPr>
          <a:xfrm>
            <a:off x="1451579" y="2015732"/>
            <a:ext cx="9879030" cy="4037749"/>
          </a:xfrm>
        </p:spPr>
        <p:txBody>
          <a:bodyPr>
            <a:normAutofit fontScale="85000" lnSpcReduction="10000"/>
          </a:bodyPr>
          <a:lstStyle/>
          <a:p>
            <a:pPr>
              <a:spcAft>
                <a:spcPts val="1800"/>
              </a:spcAft>
            </a:pPr>
            <a:r>
              <a:rPr lang="en-US" sz="2900" dirty="0"/>
              <a:t>8(d)(2), can plead “2 or more statements of a claim or defense”</a:t>
            </a:r>
          </a:p>
          <a:p>
            <a:pPr>
              <a:spcAft>
                <a:spcPts val="1800"/>
              </a:spcAft>
            </a:pPr>
            <a:r>
              <a:rPr lang="en-US" sz="2900" dirty="0"/>
              <a:t>8(d)(3), a party can state “as many separate claims or defenses as it has, </a:t>
            </a:r>
            <a:r>
              <a:rPr lang="en-US" sz="2900" u="sng" dirty="0"/>
              <a:t>regardless of consistency</a:t>
            </a:r>
            <a:r>
              <a:rPr lang="en-US" sz="2900" dirty="0"/>
              <a:t>”</a:t>
            </a:r>
          </a:p>
          <a:p>
            <a:pPr>
              <a:spcAft>
                <a:spcPts val="1800"/>
              </a:spcAft>
            </a:pPr>
            <a:r>
              <a:rPr lang="en-US" sz="2900" dirty="0"/>
              <a:t>I.e., can plead multiple grounds for liability, even if those grounds are inconsistent with each other,</a:t>
            </a:r>
          </a:p>
          <a:p>
            <a:pPr>
              <a:spcAft>
                <a:spcPts val="1800"/>
              </a:spcAft>
            </a:pPr>
            <a:r>
              <a:rPr lang="en-US" sz="2900" dirty="0"/>
              <a:t>As long as you have a basis for believing each might be true (see Rule 11)</a:t>
            </a:r>
          </a:p>
        </p:txBody>
      </p:sp>
    </p:spTree>
    <p:extLst>
      <p:ext uri="{BB962C8B-B14F-4D97-AF65-F5344CB8AC3E}">
        <p14:creationId xmlns:p14="http://schemas.microsoft.com/office/powerpoint/2010/main" val="363711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ACCB8-ADE8-5DA2-654B-F462D41AD924}"/>
              </a:ext>
            </a:extLst>
          </p:cNvPr>
          <p:cNvSpPr>
            <a:spLocks noGrp="1"/>
          </p:cNvSpPr>
          <p:nvPr>
            <p:ph type="title"/>
          </p:nvPr>
        </p:nvSpPr>
        <p:spPr/>
        <p:txBody>
          <a:bodyPr/>
          <a:lstStyle/>
          <a:p>
            <a:r>
              <a:rPr lang="en-US" dirty="0"/>
              <a:t>III. Rule 11 Sanctions</a:t>
            </a:r>
          </a:p>
        </p:txBody>
      </p:sp>
    </p:spTree>
    <p:extLst>
      <p:ext uri="{BB962C8B-B14F-4D97-AF65-F5344CB8AC3E}">
        <p14:creationId xmlns:p14="http://schemas.microsoft.com/office/powerpoint/2010/main" val="3617505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C7AD-0F59-812E-3580-4E6C249DFF4D}"/>
              </a:ext>
            </a:extLst>
          </p:cNvPr>
          <p:cNvSpPr>
            <a:spLocks noGrp="1"/>
          </p:cNvSpPr>
          <p:nvPr>
            <p:ph type="title"/>
          </p:nvPr>
        </p:nvSpPr>
        <p:spPr>
          <a:xfrm>
            <a:off x="1378007" y="1098087"/>
            <a:ext cx="9603275" cy="587136"/>
          </a:xfrm>
        </p:spPr>
        <p:txBody>
          <a:bodyPr/>
          <a:lstStyle/>
          <a:p>
            <a:r>
              <a:rPr lang="en-US" dirty="0"/>
              <a:t>Rule 11(b)</a:t>
            </a:r>
          </a:p>
        </p:txBody>
      </p:sp>
      <p:sp>
        <p:nvSpPr>
          <p:cNvPr id="3" name="Content Placeholder 2">
            <a:extLst>
              <a:ext uri="{FF2B5EF4-FFF2-40B4-BE49-F238E27FC236}">
                <a16:creationId xmlns:a16="http://schemas.microsoft.com/office/drawing/2014/main" id="{4179013C-7DEE-E18E-92E7-D761EE5E1482}"/>
              </a:ext>
            </a:extLst>
          </p:cNvPr>
          <p:cNvSpPr>
            <a:spLocks noGrp="1"/>
          </p:cNvSpPr>
          <p:nvPr>
            <p:ph idx="1"/>
          </p:nvPr>
        </p:nvSpPr>
        <p:spPr>
          <a:xfrm>
            <a:off x="1451579" y="2015732"/>
            <a:ext cx="9603275" cy="4006696"/>
          </a:xfrm>
        </p:spPr>
        <p:txBody>
          <a:bodyPr>
            <a:normAutofit fontScale="92500"/>
          </a:bodyPr>
          <a:lstStyle/>
          <a:p>
            <a:r>
              <a:rPr lang="en-US" sz="3200" dirty="0"/>
              <a:t>11(b), when filing, an attorney certifies that to the best of their knowledge, information, and belief,</a:t>
            </a:r>
          </a:p>
          <a:p>
            <a:r>
              <a:rPr lang="en-US" sz="3200" dirty="0"/>
              <a:t>Based on “an </a:t>
            </a:r>
            <a:r>
              <a:rPr lang="en-US" sz="3200" u="sng" dirty="0"/>
              <a:t>inquiry</a:t>
            </a:r>
            <a:r>
              <a:rPr lang="en-US" sz="3200" dirty="0"/>
              <a:t> reasonable under the circumstances,”</a:t>
            </a:r>
          </a:p>
          <a:p>
            <a:r>
              <a:rPr lang="en-US" sz="3200" dirty="0"/>
              <a:t>The legal </a:t>
            </a:r>
            <a:r>
              <a:rPr lang="en-US" sz="3200" u="sng" dirty="0"/>
              <a:t>arguments are nonfrivolous</a:t>
            </a:r>
            <a:r>
              <a:rPr lang="en-US" sz="3200" dirty="0"/>
              <a:t>, and</a:t>
            </a:r>
          </a:p>
          <a:p>
            <a:r>
              <a:rPr lang="en-US" sz="3200" dirty="0"/>
              <a:t>The </a:t>
            </a:r>
            <a:r>
              <a:rPr lang="en-US" sz="3200" u="sng" dirty="0"/>
              <a:t>factual allegations have evidentiary support</a:t>
            </a:r>
            <a:r>
              <a:rPr lang="en-US" sz="3200" dirty="0"/>
              <a:t> or, if specifically identified, likely will after discovery</a:t>
            </a:r>
          </a:p>
        </p:txBody>
      </p:sp>
    </p:spTree>
    <p:extLst>
      <p:ext uri="{BB962C8B-B14F-4D97-AF65-F5344CB8AC3E}">
        <p14:creationId xmlns:p14="http://schemas.microsoft.com/office/powerpoint/2010/main" val="413752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C7AD-0F59-812E-3580-4E6C249DFF4D}"/>
              </a:ext>
            </a:extLst>
          </p:cNvPr>
          <p:cNvSpPr>
            <a:spLocks noGrp="1"/>
          </p:cNvSpPr>
          <p:nvPr>
            <p:ph type="title"/>
          </p:nvPr>
        </p:nvSpPr>
        <p:spPr>
          <a:xfrm>
            <a:off x="1378007" y="1098087"/>
            <a:ext cx="9603275" cy="587136"/>
          </a:xfrm>
        </p:spPr>
        <p:txBody>
          <a:bodyPr/>
          <a:lstStyle/>
          <a:p>
            <a:r>
              <a:rPr lang="en-US" dirty="0"/>
              <a:t>Rule 11(c)</a:t>
            </a:r>
          </a:p>
        </p:txBody>
      </p:sp>
      <p:sp>
        <p:nvSpPr>
          <p:cNvPr id="3" name="Content Placeholder 2">
            <a:extLst>
              <a:ext uri="{FF2B5EF4-FFF2-40B4-BE49-F238E27FC236}">
                <a16:creationId xmlns:a16="http://schemas.microsoft.com/office/drawing/2014/main" id="{4179013C-7DEE-E18E-92E7-D761EE5E1482}"/>
              </a:ext>
            </a:extLst>
          </p:cNvPr>
          <p:cNvSpPr>
            <a:spLocks noGrp="1"/>
          </p:cNvSpPr>
          <p:nvPr>
            <p:ph idx="1"/>
          </p:nvPr>
        </p:nvSpPr>
        <p:spPr>
          <a:xfrm>
            <a:off x="1451579" y="2015732"/>
            <a:ext cx="9699897" cy="4006696"/>
          </a:xfrm>
        </p:spPr>
        <p:txBody>
          <a:bodyPr>
            <a:normAutofit/>
          </a:bodyPr>
          <a:lstStyle/>
          <a:p>
            <a:r>
              <a:rPr lang="en-US" sz="3200" dirty="0"/>
              <a:t>11(c), violations of Rule 11(b) can lead to sanctions</a:t>
            </a:r>
          </a:p>
          <a:p>
            <a:r>
              <a:rPr lang="en-US" sz="3200" dirty="0"/>
              <a:t>Sanctions can be against “attorney, law firm, or party that violated the rule or is responsible for the violation”</a:t>
            </a:r>
          </a:p>
          <a:p>
            <a:r>
              <a:rPr lang="en-US" sz="3200" dirty="0"/>
              <a:t>If a party seeks sanctions, they serve the other party, who has 21 days to correct or withdraw the paper</a:t>
            </a:r>
          </a:p>
          <a:p>
            <a:r>
              <a:rPr lang="en-US" sz="3200" dirty="0"/>
              <a:t>Court can also act “on its own”</a:t>
            </a:r>
          </a:p>
        </p:txBody>
      </p:sp>
    </p:spTree>
    <p:extLst>
      <p:ext uri="{BB962C8B-B14F-4D97-AF65-F5344CB8AC3E}">
        <p14:creationId xmlns:p14="http://schemas.microsoft.com/office/powerpoint/2010/main" val="4213263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C7AD-0F59-812E-3580-4E6C249DFF4D}"/>
              </a:ext>
            </a:extLst>
          </p:cNvPr>
          <p:cNvSpPr>
            <a:spLocks noGrp="1"/>
          </p:cNvSpPr>
          <p:nvPr>
            <p:ph type="title"/>
          </p:nvPr>
        </p:nvSpPr>
        <p:spPr>
          <a:xfrm>
            <a:off x="1378007" y="1098087"/>
            <a:ext cx="9603275" cy="587136"/>
          </a:xfrm>
        </p:spPr>
        <p:txBody>
          <a:bodyPr/>
          <a:lstStyle/>
          <a:p>
            <a:r>
              <a:rPr lang="en-US" dirty="0"/>
              <a:t>Rule 11(c)</a:t>
            </a:r>
          </a:p>
        </p:txBody>
      </p:sp>
      <p:sp>
        <p:nvSpPr>
          <p:cNvPr id="3" name="Content Placeholder 2">
            <a:extLst>
              <a:ext uri="{FF2B5EF4-FFF2-40B4-BE49-F238E27FC236}">
                <a16:creationId xmlns:a16="http://schemas.microsoft.com/office/drawing/2014/main" id="{4179013C-7DEE-E18E-92E7-D761EE5E1482}"/>
              </a:ext>
            </a:extLst>
          </p:cNvPr>
          <p:cNvSpPr>
            <a:spLocks noGrp="1"/>
          </p:cNvSpPr>
          <p:nvPr>
            <p:ph idx="1"/>
          </p:nvPr>
        </p:nvSpPr>
        <p:spPr>
          <a:xfrm>
            <a:off x="1451579" y="2015732"/>
            <a:ext cx="9699897" cy="4006696"/>
          </a:xfrm>
        </p:spPr>
        <p:txBody>
          <a:bodyPr>
            <a:normAutofit/>
          </a:bodyPr>
          <a:lstStyle/>
          <a:p>
            <a:r>
              <a:rPr lang="en-US" sz="3200" dirty="0"/>
              <a:t>Sanctions are “limited to what suffices </a:t>
            </a:r>
            <a:r>
              <a:rPr lang="en-US" sz="3200" b="1" u="sng" dirty="0"/>
              <a:t>to deter </a:t>
            </a:r>
            <a:r>
              <a:rPr lang="en-US" sz="3200" dirty="0"/>
              <a:t>repetition of the conduct or comparable conduct by others”</a:t>
            </a:r>
          </a:p>
          <a:p>
            <a:r>
              <a:rPr lang="en-US" sz="3200" dirty="0"/>
              <a:t>Sanctions can be “nonmonetary directives,” or cash penalty, or attorney’s fees directly resulting from the violation</a:t>
            </a:r>
          </a:p>
        </p:txBody>
      </p:sp>
    </p:spTree>
    <p:extLst>
      <p:ext uri="{BB962C8B-B14F-4D97-AF65-F5344CB8AC3E}">
        <p14:creationId xmlns:p14="http://schemas.microsoft.com/office/powerpoint/2010/main" val="73855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FE8BE-8A71-C3D3-A0A7-73020F3C0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CDF4A7-5FDF-D1BA-6A3C-743D79516E43}"/>
              </a:ext>
            </a:extLst>
          </p:cNvPr>
          <p:cNvSpPr>
            <a:spLocks noGrp="1"/>
          </p:cNvSpPr>
          <p:nvPr>
            <p:ph type="title"/>
          </p:nvPr>
        </p:nvSpPr>
        <p:spPr>
          <a:xfrm>
            <a:off x="1378007" y="1098087"/>
            <a:ext cx="9603275" cy="587136"/>
          </a:xfrm>
        </p:spPr>
        <p:txBody>
          <a:bodyPr/>
          <a:lstStyle/>
          <a:p>
            <a:r>
              <a:rPr lang="en-US" dirty="0"/>
              <a:t>Rule 11</a:t>
            </a:r>
          </a:p>
        </p:txBody>
      </p:sp>
      <p:sp>
        <p:nvSpPr>
          <p:cNvPr id="3" name="Content Placeholder 2">
            <a:extLst>
              <a:ext uri="{FF2B5EF4-FFF2-40B4-BE49-F238E27FC236}">
                <a16:creationId xmlns:a16="http://schemas.microsoft.com/office/drawing/2014/main" id="{BFB7EAC1-BE00-18BC-7611-929DD3970C70}"/>
              </a:ext>
            </a:extLst>
          </p:cNvPr>
          <p:cNvSpPr>
            <a:spLocks noGrp="1"/>
          </p:cNvSpPr>
          <p:nvPr>
            <p:ph idx="1"/>
          </p:nvPr>
        </p:nvSpPr>
        <p:spPr>
          <a:xfrm>
            <a:off x="1451579" y="2015732"/>
            <a:ext cx="9699897" cy="4006696"/>
          </a:xfrm>
        </p:spPr>
        <p:txBody>
          <a:bodyPr>
            <a:normAutofit fontScale="92500"/>
          </a:bodyPr>
          <a:lstStyle/>
          <a:p>
            <a:r>
              <a:rPr lang="en-US" sz="3200" dirty="0"/>
              <a:t>E.g., a federal court recently issued Rule 11 sanctions for a lawyer who submitted a brief in which A.I. made up citations</a:t>
            </a:r>
          </a:p>
          <a:p>
            <a:r>
              <a:rPr lang="en-US" sz="3200" dirty="0"/>
              <a:t>The court ordered the lawyer to write an apology letter to each judge to whom the lawyer falsely attributed a fake case</a:t>
            </a:r>
          </a:p>
          <a:p>
            <a:r>
              <a:rPr lang="en-US" sz="3200" dirty="0"/>
              <a:t>And to notify “every” future judge before whom the lawyer appeared that the lawyer had made things up with A.I.</a:t>
            </a:r>
          </a:p>
        </p:txBody>
      </p:sp>
    </p:spTree>
    <p:extLst>
      <p:ext uri="{BB962C8B-B14F-4D97-AF65-F5344CB8AC3E}">
        <p14:creationId xmlns:p14="http://schemas.microsoft.com/office/powerpoint/2010/main" val="3981881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00EB4-E5F2-8AAC-12E5-F1F9BA84D2A8}"/>
              </a:ext>
            </a:extLst>
          </p:cNvPr>
          <p:cNvSpPr>
            <a:spLocks noGrp="1"/>
          </p:cNvSpPr>
          <p:nvPr>
            <p:ph type="title"/>
          </p:nvPr>
        </p:nvSpPr>
        <p:spPr>
          <a:xfrm>
            <a:off x="1451579" y="972207"/>
            <a:ext cx="9603275" cy="745985"/>
          </a:xfrm>
        </p:spPr>
        <p:txBody>
          <a:bodyPr/>
          <a:lstStyle/>
          <a:p>
            <a:r>
              <a:rPr lang="en-US" dirty="0"/>
              <a:t>Pleading on “information and belief”</a:t>
            </a:r>
          </a:p>
        </p:txBody>
      </p:sp>
      <p:sp>
        <p:nvSpPr>
          <p:cNvPr id="3" name="Content Placeholder 2">
            <a:extLst>
              <a:ext uri="{FF2B5EF4-FFF2-40B4-BE49-F238E27FC236}">
                <a16:creationId xmlns:a16="http://schemas.microsoft.com/office/drawing/2014/main" id="{1593FF4A-B692-46F5-87E4-8E202B0BA9E9}"/>
              </a:ext>
            </a:extLst>
          </p:cNvPr>
          <p:cNvSpPr>
            <a:spLocks noGrp="1"/>
          </p:cNvSpPr>
          <p:nvPr>
            <p:ph idx="1"/>
          </p:nvPr>
        </p:nvSpPr>
        <p:spPr>
          <a:xfrm>
            <a:off x="1451579" y="2015732"/>
            <a:ext cx="9603275" cy="4000755"/>
          </a:xfrm>
        </p:spPr>
        <p:txBody>
          <a:bodyPr>
            <a:noAutofit/>
          </a:bodyPr>
          <a:lstStyle/>
          <a:p>
            <a:pPr marL="0" indent="0">
              <a:buNone/>
            </a:pPr>
            <a:r>
              <a:rPr lang="en-US" sz="2500" dirty="0"/>
              <a:t>An example f</a:t>
            </a:r>
            <a:r>
              <a:rPr lang="en-US" sz="2500" dirty="0">
                <a:effectLst/>
              </a:rPr>
              <a:t>rom the </a:t>
            </a:r>
            <a:r>
              <a:rPr lang="en-US" sz="2500" i="1" dirty="0">
                <a:effectLst/>
              </a:rPr>
              <a:t>B.L.</a:t>
            </a:r>
            <a:r>
              <a:rPr lang="en-US" sz="2500" dirty="0">
                <a:effectLst/>
              </a:rPr>
              <a:t> Complaint:</a:t>
            </a:r>
          </a:p>
          <a:p>
            <a:pPr>
              <a:buFont typeface="+mj-lt"/>
              <a:buAutoNum type="arabicPeriod"/>
            </a:pPr>
            <a:r>
              <a:rPr lang="en-US" sz="2500" dirty="0">
                <a:effectLst/>
              </a:rPr>
              <a:t>Upon information and belief, the Mahanoy Area High School Cheerleading Rules (“the Cheerleading Rules”) were approved or ratified by the District administration. </a:t>
            </a:r>
          </a:p>
          <a:p>
            <a:pPr>
              <a:buFont typeface="+mj-lt"/>
              <a:buAutoNum type="arabicPeriod"/>
            </a:pPr>
            <a:r>
              <a:rPr lang="en-US" sz="2500" dirty="0">
                <a:effectLst/>
              </a:rPr>
              <a:t>B.L. received a copy of the Cheerleading Rules in May 2016 when she joined the junior varsity cheerleading squad. </a:t>
            </a:r>
          </a:p>
          <a:p>
            <a:pPr>
              <a:buFont typeface="+mj-lt"/>
              <a:buAutoNum type="arabicPeriod"/>
            </a:pPr>
            <a:r>
              <a:rPr lang="en-US" sz="2500" dirty="0">
                <a:effectLst/>
              </a:rPr>
              <a:t>Upon information and belief, those Cheerleading Rules are currently in effect.</a:t>
            </a:r>
          </a:p>
        </p:txBody>
      </p:sp>
    </p:spTree>
    <p:extLst>
      <p:ext uri="{BB962C8B-B14F-4D97-AF65-F5344CB8AC3E}">
        <p14:creationId xmlns:p14="http://schemas.microsoft.com/office/powerpoint/2010/main" val="1930877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ACCB8-ADE8-5DA2-654B-F462D41AD924}"/>
              </a:ext>
            </a:extLst>
          </p:cNvPr>
          <p:cNvSpPr>
            <a:spLocks noGrp="1"/>
          </p:cNvSpPr>
          <p:nvPr>
            <p:ph type="title"/>
          </p:nvPr>
        </p:nvSpPr>
        <p:spPr/>
        <p:txBody>
          <a:bodyPr/>
          <a:lstStyle/>
          <a:p>
            <a:r>
              <a:rPr lang="en-US" dirty="0"/>
              <a:t>IV. Heightened Pleading Standards</a:t>
            </a:r>
          </a:p>
        </p:txBody>
      </p:sp>
    </p:spTree>
    <p:extLst>
      <p:ext uri="{BB962C8B-B14F-4D97-AF65-F5344CB8AC3E}">
        <p14:creationId xmlns:p14="http://schemas.microsoft.com/office/powerpoint/2010/main" val="1580859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C7AD-0F59-812E-3580-4E6C249DFF4D}"/>
              </a:ext>
            </a:extLst>
          </p:cNvPr>
          <p:cNvSpPr>
            <a:spLocks noGrp="1"/>
          </p:cNvSpPr>
          <p:nvPr>
            <p:ph type="title"/>
          </p:nvPr>
        </p:nvSpPr>
        <p:spPr>
          <a:xfrm>
            <a:off x="1378007" y="1098087"/>
            <a:ext cx="9603275" cy="587136"/>
          </a:xfrm>
        </p:spPr>
        <p:txBody>
          <a:bodyPr/>
          <a:lstStyle/>
          <a:p>
            <a:r>
              <a:rPr lang="en-US" dirty="0"/>
              <a:t>Heightened Pleading Standards</a:t>
            </a:r>
          </a:p>
        </p:txBody>
      </p:sp>
      <p:sp>
        <p:nvSpPr>
          <p:cNvPr id="3" name="Content Placeholder 2">
            <a:extLst>
              <a:ext uri="{FF2B5EF4-FFF2-40B4-BE49-F238E27FC236}">
                <a16:creationId xmlns:a16="http://schemas.microsoft.com/office/drawing/2014/main" id="{4179013C-7DEE-E18E-92E7-D761EE5E1482}"/>
              </a:ext>
            </a:extLst>
          </p:cNvPr>
          <p:cNvSpPr>
            <a:spLocks noGrp="1"/>
          </p:cNvSpPr>
          <p:nvPr>
            <p:ph idx="1"/>
          </p:nvPr>
        </p:nvSpPr>
        <p:spPr>
          <a:xfrm>
            <a:off x="1451579" y="2015732"/>
            <a:ext cx="9603275" cy="4006696"/>
          </a:xfrm>
        </p:spPr>
        <p:txBody>
          <a:bodyPr>
            <a:normAutofit/>
          </a:bodyPr>
          <a:lstStyle/>
          <a:p>
            <a:r>
              <a:rPr lang="en-US" sz="3200" dirty="0"/>
              <a:t>Some statutes and FRCP Rules have heightened pleading standards for certain types of claims, above the usual “plausibility” standard</a:t>
            </a:r>
          </a:p>
          <a:p>
            <a:r>
              <a:rPr lang="en-US" sz="3200" dirty="0"/>
              <a:t>E.g., Rule 9(b) requires “particularity” when alleging “fraud or mistake,” but it allows “malice, intent, [or] knowledge” to be “alleged generally”</a:t>
            </a:r>
          </a:p>
        </p:txBody>
      </p:sp>
    </p:spTree>
    <p:extLst>
      <p:ext uri="{BB962C8B-B14F-4D97-AF65-F5344CB8AC3E}">
        <p14:creationId xmlns:p14="http://schemas.microsoft.com/office/powerpoint/2010/main" val="340695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ACCB8-ADE8-5DA2-654B-F462D41AD924}"/>
              </a:ext>
            </a:extLst>
          </p:cNvPr>
          <p:cNvSpPr>
            <a:spLocks noGrp="1"/>
          </p:cNvSpPr>
          <p:nvPr>
            <p:ph type="title"/>
          </p:nvPr>
        </p:nvSpPr>
        <p:spPr/>
        <p:txBody>
          <a:bodyPr/>
          <a:lstStyle/>
          <a:p>
            <a:r>
              <a:rPr lang="en-US" dirty="0"/>
              <a:t>V. Takeaways</a:t>
            </a:r>
          </a:p>
        </p:txBody>
      </p:sp>
    </p:spTree>
    <p:extLst>
      <p:ext uri="{BB962C8B-B14F-4D97-AF65-F5344CB8AC3E}">
        <p14:creationId xmlns:p14="http://schemas.microsoft.com/office/powerpoint/2010/main" val="2485029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C7AD-0F59-812E-3580-4E6C249DFF4D}"/>
              </a:ext>
            </a:extLst>
          </p:cNvPr>
          <p:cNvSpPr>
            <a:spLocks noGrp="1"/>
          </p:cNvSpPr>
          <p:nvPr>
            <p:ph type="title"/>
          </p:nvPr>
        </p:nvSpPr>
        <p:spPr>
          <a:xfrm>
            <a:off x="1378007" y="1098087"/>
            <a:ext cx="9603275" cy="587136"/>
          </a:xfrm>
        </p:spPr>
        <p:txBody>
          <a:bodyPr/>
          <a:lstStyle/>
          <a:p>
            <a:r>
              <a:rPr lang="en-US" dirty="0"/>
              <a:t>Takeaways</a:t>
            </a:r>
          </a:p>
        </p:txBody>
      </p:sp>
      <p:sp>
        <p:nvSpPr>
          <p:cNvPr id="3" name="Content Placeholder 2">
            <a:extLst>
              <a:ext uri="{FF2B5EF4-FFF2-40B4-BE49-F238E27FC236}">
                <a16:creationId xmlns:a16="http://schemas.microsoft.com/office/drawing/2014/main" id="{4179013C-7DEE-E18E-92E7-D761EE5E1482}"/>
              </a:ext>
            </a:extLst>
          </p:cNvPr>
          <p:cNvSpPr>
            <a:spLocks noGrp="1"/>
          </p:cNvSpPr>
          <p:nvPr>
            <p:ph idx="1"/>
          </p:nvPr>
        </p:nvSpPr>
        <p:spPr>
          <a:xfrm>
            <a:off x="1378007" y="2026242"/>
            <a:ext cx="9931125" cy="4006696"/>
          </a:xfrm>
        </p:spPr>
        <p:txBody>
          <a:bodyPr>
            <a:normAutofit fontScale="85000" lnSpcReduction="20000"/>
          </a:bodyPr>
          <a:lstStyle/>
          <a:p>
            <a:pPr>
              <a:spcAft>
                <a:spcPts val="1200"/>
              </a:spcAft>
            </a:pPr>
            <a:r>
              <a:rPr lang="en-US" sz="3200" dirty="0"/>
              <a:t>Can plead in the alternative, and the alternatives do not have to be consistent with each other, Rule 8(d)</a:t>
            </a:r>
          </a:p>
          <a:p>
            <a:pPr>
              <a:spcAft>
                <a:spcPts val="1200"/>
              </a:spcAft>
            </a:pPr>
            <a:r>
              <a:rPr lang="en-US" sz="3200" dirty="0"/>
              <a:t>Representations to the court must be supported by evidence, or be legally nonfrivolous, “to the best of the person’s knowledge, information, and belief,” based on “an inquiry” that is “reasonable under the circumstances,” Rule 11</a:t>
            </a:r>
          </a:p>
          <a:p>
            <a:pPr>
              <a:spcAft>
                <a:spcPts val="1200"/>
              </a:spcAft>
            </a:pPr>
            <a:r>
              <a:rPr lang="en-US" sz="3200" dirty="0"/>
              <a:t>Some statutes or FRCP Rules, like Rule 9(b), establish a heightened pleading standard for certain types of claims</a:t>
            </a:r>
          </a:p>
        </p:txBody>
      </p:sp>
    </p:spTree>
    <p:extLst>
      <p:ext uri="{BB962C8B-B14F-4D97-AF65-F5344CB8AC3E}">
        <p14:creationId xmlns:p14="http://schemas.microsoft.com/office/powerpoint/2010/main" val="46804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4715</TotalTime>
  <Words>1108</Words>
  <Application>Microsoft Macintosh PowerPoint</Application>
  <PresentationFormat>Widescreen</PresentationFormat>
  <Paragraphs>71</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Candara</vt:lpstr>
      <vt:lpstr>Gill Sans MT</vt:lpstr>
      <vt:lpstr>Gallery</vt:lpstr>
      <vt:lpstr>Civil Procedure</vt:lpstr>
      <vt:lpstr>Agenda</vt:lpstr>
      <vt:lpstr>I. Recap</vt:lpstr>
      <vt:lpstr>Recap on Plausibility Pleading</vt:lpstr>
      <vt:lpstr>Recap on Plausibility Pleading</vt:lpstr>
      <vt:lpstr>Hypo: Is this Complaint Plausible?</vt:lpstr>
      <vt:lpstr>Answering Essay Questions</vt:lpstr>
      <vt:lpstr>Essay Question Style</vt:lpstr>
      <vt:lpstr>Tips for drafting an answer:</vt:lpstr>
      <vt:lpstr>Structuring your answer—IRAC</vt:lpstr>
      <vt:lpstr>II. Pleading in the alternative </vt:lpstr>
      <vt:lpstr>Rule 8(d)</vt:lpstr>
      <vt:lpstr>III. Rule 11 Sanctions</vt:lpstr>
      <vt:lpstr>Rule 11(b)</vt:lpstr>
      <vt:lpstr>Rule 11(c)</vt:lpstr>
      <vt:lpstr>Rule 11(c)</vt:lpstr>
      <vt:lpstr>Rule 11</vt:lpstr>
      <vt:lpstr>Pleading on “information and belief”</vt:lpstr>
      <vt:lpstr>IV. Heightened Pleading Standards</vt:lpstr>
      <vt:lpstr>Heightened Pleading Standards</vt:lpstr>
      <vt:lpstr>V. Takeaways</vt:lpstr>
      <vt:lpstr>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Lanham</dc:creator>
  <cp:lastModifiedBy>Lanham, Andrew J</cp:lastModifiedBy>
  <cp:revision>238</cp:revision>
  <dcterms:created xsi:type="dcterms:W3CDTF">2024-08-16T15:30:55Z</dcterms:created>
  <dcterms:modified xsi:type="dcterms:W3CDTF">2026-09-08T19:51:44Z</dcterms:modified>
</cp:coreProperties>
</file>