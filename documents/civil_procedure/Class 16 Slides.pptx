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460" r:id="rId5"/>
    <p:sldId id="465" r:id="rId6"/>
    <p:sldId id="478" r:id="rId7"/>
    <p:sldId id="479" r:id="rId8"/>
    <p:sldId id="485" r:id="rId9"/>
    <p:sldId id="486" r:id="rId10"/>
    <p:sldId id="488" r:id="rId11"/>
    <p:sldId id="489" r:id="rId12"/>
    <p:sldId id="490" r:id="rId13"/>
    <p:sldId id="480" r:id="rId14"/>
    <p:sldId id="481" r:id="rId15"/>
    <p:sldId id="491" r:id="rId16"/>
    <p:sldId id="492" r:id="rId17"/>
    <p:sldId id="493" r:id="rId18"/>
    <p:sldId id="482" r:id="rId19"/>
    <p:sldId id="483" r:id="rId20"/>
    <p:sldId id="494" r:id="rId21"/>
    <p:sldId id="48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10"/>
    <p:restoredTop sz="94568"/>
  </p:normalViewPr>
  <p:slideViewPr>
    <p:cSldViewPr snapToGrid="0">
      <p:cViewPr varScale="1">
        <p:scale>
          <a:sx n="143" d="100"/>
          <a:sy n="143" d="100"/>
        </p:scale>
        <p:origin x="216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4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983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794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00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2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7211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87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0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367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09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315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C36C72-0B33-0A48-B3F4-90C09BB8A580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B1A86BF-6829-5045-A663-F100E0247FC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1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E135C-E1F7-457C-793B-6F84BBEA4F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Civil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D2300-46B5-4ED8-98CD-7D18437CE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646951"/>
            <a:ext cx="8637072" cy="977621"/>
          </a:xfrm>
        </p:spPr>
        <p:txBody>
          <a:bodyPr>
            <a:normAutofit/>
          </a:bodyPr>
          <a:lstStyle/>
          <a:p>
            <a:r>
              <a:rPr lang="en-US" sz="3600">
                <a:latin typeface="Candara" panose="020E0502030303020204" pitchFamily="34" charset="0"/>
              </a:rPr>
              <a:t>Class 16</a:t>
            </a:r>
            <a:endParaRPr lang="en-US" sz="36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71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67AE-F040-67B6-9446-8FC8AA2B7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D890-1782-3B9A-A9EE-7CCC33ACB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3365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romanUcPeriod"/>
            </a:pPr>
            <a:r>
              <a:rPr lang="en-US" sz="3200" dirty="0"/>
              <a:t>Recap of Jury Selection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Judgment as a Matter of Law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Finality</a:t>
            </a:r>
          </a:p>
          <a:p>
            <a:pPr marL="514350" indent="-514350">
              <a:buFont typeface="+mj-lt"/>
              <a:buAutoNum type="romanUcPeriod"/>
            </a:pPr>
            <a:r>
              <a:rPr lang="en-US" sz="3200" dirty="0"/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68983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88D4-5A9B-0E41-96DF-5AA7E5E3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I. </a:t>
            </a:r>
            <a:r>
              <a:rPr lang="en-US" dirty="0" err="1"/>
              <a:t>RecaP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93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861A-65E7-A481-E825-723F4906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6659"/>
            <a:ext cx="9603275" cy="729991"/>
          </a:xfrm>
        </p:spPr>
        <p:txBody>
          <a:bodyPr/>
          <a:lstStyle/>
          <a:p>
            <a:r>
              <a:rPr lang="en-US" dirty="0"/>
              <a:t>Jury Trial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32DC-2818-B0EA-63E0-F6BDA598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36644"/>
            <a:ext cx="9603275" cy="3990931"/>
          </a:xfrm>
        </p:spPr>
        <p:txBody>
          <a:bodyPr>
            <a:normAutofit/>
          </a:bodyPr>
          <a:lstStyle/>
          <a:p>
            <a:r>
              <a:rPr lang="en-US" sz="2800" dirty="0"/>
              <a:t>Seventh Amendment guarantees jury trial in civil cases, in federal court, for common law causes of action</a:t>
            </a:r>
          </a:p>
          <a:p>
            <a:r>
              <a:rPr lang="en-US" sz="2800" dirty="0"/>
              <a:t>For new causes of action since 1791: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Was there an analogous action at common law in 1791?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Is the relief sought legal, like money damages, rather than equitable, like an injunction? (</a:t>
            </a:r>
            <a:r>
              <a:rPr lang="en-US" sz="2800" i="1" dirty="0"/>
              <a:t>Curtis</a:t>
            </a:r>
            <a:r>
              <a:rPr lang="en-US" sz="2800" dirty="0"/>
              <a:t>; </a:t>
            </a:r>
            <a:r>
              <a:rPr lang="en-US" sz="2800" i="1" dirty="0"/>
              <a:t>Chauffeurs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3392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861A-65E7-A481-E825-723F4906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26659"/>
            <a:ext cx="9603275" cy="729991"/>
          </a:xfrm>
        </p:spPr>
        <p:txBody>
          <a:bodyPr/>
          <a:lstStyle/>
          <a:p>
            <a:r>
              <a:rPr lang="en-US" dirty="0"/>
              <a:t>Jury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32DC-2818-B0EA-63E0-F6BDA5984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2669"/>
            <a:ext cx="9763817" cy="4101289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38(b), can demand jury trial by writing within 14 days of last pleading</a:t>
            </a:r>
          </a:p>
          <a:p>
            <a:r>
              <a:rPr lang="en-US" sz="2800" dirty="0"/>
              <a:t>38(d), if don’t properly demand, jury trial right is waived</a:t>
            </a:r>
          </a:p>
          <a:p>
            <a:r>
              <a:rPr lang="en-US" sz="2800" dirty="0"/>
              <a:t>39(b), if no proper demand, bench trial by the court</a:t>
            </a:r>
          </a:p>
          <a:p>
            <a:r>
              <a:rPr lang="en-US" sz="2800" dirty="0"/>
              <a:t>47, examine jurors, can excuse for “good cause,” plus 3 peremptory challenges; can’t use peremptory challenge for discriminatory purpose</a:t>
            </a:r>
          </a:p>
          <a:p>
            <a:r>
              <a:rPr lang="en-US" sz="2800" dirty="0"/>
              <a:t>48, need unanimous verdict by at least 6-person jury (6-person civil jury is ok per </a:t>
            </a:r>
            <a:r>
              <a:rPr lang="en-US" sz="2800" i="1" dirty="0"/>
              <a:t>Colgrove</a:t>
            </a:r>
            <a:r>
              <a:rPr lang="en-US" sz="2800" dirty="0"/>
              <a:t>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2255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EAE6-A04E-286F-CE4D-4B802168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4239" y="1756130"/>
            <a:ext cx="9171720" cy="1887950"/>
          </a:xfrm>
        </p:spPr>
        <p:txBody>
          <a:bodyPr/>
          <a:lstStyle/>
          <a:p>
            <a:r>
              <a:rPr lang="en-US" dirty="0"/>
              <a:t>II. Judgment as a matter of law (JMOL)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7D3F27-D270-B137-B882-D63BDC05F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4239" y="3911298"/>
            <a:ext cx="8940492" cy="1012929"/>
          </a:xfrm>
        </p:spPr>
        <p:txBody>
          <a:bodyPr>
            <a:noAutofit/>
          </a:bodyPr>
          <a:lstStyle/>
          <a:p>
            <a:r>
              <a:rPr lang="en-US" sz="2800" dirty="0"/>
              <a:t>I.e., when should the judge take the case away from the jury?</a:t>
            </a:r>
          </a:p>
        </p:txBody>
      </p:sp>
    </p:spTree>
    <p:extLst>
      <p:ext uri="{BB962C8B-B14F-4D97-AF65-F5344CB8AC3E}">
        <p14:creationId xmlns:p14="http://schemas.microsoft.com/office/powerpoint/2010/main" val="246928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97AF-CC0C-6FAB-1AEF-D0981D8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JMOL—Rule 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29E5-3334-0F63-0BC7-D39FE780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62959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50(a), if a party has been fully heard at trial, and no reasonable jury could, on the basis of that evidence, find for that party;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court can “resolve the issue against the party”;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And grant motion for judgment as a matter of law on any claim or defense that depends on that issue;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Can be done “any time before the case is submitted to the jury”</a:t>
            </a:r>
          </a:p>
        </p:txBody>
      </p:sp>
    </p:spTree>
    <p:extLst>
      <p:ext uri="{BB962C8B-B14F-4D97-AF65-F5344CB8AC3E}">
        <p14:creationId xmlns:p14="http://schemas.microsoft.com/office/powerpoint/2010/main" val="326377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97AF-CC0C-6FAB-1AEF-D0981D8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JMOL—Rule 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29E5-3334-0F63-0BC7-D39FE780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762959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Essentially the same standard as summary judgment per Rule 56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But summary judgment is based on discovery before trial,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While JMOL is based on the evidence actually presented live at the trial</a:t>
            </a:r>
          </a:p>
        </p:txBody>
      </p:sp>
    </p:spTree>
    <p:extLst>
      <p:ext uri="{BB962C8B-B14F-4D97-AF65-F5344CB8AC3E}">
        <p14:creationId xmlns:p14="http://schemas.microsoft.com/office/powerpoint/2010/main" val="234584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97AF-CC0C-6FAB-1AEF-D0981D8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JMOL—Rule 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29E5-3334-0F63-0BC7-D39FE780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46435" cy="4048737"/>
          </a:xfr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50(b), if court does not grant 50(a) motion for JMOL, the case is submitted to the jury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Within 28 days of judgment, moving party can </a:t>
            </a:r>
            <a:r>
              <a:rPr lang="en-US" sz="2800" i="1" dirty="0"/>
              <a:t>renew</a:t>
            </a:r>
            <a:r>
              <a:rPr lang="en-US" sz="2800" dirty="0"/>
              <a:t> the motion for JMOL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So: must </a:t>
            </a:r>
            <a:r>
              <a:rPr lang="en-US" sz="2800" u="sng" dirty="0"/>
              <a:t>first</a:t>
            </a:r>
            <a:r>
              <a:rPr lang="en-US" sz="2800" dirty="0"/>
              <a:t> file a 50(a) motion before it goes to the jury, then can </a:t>
            </a:r>
            <a:r>
              <a:rPr lang="en-US" sz="2800" u="sng" dirty="0"/>
              <a:t>renew</a:t>
            </a:r>
            <a:r>
              <a:rPr lang="en-US" sz="2800" dirty="0"/>
              <a:t> the motion under 50(b) after the jury verdict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Can simultaneously ask for a new trial</a:t>
            </a:r>
          </a:p>
        </p:txBody>
      </p:sp>
    </p:spTree>
    <p:extLst>
      <p:ext uri="{BB962C8B-B14F-4D97-AF65-F5344CB8AC3E}">
        <p14:creationId xmlns:p14="http://schemas.microsoft.com/office/powerpoint/2010/main" val="239217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97AF-CC0C-6FAB-1AEF-D0981D81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16149"/>
            <a:ext cx="9603275" cy="751012"/>
          </a:xfrm>
        </p:spPr>
        <p:txBody>
          <a:bodyPr/>
          <a:lstStyle/>
          <a:p>
            <a:r>
              <a:rPr lang="en-US" dirty="0"/>
              <a:t>JMOL—Rule 50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29E5-3334-0F63-0BC7-D39FE7802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246435" cy="40487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50(c), if the court </a:t>
            </a:r>
            <a:r>
              <a:rPr lang="en-US" sz="2800" u="sng" dirty="0"/>
              <a:t>grants</a:t>
            </a:r>
            <a:r>
              <a:rPr lang="en-US" sz="2800" dirty="0"/>
              <a:t> JMOL,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And the moving party </a:t>
            </a:r>
            <a:r>
              <a:rPr lang="en-US" sz="2800" u="sng" dirty="0"/>
              <a:t>also</a:t>
            </a:r>
            <a:r>
              <a:rPr lang="en-US" sz="2800" dirty="0"/>
              <a:t> requested a new trial,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The court must </a:t>
            </a:r>
            <a:r>
              <a:rPr lang="en-US" sz="2800" u="sng" dirty="0"/>
              <a:t>conditionally</a:t>
            </a:r>
            <a:r>
              <a:rPr lang="en-US" sz="2800" dirty="0"/>
              <a:t> rule on whether it would grant a new trial (so that if appeals court reverses JMOL, we have a plan for whether there’s a new trial)</a:t>
            </a:r>
          </a:p>
        </p:txBody>
      </p:sp>
    </p:spTree>
    <p:extLst>
      <p:ext uri="{BB962C8B-B14F-4D97-AF65-F5344CB8AC3E}">
        <p14:creationId xmlns:p14="http://schemas.microsoft.com/office/powerpoint/2010/main" val="3468556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E29A-5A22-718E-D28D-841D59BE0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New Trial—Rule 59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C92E3-9629-00F2-E86A-93227F967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22613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Court may grant new trial on motion of party for any reason recognized in law or equity (e.g., newly discovered evidence; misconduct by a party or the judge; improper jury instructions)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Motion must be made within 28 days of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Court can also order new trial on its own motion within 28 days of judgment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Courts also use Rule 59 to award “remittitur,” which reduces a damages award if the jury’s damages were unreasonable</a:t>
            </a:r>
          </a:p>
        </p:txBody>
      </p:sp>
    </p:spTree>
    <p:extLst>
      <p:ext uri="{BB962C8B-B14F-4D97-AF65-F5344CB8AC3E}">
        <p14:creationId xmlns:p14="http://schemas.microsoft.com/office/powerpoint/2010/main" val="300220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0742C-B4AF-1D6B-439C-6F3BD4E18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Harmless Error—Rule 61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20AF3-5432-BD90-D161-B6EB5445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Any errors “that do not affect any party’s substantial rights” must be “disregard[ed]”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I.e., if the error is harmless, it is not the basis for changing the judgment</a:t>
            </a:r>
          </a:p>
        </p:txBody>
      </p:sp>
    </p:spTree>
    <p:extLst>
      <p:ext uri="{BB962C8B-B14F-4D97-AF65-F5344CB8AC3E}">
        <p14:creationId xmlns:p14="http://schemas.microsoft.com/office/powerpoint/2010/main" val="71325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A208B-FEAA-76EE-AC68-575BEE21A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III. Finality &amp; Appeal</a:t>
            </a:r>
          </a:p>
        </p:txBody>
      </p:sp>
    </p:spTree>
    <p:extLst>
      <p:ext uri="{BB962C8B-B14F-4D97-AF65-F5344CB8AC3E}">
        <p14:creationId xmlns:p14="http://schemas.microsoft.com/office/powerpoint/2010/main" val="1435336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131B3-69AE-7818-4C9B-1AAB5DC57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52935"/>
            <a:ext cx="9603275" cy="677440"/>
          </a:xfrm>
        </p:spPr>
        <p:txBody>
          <a:bodyPr/>
          <a:lstStyle/>
          <a:p>
            <a:r>
              <a:rPr lang="en-US" dirty="0"/>
              <a:t>Basics of appeal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B1A7-6965-AC18-456B-F85B966F5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10078269" cy="4048737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After final judgment in trial court, losing party usually has right to appeal by filing a notice of appeal within 30 days</a:t>
            </a:r>
          </a:p>
          <a:p>
            <a:r>
              <a:rPr lang="en-US" sz="2800" dirty="0"/>
              <a:t>Party appealing the judgment is called the Appellant</a:t>
            </a:r>
          </a:p>
          <a:p>
            <a:r>
              <a:rPr lang="en-US" sz="2800" dirty="0"/>
              <a:t>Party defending the judgment is the Appellee</a:t>
            </a:r>
          </a:p>
          <a:p>
            <a:r>
              <a:rPr lang="en-US" sz="2800" dirty="0"/>
              <a:t>Appeals court can affirm, or reverse, or vacate the trial court’s decision</a:t>
            </a:r>
          </a:p>
          <a:p>
            <a:r>
              <a:rPr lang="en-US" sz="2800" dirty="0"/>
              <a:t>Additional rules govern appeal—Federal Rules of Appellate Procedure</a:t>
            </a:r>
          </a:p>
        </p:txBody>
      </p:sp>
    </p:spTree>
    <p:extLst>
      <p:ext uri="{BB962C8B-B14F-4D97-AF65-F5344CB8AC3E}">
        <p14:creationId xmlns:p14="http://schemas.microsoft.com/office/powerpoint/2010/main" val="4163664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F9B-A323-2D5A-7523-426CE83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8594-88E8-3661-E834-662886C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69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§ 1291, the federal courts of appeals have jurisdiction over appeals from “all final decisions” by the district courts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800" dirty="0"/>
              <a:t>“A ‘final decision’ generally is one which ends the litigation on the merits and leaves nothing for the court to do but execute </a:t>
            </a:r>
            <a:r>
              <a:rPr lang="en-US" sz="2800"/>
              <a:t>the judgment” </a:t>
            </a:r>
            <a:r>
              <a:rPr lang="en-US" sz="2800" dirty="0"/>
              <a:t>(Supreme Court in </a:t>
            </a:r>
            <a:r>
              <a:rPr lang="en-US" sz="2800" i="1" dirty="0"/>
              <a:t>Catlin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4188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F9B-A323-2D5A-7523-426CE83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8594-88E8-3661-E834-662886C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69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Under Rule 54(b):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If there are multiple claims or multiple parties, the District Court </a:t>
            </a:r>
            <a:r>
              <a:rPr lang="en-US" sz="2800" u="sng" dirty="0"/>
              <a:t>may</a:t>
            </a:r>
            <a:r>
              <a:rPr lang="en-US" sz="2800" dirty="0"/>
              <a:t> enter final judgment for less than all of them, if it expressly determines that “there is no just reason for delay”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Otherwise, they all wait for entry of final judgment that resolves all the claims for all parties</a:t>
            </a:r>
          </a:p>
        </p:txBody>
      </p:sp>
    </p:spTree>
    <p:extLst>
      <p:ext uri="{BB962C8B-B14F-4D97-AF65-F5344CB8AC3E}">
        <p14:creationId xmlns:p14="http://schemas.microsoft.com/office/powerpoint/2010/main" val="910108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30F9B-A323-2D5A-7523-426CE83D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47680"/>
            <a:ext cx="9603275" cy="687950"/>
          </a:xfrm>
        </p:spPr>
        <p:txBody>
          <a:bodyPr/>
          <a:lstStyle/>
          <a:p>
            <a:r>
              <a:rPr lang="en-US" dirty="0"/>
              <a:t>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A8594-88E8-3661-E834-662886C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6975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§ 1292: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(a) court of appeals always has jurisdiction for interlocutory appeals regarding </a:t>
            </a:r>
            <a:r>
              <a:rPr lang="en-US" sz="2800" u="sng" dirty="0"/>
              <a:t>injunctions</a:t>
            </a:r>
          </a:p>
          <a:p>
            <a:pPr marL="0" indent="0"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800" dirty="0"/>
              <a:t>(b) if trial court states there is a controlling question of law with “substantial ground for difference of opinion,” court of appeals can, in its discretion, hear an </a:t>
            </a:r>
            <a:r>
              <a:rPr lang="en-US" sz="2800" u="sng" dirty="0"/>
              <a:t>interlocutory appeal</a:t>
            </a:r>
          </a:p>
        </p:txBody>
      </p:sp>
    </p:spTree>
    <p:extLst>
      <p:ext uri="{BB962C8B-B14F-4D97-AF65-F5344CB8AC3E}">
        <p14:creationId xmlns:p14="http://schemas.microsoft.com/office/powerpoint/2010/main" val="380390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D7C70-B674-EAE5-0391-C686D97A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IV. Takeaways</a:t>
            </a:r>
          </a:p>
        </p:txBody>
      </p:sp>
    </p:spTree>
    <p:extLst>
      <p:ext uri="{BB962C8B-B14F-4D97-AF65-F5344CB8AC3E}">
        <p14:creationId xmlns:p14="http://schemas.microsoft.com/office/powerpoint/2010/main" val="654809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C5F-262F-78C2-9BB3-0B953D82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Takeaways—JMOL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261A-AAE9-4C8E-108E-EB1CAF10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805000" cy="4017206"/>
          </a:xfrm>
        </p:spPr>
        <p:txBody>
          <a:bodyPr>
            <a:normAutofit/>
          </a:bodyPr>
          <a:lstStyle/>
          <a:p>
            <a:r>
              <a:rPr lang="en-US" sz="2800" dirty="0"/>
              <a:t>Once a party has been fully heard, the other party can move for JMOL, if no reasonable jury could find for nonmoving party, 50(a)</a:t>
            </a:r>
          </a:p>
          <a:p>
            <a:r>
              <a:rPr lang="en-US" sz="2800" dirty="0"/>
              <a:t>If court denies motion and sends case to the jury, party can </a:t>
            </a:r>
            <a:r>
              <a:rPr lang="en-US" sz="2800" u="sng" dirty="0"/>
              <a:t>renew</a:t>
            </a:r>
            <a:r>
              <a:rPr lang="en-US" sz="2800" dirty="0"/>
              <a:t> the motion for JMOL after the jury verdict, 50(b)</a:t>
            </a:r>
          </a:p>
          <a:p>
            <a:r>
              <a:rPr lang="en-US" sz="2800" dirty="0"/>
              <a:t>Can </a:t>
            </a:r>
            <a:r>
              <a:rPr lang="en-US" sz="2800" u="sng" dirty="0"/>
              <a:t>also</a:t>
            </a:r>
            <a:r>
              <a:rPr lang="en-US" sz="2800" dirty="0"/>
              <a:t> ask for a new trial, 50(b) and 59</a:t>
            </a:r>
          </a:p>
          <a:p>
            <a:r>
              <a:rPr lang="en-US" sz="2800" dirty="0"/>
              <a:t>If court grants JMOL, must conditionally rule on motion for new trial, 50(c)</a:t>
            </a:r>
          </a:p>
        </p:txBody>
      </p:sp>
    </p:spTree>
    <p:extLst>
      <p:ext uri="{BB962C8B-B14F-4D97-AF65-F5344CB8AC3E}">
        <p14:creationId xmlns:p14="http://schemas.microsoft.com/office/powerpoint/2010/main" val="3225849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B6195-455A-6AFA-B589-70C3F4B37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Takeaways—New trial &amp; harmless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30D50-A545-ECC6-6C05-7ED787B8B4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64654"/>
          </a:xfrm>
        </p:spPr>
        <p:txBody>
          <a:bodyPr>
            <a:normAutofit/>
          </a:bodyPr>
          <a:lstStyle/>
          <a:p>
            <a:r>
              <a:rPr lang="en-US" sz="2800" dirty="0"/>
              <a:t>Court may grant new trial for any reason recognized in law or equity, Rule 59 (e.g., the verdict was against the weight of the evidence)</a:t>
            </a:r>
          </a:p>
          <a:p>
            <a:r>
              <a:rPr lang="en-US" sz="2800" dirty="0"/>
              <a:t>Court can do so on its own motion or a party’s motion</a:t>
            </a:r>
          </a:p>
          <a:p>
            <a:r>
              <a:rPr lang="en-US" sz="2800" dirty="0"/>
              <a:t>But any error “that does not affect any party’s substantial rights” must be “disregard[ed],” Rule 61—i.e., harmless error</a:t>
            </a:r>
          </a:p>
        </p:txBody>
      </p:sp>
    </p:spTree>
    <p:extLst>
      <p:ext uri="{BB962C8B-B14F-4D97-AF65-F5344CB8AC3E}">
        <p14:creationId xmlns:p14="http://schemas.microsoft.com/office/powerpoint/2010/main" val="318834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3C5F-262F-78C2-9BB3-0B953D82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098087"/>
            <a:ext cx="9603275" cy="587136"/>
          </a:xfrm>
        </p:spPr>
        <p:txBody>
          <a:bodyPr/>
          <a:lstStyle/>
          <a:p>
            <a:r>
              <a:rPr lang="en-US" dirty="0"/>
              <a:t>Takeaways—Finality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1261A-AAE9-4C8E-108E-EB1CAF103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122309"/>
          </a:xfrm>
        </p:spPr>
        <p:txBody>
          <a:bodyPr>
            <a:normAutofit/>
          </a:bodyPr>
          <a:lstStyle/>
          <a:p>
            <a:r>
              <a:rPr lang="en-US" sz="2800" dirty="0"/>
              <a:t>§ 1291 gives appeals court jurisdiction over “all final decisions”</a:t>
            </a:r>
          </a:p>
          <a:p>
            <a:r>
              <a:rPr lang="en-US" sz="2800" dirty="0"/>
              <a:t>In multi-claim or multi-party cases, trial court may enter final judgment for fewer than all claims or parties, 54(b)</a:t>
            </a:r>
          </a:p>
          <a:p>
            <a:r>
              <a:rPr lang="en-US" sz="2800" dirty="0"/>
              <a:t>§ 1292(a), appeals court has jurisdiction over interlocutory orders regarding </a:t>
            </a:r>
            <a:r>
              <a:rPr lang="en-US" sz="2800" u="sng" dirty="0"/>
              <a:t>injunctions</a:t>
            </a:r>
          </a:p>
          <a:p>
            <a:r>
              <a:rPr lang="en-US" sz="2800"/>
              <a:t>§ </a:t>
            </a:r>
            <a:r>
              <a:rPr lang="en-US" sz="2800" dirty="0"/>
              <a:t>1292(</a:t>
            </a:r>
            <a:r>
              <a:rPr lang="en-US" sz="2800"/>
              <a:t>b), district court can </a:t>
            </a:r>
            <a:r>
              <a:rPr lang="en-US" sz="2800" dirty="0"/>
              <a:t>certify controlling questions of law for interlocutory appeal; court of appeals has discretion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37745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8108</TotalTime>
  <Words>1082</Words>
  <Application>Microsoft Macintosh PowerPoint</Application>
  <PresentationFormat>Widescreen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Candara</vt:lpstr>
      <vt:lpstr>Gill Sans MT</vt:lpstr>
      <vt:lpstr>Gallery</vt:lpstr>
      <vt:lpstr>Civil Procedure</vt:lpstr>
      <vt:lpstr>Agenda</vt:lpstr>
      <vt:lpstr>I. RecaP</vt:lpstr>
      <vt:lpstr>Jury Trial Right</vt:lpstr>
      <vt:lpstr>Jury Selection</vt:lpstr>
      <vt:lpstr>II. Judgment as a matter of law (JMOL)</vt:lpstr>
      <vt:lpstr>JMOL—Rule 50</vt:lpstr>
      <vt:lpstr>JMOL—Rule 50</vt:lpstr>
      <vt:lpstr>JMOL—Rule 50</vt:lpstr>
      <vt:lpstr>JMOL—Rule 50</vt:lpstr>
      <vt:lpstr>New Trial—Rule 59</vt:lpstr>
      <vt:lpstr>Harmless Error—Rule 61</vt:lpstr>
      <vt:lpstr>III. Finality &amp; Appeal</vt:lpstr>
      <vt:lpstr>Basics of appeal</vt:lpstr>
      <vt:lpstr>Finality</vt:lpstr>
      <vt:lpstr>Finality</vt:lpstr>
      <vt:lpstr>Finality</vt:lpstr>
      <vt:lpstr>IV. Takeaways</vt:lpstr>
      <vt:lpstr>Takeaways—JMOL</vt:lpstr>
      <vt:lpstr>Takeaways—New trial &amp; harmless error</vt:lpstr>
      <vt:lpstr>Takeaways—Finality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Lanham</dc:creator>
  <cp:lastModifiedBy>Andrew Lanham</cp:lastModifiedBy>
  <cp:revision>368</cp:revision>
  <dcterms:created xsi:type="dcterms:W3CDTF">2024-08-16T15:30:55Z</dcterms:created>
  <dcterms:modified xsi:type="dcterms:W3CDTF">2026-09-25T17:40:33Z</dcterms:modified>
</cp:coreProperties>
</file>