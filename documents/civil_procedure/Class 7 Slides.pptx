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367" r:id="rId5"/>
    <p:sldId id="377" r:id="rId6"/>
    <p:sldId id="370" r:id="rId7"/>
    <p:sldId id="371" r:id="rId8"/>
    <p:sldId id="378" r:id="rId9"/>
    <p:sldId id="381" r:id="rId10"/>
    <p:sldId id="379" r:id="rId11"/>
    <p:sldId id="380" r:id="rId12"/>
    <p:sldId id="393" r:id="rId13"/>
    <p:sldId id="390" r:id="rId14"/>
    <p:sldId id="389" r:id="rId15"/>
    <p:sldId id="391" r:id="rId16"/>
    <p:sldId id="39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527"/>
  </p:normalViewPr>
  <p:slideViewPr>
    <p:cSldViewPr snapToGrid="0">
      <p:cViewPr varScale="1">
        <p:scale>
          <a:sx n="96" d="100"/>
          <a:sy n="96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9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7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6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36C72-0B33-0A48-B3F4-90C09BB8A580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135C-E1F7-457C-793B-6F84BBEA4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Civil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D2300-46B5-4ED8-98CD-7D18437C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46951"/>
            <a:ext cx="8637072" cy="97762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Class 7</a:t>
            </a:r>
          </a:p>
        </p:txBody>
      </p:sp>
    </p:spTree>
    <p:extLst>
      <p:ext uri="{BB962C8B-B14F-4D97-AF65-F5344CB8AC3E}">
        <p14:creationId xmlns:p14="http://schemas.microsoft.com/office/powerpoint/2010/main" val="27447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67AE-F040-67B6-9446-8FC8AA2B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D890-1782-3B9A-A9EE-7CCC33AC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36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3200" dirty="0"/>
              <a:t>Recap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Litigation after </a:t>
            </a:r>
            <a:r>
              <a:rPr lang="en-US" sz="3200" i="1" dirty="0"/>
              <a:t>Twombly</a:t>
            </a:r>
            <a:r>
              <a:rPr lang="en-US" sz="3200" dirty="0"/>
              <a:t> and </a:t>
            </a:r>
            <a:r>
              <a:rPr lang="en-US" sz="3200" i="1" dirty="0"/>
              <a:t>Iqbal</a:t>
            </a:r>
            <a:endParaRPr lang="en-US" sz="3200" dirty="0"/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Takeaways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Writing Essay Answers</a:t>
            </a:r>
          </a:p>
        </p:txBody>
      </p:sp>
    </p:spTree>
    <p:extLst>
      <p:ext uri="{BB962C8B-B14F-4D97-AF65-F5344CB8AC3E}">
        <p14:creationId xmlns:p14="http://schemas.microsoft.com/office/powerpoint/2010/main" val="16898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Recap</a:t>
            </a:r>
          </a:p>
        </p:txBody>
      </p:sp>
    </p:spTree>
    <p:extLst>
      <p:ext uri="{BB962C8B-B14F-4D97-AF65-F5344CB8AC3E}">
        <p14:creationId xmlns:p14="http://schemas.microsoft.com/office/powerpoint/2010/main" val="305369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B4CD-C092-C55F-56AF-B10F1F9C4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46"/>
            <a:ext cx="9603275" cy="719481"/>
          </a:xfrm>
        </p:spPr>
        <p:txBody>
          <a:bodyPr/>
          <a:lstStyle/>
          <a:p>
            <a:r>
              <a:rPr lang="en-US" dirty="0"/>
              <a:t>Plausibility Pleading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7F25B-9114-B2D9-C115-162BBE6AC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91082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Complaint does not need to have exhaustive factual detail,</a:t>
            </a:r>
          </a:p>
          <a:p>
            <a:r>
              <a:rPr lang="en-US" sz="3200" dirty="0"/>
              <a:t>But must allege sufficient </a:t>
            </a:r>
            <a:r>
              <a:rPr lang="en-US" sz="3200" b="1" u="sng" dirty="0"/>
              <a:t>facts</a:t>
            </a:r>
            <a:r>
              <a:rPr lang="en-US" sz="3200" dirty="0"/>
              <a:t>—if we assume those facts are true—to make it “plausible” that the pleader is entitled to relief</a:t>
            </a:r>
          </a:p>
          <a:p>
            <a:r>
              <a:rPr lang="en-US" sz="3200" dirty="0"/>
              <a:t>Mere legal “conclusions” “will not do”—i.e., can’t be just a </a:t>
            </a:r>
            <a:r>
              <a:rPr lang="en-US" sz="3200" b="1" u="sng" dirty="0"/>
              <a:t>conclusory</a:t>
            </a:r>
            <a:r>
              <a:rPr lang="en-US" sz="3200" dirty="0"/>
              <a:t> assertion that the defendant acted unlawfully</a:t>
            </a:r>
          </a:p>
        </p:txBody>
      </p:sp>
    </p:spTree>
    <p:extLst>
      <p:ext uri="{BB962C8B-B14F-4D97-AF65-F5344CB8AC3E}">
        <p14:creationId xmlns:p14="http://schemas.microsoft.com/office/powerpoint/2010/main" val="344669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B4CD-C092-C55F-56AF-B10F1F9C4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46"/>
            <a:ext cx="9603275" cy="719481"/>
          </a:xfrm>
        </p:spPr>
        <p:txBody>
          <a:bodyPr/>
          <a:lstStyle/>
          <a:p>
            <a:r>
              <a:rPr lang="en-US" dirty="0"/>
              <a:t>What does “plausibility”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7F25B-9114-B2D9-C115-162BBE6AC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2005221"/>
            <a:ext cx="9603275" cy="4017206"/>
          </a:xfrm>
        </p:spPr>
        <p:txBody>
          <a:bodyPr>
            <a:normAutofit/>
          </a:bodyPr>
          <a:lstStyle/>
          <a:p>
            <a:pPr lvl="1"/>
            <a:r>
              <a:rPr lang="en-US" sz="3000" dirty="0"/>
              <a:t>Must cross “the line between possibility and plausibility,” or be “above the speculative level”</a:t>
            </a:r>
          </a:p>
          <a:p>
            <a:pPr lvl="1"/>
            <a:r>
              <a:rPr lang="en-US" sz="3000" dirty="0"/>
              <a:t>Must “raise a reasonable expectation that discovery will reveal evidence” for the claim</a:t>
            </a:r>
          </a:p>
          <a:p>
            <a:pPr lvl="1"/>
            <a:r>
              <a:rPr lang="en-US" sz="3000" dirty="0"/>
              <a:t>Can’t just be a “naked assertion” that “the-defendant-unlawfully-harmed-me,” because that could be copy-pasted into </a:t>
            </a:r>
            <a:r>
              <a:rPr lang="en-US" sz="3000" u="sng" dirty="0"/>
              <a:t>any</a:t>
            </a:r>
            <a:r>
              <a:rPr lang="en-US" sz="3000" dirty="0"/>
              <a:t> complaint about that kind of claim</a:t>
            </a:r>
          </a:p>
        </p:txBody>
      </p:sp>
    </p:spTree>
    <p:extLst>
      <p:ext uri="{BB962C8B-B14F-4D97-AF65-F5344CB8AC3E}">
        <p14:creationId xmlns:p14="http://schemas.microsoft.com/office/powerpoint/2010/main" val="257045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5DC5E-79C8-78F6-FBAD-DAFDA1004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Litigation after </a:t>
            </a:r>
            <a:r>
              <a:rPr lang="en-US" i="1" dirty="0"/>
              <a:t>Twombly</a:t>
            </a:r>
            <a:r>
              <a:rPr lang="en-US" dirty="0"/>
              <a:t> and </a:t>
            </a:r>
            <a:r>
              <a:rPr lang="en-US" i="1" dirty="0"/>
              <a:t>Iqbal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655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C7AD-0F59-812E-3580-4E6C249DF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007" y="1098087"/>
            <a:ext cx="9603275" cy="587136"/>
          </a:xfrm>
        </p:spPr>
        <p:txBody>
          <a:bodyPr/>
          <a:lstStyle/>
          <a:p>
            <a:r>
              <a:rPr lang="en-US" i="1" dirty="0"/>
              <a:t>Johnson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9013C-7DEE-E18E-92E7-D761EE5E1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0669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A complaint should not be dismissed just because it has “an imperfect statement of the legal theory”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Don’t need to “invoke [the exact law] expressly in order to state a claim”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But can include the specific law “for clarification”</a:t>
            </a:r>
          </a:p>
        </p:txBody>
      </p:sp>
    </p:spTree>
    <p:extLst>
      <p:ext uri="{BB962C8B-B14F-4D97-AF65-F5344CB8AC3E}">
        <p14:creationId xmlns:p14="http://schemas.microsoft.com/office/powerpoint/2010/main" val="7171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A52E6-8B57-0596-B0D9-911A04392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i="1" dirty="0"/>
              <a:t>In re text messaging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468A-7ED7-A91F-03E9-EDC0DD662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31124" cy="3794588"/>
          </a:xfrm>
        </p:spPr>
        <p:txBody>
          <a:bodyPr>
            <a:normAutofit/>
          </a:bodyPr>
          <a:lstStyle/>
          <a:p>
            <a:r>
              <a:rPr lang="en-US" sz="3200" dirty="0"/>
              <a:t>Can reach the “plausibility” threshold with circumstantial evidence,</a:t>
            </a:r>
          </a:p>
          <a:p>
            <a:r>
              <a:rPr lang="en-US" sz="3200" dirty="0"/>
              <a:t>As long as the circumstantial factual allegations—which we assume to be true at this stage—are enough to draw an </a:t>
            </a:r>
            <a:r>
              <a:rPr lang="en-US" sz="3200" u="sng" dirty="0"/>
              <a:t>inference</a:t>
            </a:r>
            <a:r>
              <a:rPr lang="en-US" sz="3200" dirty="0"/>
              <a:t> of wrongdoing</a:t>
            </a:r>
          </a:p>
        </p:txBody>
      </p:sp>
    </p:spTree>
    <p:extLst>
      <p:ext uri="{BB962C8B-B14F-4D97-AF65-F5344CB8AC3E}">
        <p14:creationId xmlns:p14="http://schemas.microsoft.com/office/powerpoint/2010/main" val="340660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1D01-C58A-24F0-D604-B1000F10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E60F0-4BB4-BB8E-C542-D8B4A233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i="1" dirty="0"/>
              <a:t>Swanson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CA99B-491B-D430-734E-995AAB69C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31124" cy="3794588"/>
          </a:xfrm>
        </p:spPr>
        <p:txBody>
          <a:bodyPr>
            <a:normAutofit/>
          </a:bodyPr>
          <a:lstStyle/>
          <a:p>
            <a:r>
              <a:rPr lang="en-US" sz="3200" dirty="0"/>
              <a:t>“‘Plausibility’ . . . does not imply that the district court should decide whose version to believe, or which version is more likely than not”</a:t>
            </a:r>
          </a:p>
          <a:p>
            <a:r>
              <a:rPr lang="en-US" sz="3200" dirty="0"/>
              <a:t>Instead, “the court will ask itself </a:t>
            </a:r>
            <a:r>
              <a:rPr lang="en-US" sz="3200" i="1" dirty="0"/>
              <a:t>could</a:t>
            </a:r>
            <a:r>
              <a:rPr lang="en-US" sz="3200" dirty="0"/>
              <a:t> these things have happened, not </a:t>
            </a:r>
            <a:r>
              <a:rPr lang="en-US" sz="3200" i="1" dirty="0"/>
              <a:t>did</a:t>
            </a:r>
            <a:r>
              <a:rPr lang="en-US" sz="3200" dirty="0"/>
              <a:t> they happen”</a:t>
            </a:r>
          </a:p>
        </p:txBody>
      </p:sp>
    </p:spTree>
    <p:extLst>
      <p:ext uri="{BB962C8B-B14F-4D97-AF65-F5344CB8AC3E}">
        <p14:creationId xmlns:p14="http://schemas.microsoft.com/office/powerpoint/2010/main" val="401662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CCB8-ADE8-5DA2-654B-F462D41A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Takeaways</a:t>
            </a:r>
          </a:p>
        </p:txBody>
      </p:sp>
    </p:spTree>
    <p:extLst>
      <p:ext uri="{BB962C8B-B14F-4D97-AF65-F5344CB8AC3E}">
        <p14:creationId xmlns:p14="http://schemas.microsoft.com/office/powerpoint/2010/main" val="3617505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C7AD-0F59-812E-3580-4E6C249DF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007" y="1098087"/>
            <a:ext cx="9603275" cy="587136"/>
          </a:xfrm>
        </p:spPr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9013C-7DEE-E18E-92E7-D761EE5E1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06696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Complaint doesn’t need to “invoke [the exact law] expressly in order to state a claim” (</a:t>
            </a:r>
            <a:r>
              <a:rPr lang="en-US" sz="3200" i="1" dirty="0"/>
              <a:t>Johnson</a:t>
            </a:r>
            <a:r>
              <a:rPr lang="en-US" sz="3200" dirty="0"/>
              <a:t>)</a:t>
            </a:r>
          </a:p>
          <a:p>
            <a:r>
              <a:rPr lang="en-US" sz="3200" dirty="0"/>
              <a:t>Can reach “plausibility” with circumstantial evidence, if circumstantial factual allegations—which we assume are true—are enough to </a:t>
            </a:r>
            <a:r>
              <a:rPr lang="en-US" sz="3200" u="sng" dirty="0"/>
              <a:t>infer</a:t>
            </a:r>
            <a:r>
              <a:rPr lang="en-US" sz="3200" dirty="0"/>
              <a:t> wrongdoing (</a:t>
            </a:r>
            <a:r>
              <a:rPr lang="en-US" sz="3200" i="1" dirty="0"/>
              <a:t>Text Messaging</a:t>
            </a:r>
            <a:r>
              <a:rPr lang="en-US" sz="3200" dirty="0"/>
              <a:t>)</a:t>
            </a:r>
          </a:p>
          <a:p>
            <a:r>
              <a:rPr lang="en-US" sz="3200" dirty="0"/>
              <a:t>Doesn’t have to be the </a:t>
            </a:r>
            <a:r>
              <a:rPr lang="en-US" sz="3200" u="sng" dirty="0"/>
              <a:t>most likely</a:t>
            </a:r>
            <a:r>
              <a:rPr lang="en-US" sz="3200" dirty="0"/>
              <a:t> inference, as long as it’s a </a:t>
            </a:r>
            <a:r>
              <a:rPr lang="en-US" sz="3200" u="sng" dirty="0"/>
              <a:t>plausible</a:t>
            </a:r>
            <a:r>
              <a:rPr lang="en-US" sz="3200" dirty="0"/>
              <a:t> one (</a:t>
            </a:r>
            <a:r>
              <a:rPr lang="en-US" sz="3200" i="1" dirty="0"/>
              <a:t>Swanson</a:t>
            </a:r>
            <a:r>
              <a:rPr lang="en-US" sz="3200" dirty="0"/>
              <a:t>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3752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5F99-391F-610E-A0D8-1EF7A757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1025237"/>
            <a:ext cx="9603275" cy="740501"/>
          </a:xfrm>
        </p:spPr>
        <p:txBody>
          <a:bodyPr/>
          <a:lstStyle/>
          <a:p>
            <a:r>
              <a:rPr lang="en-US" dirty="0"/>
              <a:t>Hypo: Is this Complaint Plausible?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F4DB-0440-A625-4B48-087712250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9603274" cy="4037749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2800" dirty="0"/>
              <a:t>To win a claim for “constructive discharge,” an employee must show that their employer: (1) acted deliberately to (2) subject them to working conditions that a reasonable person would find intolerable. Imagine the relevant portion of a complaint says:</a:t>
            </a:r>
          </a:p>
          <a:p>
            <a:pPr marL="0" indent="0">
              <a:buNone/>
            </a:pPr>
            <a:r>
              <a:rPr lang="en-US" sz="2800" dirty="0"/>
              <a:t>“I am an accountant. A few months after I began work, suddenly I had to work in total darkness, while the worst music in the world was blasting from speakers. My employer deliberately created those conditions.”</a:t>
            </a:r>
          </a:p>
        </p:txBody>
      </p:sp>
    </p:spTree>
    <p:extLst>
      <p:ext uri="{BB962C8B-B14F-4D97-AF65-F5344CB8AC3E}">
        <p14:creationId xmlns:p14="http://schemas.microsoft.com/office/powerpoint/2010/main" val="673820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F3D5-384C-E812-04A7-CFA8E704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 Answering Essay Questions</a:t>
            </a:r>
          </a:p>
        </p:txBody>
      </p:sp>
    </p:spTree>
    <p:extLst>
      <p:ext uri="{BB962C8B-B14F-4D97-AF65-F5344CB8AC3E}">
        <p14:creationId xmlns:p14="http://schemas.microsoft.com/office/powerpoint/2010/main" val="2733082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0E99-F38E-5AC6-881E-AD253C2A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72"/>
            <a:ext cx="9603275" cy="711765"/>
          </a:xfrm>
        </p:spPr>
        <p:txBody>
          <a:bodyPr/>
          <a:lstStyle/>
          <a:p>
            <a:r>
              <a:rPr lang="en-US" dirty="0"/>
              <a:t>Essay Question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37881-5361-7CCC-0F78-07BF16373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9402"/>
          </a:xfrm>
        </p:spPr>
        <p:txBody>
          <a:bodyPr>
            <a:normAutofit/>
          </a:bodyPr>
          <a:lstStyle/>
          <a:p>
            <a:r>
              <a:rPr lang="en-US" sz="2800" dirty="0"/>
              <a:t>I will give you a fact pattern and then ask a series of questions based on those facts, asking you to address the case at various stages in the litigation process</a:t>
            </a:r>
          </a:p>
          <a:p>
            <a:r>
              <a:rPr lang="en-US" sz="2800" dirty="0"/>
              <a:t>E.g., a question might ask you to apply the standard for “notice,” or to apply the “plausibility” standard to a hypothetical Complaint, or to apply the preliminary injunction test, etc.</a:t>
            </a:r>
          </a:p>
        </p:txBody>
      </p:sp>
    </p:spTree>
    <p:extLst>
      <p:ext uri="{BB962C8B-B14F-4D97-AF65-F5344CB8AC3E}">
        <p14:creationId xmlns:p14="http://schemas.microsoft.com/office/powerpoint/2010/main" val="668718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0E99-F38E-5AC6-881E-AD253C2A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72"/>
            <a:ext cx="9603275" cy="711765"/>
          </a:xfrm>
        </p:spPr>
        <p:txBody>
          <a:bodyPr/>
          <a:lstStyle/>
          <a:p>
            <a:r>
              <a:rPr lang="en-US" dirty="0"/>
              <a:t>Tips for drafting an answer: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37881-5361-7CCC-0F78-07BF16373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940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Read the problem through carefully at least once, taking notes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Identify: (a) what the question is asking you; (b) what law you plan to apply; and (c) the key facts for applying that law to the case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It is often helpful to make an outline of your answer, before writing it up in full sentence and paragraph form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29702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53708-D2F1-D92C-2C05-3AF71189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A392-3B07-76EF-3354-BBB96F7B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72"/>
            <a:ext cx="9603275" cy="711765"/>
          </a:xfrm>
        </p:spPr>
        <p:txBody>
          <a:bodyPr/>
          <a:lstStyle/>
          <a:p>
            <a:r>
              <a:rPr lang="en-US" dirty="0"/>
              <a:t>Structuring your answer—IRAC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281A2-7479-6F7F-B38A-2F31A6038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04157"/>
            <a:ext cx="10104317" cy="4049402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US" sz="2600" b="1" dirty="0"/>
              <a:t>Issue:</a:t>
            </a:r>
            <a:r>
              <a:rPr lang="en-US" sz="2600" dirty="0"/>
              <a:t> State the issue you’re addressing, e.g., “The issue is whether there was sufficient notice.”</a:t>
            </a:r>
          </a:p>
          <a:p>
            <a:pPr>
              <a:spcAft>
                <a:spcPts val="600"/>
              </a:spcAft>
            </a:pPr>
            <a:r>
              <a:rPr lang="en-US" sz="2600" b="1" dirty="0"/>
              <a:t>Rule:</a:t>
            </a:r>
            <a:r>
              <a:rPr lang="en-US" sz="2600" dirty="0"/>
              <a:t> Explain the legal rules that apply, e.g., “Notice must be reasonably calculated, in all the circumstances, to apprise the party…” Citations to case names are not needed on </a:t>
            </a:r>
            <a:r>
              <a:rPr lang="en-US" sz="2600"/>
              <a:t>my exams.</a:t>
            </a:r>
            <a:endParaRPr lang="en-US" sz="2600" dirty="0"/>
          </a:p>
          <a:p>
            <a:pPr>
              <a:spcAft>
                <a:spcPts val="600"/>
              </a:spcAft>
            </a:pPr>
            <a:r>
              <a:rPr lang="en-US" sz="2600" b="1" dirty="0"/>
              <a:t>Analysis/Application:</a:t>
            </a:r>
            <a:r>
              <a:rPr lang="en-US" sz="2600" dirty="0"/>
              <a:t> Analyze how the legal rules apply to the facts, and be factually </a:t>
            </a:r>
            <a:r>
              <a:rPr lang="en-US" sz="2600" u="sng" dirty="0"/>
              <a:t>detailed</a:t>
            </a:r>
            <a:r>
              <a:rPr lang="en-US" sz="2600" dirty="0"/>
              <a:t>. E.g., “In this case, notice was insufficient, because it was unreasonable to send it by carrier pigeon…”</a:t>
            </a:r>
          </a:p>
          <a:p>
            <a:pPr>
              <a:spcAft>
                <a:spcPts val="600"/>
              </a:spcAft>
            </a:pPr>
            <a:r>
              <a:rPr lang="en-US" sz="2600" b="1" dirty="0"/>
              <a:t>Conclusion:</a:t>
            </a:r>
            <a:r>
              <a:rPr lang="en-US" sz="2600" dirty="0"/>
              <a:t> State your overall conclusion, e.g., “Thus, notice was insufficient.”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09880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3255</TotalTime>
  <Words>747</Words>
  <Application>Microsoft Macintosh PowerPoint</Application>
  <PresentationFormat>Widescreen</PresentationFormat>
  <Paragraphs>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Candara</vt:lpstr>
      <vt:lpstr>Gill Sans MT</vt:lpstr>
      <vt:lpstr>Gallery</vt:lpstr>
      <vt:lpstr>Civil Procedure</vt:lpstr>
      <vt:lpstr>Agenda</vt:lpstr>
      <vt:lpstr>I. Recap</vt:lpstr>
      <vt:lpstr>Plausibility Pleading</vt:lpstr>
      <vt:lpstr>What does “plausibility” mean?</vt:lpstr>
      <vt:lpstr>II. Litigation after Twombly and Iqbal</vt:lpstr>
      <vt:lpstr>Johnson</vt:lpstr>
      <vt:lpstr>In re text messaging</vt:lpstr>
      <vt:lpstr>Swanson</vt:lpstr>
      <vt:lpstr>III. Takeaways</vt:lpstr>
      <vt:lpstr>Takeaways</vt:lpstr>
      <vt:lpstr>Hypo: Is this Complaint Plausible?</vt:lpstr>
      <vt:lpstr>IV.  Answering Essay Questions</vt:lpstr>
      <vt:lpstr>Essay Question Style</vt:lpstr>
      <vt:lpstr>Tips for drafting an answer:</vt:lpstr>
      <vt:lpstr>Structuring your answer—IRAC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Lanham</dc:creator>
  <cp:lastModifiedBy>Andrew Lanham</cp:lastModifiedBy>
  <cp:revision>206</cp:revision>
  <dcterms:created xsi:type="dcterms:W3CDTF">2024-08-16T15:30:55Z</dcterms:created>
  <dcterms:modified xsi:type="dcterms:W3CDTF">2026-09-04T14:03:49Z</dcterms:modified>
</cp:coreProperties>
</file>