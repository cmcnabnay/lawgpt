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342" r:id="rId5"/>
    <p:sldId id="341" r:id="rId6"/>
    <p:sldId id="363" r:id="rId7"/>
    <p:sldId id="343" r:id="rId8"/>
    <p:sldId id="344" r:id="rId9"/>
    <p:sldId id="345" r:id="rId10"/>
    <p:sldId id="358" r:id="rId11"/>
    <p:sldId id="346" r:id="rId12"/>
    <p:sldId id="347" r:id="rId13"/>
    <p:sldId id="348" r:id="rId14"/>
    <p:sldId id="354" r:id="rId15"/>
    <p:sldId id="362" r:id="rId16"/>
    <p:sldId id="359" r:id="rId17"/>
    <p:sldId id="360" r:id="rId18"/>
    <p:sldId id="351" r:id="rId19"/>
    <p:sldId id="352" r:id="rId20"/>
    <p:sldId id="355" r:id="rId21"/>
    <p:sldId id="36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3"/>
    <p:restoredTop sz="94675"/>
  </p:normalViewPr>
  <p:slideViewPr>
    <p:cSldViewPr snapToGrid="0">
      <p:cViewPr varScale="1">
        <p:scale>
          <a:sx n="105" d="100"/>
          <a:sy n="105" d="100"/>
        </p:scale>
        <p:origin x="1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Class 5</a:t>
            </a: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Recap: Opportunity to be Heard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Pleading—Introduction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The Pleading Standard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What Does a Complaint Look Like?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Recap</a:t>
            </a:r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BA01-38D8-4BDF-2E9E-D6F5C26BA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3409"/>
            <a:ext cx="9603275" cy="716729"/>
          </a:xfrm>
        </p:spPr>
        <p:txBody>
          <a:bodyPr>
            <a:normAutofit/>
          </a:bodyPr>
          <a:lstStyle/>
          <a:p>
            <a:r>
              <a:rPr lang="en-US" dirty="0"/>
              <a:t>Opportunity to be heard: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70A1-B019-5327-A223-0715C4C7C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36848"/>
            <a:ext cx="9603275" cy="3870156"/>
          </a:xfrm>
        </p:spPr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“The right to notice and an opportunity to be heard ‘must be granted at a meaningful time and in a meaningful manner’” so parties can “speak up in [their] own defense”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Unless there are “extraordinary circumstances,” typically there must be some opportunity to be heard </a:t>
            </a:r>
            <a:r>
              <a:rPr lang="en-US" sz="3200" u="sng" dirty="0"/>
              <a:t>before</a:t>
            </a:r>
            <a:r>
              <a:rPr lang="en-US" sz="3200" dirty="0"/>
              <a:t> a “significant property interest” is seized (</a:t>
            </a:r>
            <a:r>
              <a:rPr lang="en-US" sz="3200" i="1" dirty="0"/>
              <a:t>Fuentes v. Shevin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653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1C29-2F56-40DD-FBCB-C9EBCD19A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Opportunity to be heard:</a:t>
            </a:r>
            <a:br>
              <a:rPr lang="en-US" dirty="0"/>
            </a:br>
            <a:r>
              <a:rPr lang="en-US" i="1" dirty="0"/>
              <a:t>Connecticut v. </a:t>
            </a:r>
            <a:r>
              <a:rPr lang="en-US" i="1" dirty="0" err="1"/>
              <a:t>Doehr</a:t>
            </a:r>
            <a:r>
              <a:rPr lang="en-US" dirty="0"/>
              <a:t> Due Process Test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C741C-3E6E-B47C-DB7F-E81743F82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/>
              <a:t>Balancing test: 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Private interest affected;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Risk of erroneous deprivation, </a:t>
            </a:r>
            <a:r>
              <a:rPr lang="en-US" sz="3200" u="sng" dirty="0"/>
              <a:t>and</a:t>
            </a:r>
            <a:r>
              <a:rPr lang="en-US" sz="3200" dirty="0"/>
              <a:t> likely value of additional procedural safeguards;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3200" dirty="0"/>
              <a:t>Burden of more procedure for the party seeking the deprivation, and any burden on government</a:t>
            </a:r>
          </a:p>
          <a:p>
            <a:pPr marL="0" indent="0">
              <a:buNone/>
            </a:pPr>
            <a:r>
              <a:rPr lang="en-US" sz="3200" dirty="0"/>
              <a:t>(If it’s the government taking property, the third factor is just the burden on the government, see </a:t>
            </a:r>
            <a:r>
              <a:rPr lang="en-US" sz="3200" i="1" dirty="0"/>
              <a:t>Mathews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0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8827-13CA-86C8-41E8-46E1A899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064C-A039-BB85-8A54-82AC8B05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Hypos: Opportunity to be Heard</a:t>
            </a:r>
          </a:p>
        </p:txBody>
      </p:sp>
    </p:spTree>
    <p:extLst>
      <p:ext uri="{BB962C8B-B14F-4D97-AF65-F5344CB8AC3E}">
        <p14:creationId xmlns:p14="http://schemas.microsoft.com/office/powerpoint/2010/main" val="716794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C218-2836-B524-EB0A-59A67E8F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77744"/>
            <a:ext cx="9603275" cy="604403"/>
          </a:xfrm>
        </p:spPr>
        <p:txBody>
          <a:bodyPr/>
          <a:lstStyle/>
          <a:p>
            <a:r>
              <a:rPr lang="en-US" dirty="0"/>
              <a:t>Hypo: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9EB21-592F-322C-D3DE-459BB651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92651"/>
            <a:ext cx="9463348" cy="394516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3200" dirty="0"/>
              <a:t>O’Quinn State University makes all its undergraduate admissions decisions by putting the applicants’ names into a Google Spreadsheet, hitting the “randomize” button, and accepting the first 300 names on the list.</a:t>
            </a:r>
          </a:p>
          <a:p>
            <a:pPr>
              <a:spcAft>
                <a:spcPts val="1800"/>
              </a:spcAft>
            </a:pPr>
            <a:r>
              <a:rPr lang="en-US" sz="3200" dirty="0"/>
              <a:t>If we use the </a:t>
            </a:r>
            <a:r>
              <a:rPr lang="en-US" sz="3200" i="1" dirty="0"/>
              <a:t>Mathews/</a:t>
            </a:r>
            <a:r>
              <a:rPr lang="en-US" sz="3200" i="1" dirty="0" err="1"/>
              <a:t>Doehr</a:t>
            </a:r>
            <a:r>
              <a:rPr lang="en-US" sz="3200" dirty="0"/>
              <a:t> factors to evaluate that process, is the process sufficient?</a:t>
            </a:r>
          </a:p>
        </p:txBody>
      </p:sp>
    </p:spTree>
    <p:extLst>
      <p:ext uri="{BB962C8B-B14F-4D97-AF65-F5344CB8AC3E}">
        <p14:creationId xmlns:p14="http://schemas.microsoft.com/office/powerpoint/2010/main" val="355492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C218-2836-B524-EB0A-59A67E8F8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09794"/>
            <a:ext cx="9603275" cy="697710"/>
          </a:xfrm>
        </p:spPr>
        <p:txBody>
          <a:bodyPr/>
          <a:lstStyle/>
          <a:p>
            <a:r>
              <a:rPr lang="en-US" dirty="0"/>
              <a:t>Hypo: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9EB21-592F-322C-D3DE-459BB6516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0524"/>
            <a:ext cx="9428624" cy="3725243"/>
          </a:xfrm>
        </p:spPr>
        <p:txBody>
          <a:bodyPr>
            <a:normAutofit/>
          </a:bodyPr>
          <a:lstStyle/>
          <a:p>
            <a:r>
              <a:rPr lang="en-US" sz="3200" dirty="0"/>
              <a:t>O’Quinn State University makes all its undergraduate admissions decisions solely based on applicants’ high school GPAs.</a:t>
            </a:r>
          </a:p>
          <a:p>
            <a:r>
              <a:rPr lang="en-US" sz="3200" dirty="0"/>
              <a:t>If we apply the </a:t>
            </a:r>
            <a:r>
              <a:rPr lang="en-US" sz="3200" i="1" dirty="0"/>
              <a:t>Mathews/</a:t>
            </a:r>
            <a:r>
              <a:rPr lang="en-US" sz="3200" i="1" dirty="0" err="1"/>
              <a:t>Doehr</a:t>
            </a:r>
            <a:r>
              <a:rPr lang="en-US" sz="3200" dirty="0"/>
              <a:t> factors, is that process sufficient?</a:t>
            </a:r>
          </a:p>
        </p:txBody>
      </p:sp>
    </p:spTree>
    <p:extLst>
      <p:ext uri="{BB962C8B-B14F-4D97-AF65-F5344CB8AC3E}">
        <p14:creationId xmlns:p14="http://schemas.microsoft.com/office/powerpoint/2010/main" val="3269710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DB19-3107-5366-DEB1-7A284BB4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Pleading—Introduction</a:t>
            </a:r>
          </a:p>
        </p:txBody>
      </p:sp>
    </p:spTree>
    <p:extLst>
      <p:ext uri="{BB962C8B-B14F-4D97-AF65-F5344CB8AC3E}">
        <p14:creationId xmlns:p14="http://schemas.microsoft.com/office/powerpoint/2010/main" val="1287922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FDDDD-E364-CC46-869A-60EF5BA5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CAC2-E8A3-9595-A13E-016BDD67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6445"/>
            <a:ext cx="9603275" cy="632395"/>
          </a:xfrm>
        </p:spPr>
        <p:txBody>
          <a:bodyPr/>
          <a:lstStyle/>
          <a:p>
            <a:r>
              <a:rPr lang="en-US" dirty="0"/>
              <a:t>What is Pleading?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023F3-C8AB-D198-AB32-E8838EDE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A plaintiff starts a court case by submitting a pleading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We say that a plaintiff “pleads” their case to the court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Defendants also “plead” defenses—more on that later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So a “pleading” is a document in which a party states their claims or defenses to the court</a:t>
            </a:r>
          </a:p>
          <a:p>
            <a:pPr>
              <a:spcAft>
                <a:spcPts val="120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0439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F544-CF97-8659-E3EF-7922841E5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6445"/>
            <a:ext cx="9603275" cy="632395"/>
          </a:xfrm>
        </p:spPr>
        <p:txBody>
          <a:bodyPr/>
          <a:lstStyle/>
          <a:p>
            <a:r>
              <a:rPr lang="en-US" dirty="0"/>
              <a:t>Pre-Modern Pleading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A76BF-32D7-1D12-042B-BC60F1F65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Old common-law procedure had a limited number of types of cases, and plaintiffs had to fit their case into a pre-existing mold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That could be hard! The system was very formal and technical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In the 1800s, “code pleading” simplified pleading to focus on </a:t>
            </a:r>
            <a:r>
              <a:rPr lang="en-US" sz="3200" u="sng" dirty="0"/>
              <a:t>facts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In 1938, the Federal Rules made things simpler in federal court by shifting to “notice pleading”</a:t>
            </a:r>
          </a:p>
        </p:txBody>
      </p:sp>
    </p:spTree>
    <p:extLst>
      <p:ext uri="{BB962C8B-B14F-4D97-AF65-F5344CB8AC3E}">
        <p14:creationId xmlns:p14="http://schemas.microsoft.com/office/powerpoint/2010/main" val="45481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3A20-285F-80F0-BA8D-2DEC442A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7785"/>
            <a:ext cx="9603275" cy="735032"/>
          </a:xfrm>
        </p:spPr>
        <p:txBody>
          <a:bodyPr/>
          <a:lstStyle/>
          <a:p>
            <a:r>
              <a:rPr lang="en-US" dirty="0"/>
              <a:t>Pleading under the Federal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0C17D-3508-D341-5846-3A34CED9B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Rule 2: One form of action, the “civil action”</a:t>
            </a:r>
          </a:p>
          <a:p>
            <a:r>
              <a:rPr lang="en-US" sz="3200" dirty="0"/>
              <a:t>Rule 3: Plaintiff starts a “civil action” by “filing a complaint”</a:t>
            </a:r>
          </a:p>
          <a:p>
            <a:r>
              <a:rPr lang="en-US" sz="3200" dirty="0"/>
              <a:t>Rule 7: Basic types of pleadings are</a:t>
            </a:r>
          </a:p>
          <a:p>
            <a:pPr lvl="1"/>
            <a:r>
              <a:rPr lang="en-US" sz="3200" dirty="0"/>
              <a:t>Complaint (by Plaintiff)</a:t>
            </a:r>
          </a:p>
          <a:p>
            <a:pPr lvl="1"/>
            <a:r>
              <a:rPr lang="en-US" sz="3200" dirty="0"/>
              <a:t>Answer (by Defendant)</a:t>
            </a:r>
          </a:p>
          <a:p>
            <a:pPr lvl="1"/>
            <a:r>
              <a:rPr lang="en-US" sz="3200" dirty="0"/>
              <a:t>If the court orders it, a Reply to the Answer</a:t>
            </a:r>
          </a:p>
          <a:p>
            <a:pPr lvl="1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23275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BA51-5416-B623-C288-0E02E1B9E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465"/>
            <a:ext cx="9603275" cy="688379"/>
          </a:xfrm>
        </p:spPr>
        <p:txBody>
          <a:bodyPr/>
          <a:lstStyle/>
          <a:p>
            <a:r>
              <a:rPr lang="en-US" dirty="0"/>
              <a:t>Content of Pleadings: Rule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553F5-C0BF-0D74-6016-61D2F5A3F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8(a), Complaint must have “short and plain statement of the claim showing that the pleader is entitled to relief” </a:t>
            </a:r>
            <a:r>
              <a:rPr lang="en-US" sz="3200" u="sng" dirty="0"/>
              <a:t>and</a:t>
            </a:r>
            <a:r>
              <a:rPr lang="en-US" sz="3200" dirty="0"/>
              <a:t> “a demand for the relief sought”</a:t>
            </a:r>
          </a:p>
          <a:p>
            <a:r>
              <a:rPr lang="en-US" sz="3200" dirty="0"/>
              <a:t>8(d), must be “simple, concise, and direct”</a:t>
            </a:r>
          </a:p>
          <a:p>
            <a:r>
              <a:rPr lang="en-US" sz="3200" dirty="0"/>
              <a:t>8(e), courts should construe pleadings “to do justice”</a:t>
            </a:r>
          </a:p>
        </p:txBody>
      </p:sp>
    </p:spTree>
    <p:extLst>
      <p:ext uri="{BB962C8B-B14F-4D97-AF65-F5344CB8AC3E}">
        <p14:creationId xmlns:p14="http://schemas.microsoft.com/office/powerpoint/2010/main" val="266970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22F4-5E74-88CD-7CD6-1FF33B7A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12429"/>
            <a:ext cx="9603275" cy="595073"/>
          </a:xfrm>
        </p:spPr>
        <p:txBody>
          <a:bodyPr/>
          <a:lstStyle/>
          <a:p>
            <a:r>
              <a:rPr lang="en-US" dirty="0"/>
              <a:t>Hypo: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9B58-693E-9A36-13B9-10142FC06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4037749"/>
          </a:xfrm>
        </p:spPr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Imagine this is the entirety of the Complaint. Does it meet the requirements of Rule 8?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“I really like the idea of being paid $10,000 by the Defendant.”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8(a)(2), it needs to “show[] that the pleader is entitled to relief”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“I would like money” probably doesn’t </a:t>
            </a:r>
            <a:r>
              <a:rPr lang="en-US" sz="2800" u="sng" dirty="0"/>
              <a:t>show</a:t>
            </a:r>
            <a:r>
              <a:rPr lang="en-US" sz="2800" dirty="0"/>
              <a:t> any legal right to it!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We will see how much the Complaint has to “show” to be enough</a:t>
            </a:r>
          </a:p>
        </p:txBody>
      </p:sp>
    </p:spTree>
    <p:extLst>
      <p:ext uri="{BB962C8B-B14F-4D97-AF65-F5344CB8AC3E}">
        <p14:creationId xmlns:p14="http://schemas.microsoft.com/office/powerpoint/2010/main" val="125880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FADA9-BC1D-A6BF-3DEE-25BF2FA7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0709-CD9D-317D-5F23-314AE25E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12429"/>
            <a:ext cx="9603275" cy="595073"/>
          </a:xfrm>
        </p:spPr>
        <p:txBody>
          <a:bodyPr/>
          <a:lstStyle/>
          <a:p>
            <a:r>
              <a:rPr lang="en-US" dirty="0"/>
              <a:t>Hypo: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844FE-29BD-D3AC-FC5C-83DF1A32B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403774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dirty="0"/>
              <a:t>Imagine this is the entirety of the Complaint. Does it meet the requirements of Rule 8?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“On May 1, 2024, the defendant hit me and broke my nose.”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8(a)(3), it also needs “a demand for the relief sought”</a:t>
            </a:r>
          </a:p>
          <a:p>
            <a:pPr>
              <a:spcAft>
                <a:spcPts val="1200"/>
              </a:spcAft>
            </a:pPr>
            <a:r>
              <a:rPr lang="en-US" sz="2800" dirty="0"/>
              <a:t>E.g., “I therefore request $10,000 in medical costs for an emergency room visit for my broken nose.”</a:t>
            </a:r>
          </a:p>
        </p:txBody>
      </p:sp>
    </p:spTree>
    <p:extLst>
      <p:ext uri="{BB962C8B-B14F-4D97-AF65-F5344CB8AC3E}">
        <p14:creationId xmlns:p14="http://schemas.microsoft.com/office/powerpoint/2010/main" val="117094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8795C-519B-0689-93C0-0150157D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389A-441A-2A9B-9561-EFA4A41D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The Pleading Standard</a:t>
            </a:r>
          </a:p>
        </p:txBody>
      </p:sp>
    </p:spTree>
    <p:extLst>
      <p:ext uri="{BB962C8B-B14F-4D97-AF65-F5344CB8AC3E}">
        <p14:creationId xmlns:p14="http://schemas.microsoft.com/office/powerpoint/2010/main" val="1322939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E2DFC-0AE8-5B02-CC8D-69685A09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2882-F7AC-2BA6-309E-DA245EBF3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2131"/>
            <a:ext cx="9603275" cy="679048"/>
          </a:xfrm>
        </p:spPr>
        <p:txBody>
          <a:bodyPr/>
          <a:lstStyle/>
          <a:p>
            <a:r>
              <a:rPr lang="en-US" dirty="0"/>
              <a:t>What do I mean by “pleading standard”?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8C7DA-656F-6BEB-F2E3-593079BB5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5860"/>
          </a:xfrm>
        </p:spPr>
        <p:txBody>
          <a:bodyPr>
            <a:normAutofit/>
          </a:bodyPr>
          <a:lstStyle/>
          <a:p>
            <a:r>
              <a:rPr lang="en-US" sz="3200" dirty="0"/>
              <a:t>The question is:</a:t>
            </a:r>
          </a:p>
          <a:p>
            <a:r>
              <a:rPr lang="en-US" sz="3200" dirty="0"/>
              <a:t>What is the minimum content in a Complaint that is </a:t>
            </a:r>
            <a:r>
              <a:rPr lang="en-US" sz="3200" u="sng" dirty="0"/>
              <a:t>sufficient</a:t>
            </a:r>
            <a:r>
              <a:rPr lang="en-US" sz="3200" dirty="0"/>
              <a:t> to start the lawsuit?</a:t>
            </a:r>
          </a:p>
          <a:p>
            <a:r>
              <a:rPr lang="en-US" sz="3200" dirty="0"/>
              <a:t>If Defendant thinks the Complaint isn’t sufficient, can file a 12(b)(6) motion to dismiss for “failure to state a claim” (we’ll look at this closely later)</a:t>
            </a:r>
          </a:p>
        </p:txBody>
      </p:sp>
    </p:spTree>
    <p:extLst>
      <p:ext uri="{BB962C8B-B14F-4D97-AF65-F5344CB8AC3E}">
        <p14:creationId xmlns:p14="http://schemas.microsoft.com/office/powerpoint/2010/main" val="199469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0BB6-5B21-4407-F143-98FFE667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Sufficiency of the Complaint—</a:t>
            </a:r>
            <a:r>
              <a:rPr lang="en-US" i="1" dirty="0"/>
              <a:t>Dioguardi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CC3CB-574D-2B8F-1E42-975E1859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3974521"/>
          </a:xfrm>
        </p:spPr>
        <p:txBody>
          <a:bodyPr>
            <a:normAutofit/>
          </a:bodyPr>
          <a:lstStyle/>
          <a:p>
            <a:r>
              <a:rPr lang="en-US" sz="3200" dirty="0"/>
              <a:t>A Complaint can be sufficient even if it’s “inartistically” drafted,</a:t>
            </a:r>
          </a:p>
          <a:p>
            <a:r>
              <a:rPr lang="en-US" sz="3200" dirty="0"/>
              <a:t>As long as the Complaint </a:t>
            </a:r>
            <a:r>
              <a:rPr lang="en-US" sz="3200" u="sng" dirty="0"/>
              <a:t>identifies a claim upon which relief can be granted</a:t>
            </a:r>
            <a:endParaRPr lang="en-US" sz="3200" dirty="0"/>
          </a:p>
          <a:p>
            <a:r>
              <a:rPr lang="en-US" sz="3200" dirty="0"/>
              <a:t>A “claim” is an assertion that someone violated a legal right—e.g., a tort claim</a:t>
            </a:r>
          </a:p>
        </p:txBody>
      </p:sp>
    </p:spTree>
    <p:extLst>
      <p:ext uri="{BB962C8B-B14F-4D97-AF65-F5344CB8AC3E}">
        <p14:creationId xmlns:p14="http://schemas.microsoft.com/office/powerpoint/2010/main" val="304737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5BB2-A287-EC66-FFEF-4ED624C03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3768"/>
            <a:ext cx="9603275" cy="651057"/>
          </a:xfrm>
        </p:spPr>
        <p:txBody>
          <a:bodyPr/>
          <a:lstStyle/>
          <a:p>
            <a:r>
              <a:rPr lang="en-US" dirty="0"/>
              <a:t>Sufficiency of the Complaint—</a:t>
            </a:r>
            <a:r>
              <a:rPr lang="en-US" i="1" dirty="0"/>
              <a:t>Conley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A9B8-A1EA-5801-CC99-FE0B37752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sz="3200" dirty="0"/>
              <a:t>“All the Rules require is ‘a short and plain statement of the claim’ that will give the defendant </a:t>
            </a:r>
            <a:r>
              <a:rPr lang="en-US" sz="3200" u="sng" dirty="0"/>
              <a:t>fair notice</a:t>
            </a:r>
            <a:r>
              <a:rPr lang="en-US" sz="3200" dirty="0"/>
              <a:t> of what the plaintiff’s </a:t>
            </a:r>
            <a:r>
              <a:rPr lang="en-US" sz="3200" u="sng" dirty="0"/>
              <a:t>claim is</a:t>
            </a:r>
            <a:r>
              <a:rPr lang="en-US" sz="3200" dirty="0"/>
              <a:t> and the </a:t>
            </a:r>
            <a:r>
              <a:rPr lang="en-US" sz="3200" u="sng" dirty="0"/>
              <a:t>grounds upon which it rests</a:t>
            </a:r>
            <a:r>
              <a:rPr lang="en-US" sz="3200" dirty="0"/>
              <a:t>.”</a:t>
            </a:r>
          </a:p>
          <a:p>
            <a:r>
              <a:rPr lang="en-US" sz="3200" dirty="0"/>
              <a:t>So we need to know (1) the legal “claim” and (2) the factual “grounds” for that claim</a:t>
            </a:r>
          </a:p>
        </p:txBody>
      </p:sp>
    </p:spTree>
    <p:extLst>
      <p:ext uri="{BB962C8B-B14F-4D97-AF65-F5344CB8AC3E}">
        <p14:creationId xmlns:p14="http://schemas.microsoft.com/office/powerpoint/2010/main" val="198828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5BB2-A287-EC66-FFEF-4ED624C03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8455"/>
            <a:ext cx="9603275" cy="735032"/>
          </a:xfrm>
        </p:spPr>
        <p:txBody>
          <a:bodyPr/>
          <a:lstStyle/>
          <a:p>
            <a:r>
              <a:rPr lang="en-US" dirty="0"/>
              <a:t>Sufficiency of the Complaint—</a:t>
            </a:r>
            <a:r>
              <a:rPr lang="en-US" i="1" dirty="0"/>
              <a:t>Conley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A9B8-A1EA-5801-CC99-FE0B37752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500" dirty="0"/>
              <a:t>Legal sufficiency:</a:t>
            </a:r>
          </a:p>
          <a:p>
            <a:pPr lvl="1"/>
            <a:r>
              <a:rPr lang="en-US" sz="2500" dirty="0"/>
              <a:t>The harm alleged in the Complaint must actually be a basis for legal liability—i.e., Defendant’s alleged conduct must violate the law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500" dirty="0"/>
              <a:t>Factual sufficiency:</a:t>
            </a:r>
          </a:p>
          <a:p>
            <a:pPr lvl="1"/>
            <a:r>
              <a:rPr lang="en-US" sz="2500" dirty="0"/>
              <a:t>The Complaint must allege enough facts to notify Defendant of the factual “grounds” for legal liability</a:t>
            </a:r>
          </a:p>
          <a:p>
            <a:r>
              <a:rPr lang="en-US" sz="2500" dirty="0"/>
              <a:t>Next week, we will see the Supreme Court raising the standard for a Complaint to be sufficient</a:t>
            </a:r>
          </a:p>
        </p:txBody>
      </p:sp>
    </p:spTree>
    <p:extLst>
      <p:ext uri="{BB962C8B-B14F-4D97-AF65-F5344CB8AC3E}">
        <p14:creationId xmlns:p14="http://schemas.microsoft.com/office/powerpoint/2010/main" val="337632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D43C-1035-3E47-328C-89476A72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B900-E1DB-301A-1663-C3B60550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239" y="1756130"/>
            <a:ext cx="8986716" cy="1887950"/>
          </a:xfrm>
        </p:spPr>
        <p:txBody>
          <a:bodyPr/>
          <a:lstStyle/>
          <a:p>
            <a:r>
              <a:rPr lang="en-US" dirty="0"/>
              <a:t>IV. What does a complaint look like?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969EC-5F77-B5CB-78BC-763105568E22}"/>
              </a:ext>
            </a:extLst>
          </p:cNvPr>
          <p:cNvSpPr txBox="1"/>
          <p:nvPr/>
        </p:nvSpPr>
        <p:spPr>
          <a:xfrm>
            <a:off x="1558212" y="4040155"/>
            <a:ext cx="7501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i="1" dirty="0"/>
              <a:t>B.L. v. Mahanoy Area School District</a:t>
            </a:r>
          </a:p>
        </p:txBody>
      </p:sp>
    </p:spTree>
    <p:extLst>
      <p:ext uri="{BB962C8B-B14F-4D97-AF65-F5344CB8AC3E}">
        <p14:creationId xmlns:p14="http://schemas.microsoft.com/office/powerpoint/2010/main" val="9870340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2729</TotalTime>
  <Words>977</Words>
  <Application>Microsoft Macintosh PowerPoint</Application>
  <PresentationFormat>Widescreen</PresentationFormat>
  <Paragraphs>77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Candara</vt:lpstr>
      <vt:lpstr>Gill Sans MT</vt:lpstr>
      <vt:lpstr>Gallery</vt:lpstr>
      <vt:lpstr>Civil Procedure</vt:lpstr>
      <vt:lpstr>Agenda</vt:lpstr>
      <vt:lpstr>I. Recap</vt:lpstr>
      <vt:lpstr>Opportunity to be heard:</vt:lpstr>
      <vt:lpstr>Opportunity to be heard: Connecticut v. Doehr Due Process Test</vt:lpstr>
      <vt:lpstr>Hypos: Opportunity to be Heard</vt:lpstr>
      <vt:lpstr>Hypo:</vt:lpstr>
      <vt:lpstr>Hypo:</vt:lpstr>
      <vt:lpstr>II. Pleading—Introduction</vt:lpstr>
      <vt:lpstr>What is Pleading?</vt:lpstr>
      <vt:lpstr>Pre-Modern Pleading</vt:lpstr>
      <vt:lpstr>Pleading under the Federal Rules</vt:lpstr>
      <vt:lpstr>Content of Pleadings: Rule 8</vt:lpstr>
      <vt:lpstr>Hypo:</vt:lpstr>
      <vt:lpstr>Hypo:</vt:lpstr>
      <vt:lpstr>III. The Pleading Standard</vt:lpstr>
      <vt:lpstr>What do I mean by “pleading standard”?</vt:lpstr>
      <vt:lpstr>Sufficiency of the Complaint—Dioguardi</vt:lpstr>
      <vt:lpstr>Sufficiency of the Complaint—Conley</vt:lpstr>
      <vt:lpstr>Sufficiency of the Complaint—Conley</vt:lpstr>
      <vt:lpstr>IV. What does a complaint look like?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Andrew Lanham</cp:lastModifiedBy>
  <cp:revision>199</cp:revision>
  <dcterms:created xsi:type="dcterms:W3CDTF">2024-08-16T15:30:55Z</dcterms:created>
  <dcterms:modified xsi:type="dcterms:W3CDTF">2026-09-01T20:53:33Z</dcterms:modified>
</cp:coreProperties>
</file>