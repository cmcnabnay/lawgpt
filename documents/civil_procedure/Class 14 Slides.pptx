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9" r:id="rId4"/>
    <p:sldId id="459" r:id="rId5"/>
    <p:sldId id="453" r:id="rId6"/>
    <p:sldId id="454" r:id="rId7"/>
    <p:sldId id="457" r:id="rId8"/>
    <p:sldId id="460" r:id="rId9"/>
    <p:sldId id="458" r:id="rId10"/>
    <p:sldId id="462" r:id="rId11"/>
    <p:sldId id="429" r:id="rId12"/>
    <p:sldId id="452" r:id="rId13"/>
    <p:sldId id="440" r:id="rId14"/>
    <p:sldId id="456" r:id="rId15"/>
    <p:sldId id="46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13"/>
    <p:restoredTop sz="94461"/>
  </p:normalViewPr>
  <p:slideViewPr>
    <p:cSldViewPr snapToGrid="0">
      <p:cViewPr varScale="1">
        <p:scale>
          <a:sx n="105" d="100"/>
          <a:sy n="105" d="100"/>
        </p:scale>
        <p:origin x="192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9655A5-45B1-EF47-8B98-9BF7ABC0D5C1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BD349-9E8A-EE4C-A835-738891491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849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BD349-9E8A-EE4C-A835-738891491B4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754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4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983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794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00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720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211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87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0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DC36C72-0B33-0A48-B3F4-90C09BB8A580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367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098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15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36C72-0B33-0A48-B3F4-90C09BB8A580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31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E135C-E1F7-457C-793B-6F84BBEA4F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Civil Procedure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D2300-46B5-4ED8-98CD-7D18437CE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646951"/>
            <a:ext cx="8637072" cy="97762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ndara" panose="020E0502030303020204" pitchFamily="34" charset="0"/>
              </a:rPr>
              <a:t>Class 14</a:t>
            </a:r>
          </a:p>
        </p:txBody>
      </p:sp>
    </p:spTree>
    <p:extLst>
      <p:ext uri="{BB962C8B-B14F-4D97-AF65-F5344CB8AC3E}">
        <p14:creationId xmlns:p14="http://schemas.microsoft.com/office/powerpoint/2010/main" val="274471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867AE-F040-67B6-9446-8FC8AA2B7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2D890-1782-3B9A-A9EE-7CCC33ACB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3365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en-US" sz="3200" dirty="0"/>
              <a:t>Recap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3200" dirty="0"/>
              <a:t>Default Judgment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3200" dirty="0"/>
              <a:t>Summary Judgment Continued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3200" dirty="0"/>
              <a:t>Takeaways</a:t>
            </a:r>
          </a:p>
        </p:txBody>
      </p:sp>
    </p:spTree>
    <p:extLst>
      <p:ext uri="{BB962C8B-B14F-4D97-AF65-F5344CB8AC3E}">
        <p14:creationId xmlns:p14="http://schemas.microsoft.com/office/powerpoint/2010/main" val="168983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288D4-5A9B-0E41-96DF-5AA7E5E3C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Recap</a:t>
            </a:r>
          </a:p>
        </p:txBody>
      </p:sp>
    </p:spTree>
    <p:extLst>
      <p:ext uri="{BB962C8B-B14F-4D97-AF65-F5344CB8AC3E}">
        <p14:creationId xmlns:p14="http://schemas.microsoft.com/office/powerpoint/2010/main" val="3053693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85F4-10BA-CE89-6221-3B82E26CC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47680"/>
            <a:ext cx="9603275" cy="687950"/>
          </a:xfrm>
        </p:spPr>
        <p:txBody>
          <a:bodyPr/>
          <a:lstStyle/>
          <a:p>
            <a:r>
              <a:rPr lang="en-US" dirty="0"/>
              <a:t>Key takeaways for Summary Judgment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3A92F-2D8F-FBD2-CA8E-29ED08D22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63180"/>
            <a:ext cx="9973166" cy="4132819"/>
          </a:xfrm>
        </p:spPr>
        <p:txBody>
          <a:bodyPr>
            <a:normAutofit fontScale="85000" lnSpcReduction="10000"/>
          </a:bodyPr>
          <a:lstStyle/>
          <a:p>
            <a:pPr>
              <a:spcAft>
                <a:spcPts val="1200"/>
              </a:spcAft>
            </a:pPr>
            <a:r>
              <a:rPr lang="en-US" sz="2800" dirty="0"/>
              <a:t>Rule 56: Court should grant motion for summary judgment when there are no genuine disputes of material fact, and the moving party is entitled to judgment as a matter of law</a:t>
            </a:r>
          </a:p>
          <a:p>
            <a:pPr>
              <a:spcAft>
                <a:spcPts val="1200"/>
              </a:spcAft>
            </a:pPr>
            <a:r>
              <a:rPr lang="en-US" sz="2800" dirty="0"/>
              <a:t>Put another way: Summary judgment is appropriate when, viewing the evidence in the light most favorable to the non-moving party, no reasonable jury could decide in favor of the non-moving party (</a:t>
            </a:r>
            <a:r>
              <a:rPr lang="en-US" sz="2800" i="1" dirty="0"/>
              <a:t>Anderson</a:t>
            </a:r>
            <a:r>
              <a:rPr lang="en-US" sz="2800" dirty="0"/>
              <a:t>; </a:t>
            </a:r>
            <a:r>
              <a:rPr lang="en-US" sz="2800" i="1" dirty="0"/>
              <a:t>Celotex</a:t>
            </a:r>
            <a:r>
              <a:rPr lang="en-US" sz="2800" dirty="0"/>
              <a:t>)</a:t>
            </a:r>
          </a:p>
          <a:p>
            <a:pPr>
              <a:spcAft>
                <a:spcPts val="1200"/>
              </a:spcAft>
            </a:pPr>
            <a:r>
              <a:rPr lang="en-US" sz="2800" dirty="0"/>
              <a:t>Can grant summary judgment in whole or in part; either party can move for summary judgment at any time up until 30 days after discovery</a:t>
            </a:r>
          </a:p>
        </p:txBody>
      </p:sp>
    </p:spTree>
    <p:extLst>
      <p:ext uri="{BB962C8B-B14F-4D97-AF65-F5344CB8AC3E}">
        <p14:creationId xmlns:p14="http://schemas.microsoft.com/office/powerpoint/2010/main" val="3324833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B6DD1-1160-3606-1D01-0AEBF4643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Default judgment</a:t>
            </a:r>
          </a:p>
        </p:txBody>
      </p:sp>
    </p:spTree>
    <p:extLst>
      <p:ext uri="{BB962C8B-B14F-4D97-AF65-F5344CB8AC3E}">
        <p14:creationId xmlns:p14="http://schemas.microsoft.com/office/powerpoint/2010/main" val="1436842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502BE-F1FC-FEC5-4AAB-258FCF8F1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47680"/>
            <a:ext cx="9603275" cy="687950"/>
          </a:xfrm>
        </p:spPr>
        <p:txBody>
          <a:bodyPr/>
          <a:lstStyle/>
          <a:p>
            <a:r>
              <a:rPr lang="en-US" dirty="0"/>
              <a:t>Default Judgment—Rule 55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F4EE4-076D-C489-52F3-3D7D4D2A3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783980" cy="404873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55(a), a party that “failed to plead or otherwise defend” “must” have default judgment entered against it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55(b)(1), if the amount in controversy is a “sum certain,” clerk enters judgment for that amount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55(b)(2), otherwise, party applies to court, which “determine[s] the amount of damages”</a:t>
            </a:r>
          </a:p>
        </p:txBody>
      </p:sp>
    </p:spTree>
    <p:extLst>
      <p:ext uri="{BB962C8B-B14F-4D97-AF65-F5344CB8AC3E}">
        <p14:creationId xmlns:p14="http://schemas.microsoft.com/office/powerpoint/2010/main" val="692941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502BE-F1FC-FEC5-4AAB-258FCF8F1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47680"/>
            <a:ext cx="9603275" cy="687950"/>
          </a:xfrm>
        </p:spPr>
        <p:txBody>
          <a:bodyPr/>
          <a:lstStyle/>
          <a:p>
            <a:r>
              <a:rPr lang="en-US" dirty="0"/>
              <a:t>Default Judgment—Rule 54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F4EE4-076D-C489-52F3-3D7D4D2A3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783980" cy="404873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54(c), default judgment is limited to the relief requested in the pleadings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54(c), other final judgments are not limited to the pleadings and “should grant the relief to which each party is entitled”</a:t>
            </a:r>
          </a:p>
        </p:txBody>
      </p:sp>
    </p:spTree>
    <p:extLst>
      <p:ext uri="{BB962C8B-B14F-4D97-AF65-F5344CB8AC3E}">
        <p14:creationId xmlns:p14="http://schemas.microsoft.com/office/powerpoint/2010/main" val="4100930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52CE0-0550-C75B-B8DB-29994763E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96D94-FFD8-0ABD-66FB-B46368A48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47680"/>
            <a:ext cx="9603275" cy="687950"/>
          </a:xfrm>
        </p:spPr>
        <p:txBody>
          <a:bodyPr/>
          <a:lstStyle/>
          <a:p>
            <a:r>
              <a:rPr lang="en-US" dirty="0"/>
              <a:t>Relief from a Default Judgment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A2F25-C679-EE9A-8A4B-F1B20A0A0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783980" cy="404873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55(c), for “good cause,” the court can set aside default judgment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60(b) provides various grounds on which the court can provide relief from a final judgment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60(c), must seek Rule 60 relief “within a reasonable time,” often a year</a:t>
            </a:r>
          </a:p>
        </p:txBody>
      </p:sp>
    </p:spTree>
    <p:extLst>
      <p:ext uri="{BB962C8B-B14F-4D97-AF65-F5344CB8AC3E}">
        <p14:creationId xmlns:p14="http://schemas.microsoft.com/office/powerpoint/2010/main" val="1952205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502BE-F1FC-FEC5-4AAB-258FCF8F1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47680"/>
            <a:ext cx="9603275" cy="687950"/>
          </a:xfrm>
        </p:spPr>
        <p:txBody>
          <a:bodyPr/>
          <a:lstStyle/>
          <a:p>
            <a:r>
              <a:rPr lang="en-US" dirty="0"/>
              <a:t>Dismissal—Rule 41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F4EE4-076D-C489-52F3-3D7D4D2A3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783980" cy="404873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41(b), if plaintiff “fails to prosecute” the case, defendant can move for dismissal; unless stated otherwise, is dismissal with prejudice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41(a), plaintiff can voluntarily dismiss (</a:t>
            </a:r>
            <a:r>
              <a:rPr lang="en-US" sz="2800" dirty="0" err="1"/>
              <a:t>i</a:t>
            </a:r>
            <a:r>
              <a:rPr lang="en-US" sz="2800" dirty="0"/>
              <a:t>) before opposing party files Answer or motion for summary judgment, OR (ii) with other party’s stipulation, OR (2) with order from court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Voluntary dismissal is typically </a:t>
            </a:r>
            <a:r>
              <a:rPr lang="en-US" sz="2800" i="1" dirty="0"/>
              <a:t>without</a:t>
            </a:r>
            <a:r>
              <a:rPr lang="en-US" sz="2800" dirty="0"/>
              <a:t> prejudice</a:t>
            </a:r>
          </a:p>
        </p:txBody>
      </p:sp>
    </p:spTree>
    <p:extLst>
      <p:ext uri="{BB962C8B-B14F-4D97-AF65-F5344CB8AC3E}">
        <p14:creationId xmlns:p14="http://schemas.microsoft.com/office/powerpoint/2010/main" val="59492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F8B55-5B83-BDFA-89BC-82690EB5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A87DC-EF30-AD40-37B6-CB0088AAC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47680"/>
            <a:ext cx="9603275" cy="687950"/>
          </a:xfrm>
        </p:spPr>
        <p:txBody>
          <a:bodyPr/>
          <a:lstStyle/>
          <a:p>
            <a:r>
              <a:rPr lang="en-US" dirty="0"/>
              <a:t>Hypo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A48A3-27DD-7ACE-330A-DB34FE322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39532"/>
            <a:ext cx="9783980" cy="414376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100" dirty="0"/>
              <a:t>You could file your lawsuit in federal court in Texas or Delaware—you file in Delaware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100" dirty="0"/>
              <a:t>You seek $10 million and a preliminary injunction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100" dirty="0"/>
              <a:t>3 days after you file, the court holds a preliminary injunction hearing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100" dirty="0"/>
              <a:t>The court denies the PI, stating that you’re unlikely to win on the merits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100" dirty="0"/>
              <a:t>What should you do next?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100" dirty="0"/>
              <a:t>Voluntary dismissal under 41(a)(</a:t>
            </a:r>
            <a:r>
              <a:rPr lang="en-US" sz="2100" dirty="0" err="1"/>
              <a:t>i</a:t>
            </a:r>
            <a:r>
              <a:rPr lang="en-US" sz="2100" dirty="0"/>
              <a:t>), refile in Texas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100" dirty="0"/>
              <a:t>What should defendant have done?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100" dirty="0"/>
              <a:t>Filed an Answer to lock you into Delaware court, 41(a)(</a:t>
            </a:r>
            <a:r>
              <a:rPr lang="en-US" sz="2100" dirty="0" err="1"/>
              <a:t>i</a:t>
            </a:r>
            <a:r>
              <a:rPr lang="en-US" sz="21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80361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B6DD1-1160-3606-1D01-0AEBF4643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Summary judgment, Continued</a:t>
            </a:r>
          </a:p>
        </p:txBody>
      </p:sp>
    </p:spTree>
    <p:extLst>
      <p:ext uri="{BB962C8B-B14F-4D97-AF65-F5344CB8AC3E}">
        <p14:creationId xmlns:p14="http://schemas.microsoft.com/office/powerpoint/2010/main" val="4193503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502BE-F1FC-FEC5-4AAB-258FCF8F1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66755"/>
            <a:ext cx="9603275" cy="550077"/>
          </a:xfrm>
        </p:spPr>
        <p:txBody>
          <a:bodyPr>
            <a:normAutofit/>
          </a:bodyPr>
          <a:lstStyle/>
          <a:p>
            <a:r>
              <a:rPr lang="en-US" dirty="0"/>
              <a:t>Summary Judgment—Steps in the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F4EE4-076D-C489-52F3-3D7D4D2A3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48737"/>
          </a:xfrm>
        </p:spPr>
        <p:txBody>
          <a:bodyPr>
            <a:normAutofit lnSpcReduction="10000"/>
          </a:bodyPr>
          <a:lstStyle/>
          <a:p>
            <a:pPr marL="514350" indent="-514350"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en-US" sz="2800" dirty="0"/>
              <a:t>Identify the </a:t>
            </a:r>
            <a:r>
              <a:rPr lang="en-US" sz="2800" u="sng" dirty="0"/>
              <a:t>relevant substantive law</a:t>
            </a:r>
            <a:r>
              <a:rPr lang="en-US" sz="2800" dirty="0"/>
              <a:t>, and identify what each party would need to prove at trial to win under that law</a:t>
            </a:r>
          </a:p>
          <a:p>
            <a:pPr marL="514350" indent="-514350"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en-US" sz="2800" dirty="0"/>
              <a:t>Identify what </a:t>
            </a:r>
            <a:r>
              <a:rPr lang="en-US" sz="2800" u="sng" dirty="0"/>
              <a:t>evidence</a:t>
            </a:r>
            <a:r>
              <a:rPr lang="en-US" sz="2800" dirty="0"/>
              <a:t> each party can put forward</a:t>
            </a:r>
          </a:p>
          <a:p>
            <a:pPr marL="514350" indent="-514350"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en-US" sz="2800" dirty="0"/>
              <a:t>View that evidence in the </a:t>
            </a:r>
            <a:r>
              <a:rPr lang="en-US" sz="2800" u="sng" dirty="0"/>
              <a:t>light most favorable to the non-moving party</a:t>
            </a:r>
          </a:p>
          <a:p>
            <a:pPr marL="514350" indent="-514350"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en-US" sz="2800" dirty="0"/>
              <a:t>Ask whether a </a:t>
            </a:r>
            <a:r>
              <a:rPr lang="en-US" sz="2800" u="sng" dirty="0"/>
              <a:t>reasonable jury</a:t>
            </a:r>
            <a:r>
              <a:rPr lang="en-US" sz="2800" dirty="0"/>
              <a:t> could, based on that evidence, decide for the non-moving party</a:t>
            </a:r>
          </a:p>
        </p:txBody>
      </p:sp>
    </p:spTree>
    <p:extLst>
      <p:ext uri="{BB962C8B-B14F-4D97-AF65-F5344CB8AC3E}">
        <p14:creationId xmlns:p14="http://schemas.microsoft.com/office/powerpoint/2010/main" val="2950321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68D2D-9495-F628-1239-942C448F5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IV. Takeaways</a:t>
            </a:r>
          </a:p>
        </p:txBody>
      </p:sp>
    </p:spTree>
    <p:extLst>
      <p:ext uri="{BB962C8B-B14F-4D97-AF65-F5344CB8AC3E}">
        <p14:creationId xmlns:p14="http://schemas.microsoft.com/office/powerpoint/2010/main" val="3929659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844FC-2123-82C5-BF0B-545ECFAF0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8087"/>
            <a:ext cx="9603275" cy="587136"/>
          </a:xfrm>
        </p:spPr>
        <p:txBody>
          <a:bodyPr/>
          <a:lstStyle/>
          <a:p>
            <a:r>
              <a:rPr lang="en-US" dirty="0"/>
              <a:t>Key Takeaways for default and Dismissal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7D9CA-AD19-8F19-A546-927E3DAE4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984208" cy="404873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55, if party fails to plead or defend, default judgment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54(c), default is limited to the relief requested in pleadings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55(</a:t>
            </a:r>
            <a:r>
              <a:rPr lang="en-US" sz="2800"/>
              <a:t>c) and </a:t>
            </a:r>
            <a:r>
              <a:rPr lang="en-US" sz="2800" dirty="0"/>
              <a:t>60(b), mechanisms to grant relief from judgment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41(a), voluntary dismissal (</a:t>
            </a:r>
            <a:r>
              <a:rPr lang="en-US" sz="2800" dirty="0" err="1"/>
              <a:t>i</a:t>
            </a:r>
            <a:r>
              <a:rPr lang="en-US" sz="2800" dirty="0"/>
              <a:t>) before Answer or SJ motion, (ii) with other party’s stipulation, or (iii) by court order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41(b), if plaintiff fails to prosecute, involuntary dismissal</a:t>
            </a:r>
          </a:p>
        </p:txBody>
      </p:sp>
    </p:spTree>
    <p:extLst>
      <p:ext uri="{BB962C8B-B14F-4D97-AF65-F5344CB8AC3E}">
        <p14:creationId xmlns:p14="http://schemas.microsoft.com/office/powerpoint/2010/main" val="1997675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88D24-9824-0C41-6A32-76BD78BD0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93703-3F12-6E40-5BE1-A562093E1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66755"/>
            <a:ext cx="9603275" cy="550077"/>
          </a:xfrm>
        </p:spPr>
        <p:txBody>
          <a:bodyPr>
            <a:normAutofit/>
          </a:bodyPr>
          <a:lstStyle/>
          <a:p>
            <a:r>
              <a:rPr lang="en-US" dirty="0"/>
              <a:t>Summary Judgment—Steps in the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1D3FB-FFAB-2901-D25A-9D86F4024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48737"/>
          </a:xfrm>
        </p:spPr>
        <p:txBody>
          <a:bodyPr>
            <a:normAutofit lnSpcReduction="10000"/>
          </a:bodyPr>
          <a:lstStyle/>
          <a:p>
            <a:pPr marL="514350" indent="-514350"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en-US" sz="2800" dirty="0"/>
              <a:t>Identify the </a:t>
            </a:r>
            <a:r>
              <a:rPr lang="en-US" sz="2800" u="sng" dirty="0"/>
              <a:t>relevant substantive law</a:t>
            </a:r>
            <a:r>
              <a:rPr lang="en-US" sz="2800" dirty="0"/>
              <a:t>, and identify what each party would need to prove at trial to win under that law</a:t>
            </a:r>
          </a:p>
          <a:p>
            <a:pPr marL="514350" indent="-514350"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en-US" sz="2800" dirty="0"/>
              <a:t>Identify what </a:t>
            </a:r>
            <a:r>
              <a:rPr lang="en-US" sz="2800" u="sng" dirty="0"/>
              <a:t>evidence</a:t>
            </a:r>
            <a:r>
              <a:rPr lang="en-US" sz="2800" dirty="0"/>
              <a:t> each party can put forward</a:t>
            </a:r>
          </a:p>
          <a:p>
            <a:pPr marL="514350" indent="-514350"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en-US" sz="2800" dirty="0"/>
              <a:t>View that evidence in the </a:t>
            </a:r>
            <a:r>
              <a:rPr lang="en-US" sz="2800" u="sng" dirty="0"/>
              <a:t>light most favorable to the non-moving party</a:t>
            </a:r>
          </a:p>
          <a:p>
            <a:pPr marL="514350" indent="-514350"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en-US" sz="2800" dirty="0"/>
              <a:t>Ask whether a </a:t>
            </a:r>
            <a:r>
              <a:rPr lang="en-US" sz="2800" u="sng" dirty="0"/>
              <a:t>reasonable jury</a:t>
            </a:r>
            <a:r>
              <a:rPr lang="en-US" sz="2800" dirty="0"/>
              <a:t> could, based on that evidence, decide for the non-moving party</a:t>
            </a:r>
          </a:p>
        </p:txBody>
      </p:sp>
    </p:spTree>
    <p:extLst>
      <p:ext uri="{BB962C8B-B14F-4D97-AF65-F5344CB8AC3E}">
        <p14:creationId xmlns:p14="http://schemas.microsoft.com/office/powerpoint/2010/main" val="340401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5538</TotalTime>
  <Words>703</Words>
  <Application>Microsoft Macintosh PowerPoint</Application>
  <PresentationFormat>Widescreen</PresentationFormat>
  <Paragraphs>56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Candara</vt:lpstr>
      <vt:lpstr>Gill Sans MT</vt:lpstr>
      <vt:lpstr>Gallery</vt:lpstr>
      <vt:lpstr>Civil Procedure</vt:lpstr>
      <vt:lpstr>Agenda</vt:lpstr>
      <vt:lpstr>I. Recap</vt:lpstr>
      <vt:lpstr>Key takeaways for Summary Judgment</vt:lpstr>
      <vt:lpstr>II. Default judgment</vt:lpstr>
      <vt:lpstr>Default Judgment—Rule 55</vt:lpstr>
      <vt:lpstr>Default Judgment—Rule 54</vt:lpstr>
      <vt:lpstr>Relief from a Default Judgment</vt:lpstr>
      <vt:lpstr>Dismissal—Rule 41</vt:lpstr>
      <vt:lpstr>Hypo</vt:lpstr>
      <vt:lpstr>III. Summary judgment, Continued</vt:lpstr>
      <vt:lpstr>Summary Judgment—Steps in the Analysis</vt:lpstr>
      <vt:lpstr>IV. Takeaways</vt:lpstr>
      <vt:lpstr>Key Takeaways for default and Dismissal</vt:lpstr>
      <vt:lpstr>Summary Judgment—Steps in the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Lanham</dc:creator>
  <cp:lastModifiedBy>Andrew Lanham</cp:lastModifiedBy>
  <cp:revision>302</cp:revision>
  <dcterms:created xsi:type="dcterms:W3CDTF">2024-08-16T15:30:55Z</dcterms:created>
  <dcterms:modified xsi:type="dcterms:W3CDTF">2026-09-24T17:34:29Z</dcterms:modified>
</cp:coreProperties>
</file>