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9" r:id="rId4"/>
    <p:sldId id="293" r:id="rId5"/>
    <p:sldId id="313" r:id="rId6"/>
    <p:sldId id="346" r:id="rId7"/>
    <p:sldId id="318" r:id="rId8"/>
    <p:sldId id="319" r:id="rId9"/>
    <p:sldId id="347" r:id="rId10"/>
    <p:sldId id="325" r:id="rId11"/>
    <p:sldId id="335" r:id="rId12"/>
    <p:sldId id="328" r:id="rId13"/>
    <p:sldId id="329" r:id="rId14"/>
    <p:sldId id="338" r:id="rId15"/>
    <p:sldId id="339" r:id="rId16"/>
    <p:sldId id="340" r:id="rId17"/>
    <p:sldId id="291" r:id="rId18"/>
    <p:sldId id="349" r:id="rId19"/>
    <p:sldId id="342" r:id="rId20"/>
    <p:sldId id="341"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082"/>
    <p:restoredTop sz="94659"/>
  </p:normalViewPr>
  <p:slideViewPr>
    <p:cSldViewPr snapToGrid="0">
      <p:cViewPr varScale="1">
        <p:scale>
          <a:sx n="85" d="100"/>
          <a:sy n="85" d="100"/>
        </p:scale>
        <p:origin x="184"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9/1/26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4B1A86BF-6829-5045-A663-F100E0247FC7}"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484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96983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C36C72-0B33-0A48-B3F4-90C09BB8A580}" type="datetimeFigureOut">
              <a:rPr lang="en-US" smtClean="0"/>
              <a:t>9/1/26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38794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DC36C72-0B33-0A48-B3F4-90C09BB8A580}" type="datetimeFigureOut">
              <a:rPr lang="en-US" smtClean="0"/>
              <a:t>9/1/26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1A86BF-6829-5045-A663-F100E0247FC7}"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4900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C36C72-0B33-0A48-B3F4-90C09BB8A580}" type="datetimeFigureOut">
              <a:rPr lang="en-US" smtClean="0"/>
              <a:t>9/1/26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1A86BF-6829-5045-A663-F100E0247FC7}"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17720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DC36C72-0B33-0A48-B3F4-90C09BB8A580}" type="datetimeFigureOut">
              <a:rPr lang="en-US" smtClean="0"/>
              <a:t>9/1/26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1A86BF-6829-5045-A663-F100E0247FC7}"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07211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C36C72-0B33-0A48-B3F4-90C09BB8A580}" type="datetimeFigureOut">
              <a:rPr lang="en-US" smtClean="0"/>
              <a:t>9/1/26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1A86BF-6829-5045-A663-F100E0247FC7}" type="slidenum">
              <a:rPr lang="en-US" smtClean="0"/>
              <a:t>‹#›</a:t>
            </a:fld>
            <a:endParaRPr lang="en-US"/>
          </a:p>
        </p:txBody>
      </p:sp>
    </p:spTree>
    <p:extLst>
      <p:ext uri="{BB962C8B-B14F-4D97-AF65-F5344CB8AC3E}">
        <p14:creationId xmlns:p14="http://schemas.microsoft.com/office/powerpoint/2010/main" val="444876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DC36C72-0B33-0A48-B3F4-90C09BB8A580}" type="datetimeFigureOut">
              <a:rPr lang="en-US" smtClean="0"/>
              <a:t>9/1/26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1A86BF-6829-5045-A663-F100E0247FC7}"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00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DC36C72-0B33-0A48-B3F4-90C09BB8A580}" type="datetimeFigureOut">
              <a:rPr lang="en-US" smtClean="0"/>
              <a:t>9/1/26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4B1A86BF-6829-5045-A663-F100E0247FC7}"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736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51098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831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DC36C72-0B33-0A48-B3F4-90C09BB8A580}" type="datetimeFigureOut">
              <a:rPr lang="en-US" smtClean="0"/>
              <a:t>9/1/26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B1A86BF-6829-5045-A663-F100E0247FC7}"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9316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E135C-E1F7-457C-793B-6F84BBEA4FB1}"/>
              </a:ext>
            </a:extLst>
          </p:cNvPr>
          <p:cNvSpPr>
            <a:spLocks noGrp="1"/>
          </p:cNvSpPr>
          <p:nvPr>
            <p:ph type="ctrTitle"/>
          </p:nvPr>
        </p:nvSpPr>
        <p:spPr/>
        <p:txBody>
          <a:bodyPr/>
          <a:lstStyle/>
          <a:p>
            <a:r>
              <a:rPr lang="en-US" dirty="0"/>
              <a:t>Civil Procedure</a:t>
            </a:r>
          </a:p>
        </p:txBody>
      </p:sp>
      <p:sp>
        <p:nvSpPr>
          <p:cNvPr id="3" name="Subtitle 2">
            <a:extLst>
              <a:ext uri="{FF2B5EF4-FFF2-40B4-BE49-F238E27FC236}">
                <a16:creationId xmlns:a16="http://schemas.microsoft.com/office/drawing/2014/main" id="{8F6D2300-46B5-4ED8-98CD-7D18437CEC22}"/>
              </a:ext>
            </a:extLst>
          </p:cNvPr>
          <p:cNvSpPr>
            <a:spLocks noGrp="1"/>
          </p:cNvSpPr>
          <p:nvPr>
            <p:ph type="subTitle" idx="1"/>
          </p:nvPr>
        </p:nvSpPr>
        <p:spPr>
          <a:xfrm>
            <a:off x="2417780" y="3646951"/>
            <a:ext cx="8637072" cy="977621"/>
          </a:xfrm>
        </p:spPr>
        <p:txBody>
          <a:bodyPr>
            <a:normAutofit/>
          </a:bodyPr>
          <a:lstStyle/>
          <a:p>
            <a:r>
              <a:rPr lang="en-US" sz="3600">
                <a:latin typeface="Candara" panose="020E0502030303020204" pitchFamily="34" charset="0"/>
              </a:rPr>
              <a:t>Class 4</a:t>
            </a:r>
          </a:p>
        </p:txBody>
      </p:sp>
    </p:spTree>
    <p:extLst>
      <p:ext uri="{BB962C8B-B14F-4D97-AF65-F5344CB8AC3E}">
        <p14:creationId xmlns:p14="http://schemas.microsoft.com/office/powerpoint/2010/main" val="274471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867AE-F040-67B6-9446-8FC8AA2B77C8}"/>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6B92D890-1782-3B9A-A9EE-7CCC33ACBBE4}"/>
              </a:ext>
            </a:extLst>
          </p:cNvPr>
          <p:cNvSpPr>
            <a:spLocks noGrp="1"/>
          </p:cNvSpPr>
          <p:nvPr>
            <p:ph idx="1"/>
          </p:nvPr>
        </p:nvSpPr>
        <p:spPr>
          <a:xfrm>
            <a:off x="1451579" y="2015732"/>
            <a:ext cx="9603275" cy="3933655"/>
          </a:xfrm>
        </p:spPr>
        <p:txBody>
          <a:bodyPr>
            <a:normAutofit/>
          </a:bodyPr>
          <a:lstStyle/>
          <a:p>
            <a:pPr marL="514350" indent="-514350">
              <a:buFont typeface="+mj-lt"/>
              <a:buAutoNum type="romanUcPeriod"/>
            </a:pPr>
            <a:r>
              <a:rPr lang="en-US" sz="3200" dirty="0"/>
              <a:t>Recap: Notice and Rule 4</a:t>
            </a:r>
          </a:p>
          <a:p>
            <a:pPr marL="514350" indent="-514350">
              <a:buFont typeface="+mj-lt"/>
              <a:buAutoNum type="romanUcPeriod"/>
            </a:pPr>
            <a:r>
              <a:rPr lang="en-US" sz="3200" dirty="0"/>
              <a:t>Hypos: Notice</a:t>
            </a:r>
          </a:p>
          <a:p>
            <a:pPr marL="514350" indent="-514350">
              <a:buFont typeface="+mj-lt"/>
              <a:buAutoNum type="romanUcPeriod"/>
            </a:pPr>
            <a:r>
              <a:rPr lang="en-US" sz="3200" dirty="0"/>
              <a:t>Opportunity To Be Heard</a:t>
            </a:r>
          </a:p>
          <a:p>
            <a:pPr marL="514350" indent="-514350">
              <a:buFont typeface="+mj-lt"/>
              <a:buAutoNum type="romanUcPeriod"/>
            </a:pPr>
            <a:r>
              <a:rPr lang="en-US" sz="3200" dirty="0"/>
              <a:t>Hypos: Opportunity To Be Heard</a:t>
            </a:r>
          </a:p>
          <a:p>
            <a:pPr marL="514350" indent="-514350">
              <a:buFont typeface="+mj-lt"/>
              <a:buAutoNum type="romanUcPeriod"/>
            </a:pPr>
            <a:r>
              <a:rPr lang="en-US" sz="3200" dirty="0"/>
              <a:t>Takeaways</a:t>
            </a:r>
          </a:p>
        </p:txBody>
      </p:sp>
    </p:spTree>
    <p:extLst>
      <p:ext uri="{BB962C8B-B14F-4D97-AF65-F5344CB8AC3E}">
        <p14:creationId xmlns:p14="http://schemas.microsoft.com/office/powerpoint/2010/main" val="168983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288D4-5A9B-0E41-96DF-5AA7E5E3CFAC}"/>
              </a:ext>
            </a:extLst>
          </p:cNvPr>
          <p:cNvSpPr>
            <a:spLocks noGrp="1"/>
          </p:cNvSpPr>
          <p:nvPr>
            <p:ph type="title"/>
          </p:nvPr>
        </p:nvSpPr>
        <p:spPr/>
        <p:txBody>
          <a:bodyPr/>
          <a:lstStyle/>
          <a:p>
            <a:r>
              <a:rPr lang="en-US" dirty="0"/>
              <a:t>I. Recap</a:t>
            </a:r>
          </a:p>
        </p:txBody>
      </p:sp>
    </p:spTree>
    <p:extLst>
      <p:ext uri="{BB962C8B-B14F-4D97-AF65-F5344CB8AC3E}">
        <p14:creationId xmlns:p14="http://schemas.microsoft.com/office/powerpoint/2010/main" val="3053693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8679E-AE25-67C2-CDCD-0C3D4930AAD3}"/>
              </a:ext>
            </a:extLst>
          </p:cNvPr>
          <p:cNvSpPr>
            <a:spLocks noGrp="1"/>
          </p:cNvSpPr>
          <p:nvPr>
            <p:ph type="title"/>
          </p:nvPr>
        </p:nvSpPr>
        <p:spPr>
          <a:xfrm>
            <a:off x="1451579" y="1053135"/>
            <a:ext cx="9603275" cy="677040"/>
          </a:xfrm>
        </p:spPr>
        <p:txBody>
          <a:bodyPr/>
          <a:lstStyle/>
          <a:p>
            <a:r>
              <a:rPr lang="en-US" dirty="0"/>
              <a:t>Due Process: Notice</a:t>
            </a:r>
          </a:p>
        </p:txBody>
      </p:sp>
      <p:sp>
        <p:nvSpPr>
          <p:cNvPr id="3" name="Content Placeholder 2">
            <a:extLst>
              <a:ext uri="{FF2B5EF4-FFF2-40B4-BE49-F238E27FC236}">
                <a16:creationId xmlns:a16="http://schemas.microsoft.com/office/drawing/2014/main" id="{5AC32D33-AA73-9D37-781C-DD54D6CF5931}"/>
              </a:ext>
            </a:extLst>
          </p:cNvPr>
          <p:cNvSpPr>
            <a:spLocks noGrp="1"/>
          </p:cNvSpPr>
          <p:nvPr>
            <p:ph idx="1"/>
          </p:nvPr>
        </p:nvSpPr>
        <p:spPr>
          <a:xfrm>
            <a:off x="1451578" y="1931648"/>
            <a:ext cx="9603275" cy="4143331"/>
          </a:xfrm>
        </p:spPr>
        <p:txBody>
          <a:bodyPr>
            <a:normAutofit fontScale="77500" lnSpcReduction="20000"/>
          </a:bodyPr>
          <a:lstStyle/>
          <a:p>
            <a:pPr>
              <a:spcAft>
                <a:spcPts val="1200"/>
              </a:spcAft>
            </a:pPr>
            <a:r>
              <a:rPr lang="en-US" sz="3200" dirty="0"/>
              <a:t>The Constitution guarantees “due process”</a:t>
            </a:r>
          </a:p>
          <a:p>
            <a:pPr>
              <a:spcAft>
                <a:spcPts val="1200"/>
              </a:spcAft>
            </a:pPr>
            <a:r>
              <a:rPr lang="en-US" sz="3200" dirty="0"/>
              <a:t>Under </a:t>
            </a:r>
            <a:r>
              <a:rPr lang="en-US" sz="3200" i="1" dirty="0"/>
              <a:t>Mullane</a:t>
            </a:r>
            <a:r>
              <a:rPr lang="en-US" sz="3200" dirty="0"/>
              <a:t>, Due Process requires </a:t>
            </a:r>
            <a:r>
              <a:rPr lang="en-US" sz="3200" u="sng" dirty="0"/>
              <a:t>notice</a:t>
            </a:r>
            <a:r>
              <a:rPr lang="en-US" sz="3200" dirty="0"/>
              <a:t> and an</a:t>
            </a:r>
            <a:r>
              <a:rPr lang="en-US" sz="3200" i="1" dirty="0"/>
              <a:t> </a:t>
            </a:r>
            <a:r>
              <a:rPr lang="en-US" sz="3200" u="sng" dirty="0"/>
              <a:t>opportunity to be heard</a:t>
            </a:r>
            <a:r>
              <a:rPr lang="en-US" sz="3200" dirty="0"/>
              <a:t> before a final decision by a court</a:t>
            </a:r>
          </a:p>
          <a:p>
            <a:pPr>
              <a:spcAft>
                <a:spcPts val="1200"/>
              </a:spcAft>
            </a:pPr>
            <a:r>
              <a:rPr lang="en-US" sz="3200" dirty="0"/>
              <a:t>Notice must be “reasonably calculated, under all the circumstances” to alert the party about the action, with enough time to be heard (</a:t>
            </a:r>
            <a:r>
              <a:rPr lang="en-US" sz="3200" i="1" dirty="0"/>
              <a:t>Mullane</a:t>
            </a:r>
            <a:r>
              <a:rPr lang="en-US" sz="3200" dirty="0"/>
              <a:t>)</a:t>
            </a:r>
          </a:p>
          <a:p>
            <a:pPr>
              <a:spcAft>
                <a:spcPts val="1200"/>
              </a:spcAft>
            </a:pPr>
            <a:r>
              <a:rPr lang="en-US" sz="3200" dirty="0"/>
              <a:t>Therefore, courts look closely at the </a:t>
            </a:r>
            <a:r>
              <a:rPr lang="en-US" sz="3200" b="1" u="sng" dirty="0"/>
              <a:t>facts</a:t>
            </a:r>
            <a:r>
              <a:rPr lang="en-US" sz="3200" dirty="0"/>
              <a:t> of each case to figure out what notice was reasonable in those specific circumstances</a:t>
            </a:r>
          </a:p>
        </p:txBody>
      </p:sp>
    </p:spTree>
    <p:extLst>
      <p:ext uri="{BB962C8B-B14F-4D97-AF65-F5344CB8AC3E}">
        <p14:creationId xmlns:p14="http://schemas.microsoft.com/office/powerpoint/2010/main" val="3246908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D94B6-E70B-4758-8EEF-0D565069FDF2}"/>
              </a:ext>
            </a:extLst>
          </p:cNvPr>
          <p:cNvSpPr>
            <a:spLocks noGrp="1"/>
          </p:cNvSpPr>
          <p:nvPr>
            <p:ph type="title"/>
          </p:nvPr>
        </p:nvSpPr>
        <p:spPr>
          <a:xfrm>
            <a:off x="1451579" y="1003303"/>
            <a:ext cx="9603275" cy="639968"/>
          </a:xfrm>
        </p:spPr>
        <p:txBody>
          <a:bodyPr/>
          <a:lstStyle/>
          <a:p>
            <a:r>
              <a:rPr lang="en-US" dirty="0"/>
              <a:t>Due Process: Notice</a:t>
            </a:r>
          </a:p>
        </p:txBody>
      </p:sp>
      <p:sp>
        <p:nvSpPr>
          <p:cNvPr id="3" name="Content Placeholder 2">
            <a:extLst>
              <a:ext uri="{FF2B5EF4-FFF2-40B4-BE49-F238E27FC236}">
                <a16:creationId xmlns:a16="http://schemas.microsoft.com/office/drawing/2014/main" id="{E2D76A6A-5D7C-F226-419C-F825F71F285A}"/>
              </a:ext>
            </a:extLst>
          </p:cNvPr>
          <p:cNvSpPr>
            <a:spLocks noGrp="1"/>
          </p:cNvSpPr>
          <p:nvPr>
            <p:ph idx="1"/>
          </p:nvPr>
        </p:nvSpPr>
        <p:spPr>
          <a:xfrm>
            <a:off x="1451579" y="2015732"/>
            <a:ext cx="9603275" cy="4037749"/>
          </a:xfrm>
        </p:spPr>
        <p:txBody>
          <a:bodyPr>
            <a:normAutofit/>
          </a:bodyPr>
          <a:lstStyle/>
          <a:p>
            <a:r>
              <a:rPr lang="en-US" sz="3200" dirty="0"/>
              <a:t>Personal service is the gold standard, always adequate</a:t>
            </a:r>
          </a:p>
          <a:p>
            <a:r>
              <a:rPr lang="en-US" sz="3200" dirty="0"/>
              <a:t>Mail or posting on door of residence can be good, but not always: test is “reasonableness,” not bright-line rule</a:t>
            </a:r>
          </a:p>
          <a:p>
            <a:r>
              <a:rPr lang="en-US" sz="3200" dirty="0"/>
              <a:t>Must consider “feasible” alternatives and supplements</a:t>
            </a:r>
          </a:p>
          <a:p>
            <a:r>
              <a:rPr lang="en-US" sz="3200" dirty="0"/>
              <a:t>We evaluate reasonableness </a:t>
            </a:r>
            <a:r>
              <a:rPr lang="en-US" sz="3200" u="sng" dirty="0"/>
              <a:t>ex ante</a:t>
            </a:r>
            <a:r>
              <a:rPr lang="en-US" sz="3200" dirty="0"/>
              <a:t>, but if you know notice failed, must use feasible alternatives to try again</a:t>
            </a:r>
          </a:p>
        </p:txBody>
      </p:sp>
    </p:spTree>
    <p:extLst>
      <p:ext uri="{BB962C8B-B14F-4D97-AF65-F5344CB8AC3E}">
        <p14:creationId xmlns:p14="http://schemas.microsoft.com/office/powerpoint/2010/main" val="3324917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87540-A9F7-D0D5-7C51-B314B1AFBADC}"/>
              </a:ext>
            </a:extLst>
          </p:cNvPr>
          <p:cNvSpPr>
            <a:spLocks noGrp="1"/>
          </p:cNvSpPr>
          <p:nvPr>
            <p:ph type="title"/>
          </p:nvPr>
        </p:nvSpPr>
        <p:spPr>
          <a:xfrm>
            <a:off x="1451579" y="1149753"/>
            <a:ext cx="9603275" cy="641726"/>
          </a:xfrm>
        </p:spPr>
        <p:txBody>
          <a:bodyPr/>
          <a:lstStyle/>
          <a:p>
            <a:r>
              <a:rPr lang="en-US" dirty="0"/>
              <a:t>Notice in the Federal Rules—Rule 4</a:t>
            </a:r>
          </a:p>
        </p:txBody>
      </p:sp>
      <p:sp>
        <p:nvSpPr>
          <p:cNvPr id="3" name="Content Placeholder 2">
            <a:extLst>
              <a:ext uri="{FF2B5EF4-FFF2-40B4-BE49-F238E27FC236}">
                <a16:creationId xmlns:a16="http://schemas.microsoft.com/office/drawing/2014/main" id="{711F4322-C2D7-6AC8-F49F-A3CF4D1FF295}"/>
              </a:ext>
            </a:extLst>
          </p:cNvPr>
          <p:cNvSpPr>
            <a:spLocks noGrp="1"/>
          </p:cNvSpPr>
          <p:nvPr>
            <p:ph idx="1"/>
          </p:nvPr>
        </p:nvSpPr>
        <p:spPr>
          <a:xfrm>
            <a:off x="1451579" y="2015732"/>
            <a:ext cx="9603275" cy="3922613"/>
          </a:xfrm>
        </p:spPr>
        <p:txBody>
          <a:bodyPr/>
          <a:lstStyle/>
          <a:p>
            <a:r>
              <a:rPr lang="en-US" sz="3200" dirty="0"/>
              <a:t>In federal court, Rule 4 specifies </a:t>
            </a:r>
            <a:r>
              <a:rPr lang="en-US" sz="3200" u="sng" dirty="0"/>
              <a:t>how to serve notice in a civil lawsuit</a:t>
            </a:r>
          </a:p>
          <a:p>
            <a:r>
              <a:rPr lang="en-US" sz="3200" dirty="0"/>
              <a:t>So we want to ask: (1) does this meet constitutional Due Process requirements? </a:t>
            </a:r>
            <a:r>
              <a:rPr lang="en-US" sz="3200" b="1" u="sng" dirty="0"/>
              <a:t>and</a:t>
            </a:r>
            <a:r>
              <a:rPr lang="en-US" sz="3200" dirty="0"/>
              <a:t> (2) does it meet Rule 4’s requirements?</a:t>
            </a:r>
          </a:p>
        </p:txBody>
      </p:sp>
    </p:spTree>
    <p:extLst>
      <p:ext uri="{BB962C8B-B14F-4D97-AF65-F5344CB8AC3E}">
        <p14:creationId xmlns:p14="http://schemas.microsoft.com/office/powerpoint/2010/main" val="1011297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A24B4-BBA3-6DB2-E54D-2A28291825B7}"/>
              </a:ext>
            </a:extLst>
          </p:cNvPr>
          <p:cNvSpPr>
            <a:spLocks noGrp="1"/>
          </p:cNvSpPr>
          <p:nvPr>
            <p:ph type="title"/>
          </p:nvPr>
        </p:nvSpPr>
        <p:spPr>
          <a:xfrm>
            <a:off x="1451579" y="1028454"/>
            <a:ext cx="9603275" cy="753693"/>
          </a:xfrm>
        </p:spPr>
        <p:txBody>
          <a:bodyPr/>
          <a:lstStyle/>
          <a:p>
            <a:r>
              <a:rPr lang="en-US" dirty="0"/>
              <a:t>Rule 4</a:t>
            </a:r>
          </a:p>
        </p:txBody>
      </p:sp>
      <p:sp>
        <p:nvSpPr>
          <p:cNvPr id="3" name="Content Placeholder 2">
            <a:extLst>
              <a:ext uri="{FF2B5EF4-FFF2-40B4-BE49-F238E27FC236}">
                <a16:creationId xmlns:a16="http://schemas.microsoft.com/office/drawing/2014/main" id="{739CA776-E4C8-806E-6884-9FDB4F1D0408}"/>
              </a:ext>
            </a:extLst>
          </p:cNvPr>
          <p:cNvSpPr>
            <a:spLocks noGrp="1"/>
          </p:cNvSpPr>
          <p:nvPr>
            <p:ph idx="1"/>
          </p:nvPr>
        </p:nvSpPr>
        <p:spPr>
          <a:xfrm>
            <a:off x="1451579" y="2015732"/>
            <a:ext cx="9857552" cy="4037749"/>
          </a:xfrm>
        </p:spPr>
        <p:txBody>
          <a:bodyPr>
            <a:noAutofit/>
          </a:bodyPr>
          <a:lstStyle/>
          <a:p>
            <a:pPr>
              <a:spcAft>
                <a:spcPts val="1200"/>
              </a:spcAft>
            </a:pPr>
            <a:r>
              <a:rPr lang="en-US" sz="2400" dirty="0"/>
              <a:t>4(a) Summons gives detailed information about the case to the Defendant</a:t>
            </a:r>
          </a:p>
          <a:p>
            <a:pPr>
              <a:spcAft>
                <a:spcPts val="1200"/>
              </a:spcAft>
            </a:pPr>
            <a:r>
              <a:rPr lang="en-US" sz="2400" dirty="0"/>
              <a:t>4(b) on or after filing Complaint, plaintiff gets Summons signed by clerk</a:t>
            </a:r>
          </a:p>
          <a:p>
            <a:pPr>
              <a:spcAft>
                <a:spcPts val="1200"/>
              </a:spcAft>
            </a:pPr>
            <a:r>
              <a:rPr lang="en-US" sz="2400" dirty="0"/>
              <a:t>4(c) Plaintiff must have Summons and Complaint served on Defendant in 90 days; can be served by any non-party over 18, or Plaintiff can ask court to have a Marshal or other person serve it</a:t>
            </a:r>
          </a:p>
          <a:p>
            <a:pPr>
              <a:spcAft>
                <a:spcPts val="1200"/>
              </a:spcAft>
            </a:pPr>
            <a:r>
              <a:rPr lang="en-US" sz="2400" dirty="0"/>
              <a:t>4(e) service follows state law, OR can serve defendant personally, OR serve someone “of suitable age” at their residence</a:t>
            </a:r>
            <a:r>
              <a:rPr lang="en-US" sz="2400"/>
              <a:t>, OR </a:t>
            </a:r>
            <a:r>
              <a:rPr lang="en-US" sz="2400" dirty="0"/>
              <a:t>their appointed agent</a:t>
            </a:r>
          </a:p>
        </p:txBody>
      </p:sp>
    </p:spTree>
    <p:extLst>
      <p:ext uri="{BB962C8B-B14F-4D97-AF65-F5344CB8AC3E}">
        <p14:creationId xmlns:p14="http://schemas.microsoft.com/office/powerpoint/2010/main" val="1408121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98A19-D405-7986-CF11-2A77B01C7F33}"/>
              </a:ext>
            </a:extLst>
          </p:cNvPr>
          <p:cNvSpPr>
            <a:spLocks noGrp="1"/>
          </p:cNvSpPr>
          <p:nvPr>
            <p:ph type="title"/>
          </p:nvPr>
        </p:nvSpPr>
        <p:spPr>
          <a:xfrm>
            <a:off x="1451579" y="1112429"/>
            <a:ext cx="9603275" cy="632395"/>
          </a:xfrm>
        </p:spPr>
        <p:txBody>
          <a:bodyPr/>
          <a:lstStyle/>
          <a:p>
            <a:r>
              <a:rPr lang="en-US" dirty="0"/>
              <a:t>Waiver of service</a:t>
            </a:r>
          </a:p>
        </p:txBody>
      </p:sp>
      <p:sp>
        <p:nvSpPr>
          <p:cNvPr id="3" name="Content Placeholder 2">
            <a:extLst>
              <a:ext uri="{FF2B5EF4-FFF2-40B4-BE49-F238E27FC236}">
                <a16:creationId xmlns:a16="http://schemas.microsoft.com/office/drawing/2014/main" id="{F762D7B9-FCFE-4568-94C2-DC0D2D7AD3EC}"/>
              </a:ext>
            </a:extLst>
          </p:cNvPr>
          <p:cNvSpPr>
            <a:spLocks noGrp="1"/>
          </p:cNvSpPr>
          <p:nvPr>
            <p:ph idx="1"/>
          </p:nvPr>
        </p:nvSpPr>
        <p:spPr>
          <a:xfrm>
            <a:off x="1451579" y="2015732"/>
            <a:ext cx="9603275" cy="4037749"/>
          </a:xfrm>
        </p:spPr>
        <p:txBody>
          <a:bodyPr>
            <a:normAutofit/>
          </a:bodyPr>
          <a:lstStyle/>
          <a:p>
            <a:r>
              <a:rPr lang="en-US" sz="3200" dirty="0"/>
              <a:t>4(d), Plaintiff can ask Defendant to </a:t>
            </a:r>
            <a:r>
              <a:rPr lang="en-US" sz="3200" u="sng" dirty="0"/>
              <a:t>waive</a:t>
            </a:r>
            <a:r>
              <a:rPr lang="en-US" sz="3200" dirty="0"/>
              <a:t> service by sending written notice and a copy of Complaint</a:t>
            </a:r>
          </a:p>
          <a:p>
            <a:r>
              <a:rPr lang="en-US" sz="3200" dirty="0"/>
              <a:t>If Defendant waives, has 60 days to file Answer</a:t>
            </a:r>
          </a:p>
          <a:p>
            <a:r>
              <a:rPr lang="en-US" sz="3200" dirty="0"/>
              <a:t>If doesn’t waive, has 21 days to file Answer (and if Defendant refuses to waive “without good cause,” must pay cost of serving)</a:t>
            </a:r>
          </a:p>
          <a:p>
            <a:endParaRPr lang="en-US" dirty="0"/>
          </a:p>
        </p:txBody>
      </p:sp>
    </p:spTree>
    <p:extLst>
      <p:ext uri="{BB962C8B-B14F-4D97-AF65-F5344CB8AC3E}">
        <p14:creationId xmlns:p14="http://schemas.microsoft.com/office/powerpoint/2010/main" val="4098290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92B87-C71E-5DFC-B9BC-17E88D37DF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EDE63-3A2B-3BBD-6707-B24DFBD9D81C}"/>
              </a:ext>
            </a:extLst>
          </p:cNvPr>
          <p:cNvSpPr>
            <a:spLocks noGrp="1"/>
          </p:cNvSpPr>
          <p:nvPr>
            <p:ph type="title"/>
          </p:nvPr>
        </p:nvSpPr>
        <p:spPr/>
        <p:txBody>
          <a:bodyPr/>
          <a:lstStyle/>
          <a:p>
            <a:r>
              <a:rPr lang="en-US" dirty="0"/>
              <a:t>II. Notice Hypos</a:t>
            </a:r>
          </a:p>
        </p:txBody>
      </p:sp>
    </p:spTree>
    <p:extLst>
      <p:ext uri="{BB962C8B-B14F-4D97-AF65-F5344CB8AC3E}">
        <p14:creationId xmlns:p14="http://schemas.microsoft.com/office/powerpoint/2010/main" val="2977739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4E1E9-DFA8-5D9C-F654-D4E2A1BDF169}"/>
              </a:ext>
            </a:extLst>
          </p:cNvPr>
          <p:cNvSpPr>
            <a:spLocks noGrp="1"/>
          </p:cNvSpPr>
          <p:nvPr>
            <p:ph type="title"/>
          </p:nvPr>
        </p:nvSpPr>
        <p:spPr>
          <a:xfrm>
            <a:off x="1451579" y="1098087"/>
            <a:ext cx="9603275" cy="587136"/>
          </a:xfrm>
        </p:spPr>
        <p:txBody>
          <a:bodyPr/>
          <a:lstStyle/>
          <a:p>
            <a:r>
              <a:rPr lang="en-US" dirty="0"/>
              <a:t>Notice Hypo:</a:t>
            </a:r>
          </a:p>
        </p:txBody>
      </p:sp>
      <p:sp>
        <p:nvSpPr>
          <p:cNvPr id="3" name="Content Placeholder 2">
            <a:extLst>
              <a:ext uri="{FF2B5EF4-FFF2-40B4-BE49-F238E27FC236}">
                <a16:creationId xmlns:a16="http://schemas.microsoft.com/office/drawing/2014/main" id="{5589A6D6-89B5-C3CD-1325-DEFF68249F0D}"/>
              </a:ext>
            </a:extLst>
          </p:cNvPr>
          <p:cNvSpPr>
            <a:spLocks noGrp="1"/>
          </p:cNvSpPr>
          <p:nvPr>
            <p:ph idx="1"/>
          </p:nvPr>
        </p:nvSpPr>
        <p:spPr>
          <a:xfrm>
            <a:off x="1451579" y="2015732"/>
            <a:ext cx="9851421" cy="4107276"/>
          </a:xfrm>
        </p:spPr>
        <p:txBody>
          <a:bodyPr>
            <a:normAutofit fontScale="85000" lnSpcReduction="10000"/>
          </a:bodyPr>
          <a:lstStyle/>
          <a:p>
            <a:pPr>
              <a:spcAft>
                <a:spcPts val="1200"/>
              </a:spcAft>
            </a:pPr>
            <a:r>
              <a:rPr lang="en-US" sz="3200" dirty="0"/>
              <a:t>Your client wants to divorce their spouse, in state court. That requires notifying the spouse of the divorce proceeding. But the spouse now lives on a sailboat, sailing around the world, with no fixed address or home port. The spouse only gets phone reception on rare and unpredictable occasions. But the spouse does routinely correspond with your client through messaging on Linked-In.</a:t>
            </a:r>
          </a:p>
          <a:p>
            <a:r>
              <a:rPr lang="en-US" sz="3200" dirty="0"/>
              <a:t>Under state law, notice must be: (a) in person, (b) by certified mail, or (c) any other method the court approves. What should you do?</a:t>
            </a:r>
          </a:p>
        </p:txBody>
      </p:sp>
    </p:spTree>
    <p:extLst>
      <p:ext uri="{BB962C8B-B14F-4D97-AF65-F5344CB8AC3E}">
        <p14:creationId xmlns:p14="http://schemas.microsoft.com/office/powerpoint/2010/main" val="3485724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4E1E9-DFA8-5D9C-F654-D4E2A1BDF169}"/>
              </a:ext>
            </a:extLst>
          </p:cNvPr>
          <p:cNvSpPr>
            <a:spLocks noGrp="1"/>
          </p:cNvSpPr>
          <p:nvPr>
            <p:ph type="title"/>
          </p:nvPr>
        </p:nvSpPr>
        <p:spPr>
          <a:xfrm>
            <a:off x="1451579" y="1098087"/>
            <a:ext cx="9603275" cy="587136"/>
          </a:xfrm>
        </p:spPr>
        <p:txBody>
          <a:bodyPr/>
          <a:lstStyle/>
          <a:p>
            <a:r>
              <a:rPr lang="en-US" dirty="0"/>
              <a:t>Notice Hypo:</a:t>
            </a:r>
          </a:p>
        </p:txBody>
      </p:sp>
      <p:sp>
        <p:nvSpPr>
          <p:cNvPr id="3" name="Content Placeholder 2">
            <a:extLst>
              <a:ext uri="{FF2B5EF4-FFF2-40B4-BE49-F238E27FC236}">
                <a16:creationId xmlns:a16="http://schemas.microsoft.com/office/drawing/2014/main" id="{5589A6D6-89B5-C3CD-1325-DEFF68249F0D}"/>
              </a:ext>
            </a:extLst>
          </p:cNvPr>
          <p:cNvSpPr>
            <a:spLocks noGrp="1"/>
          </p:cNvSpPr>
          <p:nvPr>
            <p:ph idx="1"/>
          </p:nvPr>
        </p:nvSpPr>
        <p:spPr>
          <a:xfrm>
            <a:off x="1451579" y="2015732"/>
            <a:ext cx="9603275" cy="4107276"/>
          </a:xfrm>
        </p:spPr>
        <p:txBody>
          <a:bodyPr>
            <a:normAutofit/>
          </a:bodyPr>
          <a:lstStyle/>
          <a:p>
            <a:r>
              <a:rPr lang="en-US" sz="3200" dirty="0"/>
              <a:t>Let’s say we know the spouse is an avid reader of </a:t>
            </a:r>
            <a:r>
              <a:rPr lang="en-US" sz="3200" i="1" dirty="0" err="1"/>
              <a:t>Sailboating</a:t>
            </a:r>
            <a:r>
              <a:rPr lang="en-US" sz="3200" i="1" dirty="0"/>
              <a:t> Monthly</a:t>
            </a:r>
            <a:r>
              <a:rPr lang="en-US" sz="3200" dirty="0"/>
              <a:t> magazine. A classified ad in the magazine costs $15.</a:t>
            </a:r>
          </a:p>
          <a:p>
            <a:r>
              <a:rPr lang="en-US" sz="3200" dirty="0"/>
              <a:t>Let’s say a classified ad in the magazine costs $150?</a:t>
            </a:r>
          </a:p>
          <a:p>
            <a:r>
              <a:rPr lang="en-US" sz="3200" dirty="0"/>
              <a:t>$7,500?</a:t>
            </a:r>
          </a:p>
          <a:p>
            <a:r>
              <a:rPr lang="en-US" sz="3200" dirty="0"/>
              <a:t>What if the case is a multi-billion-dollar one?</a:t>
            </a:r>
          </a:p>
        </p:txBody>
      </p:sp>
    </p:spTree>
    <p:extLst>
      <p:ext uri="{BB962C8B-B14F-4D97-AF65-F5344CB8AC3E}">
        <p14:creationId xmlns:p14="http://schemas.microsoft.com/office/powerpoint/2010/main" val="45224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184DF-F45F-B802-825D-0533F17EB436}"/>
              </a:ext>
            </a:extLst>
          </p:cNvPr>
          <p:cNvSpPr>
            <a:spLocks noGrp="1"/>
          </p:cNvSpPr>
          <p:nvPr>
            <p:ph type="title"/>
          </p:nvPr>
        </p:nvSpPr>
        <p:spPr/>
        <p:txBody>
          <a:bodyPr/>
          <a:lstStyle/>
          <a:p>
            <a:r>
              <a:rPr lang="en-US" dirty="0"/>
              <a:t>III. Due Process: Opportunity to be Heard</a:t>
            </a:r>
          </a:p>
        </p:txBody>
      </p:sp>
    </p:spTree>
    <p:extLst>
      <p:ext uri="{BB962C8B-B14F-4D97-AF65-F5344CB8AC3E}">
        <p14:creationId xmlns:p14="http://schemas.microsoft.com/office/powerpoint/2010/main" val="627964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7BA01-38D8-4BDF-2E9E-D6F5C26BA562}"/>
              </a:ext>
            </a:extLst>
          </p:cNvPr>
          <p:cNvSpPr>
            <a:spLocks noGrp="1"/>
          </p:cNvSpPr>
          <p:nvPr>
            <p:ph type="title"/>
          </p:nvPr>
        </p:nvSpPr>
        <p:spPr>
          <a:xfrm>
            <a:off x="1451579" y="972112"/>
            <a:ext cx="9603275" cy="839086"/>
          </a:xfrm>
        </p:spPr>
        <p:txBody>
          <a:bodyPr/>
          <a:lstStyle/>
          <a:p>
            <a:r>
              <a:rPr lang="en-US" i="1" dirty="0"/>
              <a:t>Fuentes v. </a:t>
            </a:r>
            <a:r>
              <a:rPr lang="en-US" i="1" dirty="0" err="1"/>
              <a:t>Shevin</a:t>
            </a:r>
            <a:endParaRPr lang="en-US" i="1" dirty="0"/>
          </a:p>
        </p:txBody>
      </p:sp>
      <p:sp>
        <p:nvSpPr>
          <p:cNvPr id="3" name="Content Placeholder 2">
            <a:extLst>
              <a:ext uri="{FF2B5EF4-FFF2-40B4-BE49-F238E27FC236}">
                <a16:creationId xmlns:a16="http://schemas.microsoft.com/office/drawing/2014/main" id="{074F70A1-B019-5327-A223-0715C4C7CCD9}"/>
              </a:ext>
            </a:extLst>
          </p:cNvPr>
          <p:cNvSpPr>
            <a:spLocks noGrp="1"/>
          </p:cNvSpPr>
          <p:nvPr>
            <p:ph idx="1"/>
          </p:nvPr>
        </p:nvSpPr>
        <p:spPr>
          <a:xfrm>
            <a:off x="1451579" y="2015732"/>
            <a:ext cx="9603275" cy="3870156"/>
          </a:xfrm>
        </p:spPr>
        <p:txBody>
          <a:bodyPr>
            <a:normAutofit/>
          </a:bodyPr>
          <a:lstStyle/>
          <a:p>
            <a:pPr>
              <a:spcAft>
                <a:spcPts val="1200"/>
              </a:spcAft>
            </a:pPr>
            <a:r>
              <a:rPr lang="en-US" sz="3200" dirty="0"/>
              <a:t>The purpose of a hearing is “to minimize substantively unfair or mistaken deprivations of property” by letting parties “speak up in [their] own defense”</a:t>
            </a:r>
          </a:p>
          <a:p>
            <a:pPr>
              <a:spcAft>
                <a:spcPts val="1200"/>
              </a:spcAft>
            </a:pPr>
            <a:r>
              <a:rPr lang="en-US" sz="3200" dirty="0"/>
              <a:t>Therefore: “Parties whose rights are to be affected are entitled to be heard; and in order that they may enjoy that right they must first be notified”</a:t>
            </a:r>
          </a:p>
        </p:txBody>
      </p:sp>
    </p:spTree>
    <p:extLst>
      <p:ext uri="{BB962C8B-B14F-4D97-AF65-F5344CB8AC3E}">
        <p14:creationId xmlns:p14="http://schemas.microsoft.com/office/powerpoint/2010/main" val="1545410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7BA01-38D8-4BDF-2E9E-D6F5C26BA562}"/>
              </a:ext>
            </a:extLst>
          </p:cNvPr>
          <p:cNvSpPr>
            <a:spLocks noGrp="1"/>
          </p:cNvSpPr>
          <p:nvPr>
            <p:ph type="title"/>
          </p:nvPr>
        </p:nvSpPr>
        <p:spPr>
          <a:xfrm>
            <a:off x="1451579" y="972112"/>
            <a:ext cx="9603275" cy="839086"/>
          </a:xfrm>
        </p:spPr>
        <p:txBody>
          <a:bodyPr/>
          <a:lstStyle/>
          <a:p>
            <a:r>
              <a:rPr lang="en-US" i="1" dirty="0"/>
              <a:t>Fuentes v. </a:t>
            </a:r>
            <a:r>
              <a:rPr lang="en-US" i="1" dirty="0" err="1"/>
              <a:t>Shevin</a:t>
            </a:r>
            <a:endParaRPr lang="en-US" i="1" dirty="0"/>
          </a:p>
        </p:txBody>
      </p:sp>
      <p:sp>
        <p:nvSpPr>
          <p:cNvPr id="3" name="Content Placeholder 2">
            <a:extLst>
              <a:ext uri="{FF2B5EF4-FFF2-40B4-BE49-F238E27FC236}">
                <a16:creationId xmlns:a16="http://schemas.microsoft.com/office/drawing/2014/main" id="{074F70A1-B019-5327-A223-0715C4C7CCD9}"/>
              </a:ext>
            </a:extLst>
          </p:cNvPr>
          <p:cNvSpPr>
            <a:spLocks noGrp="1"/>
          </p:cNvSpPr>
          <p:nvPr>
            <p:ph idx="1"/>
          </p:nvPr>
        </p:nvSpPr>
        <p:spPr>
          <a:xfrm>
            <a:off x="1451579" y="2015731"/>
            <a:ext cx="9603275" cy="4111799"/>
          </a:xfrm>
        </p:spPr>
        <p:txBody>
          <a:bodyPr>
            <a:normAutofit/>
          </a:bodyPr>
          <a:lstStyle/>
          <a:p>
            <a:pPr>
              <a:spcAft>
                <a:spcPts val="1200"/>
              </a:spcAft>
            </a:pPr>
            <a:r>
              <a:rPr lang="en-US" sz="3200" dirty="0"/>
              <a:t>“The right to notice and an opportunity to be heard must be granted </a:t>
            </a:r>
            <a:r>
              <a:rPr lang="en-US" sz="3200" b="1" u="sng" dirty="0"/>
              <a:t>at a meaningful time and in a meaningful manner</a:t>
            </a:r>
            <a:r>
              <a:rPr lang="en-US" sz="3200" dirty="0"/>
              <a:t>”</a:t>
            </a:r>
          </a:p>
          <a:p>
            <a:pPr>
              <a:spcAft>
                <a:spcPts val="1200"/>
              </a:spcAft>
            </a:pPr>
            <a:r>
              <a:rPr lang="en-US" sz="3200" dirty="0"/>
              <a:t>So the hearing “must be granted at a time when the deprivation </a:t>
            </a:r>
            <a:r>
              <a:rPr lang="en-US" sz="3200" b="1" u="sng" dirty="0"/>
              <a:t>can still be prevented</a:t>
            </a:r>
            <a:r>
              <a:rPr lang="en-US" sz="3200" dirty="0"/>
              <a:t>,” except in “extraordinary situations”</a:t>
            </a:r>
          </a:p>
        </p:txBody>
      </p:sp>
    </p:spTree>
    <p:extLst>
      <p:ext uri="{BB962C8B-B14F-4D97-AF65-F5344CB8AC3E}">
        <p14:creationId xmlns:p14="http://schemas.microsoft.com/office/powerpoint/2010/main" val="3419753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A2BC2-FE6A-163C-9E70-DECDB47CA3E9}"/>
              </a:ext>
            </a:extLst>
          </p:cNvPr>
          <p:cNvSpPr>
            <a:spLocks noGrp="1"/>
          </p:cNvSpPr>
          <p:nvPr>
            <p:ph type="title"/>
          </p:nvPr>
        </p:nvSpPr>
        <p:spPr>
          <a:xfrm>
            <a:off x="1451579" y="1052131"/>
            <a:ext cx="9603275" cy="679048"/>
          </a:xfrm>
        </p:spPr>
        <p:txBody>
          <a:bodyPr/>
          <a:lstStyle/>
          <a:p>
            <a:r>
              <a:rPr lang="en-US" dirty="0"/>
              <a:t>Due Process Clause</a:t>
            </a:r>
          </a:p>
        </p:txBody>
      </p:sp>
      <p:sp>
        <p:nvSpPr>
          <p:cNvPr id="3" name="Content Placeholder 2">
            <a:extLst>
              <a:ext uri="{FF2B5EF4-FFF2-40B4-BE49-F238E27FC236}">
                <a16:creationId xmlns:a16="http://schemas.microsoft.com/office/drawing/2014/main" id="{9B5BDD10-0357-A2EA-47C0-EEFB46F4A3F4}"/>
              </a:ext>
            </a:extLst>
          </p:cNvPr>
          <p:cNvSpPr>
            <a:spLocks noGrp="1"/>
          </p:cNvSpPr>
          <p:nvPr>
            <p:ph idx="1"/>
          </p:nvPr>
        </p:nvSpPr>
        <p:spPr>
          <a:xfrm>
            <a:off x="1451579" y="2015732"/>
            <a:ext cx="9603275" cy="3918537"/>
          </a:xfrm>
        </p:spPr>
        <p:txBody>
          <a:bodyPr>
            <a:normAutofit fontScale="92500"/>
          </a:bodyPr>
          <a:lstStyle/>
          <a:p>
            <a:r>
              <a:rPr lang="en-US" sz="3200" dirty="0"/>
              <a:t>14</a:t>
            </a:r>
            <a:r>
              <a:rPr lang="en-US" sz="3200" baseline="30000" dirty="0"/>
              <a:t>th</a:t>
            </a:r>
            <a:r>
              <a:rPr lang="en-US" sz="3200" dirty="0"/>
              <a:t> Amendment: “nor shall any State </a:t>
            </a:r>
            <a:r>
              <a:rPr lang="en-US" sz="3200" b="1" u="sng" dirty="0"/>
              <a:t>deprive</a:t>
            </a:r>
            <a:r>
              <a:rPr lang="en-US" sz="3200" dirty="0"/>
              <a:t> any person of life, liberty, </a:t>
            </a:r>
            <a:r>
              <a:rPr lang="en-US" sz="3200" b="1" u="sng" dirty="0"/>
              <a:t>or property</a:t>
            </a:r>
            <a:r>
              <a:rPr lang="en-US" sz="3200" dirty="0"/>
              <a:t>, without due process of law”</a:t>
            </a:r>
          </a:p>
          <a:p>
            <a:r>
              <a:rPr lang="en-US" sz="3200" i="1" dirty="0"/>
              <a:t>Fuentes</a:t>
            </a:r>
            <a:r>
              <a:rPr lang="en-US" sz="3200" dirty="0"/>
              <a:t>: </a:t>
            </a:r>
          </a:p>
          <a:p>
            <a:pPr lvl="1"/>
            <a:r>
              <a:rPr lang="en-US" sz="3000" dirty="0"/>
              <a:t>Property includes “continued possession and use of the goods,”</a:t>
            </a:r>
          </a:p>
          <a:p>
            <a:pPr lvl="1"/>
            <a:r>
              <a:rPr lang="en-US" sz="3000" dirty="0"/>
              <a:t>And even “a temporary, nonfinal deprivation” counts</a:t>
            </a:r>
          </a:p>
        </p:txBody>
      </p:sp>
    </p:spTree>
    <p:extLst>
      <p:ext uri="{BB962C8B-B14F-4D97-AF65-F5344CB8AC3E}">
        <p14:creationId xmlns:p14="http://schemas.microsoft.com/office/powerpoint/2010/main" val="3909519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61C29-2F56-40DD-FBCB-C9EBCD19A4CE}"/>
              </a:ext>
            </a:extLst>
          </p:cNvPr>
          <p:cNvSpPr>
            <a:spLocks noGrp="1"/>
          </p:cNvSpPr>
          <p:nvPr>
            <p:ph type="title"/>
          </p:nvPr>
        </p:nvSpPr>
        <p:spPr>
          <a:xfrm>
            <a:off x="1451579" y="1028453"/>
            <a:ext cx="9603275" cy="688379"/>
          </a:xfrm>
        </p:spPr>
        <p:txBody>
          <a:bodyPr/>
          <a:lstStyle/>
          <a:p>
            <a:r>
              <a:rPr lang="en-US" i="1" dirty="0"/>
              <a:t>Connecticut v. </a:t>
            </a:r>
            <a:r>
              <a:rPr lang="en-US" i="1" dirty="0" err="1"/>
              <a:t>Doehr</a:t>
            </a:r>
            <a:endParaRPr lang="en-US" i="1" dirty="0"/>
          </a:p>
        </p:txBody>
      </p:sp>
      <p:sp>
        <p:nvSpPr>
          <p:cNvPr id="3" name="Content Placeholder 2">
            <a:extLst>
              <a:ext uri="{FF2B5EF4-FFF2-40B4-BE49-F238E27FC236}">
                <a16:creationId xmlns:a16="http://schemas.microsoft.com/office/drawing/2014/main" id="{A21C741C-3E6E-B47C-DB7F-E81743F827ED}"/>
              </a:ext>
            </a:extLst>
          </p:cNvPr>
          <p:cNvSpPr>
            <a:spLocks noGrp="1"/>
          </p:cNvSpPr>
          <p:nvPr>
            <p:ph idx="1"/>
          </p:nvPr>
        </p:nvSpPr>
        <p:spPr>
          <a:xfrm>
            <a:off x="1451579" y="2015732"/>
            <a:ext cx="9603275" cy="4037749"/>
          </a:xfrm>
        </p:spPr>
        <p:txBody>
          <a:bodyPr>
            <a:normAutofit/>
          </a:bodyPr>
          <a:lstStyle/>
          <a:p>
            <a:r>
              <a:rPr lang="en-US" sz="3000" dirty="0"/>
              <a:t>Balancing test for opportunity to be heard: </a:t>
            </a:r>
          </a:p>
          <a:p>
            <a:pPr marL="514350" indent="-514350">
              <a:buFont typeface="+mj-lt"/>
              <a:buAutoNum type="arabicParenR"/>
            </a:pPr>
            <a:r>
              <a:rPr lang="en-US" sz="3000" dirty="0"/>
              <a:t>Private interest affected by the deprivation;</a:t>
            </a:r>
          </a:p>
          <a:p>
            <a:pPr marL="514350" indent="-514350">
              <a:buFont typeface="+mj-lt"/>
              <a:buAutoNum type="arabicParenR"/>
            </a:pPr>
            <a:r>
              <a:rPr lang="en-US" sz="3000" dirty="0"/>
              <a:t>Risk of erroneous deprivation, </a:t>
            </a:r>
            <a:r>
              <a:rPr lang="en-US" sz="3000" u="sng" dirty="0"/>
              <a:t>and</a:t>
            </a:r>
            <a:r>
              <a:rPr lang="en-US" sz="3000" dirty="0"/>
              <a:t> likely value of additional procedural safeguards;</a:t>
            </a:r>
          </a:p>
          <a:p>
            <a:pPr marL="514350" indent="-514350">
              <a:buFont typeface="+mj-lt"/>
              <a:buAutoNum type="arabicParenR"/>
            </a:pPr>
            <a:r>
              <a:rPr lang="en-US" sz="3000" dirty="0"/>
              <a:t>Burden of more procedure for the party seeking the deprivation, and any burden on government</a:t>
            </a:r>
          </a:p>
        </p:txBody>
      </p:sp>
    </p:spTree>
    <p:extLst>
      <p:ext uri="{BB962C8B-B14F-4D97-AF65-F5344CB8AC3E}">
        <p14:creationId xmlns:p14="http://schemas.microsoft.com/office/powerpoint/2010/main" val="3357666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288D4-5A9B-0E41-96DF-5AA7E5E3CFAC}"/>
              </a:ext>
            </a:extLst>
          </p:cNvPr>
          <p:cNvSpPr>
            <a:spLocks noGrp="1"/>
          </p:cNvSpPr>
          <p:nvPr>
            <p:ph type="title"/>
          </p:nvPr>
        </p:nvSpPr>
        <p:spPr/>
        <p:txBody>
          <a:bodyPr/>
          <a:lstStyle/>
          <a:p>
            <a:r>
              <a:rPr lang="en-US"/>
              <a:t>IV</a:t>
            </a:r>
            <a:r>
              <a:rPr lang="en-US" dirty="0"/>
              <a:t>. Takeaways</a:t>
            </a:r>
          </a:p>
        </p:txBody>
      </p:sp>
    </p:spTree>
    <p:extLst>
      <p:ext uri="{BB962C8B-B14F-4D97-AF65-F5344CB8AC3E}">
        <p14:creationId xmlns:p14="http://schemas.microsoft.com/office/powerpoint/2010/main" val="8979071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87540-A9F7-D0D5-7C51-B314B1AFBADC}"/>
              </a:ext>
            </a:extLst>
          </p:cNvPr>
          <p:cNvSpPr>
            <a:spLocks noGrp="1"/>
          </p:cNvSpPr>
          <p:nvPr>
            <p:ph type="title"/>
          </p:nvPr>
        </p:nvSpPr>
        <p:spPr>
          <a:xfrm>
            <a:off x="1451579" y="1149753"/>
            <a:ext cx="9603275" cy="641726"/>
          </a:xfrm>
        </p:spPr>
        <p:txBody>
          <a:bodyPr/>
          <a:lstStyle/>
          <a:p>
            <a:r>
              <a:rPr lang="en-US" dirty="0"/>
              <a:t>Key takeaways: Notice in the Federal Rules</a:t>
            </a:r>
          </a:p>
        </p:txBody>
      </p:sp>
      <p:sp>
        <p:nvSpPr>
          <p:cNvPr id="3" name="Content Placeholder 2">
            <a:extLst>
              <a:ext uri="{FF2B5EF4-FFF2-40B4-BE49-F238E27FC236}">
                <a16:creationId xmlns:a16="http://schemas.microsoft.com/office/drawing/2014/main" id="{711F4322-C2D7-6AC8-F49F-A3CF4D1FF295}"/>
              </a:ext>
            </a:extLst>
          </p:cNvPr>
          <p:cNvSpPr>
            <a:spLocks noGrp="1"/>
          </p:cNvSpPr>
          <p:nvPr>
            <p:ph idx="1"/>
          </p:nvPr>
        </p:nvSpPr>
        <p:spPr>
          <a:xfrm>
            <a:off x="1451579" y="2015732"/>
            <a:ext cx="9603275" cy="3922613"/>
          </a:xfrm>
        </p:spPr>
        <p:txBody>
          <a:bodyPr/>
          <a:lstStyle/>
          <a:p>
            <a:r>
              <a:rPr lang="en-US" sz="3200" dirty="0"/>
              <a:t>In federal court, Rule 4 specifies what kind of notice must be provided in a civil suit and </a:t>
            </a:r>
            <a:r>
              <a:rPr lang="en-US" sz="3200" u="sng" dirty="0"/>
              <a:t>how to serve the Summons and Complaint</a:t>
            </a:r>
            <a:endParaRPr lang="en-US" sz="3200" dirty="0"/>
          </a:p>
          <a:p>
            <a:r>
              <a:rPr lang="en-US" sz="3200" dirty="0"/>
              <a:t>Within 90 days of filing a Complaint, Plaintiff must serve Complaint and Summons on Defendant, though Defendant can choose to waive service</a:t>
            </a:r>
          </a:p>
        </p:txBody>
      </p:sp>
    </p:spTree>
    <p:extLst>
      <p:ext uri="{BB962C8B-B14F-4D97-AF65-F5344CB8AC3E}">
        <p14:creationId xmlns:p14="http://schemas.microsoft.com/office/powerpoint/2010/main" val="4210795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7BA01-38D8-4BDF-2E9E-D6F5C26BA562}"/>
              </a:ext>
            </a:extLst>
          </p:cNvPr>
          <p:cNvSpPr>
            <a:spLocks noGrp="1"/>
          </p:cNvSpPr>
          <p:nvPr>
            <p:ph type="title"/>
          </p:nvPr>
        </p:nvSpPr>
        <p:spPr>
          <a:xfrm>
            <a:off x="1451579" y="1112071"/>
            <a:ext cx="9603275" cy="586100"/>
          </a:xfrm>
        </p:spPr>
        <p:txBody>
          <a:bodyPr>
            <a:normAutofit/>
          </a:bodyPr>
          <a:lstStyle/>
          <a:p>
            <a:r>
              <a:rPr lang="en-US" dirty="0"/>
              <a:t>Opportunity to be heard—</a:t>
            </a:r>
            <a:r>
              <a:rPr lang="en-US" i="1" dirty="0"/>
              <a:t>Fuentes</a:t>
            </a:r>
          </a:p>
        </p:txBody>
      </p:sp>
      <p:sp>
        <p:nvSpPr>
          <p:cNvPr id="3" name="Content Placeholder 2">
            <a:extLst>
              <a:ext uri="{FF2B5EF4-FFF2-40B4-BE49-F238E27FC236}">
                <a16:creationId xmlns:a16="http://schemas.microsoft.com/office/drawing/2014/main" id="{074F70A1-B019-5327-A223-0715C4C7CCD9}"/>
              </a:ext>
            </a:extLst>
          </p:cNvPr>
          <p:cNvSpPr>
            <a:spLocks noGrp="1"/>
          </p:cNvSpPr>
          <p:nvPr>
            <p:ph idx="1"/>
          </p:nvPr>
        </p:nvSpPr>
        <p:spPr>
          <a:xfrm>
            <a:off x="1451579" y="2036847"/>
            <a:ext cx="9603275" cy="4074585"/>
          </a:xfrm>
        </p:spPr>
        <p:txBody>
          <a:bodyPr>
            <a:normAutofit fontScale="92500" lnSpcReduction="20000"/>
          </a:bodyPr>
          <a:lstStyle/>
          <a:p>
            <a:pPr>
              <a:spcAft>
                <a:spcPts val="1200"/>
              </a:spcAft>
            </a:pPr>
            <a:r>
              <a:rPr lang="en-US" sz="3200" dirty="0"/>
              <a:t>“The right to notice and an opportunity to be heard ‘must be granted at a meaningful time and in a meaningful manner’”</a:t>
            </a:r>
          </a:p>
          <a:p>
            <a:pPr>
              <a:spcAft>
                <a:spcPts val="1200"/>
              </a:spcAft>
            </a:pPr>
            <a:r>
              <a:rPr lang="en-US" sz="3200" dirty="0"/>
              <a:t>Because we want parties to “speak up in [their] own defense”</a:t>
            </a:r>
          </a:p>
          <a:p>
            <a:pPr>
              <a:spcAft>
                <a:spcPts val="1200"/>
              </a:spcAft>
            </a:pPr>
            <a:r>
              <a:rPr lang="en-US" sz="3200" dirty="0"/>
              <a:t>So usually, need a hearing </a:t>
            </a:r>
            <a:r>
              <a:rPr lang="en-US" sz="3200" i="1" dirty="0"/>
              <a:t>before</a:t>
            </a:r>
            <a:r>
              <a:rPr lang="en-US" sz="3200" dirty="0"/>
              <a:t> “the deprivation,” except in “extraordinary situations”</a:t>
            </a:r>
          </a:p>
        </p:txBody>
      </p:sp>
    </p:spTree>
    <p:extLst>
      <p:ext uri="{BB962C8B-B14F-4D97-AF65-F5344CB8AC3E}">
        <p14:creationId xmlns:p14="http://schemas.microsoft.com/office/powerpoint/2010/main" val="626535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61C29-2F56-40DD-FBCB-C9EBCD19A4CE}"/>
              </a:ext>
            </a:extLst>
          </p:cNvPr>
          <p:cNvSpPr>
            <a:spLocks noGrp="1"/>
          </p:cNvSpPr>
          <p:nvPr>
            <p:ph type="title"/>
          </p:nvPr>
        </p:nvSpPr>
        <p:spPr>
          <a:xfrm>
            <a:off x="1451579" y="1103099"/>
            <a:ext cx="9603275" cy="660387"/>
          </a:xfrm>
        </p:spPr>
        <p:txBody>
          <a:bodyPr/>
          <a:lstStyle/>
          <a:p>
            <a:r>
              <a:rPr lang="en-US" dirty="0"/>
              <a:t>General Due Process test—</a:t>
            </a:r>
            <a:r>
              <a:rPr lang="en-US" i="1" dirty="0" err="1"/>
              <a:t>Doehr</a:t>
            </a:r>
            <a:endParaRPr lang="en-US" i="1" dirty="0"/>
          </a:p>
        </p:txBody>
      </p:sp>
      <p:sp>
        <p:nvSpPr>
          <p:cNvPr id="3" name="Content Placeholder 2">
            <a:extLst>
              <a:ext uri="{FF2B5EF4-FFF2-40B4-BE49-F238E27FC236}">
                <a16:creationId xmlns:a16="http://schemas.microsoft.com/office/drawing/2014/main" id="{A21C741C-3E6E-B47C-DB7F-E81743F827ED}"/>
              </a:ext>
            </a:extLst>
          </p:cNvPr>
          <p:cNvSpPr>
            <a:spLocks noGrp="1"/>
          </p:cNvSpPr>
          <p:nvPr>
            <p:ph idx="1"/>
          </p:nvPr>
        </p:nvSpPr>
        <p:spPr>
          <a:xfrm>
            <a:off x="1451579" y="2015732"/>
            <a:ext cx="9603275" cy="4037749"/>
          </a:xfrm>
        </p:spPr>
        <p:txBody>
          <a:bodyPr>
            <a:normAutofit/>
          </a:bodyPr>
          <a:lstStyle/>
          <a:p>
            <a:r>
              <a:rPr lang="en-US" sz="3200" dirty="0"/>
              <a:t>Balancing test for opportunity to be heard: </a:t>
            </a:r>
          </a:p>
          <a:p>
            <a:pPr marL="514350" indent="-514350">
              <a:buFont typeface="+mj-lt"/>
              <a:buAutoNum type="arabicParenR"/>
            </a:pPr>
            <a:r>
              <a:rPr lang="en-US" sz="3000" dirty="0"/>
              <a:t>Private interest affected by the deprivation;</a:t>
            </a:r>
          </a:p>
          <a:p>
            <a:pPr marL="514350" indent="-514350">
              <a:buFont typeface="+mj-lt"/>
              <a:buAutoNum type="arabicParenR"/>
            </a:pPr>
            <a:r>
              <a:rPr lang="en-US" sz="3200" dirty="0"/>
              <a:t>Risk of erroneous deprivation, </a:t>
            </a:r>
            <a:r>
              <a:rPr lang="en-US" sz="3200" u="sng" dirty="0"/>
              <a:t>and</a:t>
            </a:r>
            <a:r>
              <a:rPr lang="en-US" sz="3200" dirty="0"/>
              <a:t> likely value of additional procedural safeguards;</a:t>
            </a:r>
          </a:p>
          <a:p>
            <a:pPr marL="514350" indent="-514350">
              <a:buFont typeface="+mj-lt"/>
              <a:buAutoNum type="arabicParenR"/>
            </a:pPr>
            <a:r>
              <a:rPr lang="en-US" sz="3200" dirty="0"/>
              <a:t>Burden of more procedure for the party seeking the deprivation, and any burden on government</a:t>
            </a:r>
          </a:p>
        </p:txBody>
      </p:sp>
    </p:spTree>
    <p:extLst>
      <p:ext uri="{BB962C8B-B14F-4D97-AF65-F5344CB8AC3E}">
        <p14:creationId xmlns:p14="http://schemas.microsoft.com/office/powerpoint/2010/main" val="77088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2642</TotalTime>
  <Words>954</Words>
  <Application>Microsoft Macintosh PowerPoint</Application>
  <PresentationFormat>Widescreen</PresentationFormat>
  <Paragraphs>70</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Candara</vt:lpstr>
      <vt:lpstr>Gill Sans MT</vt:lpstr>
      <vt:lpstr>Gallery</vt:lpstr>
      <vt:lpstr>Civil Procedure</vt:lpstr>
      <vt:lpstr>Agenda</vt:lpstr>
      <vt:lpstr>I. Recap</vt:lpstr>
      <vt:lpstr>Due Process: Notice</vt:lpstr>
      <vt:lpstr>Due Process: Notice</vt:lpstr>
      <vt:lpstr>Notice in the Federal Rules—Rule 4</vt:lpstr>
      <vt:lpstr>Rule 4</vt:lpstr>
      <vt:lpstr>Waiver of service</vt:lpstr>
      <vt:lpstr>II. Notice Hypos</vt:lpstr>
      <vt:lpstr>Notice Hypo:</vt:lpstr>
      <vt:lpstr>Notice Hypo:</vt:lpstr>
      <vt:lpstr>III. Due Process: Opportunity to be Heard</vt:lpstr>
      <vt:lpstr>Fuentes v. Shevin</vt:lpstr>
      <vt:lpstr>Fuentes v. Shevin</vt:lpstr>
      <vt:lpstr>Due Process Clause</vt:lpstr>
      <vt:lpstr>Connecticut v. Doehr</vt:lpstr>
      <vt:lpstr>IV. Takeaways</vt:lpstr>
      <vt:lpstr>Key takeaways: Notice in the Federal Rules</vt:lpstr>
      <vt:lpstr>Opportunity to be heard—Fuentes</vt:lpstr>
      <vt:lpstr>General Due Process test—Doehr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Lanham</dc:creator>
  <cp:lastModifiedBy>Lanham, Andrew J</cp:lastModifiedBy>
  <cp:revision>187</cp:revision>
  <dcterms:created xsi:type="dcterms:W3CDTF">2024-08-16T15:30:55Z</dcterms:created>
  <dcterms:modified xsi:type="dcterms:W3CDTF">2026-09-01T19:32:55Z</dcterms:modified>
</cp:coreProperties>
</file>