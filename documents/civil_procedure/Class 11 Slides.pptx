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9" r:id="rId4"/>
    <p:sldId id="419" r:id="rId5"/>
    <p:sldId id="420" r:id="rId6"/>
    <p:sldId id="421" r:id="rId7"/>
    <p:sldId id="409" r:id="rId8"/>
    <p:sldId id="414" r:id="rId9"/>
    <p:sldId id="415" r:id="rId10"/>
    <p:sldId id="418" r:id="rId11"/>
    <p:sldId id="424" r:id="rId12"/>
    <p:sldId id="416" r:id="rId13"/>
    <p:sldId id="417" r:id="rId14"/>
    <p:sldId id="449" r:id="rId15"/>
    <p:sldId id="450" r:id="rId16"/>
    <p:sldId id="451" r:id="rId17"/>
    <p:sldId id="452" r:id="rId18"/>
    <p:sldId id="422" r:id="rId19"/>
    <p:sldId id="423" r:id="rId20"/>
    <p:sldId id="430" r:id="rId21"/>
    <p:sldId id="453" r:id="rId22"/>
    <p:sldId id="425" r:id="rId23"/>
    <p:sldId id="426" r:id="rId24"/>
    <p:sldId id="431" r:id="rId25"/>
    <p:sldId id="432"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113"/>
    <p:restoredTop sz="94527"/>
  </p:normalViewPr>
  <p:slideViewPr>
    <p:cSldViewPr snapToGrid="0">
      <p:cViewPr varScale="1">
        <p:scale>
          <a:sx n="105" d="100"/>
          <a:sy n="105" d="100"/>
        </p:scale>
        <p:origin x="192"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9/16/26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B1A86BF-6829-5045-A663-F100E0247FC7}"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484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6983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C36C72-0B33-0A48-B3F4-90C09BB8A580}"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38794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C36C72-0B33-0A48-B3F4-90C09BB8A580}" type="datetimeFigureOut">
              <a:rPr lang="en-US" smtClean="0"/>
              <a:t>9/16/26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4900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C36C72-0B33-0A48-B3F4-90C09BB8A580}" type="datetimeFigureOut">
              <a:rPr lang="en-US" smtClean="0"/>
              <a:t>9/16/26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1A86BF-6829-5045-A663-F100E0247FC7}"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17720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C36C72-0B33-0A48-B3F4-90C09BB8A580}" type="datetimeFigureOut">
              <a:rPr lang="en-US" smtClean="0"/>
              <a:t>9/16/26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1A86BF-6829-5045-A663-F100E0247FC7}"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721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C36C72-0B33-0A48-B3F4-90C09BB8A580}" type="datetimeFigureOut">
              <a:rPr lang="en-US" smtClean="0"/>
              <a:t>9/16/26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1A86BF-6829-5045-A663-F100E0247FC7}" type="slidenum">
              <a:rPr lang="en-US" smtClean="0"/>
              <a:t>‹#›</a:t>
            </a:fld>
            <a:endParaRPr lang="en-US"/>
          </a:p>
        </p:txBody>
      </p:sp>
    </p:spTree>
    <p:extLst>
      <p:ext uri="{BB962C8B-B14F-4D97-AF65-F5344CB8AC3E}">
        <p14:creationId xmlns:p14="http://schemas.microsoft.com/office/powerpoint/2010/main" val="444876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C36C72-0B33-0A48-B3F4-90C09BB8A580}" type="datetimeFigureOut">
              <a:rPr lang="en-US" smtClean="0"/>
              <a:t>9/16/26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00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0DC36C72-0B33-0A48-B3F4-90C09BB8A580}" type="datetimeFigureOut">
              <a:rPr lang="en-US" smtClean="0"/>
              <a:t>9/16/26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4B1A86BF-6829-5045-A663-F100E0247FC7}"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736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51098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36C72-0B33-0A48-B3F4-90C09BB8A580}"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1A86BF-6829-5045-A663-F100E0247FC7}"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831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0DC36C72-0B33-0A48-B3F4-90C09BB8A580}" type="datetimeFigureOut">
              <a:rPr lang="en-US" smtClean="0"/>
              <a:t>9/16/26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B1A86BF-6829-5045-A663-F100E0247FC7}"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9316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E135C-E1F7-457C-793B-6F84BBEA4FB1}"/>
              </a:ext>
            </a:extLst>
          </p:cNvPr>
          <p:cNvSpPr>
            <a:spLocks noGrp="1"/>
          </p:cNvSpPr>
          <p:nvPr>
            <p:ph type="ctrTitle"/>
          </p:nvPr>
        </p:nvSpPr>
        <p:spPr/>
        <p:txBody>
          <a:bodyPr/>
          <a:lstStyle/>
          <a:p>
            <a:r>
              <a:rPr lang="en-US" dirty="0"/>
              <a:t>Civil Procedure</a:t>
            </a:r>
          </a:p>
        </p:txBody>
      </p:sp>
      <p:sp>
        <p:nvSpPr>
          <p:cNvPr id="3" name="Subtitle 2">
            <a:extLst>
              <a:ext uri="{FF2B5EF4-FFF2-40B4-BE49-F238E27FC236}">
                <a16:creationId xmlns:a16="http://schemas.microsoft.com/office/drawing/2014/main" id="{8F6D2300-46B5-4ED8-98CD-7D18437CEC22}"/>
              </a:ext>
            </a:extLst>
          </p:cNvPr>
          <p:cNvSpPr>
            <a:spLocks noGrp="1"/>
          </p:cNvSpPr>
          <p:nvPr>
            <p:ph type="subTitle" idx="1"/>
          </p:nvPr>
        </p:nvSpPr>
        <p:spPr>
          <a:xfrm>
            <a:off x="2417780" y="3646951"/>
            <a:ext cx="8637072" cy="977621"/>
          </a:xfrm>
        </p:spPr>
        <p:txBody>
          <a:bodyPr>
            <a:normAutofit/>
          </a:bodyPr>
          <a:lstStyle/>
          <a:p>
            <a:r>
              <a:rPr lang="en-US" sz="3600" dirty="0">
                <a:latin typeface="Candara" panose="020E0502030303020204" pitchFamily="34" charset="0"/>
              </a:rPr>
              <a:t>Class 11</a:t>
            </a:r>
          </a:p>
        </p:txBody>
      </p:sp>
    </p:spTree>
    <p:extLst>
      <p:ext uri="{BB962C8B-B14F-4D97-AF65-F5344CB8AC3E}">
        <p14:creationId xmlns:p14="http://schemas.microsoft.com/office/powerpoint/2010/main" val="2744718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867AE-F040-67B6-9446-8FC8AA2B77C8}"/>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6B92D890-1782-3B9A-A9EE-7CCC33ACBBE4}"/>
              </a:ext>
            </a:extLst>
          </p:cNvPr>
          <p:cNvSpPr>
            <a:spLocks noGrp="1"/>
          </p:cNvSpPr>
          <p:nvPr>
            <p:ph idx="1"/>
          </p:nvPr>
        </p:nvSpPr>
        <p:spPr>
          <a:xfrm>
            <a:off x="1451579" y="2015732"/>
            <a:ext cx="9603275" cy="3933655"/>
          </a:xfrm>
        </p:spPr>
        <p:txBody>
          <a:bodyPr>
            <a:normAutofit/>
          </a:bodyPr>
          <a:lstStyle/>
          <a:p>
            <a:pPr marL="514350" indent="-514350">
              <a:buFont typeface="+mj-lt"/>
              <a:buAutoNum type="romanUcPeriod"/>
            </a:pPr>
            <a:r>
              <a:rPr lang="en-US" sz="3200" dirty="0"/>
              <a:t>Recap</a:t>
            </a:r>
          </a:p>
          <a:p>
            <a:pPr marL="514350" indent="-514350">
              <a:buFont typeface="+mj-lt"/>
              <a:buAutoNum type="romanUcPeriod"/>
            </a:pPr>
            <a:r>
              <a:rPr lang="en-US" sz="3200" dirty="0"/>
              <a:t>Privilege</a:t>
            </a:r>
          </a:p>
          <a:p>
            <a:pPr marL="514350" indent="-514350">
              <a:buFont typeface="+mj-lt"/>
              <a:buAutoNum type="romanUcPeriod"/>
            </a:pPr>
            <a:r>
              <a:rPr lang="en-US" sz="3200" dirty="0"/>
              <a:t>Work Product</a:t>
            </a:r>
          </a:p>
          <a:p>
            <a:pPr marL="514350" indent="-514350">
              <a:buFont typeface="+mj-lt"/>
              <a:buAutoNum type="romanUcPeriod"/>
            </a:pPr>
            <a:r>
              <a:rPr lang="en-US" sz="3200" dirty="0"/>
              <a:t>Takeaways</a:t>
            </a:r>
          </a:p>
        </p:txBody>
      </p:sp>
    </p:spTree>
    <p:extLst>
      <p:ext uri="{BB962C8B-B14F-4D97-AF65-F5344CB8AC3E}">
        <p14:creationId xmlns:p14="http://schemas.microsoft.com/office/powerpoint/2010/main" val="168983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288D4-5A9B-0E41-96DF-5AA7E5E3CFAC}"/>
              </a:ext>
            </a:extLst>
          </p:cNvPr>
          <p:cNvSpPr>
            <a:spLocks noGrp="1"/>
          </p:cNvSpPr>
          <p:nvPr>
            <p:ph type="title"/>
          </p:nvPr>
        </p:nvSpPr>
        <p:spPr/>
        <p:txBody>
          <a:bodyPr/>
          <a:lstStyle/>
          <a:p>
            <a:r>
              <a:rPr lang="en-US" dirty="0"/>
              <a:t>I. Recap—Discovery Tools</a:t>
            </a:r>
          </a:p>
        </p:txBody>
      </p:sp>
    </p:spTree>
    <p:extLst>
      <p:ext uri="{BB962C8B-B14F-4D97-AF65-F5344CB8AC3E}">
        <p14:creationId xmlns:p14="http://schemas.microsoft.com/office/powerpoint/2010/main" val="3053693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92791-ABF8-2EF6-7E70-E88F3F2060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F4C92E-7A14-3CA5-32B5-DE8F4E061F74}"/>
              </a:ext>
            </a:extLst>
          </p:cNvPr>
          <p:cNvSpPr>
            <a:spLocks noGrp="1"/>
          </p:cNvSpPr>
          <p:nvPr>
            <p:ph type="title"/>
          </p:nvPr>
        </p:nvSpPr>
        <p:spPr>
          <a:xfrm>
            <a:off x="1470241" y="1019232"/>
            <a:ext cx="9603275" cy="632288"/>
          </a:xfrm>
        </p:spPr>
        <p:txBody>
          <a:bodyPr/>
          <a:lstStyle/>
          <a:p>
            <a:r>
              <a:rPr lang="en-US" dirty="0"/>
              <a:t>Rule 26: Framework for Discovery</a:t>
            </a:r>
          </a:p>
        </p:txBody>
      </p:sp>
      <p:sp>
        <p:nvSpPr>
          <p:cNvPr id="3" name="Content Placeholder 2">
            <a:extLst>
              <a:ext uri="{FF2B5EF4-FFF2-40B4-BE49-F238E27FC236}">
                <a16:creationId xmlns:a16="http://schemas.microsoft.com/office/drawing/2014/main" id="{84481790-85D3-99C3-A86F-33DDCA90EBC4}"/>
              </a:ext>
            </a:extLst>
          </p:cNvPr>
          <p:cNvSpPr>
            <a:spLocks noGrp="1"/>
          </p:cNvSpPr>
          <p:nvPr>
            <p:ph idx="1"/>
          </p:nvPr>
        </p:nvSpPr>
        <p:spPr>
          <a:xfrm>
            <a:off x="1312915" y="1931649"/>
            <a:ext cx="9846497" cy="4037749"/>
          </a:xfrm>
        </p:spPr>
        <p:txBody>
          <a:bodyPr>
            <a:normAutofit lnSpcReduction="10000"/>
          </a:bodyPr>
          <a:lstStyle/>
          <a:p>
            <a:pPr marL="514350" indent="-514350">
              <a:spcBef>
                <a:spcPts val="0"/>
              </a:spcBef>
              <a:spcAft>
                <a:spcPts val="1200"/>
              </a:spcAft>
              <a:buFont typeface="+mj-lt"/>
              <a:buAutoNum type="arabicParenR"/>
            </a:pPr>
            <a:r>
              <a:rPr lang="en-US" sz="2800" dirty="0"/>
              <a:t>Some required disclosures of the basis for your claims or defenses</a:t>
            </a:r>
          </a:p>
          <a:p>
            <a:pPr marL="514350" indent="-514350">
              <a:spcBef>
                <a:spcPts val="0"/>
              </a:spcBef>
              <a:spcAft>
                <a:spcPts val="1200"/>
              </a:spcAft>
              <a:buFont typeface="+mj-lt"/>
              <a:buAutoNum type="arabicParenR"/>
            </a:pPr>
            <a:r>
              <a:rPr lang="en-US" sz="2800" dirty="0"/>
              <a:t>Parties plan discovery, conferring with each other</a:t>
            </a:r>
          </a:p>
          <a:p>
            <a:pPr marL="514350" indent="-514350">
              <a:spcBef>
                <a:spcPts val="0"/>
              </a:spcBef>
              <a:spcAft>
                <a:spcPts val="1200"/>
              </a:spcAft>
              <a:buFont typeface="+mj-lt"/>
              <a:buAutoNum type="arabicParenR"/>
            </a:pPr>
            <a:r>
              <a:rPr lang="en-US" sz="2800" dirty="0"/>
              <a:t>The scope of discovery is: </a:t>
            </a:r>
            <a:r>
              <a:rPr lang="en-US" sz="2800" b="1" u="sng" dirty="0"/>
              <a:t>nonprivileged</a:t>
            </a:r>
            <a:r>
              <a:rPr lang="en-US" sz="2800" dirty="0"/>
              <a:t>, </a:t>
            </a:r>
            <a:r>
              <a:rPr lang="en-US" sz="2800" b="1" u="sng" dirty="0"/>
              <a:t>relevant</a:t>
            </a:r>
            <a:r>
              <a:rPr lang="en-US" sz="2800" dirty="0"/>
              <a:t>, and </a:t>
            </a:r>
            <a:r>
              <a:rPr lang="en-US" sz="2800" b="1" u="sng" dirty="0"/>
              <a:t>proportional</a:t>
            </a:r>
            <a:r>
              <a:rPr lang="en-US" sz="2800" dirty="0"/>
              <a:t> information</a:t>
            </a:r>
            <a:endParaRPr lang="en-US" sz="2800" b="1" u="sng" dirty="0"/>
          </a:p>
          <a:p>
            <a:pPr marL="514350" indent="-514350">
              <a:spcBef>
                <a:spcPts val="0"/>
              </a:spcBef>
              <a:spcAft>
                <a:spcPts val="1200"/>
              </a:spcAft>
              <a:buFont typeface="+mj-lt"/>
              <a:buAutoNum type="arabicParenR"/>
            </a:pPr>
            <a:r>
              <a:rPr lang="en-US" sz="2800" dirty="0"/>
              <a:t>The court can adjust the limits of discovery to fit the case</a:t>
            </a:r>
          </a:p>
          <a:p>
            <a:pPr marL="514350" indent="-514350">
              <a:spcBef>
                <a:spcPts val="0"/>
              </a:spcBef>
              <a:spcAft>
                <a:spcPts val="1200"/>
              </a:spcAft>
              <a:buFont typeface="+mj-lt"/>
              <a:buAutoNum type="arabicParenR"/>
            </a:pPr>
            <a:r>
              <a:rPr lang="en-US" sz="2800" dirty="0"/>
              <a:t>Parties can be sanctioned for improper actions in discovery</a:t>
            </a:r>
          </a:p>
        </p:txBody>
      </p:sp>
    </p:spTree>
    <p:extLst>
      <p:ext uri="{BB962C8B-B14F-4D97-AF65-F5344CB8AC3E}">
        <p14:creationId xmlns:p14="http://schemas.microsoft.com/office/powerpoint/2010/main" val="968811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07E52-BECB-FA68-120A-8106B04E3C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C6A4B3-3F31-7FA1-4CB2-2FA6F8E8D2B0}"/>
              </a:ext>
            </a:extLst>
          </p:cNvPr>
          <p:cNvSpPr>
            <a:spLocks noGrp="1"/>
          </p:cNvSpPr>
          <p:nvPr>
            <p:ph type="title"/>
          </p:nvPr>
        </p:nvSpPr>
        <p:spPr>
          <a:xfrm>
            <a:off x="1451579" y="1093768"/>
            <a:ext cx="9603275" cy="623065"/>
          </a:xfrm>
        </p:spPr>
        <p:txBody>
          <a:bodyPr/>
          <a:lstStyle/>
          <a:p>
            <a:r>
              <a:rPr lang="en-US" dirty="0"/>
              <a:t>Types of Discovery</a:t>
            </a:r>
          </a:p>
        </p:txBody>
      </p:sp>
      <p:sp>
        <p:nvSpPr>
          <p:cNvPr id="3" name="Content Placeholder 2">
            <a:extLst>
              <a:ext uri="{FF2B5EF4-FFF2-40B4-BE49-F238E27FC236}">
                <a16:creationId xmlns:a16="http://schemas.microsoft.com/office/drawing/2014/main" id="{6C912FC3-F584-44E6-20A9-3ED056785D23}"/>
              </a:ext>
            </a:extLst>
          </p:cNvPr>
          <p:cNvSpPr>
            <a:spLocks noGrp="1"/>
          </p:cNvSpPr>
          <p:nvPr>
            <p:ph idx="1"/>
          </p:nvPr>
        </p:nvSpPr>
        <p:spPr>
          <a:xfrm>
            <a:off x="1451579" y="2015732"/>
            <a:ext cx="9603275" cy="3954144"/>
          </a:xfrm>
        </p:spPr>
        <p:txBody>
          <a:bodyPr>
            <a:normAutofit/>
          </a:bodyPr>
          <a:lstStyle/>
          <a:p>
            <a:r>
              <a:rPr lang="en-US" sz="2800" dirty="0"/>
              <a:t>Depositions (Rule 30)</a:t>
            </a:r>
          </a:p>
          <a:p>
            <a:r>
              <a:rPr lang="en-US" sz="2800" dirty="0"/>
              <a:t>Interrogatories (Rule 33)</a:t>
            </a:r>
          </a:p>
          <a:p>
            <a:r>
              <a:rPr lang="en-US" sz="2800" dirty="0"/>
              <a:t>Documents, Electronically Stored Information, Tangible Things, and Property (Rule 34)</a:t>
            </a:r>
          </a:p>
          <a:p>
            <a:r>
              <a:rPr lang="en-US" sz="2800" dirty="0"/>
              <a:t>Mental and Physical Examination (Rule 35)</a:t>
            </a:r>
          </a:p>
          <a:p>
            <a:r>
              <a:rPr lang="en-US" sz="2800" dirty="0"/>
              <a:t>Requests for Admission (Rule 36)</a:t>
            </a:r>
          </a:p>
        </p:txBody>
      </p:sp>
    </p:spTree>
    <p:extLst>
      <p:ext uri="{BB962C8B-B14F-4D97-AF65-F5344CB8AC3E}">
        <p14:creationId xmlns:p14="http://schemas.microsoft.com/office/powerpoint/2010/main" val="299771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D20C6-C5C4-5466-A6FA-358648376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117F2F-1A71-0764-02EE-B22F27C3339A}"/>
              </a:ext>
            </a:extLst>
          </p:cNvPr>
          <p:cNvSpPr>
            <a:spLocks noGrp="1"/>
          </p:cNvSpPr>
          <p:nvPr>
            <p:ph type="title"/>
          </p:nvPr>
        </p:nvSpPr>
        <p:spPr>
          <a:xfrm>
            <a:off x="1451579" y="1065776"/>
            <a:ext cx="9603275" cy="716371"/>
          </a:xfrm>
        </p:spPr>
        <p:txBody>
          <a:bodyPr/>
          <a:lstStyle/>
          <a:p>
            <a:r>
              <a:rPr lang="en-US" dirty="0"/>
              <a:t>Enforcing Discovery</a:t>
            </a:r>
          </a:p>
        </p:txBody>
      </p:sp>
      <p:sp>
        <p:nvSpPr>
          <p:cNvPr id="3" name="Content Placeholder 2">
            <a:extLst>
              <a:ext uri="{FF2B5EF4-FFF2-40B4-BE49-F238E27FC236}">
                <a16:creationId xmlns:a16="http://schemas.microsoft.com/office/drawing/2014/main" id="{DBF04F76-EC84-137C-0744-6EBD6C4B7F0A}"/>
              </a:ext>
            </a:extLst>
          </p:cNvPr>
          <p:cNvSpPr>
            <a:spLocks noGrp="1"/>
          </p:cNvSpPr>
          <p:nvPr>
            <p:ph idx="1"/>
          </p:nvPr>
        </p:nvSpPr>
        <p:spPr>
          <a:xfrm>
            <a:off x="1451579" y="2015732"/>
            <a:ext cx="9603275" cy="4037749"/>
          </a:xfrm>
        </p:spPr>
        <p:txBody>
          <a:bodyPr>
            <a:normAutofit/>
          </a:bodyPr>
          <a:lstStyle/>
          <a:p>
            <a:r>
              <a:rPr lang="en-US" sz="2800" dirty="0"/>
              <a:t>37(a), for noncompliance with discovery, a party must first work “in good faith” with the other party or person to obtain discovery</a:t>
            </a:r>
          </a:p>
          <a:p>
            <a:r>
              <a:rPr lang="en-US" sz="2800" dirty="0"/>
              <a:t>If that fails, may seek order from the court to compel discovery</a:t>
            </a:r>
          </a:p>
          <a:p>
            <a:r>
              <a:rPr lang="en-US" sz="2800" dirty="0"/>
              <a:t>37(b), if someone fails to comply with an order compelling discovery, the court may sanction</a:t>
            </a:r>
          </a:p>
        </p:txBody>
      </p:sp>
    </p:spTree>
    <p:extLst>
      <p:ext uri="{BB962C8B-B14F-4D97-AF65-F5344CB8AC3E}">
        <p14:creationId xmlns:p14="http://schemas.microsoft.com/office/powerpoint/2010/main" val="849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F0BAF-CAFE-BB63-71C9-B48927A25B7B}"/>
              </a:ext>
            </a:extLst>
          </p:cNvPr>
          <p:cNvSpPr>
            <a:spLocks noGrp="1"/>
          </p:cNvSpPr>
          <p:nvPr>
            <p:ph type="title"/>
          </p:nvPr>
        </p:nvSpPr>
        <p:spPr>
          <a:xfrm>
            <a:off x="1451579" y="1056796"/>
            <a:ext cx="9603275" cy="669718"/>
          </a:xfrm>
        </p:spPr>
        <p:txBody>
          <a:bodyPr/>
          <a:lstStyle/>
          <a:p>
            <a:r>
              <a:rPr lang="en-US" dirty="0"/>
              <a:t>Spoliation</a:t>
            </a:r>
          </a:p>
        </p:txBody>
      </p:sp>
      <p:sp>
        <p:nvSpPr>
          <p:cNvPr id="3" name="Content Placeholder 2">
            <a:extLst>
              <a:ext uri="{FF2B5EF4-FFF2-40B4-BE49-F238E27FC236}">
                <a16:creationId xmlns:a16="http://schemas.microsoft.com/office/drawing/2014/main" id="{FFCC87ED-9E09-37C5-7717-F7B8B427EE8D}"/>
              </a:ext>
            </a:extLst>
          </p:cNvPr>
          <p:cNvSpPr>
            <a:spLocks noGrp="1"/>
          </p:cNvSpPr>
          <p:nvPr>
            <p:ph idx="1"/>
          </p:nvPr>
        </p:nvSpPr>
        <p:spPr/>
        <p:txBody>
          <a:bodyPr>
            <a:normAutofit/>
          </a:bodyPr>
          <a:lstStyle/>
          <a:p>
            <a:r>
              <a:rPr lang="en-US" sz="2800" dirty="0"/>
              <a:t>Duty to preserve information that you knew or should have known would be relevant to anticipated litigation</a:t>
            </a:r>
          </a:p>
          <a:p>
            <a:r>
              <a:rPr lang="en-US" sz="2800" dirty="0"/>
              <a:t>Can be sanctioned for spoliation if the other party is prejudiced</a:t>
            </a:r>
          </a:p>
        </p:txBody>
      </p:sp>
    </p:spTree>
    <p:extLst>
      <p:ext uri="{BB962C8B-B14F-4D97-AF65-F5344CB8AC3E}">
        <p14:creationId xmlns:p14="http://schemas.microsoft.com/office/powerpoint/2010/main" val="1540358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27F36-01C8-FCB1-B658-B2F5DCC39307}"/>
              </a:ext>
            </a:extLst>
          </p:cNvPr>
          <p:cNvSpPr>
            <a:spLocks noGrp="1"/>
          </p:cNvSpPr>
          <p:nvPr>
            <p:ph type="title"/>
          </p:nvPr>
        </p:nvSpPr>
        <p:spPr/>
        <p:txBody>
          <a:bodyPr/>
          <a:lstStyle/>
          <a:p>
            <a:r>
              <a:rPr lang="en-US" dirty="0"/>
              <a:t>II. Privilege</a:t>
            </a:r>
          </a:p>
        </p:txBody>
      </p:sp>
    </p:spTree>
    <p:extLst>
      <p:ext uri="{BB962C8B-B14F-4D97-AF65-F5344CB8AC3E}">
        <p14:creationId xmlns:p14="http://schemas.microsoft.com/office/powerpoint/2010/main" val="2109135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85D02-26BC-D5C7-1DDA-0EF01DCECC4A}"/>
              </a:ext>
            </a:extLst>
          </p:cNvPr>
          <p:cNvSpPr>
            <a:spLocks noGrp="1"/>
          </p:cNvSpPr>
          <p:nvPr>
            <p:ph type="title"/>
          </p:nvPr>
        </p:nvSpPr>
        <p:spPr>
          <a:xfrm>
            <a:off x="1451579" y="995128"/>
            <a:ext cx="9603275" cy="793053"/>
          </a:xfrm>
        </p:spPr>
        <p:txBody>
          <a:bodyPr/>
          <a:lstStyle/>
          <a:p>
            <a:r>
              <a:rPr lang="en-US" dirty="0"/>
              <a:t>Privilege</a:t>
            </a:r>
          </a:p>
        </p:txBody>
      </p:sp>
      <p:sp>
        <p:nvSpPr>
          <p:cNvPr id="3" name="Content Placeholder 2">
            <a:extLst>
              <a:ext uri="{FF2B5EF4-FFF2-40B4-BE49-F238E27FC236}">
                <a16:creationId xmlns:a16="http://schemas.microsoft.com/office/drawing/2014/main" id="{8A8650F5-50B8-C043-A797-B8347EE16D6F}"/>
              </a:ext>
            </a:extLst>
          </p:cNvPr>
          <p:cNvSpPr>
            <a:spLocks noGrp="1"/>
          </p:cNvSpPr>
          <p:nvPr>
            <p:ph idx="1"/>
          </p:nvPr>
        </p:nvSpPr>
        <p:spPr>
          <a:xfrm>
            <a:off x="1451579" y="2015732"/>
            <a:ext cx="9603275" cy="3954144"/>
          </a:xfrm>
        </p:spPr>
        <p:txBody>
          <a:bodyPr>
            <a:normAutofit fontScale="92500"/>
          </a:bodyPr>
          <a:lstStyle/>
          <a:p>
            <a:r>
              <a:rPr lang="en-US" sz="2800" dirty="0"/>
              <a:t>Even if some material is relevant and proportional, that material is </a:t>
            </a:r>
            <a:r>
              <a:rPr lang="en-US" sz="2800" u="sng" dirty="0"/>
              <a:t>not discoverable if it’s privileged</a:t>
            </a:r>
          </a:p>
          <a:p>
            <a:r>
              <a:rPr lang="en-US" sz="2800" dirty="0"/>
              <a:t>The most common privilege is </a:t>
            </a:r>
            <a:r>
              <a:rPr lang="en-US" sz="2800" u="sng" dirty="0"/>
              <a:t>attorney-client privilege</a:t>
            </a:r>
            <a:endParaRPr lang="en-US" sz="2800" dirty="0"/>
          </a:p>
          <a:p>
            <a:r>
              <a:rPr lang="en-US" sz="2800" dirty="0"/>
              <a:t>Other privileges can include spousal privilege, physician-patient privilege, and clergy privilege, depending on the jurisdiction</a:t>
            </a:r>
          </a:p>
          <a:p>
            <a:r>
              <a:rPr lang="en-US" sz="2800" dirty="0"/>
              <a:t>E.g., the Texas Rules of Evidence provide spousal privilege (TRE 504), clergy privilege (TRE 505), and physician privilege (TRE 509)</a:t>
            </a:r>
          </a:p>
        </p:txBody>
      </p:sp>
    </p:spTree>
    <p:extLst>
      <p:ext uri="{BB962C8B-B14F-4D97-AF65-F5344CB8AC3E}">
        <p14:creationId xmlns:p14="http://schemas.microsoft.com/office/powerpoint/2010/main" val="136815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F850F-4729-8A6E-37DD-082E968DF26A}"/>
              </a:ext>
            </a:extLst>
          </p:cNvPr>
          <p:cNvSpPr>
            <a:spLocks noGrp="1"/>
          </p:cNvSpPr>
          <p:nvPr>
            <p:ph type="title"/>
          </p:nvPr>
        </p:nvSpPr>
        <p:spPr>
          <a:xfrm>
            <a:off x="1451579" y="1058190"/>
            <a:ext cx="9603275" cy="666929"/>
          </a:xfrm>
        </p:spPr>
        <p:txBody>
          <a:bodyPr/>
          <a:lstStyle/>
          <a:p>
            <a:r>
              <a:rPr lang="en-US" dirty="0"/>
              <a:t>Attorney-Client privilege</a:t>
            </a:r>
          </a:p>
        </p:txBody>
      </p:sp>
      <p:sp>
        <p:nvSpPr>
          <p:cNvPr id="3" name="Content Placeholder 2">
            <a:extLst>
              <a:ext uri="{FF2B5EF4-FFF2-40B4-BE49-F238E27FC236}">
                <a16:creationId xmlns:a16="http://schemas.microsoft.com/office/drawing/2014/main" id="{C24F67D6-C9E2-A981-78FB-842D95926362}"/>
              </a:ext>
            </a:extLst>
          </p:cNvPr>
          <p:cNvSpPr>
            <a:spLocks noGrp="1"/>
          </p:cNvSpPr>
          <p:nvPr>
            <p:ph idx="1"/>
          </p:nvPr>
        </p:nvSpPr>
        <p:spPr>
          <a:xfrm>
            <a:off x="1451579" y="2015732"/>
            <a:ext cx="9603275" cy="3964654"/>
          </a:xfrm>
        </p:spPr>
        <p:txBody>
          <a:bodyPr>
            <a:normAutofit/>
          </a:bodyPr>
          <a:lstStyle/>
          <a:p>
            <a:pPr marL="0" indent="0">
              <a:buNone/>
            </a:pPr>
            <a:r>
              <a:rPr lang="en-US" sz="2800" dirty="0"/>
              <a:t>To be privileged, the communication must:</a:t>
            </a:r>
          </a:p>
          <a:p>
            <a:pPr marL="514350" indent="-514350">
              <a:buFont typeface="+mj-lt"/>
              <a:buAutoNum type="arabicParenR"/>
            </a:pPr>
            <a:r>
              <a:rPr lang="en-US" sz="2800" dirty="0"/>
              <a:t>involve a </a:t>
            </a:r>
            <a:r>
              <a:rPr lang="en-US" sz="2800" u="sng" dirty="0"/>
              <a:t>client</a:t>
            </a:r>
            <a:r>
              <a:rPr lang="en-US" sz="2800" dirty="0"/>
              <a:t> or someone seeking to be a client</a:t>
            </a:r>
          </a:p>
          <a:p>
            <a:pPr marL="514350" indent="-514350">
              <a:buFont typeface="+mj-lt"/>
              <a:buAutoNum type="arabicParenR"/>
            </a:pPr>
            <a:r>
              <a:rPr lang="en-US" sz="2800" dirty="0"/>
              <a:t>be made to a lawyer, or a lawyer’s subordinate, acting in their </a:t>
            </a:r>
            <a:r>
              <a:rPr lang="en-US" sz="2800" u="sng" dirty="0"/>
              <a:t>capacity as a lawyer</a:t>
            </a:r>
          </a:p>
          <a:p>
            <a:pPr marL="514350" indent="-514350">
              <a:buFont typeface="+mj-lt"/>
              <a:buAutoNum type="arabicParenR"/>
            </a:pPr>
            <a:r>
              <a:rPr lang="en-US" sz="2800" dirty="0"/>
              <a:t>be </a:t>
            </a:r>
            <a:r>
              <a:rPr lang="en-US" sz="2800" u="sng" dirty="0"/>
              <a:t>confidential</a:t>
            </a:r>
            <a:r>
              <a:rPr lang="en-US" sz="2800" dirty="0"/>
              <a:t> and in the course of </a:t>
            </a:r>
            <a:r>
              <a:rPr lang="en-US" sz="2800" u="sng" dirty="0"/>
              <a:t>seeking legal advice</a:t>
            </a:r>
          </a:p>
          <a:p>
            <a:pPr marL="514350" indent="-514350">
              <a:buFont typeface="+mj-lt"/>
              <a:buAutoNum type="arabicParenR"/>
            </a:pPr>
            <a:r>
              <a:rPr lang="en-US" sz="2800" dirty="0"/>
              <a:t>and the privilege must be </a:t>
            </a:r>
            <a:r>
              <a:rPr lang="en-US" sz="2800" u="sng" dirty="0"/>
              <a:t>claimed</a:t>
            </a:r>
            <a:r>
              <a:rPr lang="en-US" sz="2800" dirty="0"/>
              <a:t> and not waived</a:t>
            </a:r>
          </a:p>
        </p:txBody>
      </p:sp>
    </p:spTree>
    <p:extLst>
      <p:ext uri="{BB962C8B-B14F-4D97-AF65-F5344CB8AC3E}">
        <p14:creationId xmlns:p14="http://schemas.microsoft.com/office/powerpoint/2010/main" val="194717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F850F-4729-8A6E-37DD-082E968DF26A}"/>
              </a:ext>
            </a:extLst>
          </p:cNvPr>
          <p:cNvSpPr>
            <a:spLocks noGrp="1"/>
          </p:cNvSpPr>
          <p:nvPr>
            <p:ph type="title"/>
          </p:nvPr>
        </p:nvSpPr>
        <p:spPr>
          <a:xfrm>
            <a:off x="1451579" y="1058190"/>
            <a:ext cx="9603275" cy="666929"/>
          </a:xfrm>
        </p:spPr>
        <p:txBody>
          <a:bodyPr/>
          <a:lstStyle/>
          <a:p>
            <a:r>
              <a:rPr lang="en-US" dirty="0"/>
              <a:t>Attorney-Client privilege</a:t>
            </a:r>
          </a:p>
        </p:txBody>
      </p:sp>
      <p:sp>
        <p:nvSpPr>
          <p:cNvPr id="3" name="Content Placeholder 2">
            <a:extLst>
              <a:ext uri="{FF2B5EF4-FFF2-40B4-BE49-F238E27FC236}">
                <a16:creationId xmlns:a16="http://schemas.microsoft.com/office/drawing/2014/main" id="{C24F67D6-C9E2-A981-78FB-842D95926362}"/>
              </a:ext>
            </a:extLst>
          </p:cNvPr>
          <p:cNvSpPr>
            <a:spLocks noGrp="1"/>
          </p:cNvSpPr>
          <p:nvPr>
            <p:ph idx="1"/>
          </p:nvPr>
        </p:nvSpPr>
        <p:spPr>
          <a:xfrm>
            <a:off x="1451579" y="2015732"/>
            <a:ext cx="9603275" cy="3964654"/>
          </a:xfrm>
        </p:spPr>
        <p:txBody>
          <a:bodyPr>
            <a:normAutofit fontScale="92500" lnSpcReduction="10000"/>
          </a:bodyPr>
          <a:lstStyle/>
          <a:p>
            <a:r>
              <a:rPr lang="en-US" sz="2800" dirty="0"/>
              <a:t>Privilege can be waived</a:t>
            </a:r>
          </a:p>
          <a:p>
            <a:r>
              <a:rPr lang="en-US" sz="2800" dirty="0"/>
              <a:t>Privilege belongs to the client—i.e., the client may invoke it to shield communications</a:t>
            </a:r>
          </a:p>
          <a:p>
            <a:r>
              <a:rPr lang="en-US" sz="2800" dirty="0"/>
              <a:t>Privilege applies to the </a:t>
            </a:r>
            <a:r>
              <a:rPr lang="en-US" sz="2800" u="sng" dirty="0"/>
              <a:t>communications</a:t>
            </a:r>
            <a:r>
              <a:rPr lang="en-US" sz="2800" dirty="0"/>
              <a:t>, but “does not protect disclosure of the underlying facts” (</a:t>
            </a:r>
            <a:r>
              <a:rPr lang="en-US" sz="2800" i="1" dirty="0"/>
              <a:t>Upjohn</a:t>
            </a:r>
            <a:r>
              <a:rPr lang="en-US" sz="2800" dirty="0"/>
              <a:t>)</a:t>
            </a:r>
          </a:p>
          <a:p>
            <a:r>
              <a:rPr lang="en-US" sz="2800" dirty="0"/>
              <a:t>Where the client is a corporation, privilege can cover legal communications with any level of employee, not just the “control group” of officers in charge (</a:t>
            </a:r>
            <a:r>
              <a:rPr lang="en-US" sz="2800" i="1" dirty="0"/>
              <a:t>Upjohn</a:t>
            </a:r>
            <a:r>
              <a:rPr lang="en-US" sz="2800" dirty="0"/>
              <a:t>)</a:t>
            </a:r>
          </a:p>
        </p:txBody>
      </p:sp>
    </p:spTree>
    <p:extLst>
      <p:ext uri="{BB962C8B-B14F-4D97-AF65-F5344CB8AC3E}">
        <p14:creationId xmlns:p14="http://schemas.microsoft.com/office/powerpoint/2010/main" val="3818158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27F36-01C8-FCB1-B658-B2F5DCC39307}"/>
              </a:ext>
            </a:extLst>
          </p:cNvPr>
          <p:cNvSpPr>
            <a:spLocks noGrp="1"/>
          </p:cNvSpPr>
          <p:nvPr>
            <p:ph type="title"/>
          </p:nvPr>
        </p:nvSpPr>
        <p:spPr/>
        <p:txBody>
          <a:bodyPr/>
          <a:lstStyle/>
          <a:p>
            <a:r>
              <a:rPr lang="en-US" dirty="0"/>
              <a:t>III. Work Product</a:t>
            </a:r>
          </a:p>
        </p:txBody>
      </p:sp>
    </p:spTree>
    <p:extLst>
      <p:ext uri="{BB962C8B-B14F-4D97-AF65-F5344CB8AC3E}">
        <p14:creationId xmlns:p14="http://schemas.microsoft.com/office/powerpoint/2010/main" val="1161488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85D02-26BC-D5C7-1DDA-0EF01DCECC4A}"/>
              </a:ext>
            </a:extLst>
          </p:cNvPr>
          <p:cNvSpPr>
            <a:spLocks noGrp="1"/>
          </p:cNvSpPr>
          <p:nvPr>
            <p:ph type="title"/>
          </p:nvPr>
        </p:nvSpPr>
        <p:spPr>
          <a:xfrm>
            <a:off x="1451579" y="995128"/>
            <a:ext cx="9603275" cy="793053"/>
          </a:xfrm>
        </p:spPr>
        <p:txBody>
          <a:bodyPr/>
          <a:lstStyle/>
          <a:p>
            <a:r>
              <a:rPr lang="en-US" dirty="0"/>
              <a:t>Work Product Protection</a:t>
            </a:r>
          </a:p>
        </p:txBody>
      </p:sp>
      <p:sp>
        <p:nvSpPr>
          <p:cNvPr id="3" name="Content Placeholder 2">
            <a:extLst>
              <a:ext uri="{FF2B5EF4-FFF2-40B4-BE49-F238E27FC236}">
                <a16:creationId xmlns:a16="http://schemas.microsoft.com/office/drawing/2014/main" id="{8A8650F5-50B8-C043-A797-B8347EE16D6F}"/>
              </a:ext>
            </a:extLst>
          </p:cNvPr>
          <p:cNvSpPr>
            <a:spLocks noGrp="1"/>
          </p:cNvSpPr>
          <p:nvPr>
            <p:ph idx="1"/>
          </p:nvPr>
        </p:nvSpPr>
        <p:spPr>
          <a:xfrm>
            <a:off x="1451579" y="2015732"/>
            <a:ext cx="9603275" cy="4111799"/>
          </a:xfrm>
        </p:spPr>
        <p:txBody>
          <a:bodyPr>
            <a:normAutofit lnSpcReduction="10000"/>
          </a:bodyPr>
          <a:lstStyle/>
          <a:p>
            <a:pPr>
              <a:spcAft>
                <a:spcPts val="1200"/>
              </a:spcAft>
            </a:pPr>
            <a:r>
              <a:rPr lang="en-US" sz="2400" dirty="0"/>
              <a:t>Documents or tangible things prepared in anticipation of litigation or trial, by a lawyer or party or at their direction, are presumptively not discoverable</a:t>
            </a:r>
          </a:p>
          <a:p>
            <a:pPr>
              <a:spcAft>
                <a:spcPts val="1200"/>
              </a:spcAft>
            </a:pPr>
            <a:r>
              <a:rPr lang="en-US" sz="2400" dirty="0"/>
              <a:t>But </a:t>
            </a:r>
            <a:r>
              <a:rPr lang="en-US" sz="2400" u="sng" dirty="0"/>
              <a:t>factual material</a:t>
            </a:r>
            <a:r>
              <a:rPr lang="en-US" sz="2400" dirty="0"/>
              <a:t> in those documents may be discoverable if the party seeking those facts shows </a:t>
            </a:r>
            <a:r>
              <a:rPr lang="en-US" sz="2400" u="sng" dirty="0"/>
              <a:t>need</a:t>
            </a:r>
            <a:r>
              <a:rPr lang="en-US" sz="2400" dirty="0"/>
              <a:t> and the </a:t>
            </a:r>
            <a:r>
              <a:rPr lang="en-US" sz="2400" u="sng" dirty="0"/>
              <a:t>facts can’t be obtained another way</a:t>
            </a:r>
            <a:r>
              <a:rPr lang="en-US" sz="2400" dirty="0"/>
              <a:t> without undue hardship</a:t>
            </a:r>
          </a:p>
          <a:p>
            <a:pPr>
              <a:spcAft>
                <a:spcPts val="1200"/>
              </a:spcAft>
            </a:pPr>
            <a:r>
              <a:rPr lang="en-US" sz="2400" dirty="0"/>
              <a:t>But even then, the attorney’s </a:t>
            </a:r>
            <a:r>
              <a:rPr lang="en-US" sz="2400" u="sng" dirty="0"/>
              <a:t>mental impressions, recollections, and opinions</a:t>
            </a:r>
            <a:r>
              <a:rPr lang="en-US" sz="2400" dirty="0"/>
              <a:t> in such documents are </a:t>
            </a:r>
            <a:r>
              <a:rPr lang="en-US" sz="2400" u="sng" dirty="0"/>
              <a:t>not discoverable</a:t>
            </a:r>
          </a:p>
        </p:txBody>
      </p:sp>
    </p:spTree>
    <p:extLst>
      <p:ext uri="{BB962C8B-B14F-4D97-AF65-F5344CB8AC3E}">
        <p14:creationId xmlns:p14="http://schemas.microsoft.com/office/powerpoint/2010/main" val="2877321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B5A12-B8DD-A4EE-DFFF-7E46385992F3}"/>
              </a:ext>
            </a:extLst>
          </p:cNvPr>
          <p:cNvSpPr>
            <a:spLocks noGrp="1"/>
          </p:cNvSpPr>
          <p:nvPr>
            <p:ph type="title"/>
          </p:nvPr>
        </p:nvSpPr>
        <p:spPr/>
        <p:txBody>
          <a:bodyPr/>
          <a:lstStyle/>
          <a:p>
            <a:r>
              <a:rPr lang="en-US" dirty="0"/>
              <a:t>IV. Hypos</a:t>
            </a:r>
          </a:p>
        </p:txBody>
      </p:sp>
    </p:spTree>
    <p:extLst>
      <p:ext uri="{BB962C8B-B14F-4D97-AF65-F5344CB8AC3E}">
        <p14:creationId xmlns:p14="http://schemas.microsoft.com/office/powerpoint/2010/main" val="3560643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B59F7-0809-C5AA-11ED-4CAC88495C16}"/>
              </a:ext>
            </a:extLst>
          </p:cNvPr>
          <p:cNvSpPr>
            <a:spLocks noGrp="1"/>
          </p:cNvSpPr>
          <p:nvPr>
            <p:ph type="title"/>
          </p:nvPr>
        </p:nvSpPr>
        <p:spPr>
          <a:xfrm>
            <a:off x="1451579" y="1037169"/>
            <a:ext cx="9603275" cy="708971"/>
          </a:xfrm>
        </p:spPr>
        <p:txBody>
          <a:bodyPr/>
          <a:lstStyle/>
          <a:p>
            <a:r>
              <a:rPr lang="en-US" dirty="0"/>
              <a:t>Hypo</a:t>
            </a:r>
          </a:p>
        </p:txBody>
      </p:sp>
      <p:sp>
        <p:nvSpPr>
          <p:cNvPr id="3" name="Content Placeholder 2">
            <a:extLst>
              <a:ext uri="{FF2B5EF4-FFF2-40B4-BE49-F238E27FC236}">
                <a16:creationId xmlns:a16="http://schemas.microsoft.com/office/drawing/2014/main" id="{BDDF7CC7-EAC6-4B06-F78D-BBB0A7379F1D}"/>
              </a:ext>
            </a:extLst>
          </p:cNvPr>
          <p:cNvSpPr>
            <a:spLocks noGrp="1"/>
          </p:cNvSpPr>
          <p:nvPr>
            <p:ph idx="1"/>
          </p:nvPr>
        </p:nvSpPr>
        <p:spPr>
          <a:xfrm>
            <a:off x="1451579" y="2015732"/>
            <a:ext cx="9603275" cy="3996185"/>
          </a:xfrm>
        </p:spPr>
        <p:txBody>
          <a:bodyPr>
            <a:normAutofit/>
          </a:bodyPr>
          <a:lstStyle/>
          <a:p>
            <a:pPr marL="0" indent="0">
              <a:buNone/>
            </a:pPr>
            <a:r>
              <a:rPr lang="en-US" sz="2800" dirty="0"/>
              <a:t>You happen to be friends with your lawyer. You’re at a bowling alley on a Saturday evening and, during the course of the conversation, you describe a legal dispute with your neighbor. Privileged?</a:t>
            </a:r>
          </a:p>
          <a:p>
            <a:pPr marL="0" indent="0">
              <a:buNone/>
            </a:pPr>
            <a:r>
              <a:rPr lang="en-US" sz="2800" u="sng" dirty="0"/>
              <a:t>No</a:t>
            </a:r>
            <a:r>
              <a:rPr lang="en-US" sz="2800" dirty="0"/>
              <a:t>, not in capacity as a client, or capacity as a lawyer, and not for the purpose of legal advice</a:t>
            </a:r>
            <a:endParaRPr lang="en-US" sz="2800" u="sng" dirty="0"/>
          </a:p>
        </p:txBody>
      </p:sp>
    </p:spTree>
    <p:extLst>
      <p:ext uri="{BB962C8B-B14F-4D97-AF65-F5344CB8AC3E}">
        <p14:creationId xmlns:p14="http://schemas.microsoft.com/office/powerpoint/2010/main" val="8778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B59F7-0809-C5AA-11ED-4CAC88495C16}"/>
              </a:ext>
            </a:extLst>
          </p:cNvPr>
          <p:cNvSpPr>
            <a:spLocks noGrp="1"/>
          </p:cNvSpPr>
          <p:nvPr>
            <p:ph type="title"/>
          </p:nvPr>
        </p:nvSpPr>
        <p:spPr>
          <a:xfrm>
            <a:off x="1451579" y="1037169"/>
            <a:ext cx="9603275" cy="708971"/>
          </a:xfrm>
        </p:spPr>
        <p:txBody>
          <a:bodyPr/>
          <a:lstStyle/>
          <a:p>
            <a:r>
              <a:rPr lang="en-US" dirty="0"/>
              <a:t>Hypotheticals</a:t>
            </a:r>
          </a:p>
        </p:txBody>
      </p:sp>
      <p:sp>
        <p:nvSpPr>
          <p:cNvPr id="3" name="Content Placeholder 2">
            <a:extLst>
              <a:ext uri="{FF2B5EF4-FFF2-40B4-BE49-F238E27FC236}">
                <a16:creationId xmlns:a16="http://schemas.microsoft.com/office/drawing/2014/main" id="{BDDF7CC7-EAC6-4B06-F78D-BBB0A7379F1D}"/>
              </a:ext>
            </a:extLst>
          </p:cNvPr>
          <p:cNvSpPr>
            <a:spLocks noGrp="1"/>
          </p:cNvSpPr>
          <p:nvPr>
            <p:ph idx="1"/>
          </p:nvPr>
        </p:nvSpPr>
        <p:spPr>
          <a:xfrm>
            <a:off x="1451579" y="2015732"/>
            <a:ext cx="9603275" cy="3996185"/>
          </a:xfrm>
        </p:spPr>
        <p:txBody>
          <a:bodyPr>
            <a:normAutofit/>
          </a:bodyPr>
          <a:lstStyle/>
          <a:p>
            <a:pPr marL="0" indent="0">
              <a:buNone/>
            </a:pPr>
            <a:r>
              <a:rPr lang="en-US" sz="2800" dirty="0"/>
              <a:t>You and your lawyer are returning from court and riding the elevator up to your lawyer’s office. Two other people are in the elevator browsing the internet on their phones. You discuss case strategy with your lawyer in the elevator. Privileged?</a:t>
            </a:r>
          </a:p>
          <a:p>
            <a:pPr marL="0" indent="0">
              <a:buNone/>
            </a:pPr>
            <a:r>
              <a:rPr lang="en-US" sz="2800" u="sng" dirty="0"/>
              <a:t>No</a:t>
            </a:r>
            <a:r>
              <a:rPr lang="en-US" sz="2800" dirty="0"/>
              <a:t>, not confidential</a:t>
            </a:r>
            <a:endParaRPr lang="en-US" sz="2800" u="sng" dirty="0"/>
          </a:p>
        </p:txBody>
      </p:sp>
    </p:spTree>
    <p:extLst>
      <p:ext uri="{BB962C8B-B14F-4D97-AF65-F5344CB8AC3E}">
        <p14:creationId xmlns:p14="http://schemas.microsoft.com/office/powerpoint/2010/main" val="1424172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B59F7-0809-C5AA-11ED-4CAC88495C16}"/>
              </a:ext>
            </a:extLst>
          </p:cNvPr>
          <p:cNvSpPr>
            <a:spLocks noGrp="1"/>
          </p:cNvSpPr>
          <p:nvPr>
            <p:ph type="title"/>
          </p:nvPr>
        </p:nvSpPr>
        <p:spPr>
          <a:xfrm>
            <a:off x="1451579" y="1037169"/>
            <a:ext cx="9603275" cy="708971"/>
          </a:xfrm>
        </p:spPr>
        <p:txBody>
          <a:bodyPr/>
          <a:lstStyle/>
          <a:p>
            <a:r>
              <a:rPr lang="en-US" dirty="0"/>
              <a:t>Hypotheticals</a:t>
            </a:r>
          </a:p>
        </p:txBody>
      </p:sp>
      <p:sp>
        <p:nvSpPr>
          <p:cNvPr id="3" name="Content Placeholder 2">
            <a:extLst>
              <a:ext uri="{FF2B5EF4-FFF2-40B4-BE49-F238E27FC236}">
                <a16:creationId xmlns:a16="http://schemas.microsoft.com/office/drawing/2014/main" id="{BDDF7CC7-EAC6-4B06-F78D-BBB0A7379F1D}"/>
              </a:ext>
            </a:extLst>
          </p:cNvPr>
          <p:cNvSpPr>
            <a:spLocks noGrp="1"/>
          </p:cNvSpPr>
          <p:nvPr>
            <p:ph idx="1"/>
          </p:nvPr>
        </p:nvSpPr>
        <p:spPr>
          <a:xfrm>
            <a:off x="1451579" y="2015732"/>
            <a:ext cx="9603275" cy="3996185"/>
          </a:xfrm>
        </p:spPr>
        <p:txBody>
          <a:bodyPr>
            <a:normAutofit/>
          </a:bodyPr>
          <a:lstStyle/>
          <a:p>
            <a:pPr marL="0" indent="0">
              <a:buNone/>
            </a:pPr>
            <a:r>
              <a:rPr lang="en-US" sz="2800" dirty="0"/>
              <a:t>You’re in the middle of litigation, and you discuss case strategy with, and ask for strategic advice from, your Uber driver. Privileged?</a:t>
            </a:r>
          </a:p>
          <a:p>
            <a:pPr marL="0" indent="0">
              <a:buNone/>
            </a:pPr>
            <a:r>
              <a:rPr lang="en-US" sz="2800" u="sng" dirty="0"/>
              <a:t>No</a:t>
            </a:r>
            <a:r>
              <a:rPr lang="en-US" sz="2800" dirty="0"/>
              <a:t>, not in capacity as lawyer/client, not for legal advice</a:t>
            </a:r>
          </a:p>
        </p:txBody>
      </p:sp>
    </p:spTree>
    <p:extLst>
      <p:ext uri="{BB962C8B-B14F-4D97-AF65-F5344CB8AC3E}">
        <p14:creationId xmlns:p14="http://schemas.microsoft.com/office/powerpoint/2010/main" val="312949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B59F7-0809-C5AA-11ED-4CAC88495C16}"/>
              </a:ext>
            </a:extLst>
          </p:cNvPr>
          <p:cNvSpPr>
            <a:spLocks noGrp="1"/>
          </p:cNvSpPr>
          <p:nvPr>
            <p:ph type="title"/>
          </p:nvPr>
        </p:nvSpPr>
        <p:spPr>
          <a:xfrm>
            <a:off x="1451579" y="1037169"/>
            <a:ext cx="9603275" cy="708971"/>
          </a:xfrm>
        </p:spPr>
        <p:txBody>
          <a:bodyPr/>
          <a:lstStyle/>
          <a:p>
            <a:r>
              <a:rPr lang="en-US" dirty="0"/>
              <a:t>Hypotheticals</a:t>
            </a:r>
          </a:p>
        </p:txBody>
      </p:sp>
      <p:sp>
        <p:nvSpPr>
          <p:cNvPr id="3" name="Content Placeholder 2">
            <a:extLst>
              <a:ext uri="{FF2B5EF4-FFF2-40B4-BE49-F238E27FC236}">
                <a16:creationId xmlns:a16="http://schemas.microsoft.com/office/drawing/2014/main" id="{BDDF7CC7-EAC6-4B06-F78D-BBB0A7379F1D}"/>
              </a:ext>
            </a:extLst>
          </p:cNvPr>
          <p:cNvSpPr>
            <a:spLocks noGrp="1"/>
          </p:cNvSpPr>
          <p:nvPr>
            <p:ph idx="1"/>
          </p:nvPr>
        </p:nvSpPr>
        <p:spPr>
          <a:xfrm>
            <a:off x="1451579" y="2015732"/>
            <a:ext cx="9603275" cy="3996185"/>
          </a:xfrm>
        </p:spPr>
        <p:txBody>
          <a:bodyPr>
            <a:normAutofit/>
          </a:bodyPr>
          <a:lstStyle/>
          <a:p>
            <a:pPr marL="0" indent="0">
              <a:buNone/>
            </a:pPr>
            <a:r>
              <a:rPr lang="en-US" sz="2800" dirty="0"/>
              <a:t>You’re in the middle of litigation, and you’re at your lawyer’s office. One of the law firm’s paralegals is also in the office. You discuss case strategy with your lawyer. Privileged?</a:t>
            </a:r>
          </a:p>
          <a:p>
            <a:pPr marL="0" indent="0">
              <a:buNone/>
            </a:pPr>
            <a:r>
              <a:rPr lang="en-US" sz="2800" u="sng" dirty="0"/>
              <a:t>Yes</a:t>
            </a:r>
          </a:p>
        </p:txBody>
      </p:sp>
    </p:spTree>
    <p:extLst>
      <p:ext uri="{BB962C8B-B14F-4D97-AF65-F5344CB8AC3E}">
        <p14:creationId xmlns:p14="http://schemas.microsoft.com/office/powerpoint/2010/main" val="100760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B59F7-0809-C5AA-11ED-4CAC88495C16}"/>
              </a:ext>
            </a:extLst>
          </p:cNvPr>
          <p:cNvSpPr>
            <a:spLocks noGrp="1"/>
          </p:cNvSpPr>
          <p:nvPr>
            <p:ph type="title"/>
          </p:nvPr>
        </p:nvSpPr>
        <p:spPr>
          <a:xfrm>
            <a:off x="1451579" y="1037169"/>
            <a:ext cx="9603275" cy="708971"/>
          </a:xfrm>
        </p:spPr>
        <p:txBody>
          <a:bodyPr/>
          <a:lstStyle/>
          <a:p>
            <a:r>
              <a:rPr lang="en-US" dirty="0"/>
              <a:t>Hypotheticals</a:t>
            </a:r>
          </a:p>
        </p:txBody>
      </p:sp>
      <p:sp>
        <p:nvSpPr>
          <p:cNvPr id="3" name="Content Placeholder 2">
            <a:extLst>
              <a:ext uri="{FF2B5EF4-FFF2-40B4-BE49-F238E27FC236}">
                <a16:creationId xmlns:a16="http://schemas.microsoft.com/office/drawing/2014/main" id="{BDDF7CC7-EAC6-4B06-F78D-BBB0A7379F1D}"/>
              </a:ext>
            </a:extLst>
          </p:cNvPr>
          <p:cNvSpPr>
            <a:spLocks noGrp="1"/>
          </p:cNvSpPr>
          <p:nvPr>
            <p:ph idx="1"/>
          </p:nvPr>
        </p:nvSpPr>
        <p:spPr>
          <a:xfrm>
            <a:off x="1451579" y="2015732"/>
            <a:ext cx="9603275" cy="3996185"/>
          </a:xfrm>
        </p:spPr>
        <p:txBody>
          <a:bodyPr>
            <a:normAutofit/>
          </a:bodyPr>
          <a:lstStyle/>
          <a:p>
            <a:pPr marL="0" indent="0">
              <a:buNone/>
            </a:pPr>
            <a:r>
              <a:rPr lang="en-US" sz="2800" dirty="0"/>
              <a:t>You’ve just been sued, but haven’t yet retained a lawyer. You’re at your potential lawyer’s office to discuss whether they will represent you. One of the law firm’s paralegals is also in the office. You discuss case strategy with your potential lawyer, as they work to determine whether they will represent you. Privileged?</a:t>
            </a:r>
          </a:p>
          <a:p>
            <a:pPr marL="0" indent="0">
              <a:buNone/>
            </a:pPr>
            <a:r>
              <a:rPr lang="en-US" sz="2800" u="sng" dirty="0"/>
              <a:t>Yes</a:t>
            </a:r>
          </a:p>
        </p:txBody>
      </p:sp>
    </p:spTree>
    <p:extLst>
      <p:ext uri="{BB962C8B-B14F-4D97-AF65-F5344CB8AC3E}">
        <p14:creationId xmlns:p14="http://schemas.microsoft.com/office/powerpoint/2010/main" val="375017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B59F7-0809-C5AA-11ED-4CAC88495C16}"/>
              </a:ext>
            </a:extLst>
          </p:cNvPr>
          <p:cNvSpPr>
            <a:spLocks noGrp="1"/>
          </p:cNvSpPr>
          <p:nvPr>
            <p:ph type="title"/>
          </p:nvPr>
        </p:nvSpPr>
        <p:spPr>
          <a:xfrm>
            <a:off x="1451579" y="1037169"/>
            <a:ext cx="9603275" cy="708971"/>
          </a:xfrm>
        </p:spPr>
        <p:txBody>
          <a:bodyPr/>
          <a:lstStyle/>
          <a:p>
            <a:r>
              <a:rPr lang="en-US" dirty="0"/>
              <a:t>Hypotheticals</a:t>
            </a:r>
          </a:p>
        </p:txBody>
      </p:sp>
      <p:sp>
        <p:nvSpPr>
          <p:cNvPr id="3" name="Content Placeholder 2">
            <a:extLst>
              <a:ext uri="{FF2B5EF4-FFF2-40B4-BE49-F238E27FC236}">
                <a16:creationId xmlns:a16="http://schemas.microsoft.com/office/drawing/2014/main" id="{BDDF7CC7-EAC6-4B06-F78D-BBB0A7379F1D}"/>
              </a:ext>
            </a:extLst>
          </p:cNvPr>
          <p:cNvSpPr>
            <a:spLocks noGrp="1"/>
          </p:cNvSpPr>
          <p:nvPr>
            <p:ph idx="1"/>
          </p:nvPr>
        </p:nvSpPr>
        <p:spPr>
          <a:xfrm>
            <a:off x="1451579" y="2015732"/>
            <a:ext cx="9603275" cy="3996185"/>
          </a:xfrm>
        </p:spPr>
        <p:txBody>
          <a:bodyPr>
            <a:normAutofit/>
          </a:bodyPr>
          <a:lstStyle/>
          <a:p>
            <a:pPr marL="0" indent="0">
              <a:buNone/>
            </a:pPr>
            <a:r>
              <a:rPr lang="en-US" sz="2800" dirty="0"/>
              <a:t>After their client is sued, the defense lawyer interviews witness A, who saw the events from a unique angle. The defense lawyer records a transcript and has witness A sign it. Witness A tragically passes away a week later. The plaintiff’s lawyer requests the transcript. Is it discoverable?</a:t>
            </a:r>
          </a:p>
          <a:p>
            <a:pPr marL="0" indent="0">
              <a:buNone/>
            </a:pPr>
            <a:r>
              <a:rPr lang="en-US" sz="2800" u="sng" dirty="0"/>
              <a:t>Probably</a:t>
            </a:r>
            <a:r>
              <a:rPr lang="en-US" sz="2800" dirty="0"/>
              <a:t> as </a:t>
            </a:r>
            <a:r>
              <a:rPr lang="en-US" sz="2800" u="sng" dirty="0"/>
              <a:t>fact</a:t>
            </a:r>
            <a:r>
              <a:rPr lang="en-US" sz="2800" dirty="0"/>
              <a:t> work product that is needed for the case</a:t>
            </a:r>
            <a:endParaRPr lang="en-US" sz="2800" u="sng" dirty="0"/>
          </a:p>
        </p:txBody>
      </p:sp>
    </p:spTree>
    <p:extLst>
      <p:ext uri="{BB962C8B-B14F-4D97-AF65-F5344CB8AC3E}">
        <p14:creationId xmlns:p14="http://schemas.microsoft.com/office/powerpoint/2010/main" val="4159451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B59F7-0809-C5AA-11ED-4CAC88495C16}"/>
              </a:ext>
            </a:extLst>
          </p:cNvPr>
          <p:cNvSpPr>
            <a:spLocks noGrp="1"/>
          </p:cNvSpPr>
          <p:nvPr>
            <p:ph type="title"/>
          </p:nvPr>
        </p:nvSpPr>
        <p:spPr>
          <a:xfrm>
            <a:off x="1451579" y="1037169"/>
            <a:ext cx="9603275" cy="708971"/>
          </a:xfrm>
        </p:spPr>
        <p:txBody>
          <a:bodyPr/>
          <a:lstStyle/>
          <a:p>
            <a:r>
              <a:rPr lang="en-US" dirty="0"/>
              <a:t>Hypotheticals</a:t>
            </a:r>
          </a:p>
        </p:txBody>
      </p:sp>
      <p:sp>
        <p:nvSpPr>
          <p:cNvPr id="3" name="Content Placeholder 2">
            <a:extLst>
              <a:ext uri="{FF2B5EF4-FFF2-40B4-BE49-F238E27FC236}">
                <a16:creationId xmlns:a16="http://schemas.microsoft.com/office/drawing/2014/main" id="{BDDF7CC7-EAC6-4B06-F78D-BBB0A7379F1D}"/>
              </a:ext>
            </a:extLst>
          </p:cNvPr>
          <p:cNvSpPr>
            <a:spLocks noGrp="1"/>
          </p:cNvSpPr>
          <p:nvPr>
            <p:ph idx="1"/>
          </p:nvPr>
        </p:nvSpPr>
        <p:spPr>
          <a:xfrm>
            <a:off x="1451579" y="2015732"/>
            <a:ext cx="9603275" cy="3996185"/>
          </a:xfrm>
        </p:spPr>
        <p:txBody>
          <a:bodyPr>
            <a:normAutofit/>
          </a:bodyPr>
          <a:lstStyle/>
          <a:p>
            <a:pPr marL="0" indent="0">
              <a:buNone/>
            </a:pPr>
            <a:r>
              <a:rPr lang="en-US" sz="2800" dirty="0"/>
              <a:t>After their client is sued, the defense lawyer interviews witness A, who saw the events from a unique angle. The defense lawyer writes a memorandum recording the key factual points from what the witness said and highlighting how those facts could be used in litigation. Witness A tragically passes away a week later. The plaintiff’s lawyer requests the memo. Is it discoverable?</a:t>
            </a:r>
          </a:p>
          <a:p>
            <a:pPr marL="0" indent="0">
              <a:buNone/>
            </a:pPr>
            <a:r>
              <a:rPr lang="en-US" sz="2800" u="sng" dirty="0"/>
              <a:t>No</a:t>
            </a:r>
            <a:r>
              <a:rPr lang="en-US" sz="2800" dirty="0"/>
              <a:t>, probably </a:t>
            </a:r>
            <a:r>
              <a:rPr lang="en-US" sz="2800" u="sng" dirty="0"/>
              <a:t>opinion</a:t>
            </a:r>
            <a:r>
              <a:rPr lang="en-US" sz="2800" dirty="0"/>
              <a:t> work product</a:t>
            </a:r>
            <a:endParaRPr lang="en-US" sz="2800" u="sng" dirty="0"/>
          </a:p>
        </p:txBody>
      </p:sp>
    </p:spTree>
    <p:extLst>
      <p:ext uri="{BB962C8B-B14F-4D97-AF65-F5344CB8AC3E}">
        <p14:creationId xmlns:p14="http://schemas.microsoft.com/office/powerpoint/2010/main" val="1078710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C2EB3-B35A-C7EE-75EE-E2154ECC0AF2}"/>
              </a:ext>
            </a:extLst>
          </p:cNvPr>
          <p:cNvSpPr>
            <a:spLocks noGrp="1"/>
          </p:cNvSpPr>
          <p:nvPr>
            <p:ph type="title"/>
          </p:nvPr>
        </p:nvSpPr>
        <p:spPr/>
        <p:txBody>
          <a:bodyPr/>
          <a:lstStyle/>
          <a:p>
            <a:r>
              <a:rPr lang="en-US"/>
              <a:t>V</a:t>
            </a:r>
            <a:r>
              <a:rPr lang="en-US" dirty="0"/>
              <a:t>. Takeaways</a:t>
            </a:r>
          </a:p>
        </p:txBody>
      </p:sp>
    </p:spTree>
    <p:extLst>
      <p:ext uri="{BB962C8B-B14F-4D97-AF65-F5344CB8AC3E}">
        <p14:creationId xmlns:p14="http://schemas.microsoft.com/office/powerpoint/2010/main" val="205774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1CE82-1FD4-75B2-5C04-0D33E640FE8A}"/>
              </a:ext>
            </a:extLst>
          </p:cNvPr>
          <p:cNvSpPr>
            <a:spLocks noGrp="1"/>
          </p:cNvSpPr>
          <p:nvPr>
            <p:ph type="title"/>
          </p:nvPr>
        </p:nvSpPr>
        <p:spPr>
          <a:xfrm>
            <a:off x="1451579" y="1038135"/>
            <a:ext cx="9603275" cy="707040"/>
          </a:xfrm>
        </p:spPr>
        <p:txBody>
          <a:bodyPr/>
          <a:lstStyle/>
          <a:p>
            <a:r>
              <a:rPr lang="en-US" dirty="0"/>
              <a:t>Privilege and Work product</a:t>
            </a:r>
          </a:p>
        </p:txBody>
      </p:sp>
      <p:sp>
        <p:nvSpPr>
          <p:cNvPr id="3" name="Content Placeholder 2">
            <a:extLst>
              <a:ext uri="{FF2B5EF4-FFF2-40B4-BE49-F238E27FC236}">
                <a16:creationId xmlns:a16="http://schemas.microsoft.com/office/drawing/2014/main" id="{2D363E8C-CD60-98FE-E009-ECAAC27B8D7D}"/>
              </a:ext>
            </a:extLst>
          </p:cNvPr>
          <p:cNvSpPr>
            <a:spLocks noGrp="1"/>
          </p:cNvSpPr>
          <p:nvPr>
            <p:ph idx="1"/>
          </p:nvPr>
        </p:nvSpPr>
        <p:spPr>
          <a:xfrm>
            <a:off x="1451579" y="2015732"/>
            <a:ext cx="9603275" cy="3897388"/>
          </a:xfrm>
        </p:spPr>
        <p:txBody>
          <a:bodyPr>
            <a:normAutofit/>
          </a:bodyPr>
          <a:lstStyle/>
          <a:p>
            <a:r>
              <a:rPr lang="en-US" sz="2800" dirty="0"/>
              <a:t>Privilege and work product provide exceptions to discovery</a:t>
            </a:r>
          </a:p>
          <a:p>
            <a:r>
              <a:rPr lang="en-US" sz="2800" dirty="0"/>
              <a:t>If it is established, </a:t>
            </a:r>
            <a:r>
              <a:rPr lang="en-US" sz="2800" u="sng" dirty="0"/>
              <a:t>privilege</a:t>
            </a:r>
            <a:r>
              <a:rPr lang="en-US" sz="2800" dirty="0"/>
              <a:t> is absolute—i.e., the other side can’t get the privileged communications</a:t>
            </a:r>
          </a:p>
          <a:p>
            <a:r>
              <a:rPr lang="en-US" sz="2800" dirty="0"/>
              <a:t>Work product is qualified—i.e., work product is presumptively not discoverable, but sometimes can be discoverable to obtain </a:t>
            </a:r>
            <a:r>
              <a:rPr lang="en-US" sz="2800" u="sng" dirty="0"/>
              <a:t>facts</a:t>
            </a:r>
          </a:p>
        </p:txBody>
      </p:sp>
    </p:spTree>
    <p:extLst>
      <p:ext uri="{BB962C8B-B14F-4D97-AF65-F5344CB8AC3E}">
        <p14:creationId xmlns:p14="http://schemas.microsoft.com/office/powerpoint/2010/main" val="1637938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D6116-AD82-9680-6D91-E128A2306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49C8C6-5359-F1E3-AE11-28022DD79E34}"/>
              </a:ext>
            </a:extLst>
          </p:cNvPr>
          <p:cNvSpPr>
            <a:spLocks noGrp="1"/>
          </p:cNvSpPr>
          <p:nvPr>
            <p:ph type="title"/>
          </p:nvPr>
        </p:nvSpPr>
        <p:spPr>
          <a:xfrm>
            <a:off x="1451579" y="1058190"/>
            <a:ext cx="9603275" cy="666929"/>
          </a:xfrm>
        </p:spPr>
        <p:txBody>
          <a:bodyPr/>
          <a:lstStyle/>
          <a:p>
            <a:r>
              <a:rPr lang="en-US" dirty="0"/>
              <a:t>Attorney-Client privilege</a:t>
            </a:r>
          </a:p>
        </p:txBody>
      </p:sp>
      <p:sp>
        <p:nvSpPr>
          <p:cNvPr id="3" name="Content Placeholder 2">
            <a:extLst>
              <a:ext uri="{FF2B5EF4-FFF2-40B4-BE49-F238E27FC236}">
                <a16:creationId xmlns:a16="http://schemas.microsoft.com/office/drawing/2014/main" id="{0905F89F-ACDE-0CB8-8AF1-1D2FD594D7B5}"/>
              </a:ext>
            </a:extLst>
          </p:cNvPr>
          <p:cNvSpPr>
            <a:spLocks noGrp="1"/>
          </p:cNvSpPr>
          <p:nvPr>
            <p:ph idx="1"/>
          </p:nvPr>
        </p:nvSpPr>
        <p:spPr>
          <a:xfrm>
            <a:off x="1451579" y="2015732"/>
            <a:ext cx="9603275" cy="3964654"/>
          </a:xfrm>
        </p:spPr>
        <p:txBody>
          <a:bodyPr>
            <a:normAutofit/>
          </a:bodyPr>
          <a:lstStyle/>
          <a:p>
            <a:pPr marL="0" indent="0">
              <a:buNone/>
            </a:pPr>
            <a:r>
              <a:rPr lang="en-US" sz="2800" dirty="0"/>
              <a:t>To be privileged, the communication must:</a:t>
            </a:r>
          </a:p>
          <a:p>
            <a:pPr marL="514350" indent="-514350">
              <a:buFont typeface="+mj-lt"/>
              <a:buAutoNum type="arabicParenR"/>
            </a:pPr>
            <a:r>
              <a:rPr lang="en-US" sz="2800" dirty="0"/>
              <a:t>involve a </a:t>
            </a:r>
            <a:r>
              <a:rPr lang="en-US" sz="2800" u="sng" dirty="0"/>
              <a:t>client</a:t>
            </a:r>
            <a:r>
              <a:rPr lang="en-US" sz="2800" dirty="0"/>
              <a:t> or someone seeking to be a client</a:t>
            </a:r>
          </a:p>
          <a:p>
            <a:pPr marL="514350" indent="-514350">
              <a:buFont typeface="+mj-lt"/>
              <a:buAutoNum type="arabicParenR"/>
            </a:pPr>
            <a:r>
              <a:rPr lang="en-US" sz="2800" dirty="0"/>
              <a:t>be made to a lawyer, or a lawyer’s subordinate, acting in their </a:t>
            </a:r>
            <a:r>
              <a:rPr lang="en-US" sz="2800" u="sng" dirty="0"/>
              <a:t>capacity as a lawyer</a:t>
            </a:r>
          </a:p>
          <a:p>
            <a:pPr marL="514350" indent="-514350">
              <a:buFont typeface="+mj-lt"/>
              <a:buAutoNum type="arabicParenR"/>
            </a:pPr>
            <a:r>
              <a:rPr lang="en-US" sz="2800" dirty="0"/>
              <a:t>be </a:t>
            </a:r>
            <a:r>
              <a:rPr lang="en-US" sz="2800" u="sng" dirty="0"/>
              <a:t>confidential</a:t>
            </a:r>
            <a:r>
              <a:rPr lang="en-US" sz="2800" dirty="0"/>
              <a:t> and in the course of </a:t>
            </a:r>
            <a:r>
              <a:rPr lang="en-US" sz="2800" u="sng" dirty="0"/>
              <a:t>seeking legal advice</a:t>
            </a:r>
          </a:p>
          <a:p>
            <a:pPr marL="514350" indent="-514350">
              <a:buFont typeface="+mj-lt"/>
              <a:buAutoNum type="arabicParenR"/>
            </a:pPr>
            <a:r>
              <a:rPr lang="en-US" sz="2800" dirty="0"/>
              <a:t>and the privilege must be </a:t>
            </a:r>
            <a:r>
              <a:rPr lang="en-US" sz="2800" u="sng" dirty="0"/>
              <a:t>claimed</a:t>
            </a:r>
            <a:r>
              <a:rPr lang="en-US" sz="2800" dirty="0"/>
              <a:t> and not waived</a:t>
            </a:r>
          </a:p>
        </p:txBody>
      </p:sp>
    </p:spTree>
    <p:extLst>
      <p:ext uri="{BB962C8B-B14F-4D97-AF65-F5344CB8AC3E}">
        <p14:creationId xmlns:p14="http://schemas.microsoft.com/office/powerpoint/2010/main" val="103089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E7006-4677-A427-925C-C1650699A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C3E00-D6FF-4052-4E12-71EC5E432CC7}"/>
              </a:ext>
            </a:extLst>
          </p:cNvPr>
          <p:cNvSpPr>
            <a:spLocks noGrp="1"/>
          </p:cNvSpPr>
          <p:nvPr>
            <p:ph type="title"/>
          </p:nvPr>
        </p:nvSpPr>
        <p:spPr>
          <a:xfrm>
            <a:off x="1451579" y="995128"/>
            <a:ext cx="9603275" cy="793053"/>
          </a:xfrm>
        </p:spPr>
        <p:txBody>
          <a:bodyPr/>
          <a:lstStyle/>
          <a:p>
            <a:r>
              <a:rPr lang="en-US" dirty="0"/>
              <a:t>Work Product Protection</a:t>
            </a:r>
          </a:p>
        </p:txBody>
      </p:sp>
      <p:sp>
        <p:nvSpPr>
          <p:cNvPr id="3" name="Content Placeholder 2">
            <a:extLst>
              <a:ext uri="{FF2B5EF4-FFF2-40B4-BE49-F238E27FC236}">
                <a16:creationId xmlns:a16="http://schemas.microsoft.com/office/drawing/2014/main" id="{D460D980-001C-28BB-FDD8-77000D5AB7ED}"/>
              </a:ext>
            </a:extLst>
          </p:cNvPr>
          <p:cNvSpPr>
            <a:spLocks noGrp="1"/>
          </p:cNvSpPr>
          <p:nvPr>
            <p:ph idx="1"/>
          </p:nvPr>
        </p:nvSpPr>
        <p:spPr>
          <a:xfrm>
            <a:off x="1451579" y="2015732"/>
            <a:ext cx="9603275" cy="4111799"/>
          </a:xfrm>
        </p:spPr>
        <p:txBody>
          <a:bodyPr>
            <a:normAutofit lnSpcReduction="10000"/>
          </a:bodyPr>
          <a:lstStyle/>
          <a:p>
            <a:pPr>
              <a:spcAft>
                <a:spcPts val="1200"/>
              </a:spcAft>
            </a:pPr>
            <a:r>
              <a:rPr lang="en-US" sz="2400" dirty="0"/>
              <a:t>Documents or tangible things prepared in anticipation of litigation or trial, by a lawyer or party or at their direction, are presumptively not discoverable</a:t>
            </a:r>
          </a:p>
          <a:p>
            <a:pPr>
              <a:spcAft>
                <a:spcPts val="1200"/>
              </a:spcAft>
            </a:pPr>
            <a:r>
              <a:rPr lang="en-US" sz="2400" dirty="0"/>
              <a:t>But </a:t>
            </a:r>
            <a:r>
              <a:rPr lang="en-US" sz="2400" u="sng" dirty="0"/>
              <a:t>factual material</a:t>
            </a:r>
            <a:r>
              <a:rPr lang="en-US" sz="2400" dirty="0"/>
              <a:t> in those documents may be discoverable if the party seeking those facts shows </a:t>
            </a:r>
            <a:r>
              <a:rPr lang="en-US" sz="2400" u="sng" dirty="0"/>
              <a:t>need</a:t>
            </a:r>
            <a:r>
              <a:rPr lang="en-US" sz="2400" dirty="0"/>
              <a:t> and the </a:t>
            </a:r>
            <a:r>
              <a:rPr lang="en-US" sz="2400" u="sng" dirty="0"/>
              <a:t>facts can’t be obtained another way</a:t>
            </a:r>
            <a:r>
              <a:rPr lang="en-US" sz="2400" dirty="0"/>
              <a:t> without undue hardship</a:t>
            </a:r>
          </a:p>
          <a:p>
            <a:pPr>
              <a:spcAft>
                <a:spcPts val="1200"/>
              </a:spcAft>
            </a:pPr>
            <a:r>
              <a:rPr lang="en-US" sz="2400" dirty="0"/>
              <a:t>But even then, the attorney’s </a:t>
            </a:r>
            <a:r>
              <a:rPr lang="en-US" sz="2400" u="sng" dirty="0"/>
              <a:t>mental impressions, recollections, and opinions</a:t>
            </a:r>
            <a:r>
              <a:rPr lang="en-US" sz="2400" dirty="0"/>
              <a:t> in such documents are </a:t>
            </a:r>
            <a:r>
              <a:rPr lang="en-US" sz="2400" u="sng" dirty="0"/>
              <a:t>not discoverable</a:t>
            </a:r>
          </a:p>
        </p:txBody>
      </p:sp>
    </p:spTree>
    <p:extLst>
      <p:ext uri="{BB962C8B-B14F-4D97-AF65-F5344CB8AC3E}">
        <p14:creationId xmlns:p14="http://schemas.microsoft.com/office/powerpoint/2010/main" val="2427676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4596</TotalTime>
  <Words>1090</Words>
  <Application>Microsoft Macintosh PowerPoint</Application>
  <PresentationFormat>Widescreen</PresentationFormat>
  <Paragraphs>86</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Candara</vt:lpstr>
      <vt:lpstr>Gill Sans MT</vt:lpstr>
      <vt:lpstr>Gallery</vt:lpstr>
      <vt:lpstr>Civil Procedure</vt:lpstr>
      <vt:lpstr>Agenda</vt:lpstr>
      <vt:lpstr>I. Recap—Discovery Tools</vt:lpstr>
      <vt:lpstr>Rule 26: Framework for Discovery</vt:lpstr>
      <vt:lpstr>Types of Discovery</vt:lpstr>
      <vt:lpstr>Enforcing Discovery</vt:lpstr>
      <vt:lpstr>Spoliation</vt:lpstr>
      <vt:lpstr>II. Privilege</vt:lpstr>
      <vt:lpstr>Privilege</vt:lpstr>
      <vt:lpstr>Attorney-Client privilege</vt:lpstr>
      <vt:lpstr>Attorney-Client privilege</vt:lpstr>
      <vt:lpstr>III. Work Product</vt:lpstr>
      <vt:lpstr>Work Product Protection</vt:lpstr>
      <vt:lpstr>IV. Hypos</vt:lpstr>
      <vt:lpstr>Hypo</vt:lpstr>
      <vt:lpstr>Hypotheticals</vt:lpstr>
      <vt:lpstr>Hypotheticals</vt:lpstr>
      <vt:lpstr>Hypotheticals</vt:lpstr>
      <vt:lpstr>Hypotheticals</vt:lpstr>
      <vt:lpstr>Hypotheticals</vt:lpstr>
      <vt:lpstr>Hypotheticals</vt:lpstr>
      <vt:lpstr>V. Takeaways</vt:lpstr>
      <vt:lpstr>Privilege and Work product</vt:lpstr>
      <vt:lpstr>Attorney-Client privilege</vt:lpstr>
      <vt:lpstr>Work Product Protection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Lanham</dc:creator>
  <cp:lastModifiedBy>Andrew Lanham</cp:lastModifiedBy>
  <cp:revision>265</cp:revision>
  <dcterms:created xsi:type="dcterms:W3CDTF">2024-08-16T15:30:55Z</dcterms:created>
  <dcterms:modified xsi:type="dcterms:W3CDTF">2026-09-16T16:26:37Z</dcterms:modified>
</cp:coreProperties>
</file>