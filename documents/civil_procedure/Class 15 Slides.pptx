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456" r:id="rId5"/>
    <p:sldId id="466" r:id="rId6"/>
    <p:sldId id="458" r:id="rId7"/>
    <p:sldId id="457" r:id="rId8"/>
    <p:sldId id="461" r:id="rId9"/>
    <p:sldId id="468" r:id="rId10"/>
    <p:sldId id="463" r:id="rId11"/>
    <p:sldId id="462" r:id="rId12"/>
    <p:sldId id="464" r:id="rId13"/>
    <p:sldId id="467" r:id="rId14"/>
    <p:sldId id="459" r:id="rId15"/>
    <p:sldId id="460" r:id="rId16"/>
    <p:sldId id="4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/>
    <p:restoredTop sz="94568"/>
  </p:normalViewPr>
  <p:slideViewPr>
    <p:cSldViewPr snapToGrid="0">
      <p:cViewPr varScale="1">
        <p:scale>
          <a:sx n="143" d="100"/>
          <a:sy n="143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1T17:05:39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70,'45'-7,"-9"1,3 2,-3-1,8 4,-8-2,-13 3,-5-2,-1 1,-3-2,1 3,3 0,0 0,-3 0,3 0,-3 0,8 0,-7 0,1-2,8 1,-15-2,19 3,-21 0,13 0,-8 0,4 0,17 0,-18 0,20 0,-23 0,4 0,-1 0,0 0,2 0,1-3,-9 2,17-2,-18 3,17 0,-13 0,2 0,7 0,-11 0,9 0,10 0,-16 0,17 0,-15 0,-2 0,13 0,-13 0,2 0,1 0,-6 0,11 0,-9-3,9 3,-8-3,2 3,15 0,-14 0,13 0,-20 0,1 0,8 0,-7 0,9 0,11 0,-15 0,22 0,-26 0,18 0,-16 0,10 0,-13 0,5 0,1 0,-2 0,5 0,-10 0,5 0,1 0,-4 0,9 0,-6 0,-1 0,4 0,-8 0,11 0,-4 0,0 0,-1 0,0 0,-1 0,24 0,-15 0,15 0,-17 0,-1 0,1 0,26 0,-25 0,19 0,-31 0,0 0,10 0,-8 0,13 0,-16 0,5 0,1 0,-6 0,11 0,-9 0,2 0,5 0,-7 0,7 0,-7 0,4 0,-2 0,0 0,5-3,-9 3,10-3,-8 3,2 0,4-3,-8 3,12-3,-7 3,1 0,-2 0,2 0,-3 0,5 0,-6 0,7 0,-7 0,5 0,-1 0,-4 0,7-3,-7 3,1-3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1T17:05:42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8,'57'-4,"6"1,-19 3,16 5,-7-4,0 9,6-8,-14 2,14-4,-14 5,6-4,-9 9,0-9,10 3,-16-4,15 0,-27 0,16 0,-6 0,8 0,9 0,-6 0,14 0,-23-3,4 2,-17-2,-1 3,1 0,0 0,-1 0,-4 0,4 0,-4 0,-1 0,0 0,-2 0,0 0,3 0,-3 0,8 0,-12 0,8 0,-4 0,-2 0,7 0,-7 0,4 0,-2 0,1 0,-2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1T17:05:46.0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0 104,'56'0,"12"0,-23 0,18 0,-1 0,-1 0,-7 0,5 0,-15 0,16-6,-16 5,7-5,-8 6,-10 0,7 0,-15 0,50 0,-33-4,35 2,-43-2,6 4,-15 0,6 0,-8 0,0 0,-1 0,10 0,-8 0,8 0,-1 0,3-5,-1 4,7-4,-15 5,15 0,-15 0,6-3,1 2,1-3,18 4,-6 0,5 0,-7 0,-10 0,7 0,-15 0,6 0,-8 0,26-6,-11 5,13-5,-11 6,-7 0,1 0,-3 0,-8 0,8-5,-6 4,15-4,-15 5,15 0,-15-3,6 2,-8-2,-1 3,-4 0,4 0,-4 0,4 0,1 0,8 0,-6 0,7 0,-10-4,1 3,0-2,-1 3,1 0,0 0,-5 0,29 0,-22 0,18 0,-21 0,-9 0,4 0,0 0,-4-3,6 3,-6-3,7 3,-7 0,4 0,0 0,9 0,8 0,-1 0,-1 0,-1-5,-6 4,2-4,-6 5,-8 0,4 0,0 0,-3 0,8 0,-9 0,5 0,-2 0,-3-2,7 1,-5-2,0 3,5 0,-6 0,5 0,-6 0,4 0,1 0,-4 0,7 0,-11 0,12 0,-9 0,4 0,0 0,-4 0,10 0,-13 0,10 0,-6 0,0 0,7 0,-10 0,6 0,0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1T17:06:08.2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68,'46'0,"-4"0,-19 0,-1 0,10-5,1 4,9-4,-8 5,6 0,-7 0,10 0,-1 0,0 0,-8 0,-3 0,-8 0,8 0,-6 0,15 0,-6 0,16-5,-5 3,14-3,-14 5,6 0,0 0,-7 0,-2 0,-2 0,-6 0,8 0,-8 0,-3 0,0 0,-6-3,6 2,-8-3,0 4,8 0,3 0,17 0,2-5,0 4,6-5,-14 6,6 0,-9 0,-9-3,7 2,-6-3,8 4,11 0,-17 0,5 0,-18 0,-1 0,1 0,0 0,-1 0,10 0,-7 0,6 0,0 0,3 0,8 0,0 0,9 0,2 0,0 0,-2 0,0 0,-6 0,-3 0,-2-4,-15 3,15-4,2 5,2 0,16 0,-16 0,7 0,-9 0,-8 0,-3 0,-13 0,-1 0,0 0,1 0,4 0,10 0,1 0,1 0,-3 0,-8 0,-5 0,-2 0,-1-3,0 2,0-1,3 2,-3 0,0 0,3 0,-6 2,5-1,-1 2,2-3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15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Trial by Jury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Recap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44FC-2123-82C5-BF0B-545ECFAF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Key Takeaways for default and Dismissal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D9CA-AD19-8F19-A546-927E3DAE4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84208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55, if party fails to plead or defend, default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54(c), default is limited to the relief requested in pleadings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55(c), 60(b), mechanisms to grant relief from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41(a), voluntary dismissal (</a:t>
            </a:r>
            <a:r>
              <a:rPr lang="en-US" sz="2800" dirty="0" err="1"/>
              <a:t>i</a:t>
            </a:r>
            <a:r>
              <a:rPr lang="en-US" sz="2800" dirty="0"/>
              <a:t>) before Answer or SJ motion, (ii) with other party’s stipulation, or (iii) by court order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41(b), if plaintiff fails to prosecute, involuntary dismissal</a:t>
            </a:r>
          </a:p>
        </p:txBody>
      </p:sp>
    </p:spTree>
    <p:extLst>
      <p:ext uri="{BB962C8B-B14F-4D97-AF65-F5344CB8AC3E}">
        <p14:creationId xmlns:p14="http://schemas.microsoft.com/office/powerpoint/2010/main" val="199767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8D24-9824-0C41-6A32-76BD78BD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3703-3F12-6E40-5BE1-A562093E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6755"/>
            <a:ext cx="9603275" cy="550077"/>
          </a:xfrm>
        </p:spPr>
        <p:txBody>
          <a:bodyPr>
            <a:normAutofit/>
          </a:bodyPr>
          <a:lstStyle/>
          <a:p>
            <a:r>
              <a:rPr lang="en-US" dirty="0"/>
              <a:t>Summary Judgment—Steps in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D3FB-FFAB-2901-D25A-9D86F4024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8737"/>
          </a:xfrm>
        </p:spPr>
        <p:txBody>
          <a:bodyPr>
            <a:normAutofit lnSpcReduction="10000"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Identify the </a:t>
            </a:r>
            <a:r>
              <a:rPr lang="en-US" sz="2800" u="sng" dirty="0"/>
              <a:t>relevant substantive law</a:t>
            </a:r>
            <a:r>
              <a:rPr lang="en-US" sz="2800" dirty="0"/>
              <a:t>, and identify what each party would need to prove at trial to win under that law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Identify what </a:t>
            </a:r>
            <a:r>
              <a:rPr lang="en-US" sz="2800" u="sng" dirty="0"/>
              <a:t>evidence</a:t>
            </a:r>
            <a:r>
              <a:rPr lang="en-US" sz="2800" dirty="0"/>
              <a:t> each party can put forward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View that evidence in the </a:t>
            </a:r>
            <a:r>
              <a:rPr lang="en-US" sz="2800" u="sng" dirty="0"/>
              <a:t>light most favorable to the non-moving party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</a:pPr>
            <a:r>
              <a:rPr lang="en-US" sz="2800" dirty="0"/>
              <a:t>Ask whether a </a:t>
            </a:r>
            <a:r>
              <a:rPr lang="en-US" sz="2800" u="sng" dirty="0"/>
              <a:t>reasonable jury</a:t>
            </a:r>
            <a:r>
              <a:rPr lang="en-US" sz="2800" dirty="0"/>
              <a:t> could, based on that evidence, decide for the non-moving party</a:t>
            </a:r>
          </a:p>
        </p:txBody>
      </p:sp>
    </p:spTree>
    <p:extLst>
      <p:ext uri="{BB962C8B-B14F-4D97-AF65-F5344CB8AC3E}">
        <p14:creationId xmlns:p14="http://schemas.microsoft.com/office/powerpoint/2010/main" val="34040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5BBF-71AF-A1DA-6B6B-21401207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Trial by jury</a:t>
            </a:r>
          </a:p>
        </p:txBody>
      </p:sp>
    </p:spTree>
    <p:extLst>
      <p:ext uri="{BB962C8B-B14F-4D97-AF65-F5344CB8AC3E}">
        <p14:creationId xmlns:p14="http://schemas.microsoft.com/office/powerpoint/2010/main" val="310279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E31D-7B6F-DC4E-A60E-C8E25A13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Constitutional Right to a Jury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38114-2AAE-9EA0-F1C5-FED7ACD9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99897" cy="403050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Seventh Amendment: “In Suits at common law, where the value in controversy shall exceed twenty dollars, the right of trial by jury shall be preserved.”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This does </a:t>
            </a:r>
            <a:r>
              <a:rPr lang="en-US" sz="2800" u="sng" dirty="0"/>
              <a:t>not</a:t>
            </a:r>
            <a:r>
              <a:rPr lang="en-US" sz="2800" dirty="0"/>
              <a:t> apply to suits in </a:t>
            </a:r>
            <a:r>
              <a:rPr lang="en-US" sz="2800" u="sng" dirty="0"/>
              <a:t>equity</a:t>
            </a:r>
            <a:endParaRPr lang="en-US" sz="28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So the question is: which suits are equitable, and which are legal?</a:t>
            </a:r>
          </a:p>
        </p:txBody>
      </p:sp>
    </p:spTree>
    <p:extLst>
      <p:ext uri="{BB962C8B-B14F-4D97-AF65-F5344CB8AC3E}">
        <p14:creationId xmlns:p14="http://schemas.microsoft.com/office/powerpoint/2010/main" val="93229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B526-5FB3-013E-5E07-9C359CD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77007"/>
            <a:ext cx="9603275" cy="716371"/>
          </a:xfrm>
        </p:spPr>
        <p:txBody>
          <a:bodyPr/>
          <a:lstStyle/>
          <a:p>
            <a:r>
              <a:rPr lang="en-US" dirty="0"/>
              <a:t>Jury Trial under the FRCP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4CB3E-8B13-F74B-9B9C-B5FAC53C5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6849"/>
            <a:ext cx="9603275" cy="3954144"/>
          </a:xfrm>
        </p:spPr>
        <p:txBody>
          <a:bodyPr>
            <a:noAutofit/>
          </a:bodyPr>
          <a:lstStyle/>
          <a:p>
            <a:r>
              <a:rPr lang="en-US" sz="2800" dirty="0"/>
              <a:t>38(b), if the Constitution or a statute gives a right to jury trial, can demand jury trial by writing within 14 days of last pleading</a:t>
            </a:r>
          </a:p>
          <a:p>
            <a:r>
              <a:rPr lang="en-US" sz="2800" dirty="0"/>
              <a:t>38(d), failure to serve demand waives right to jury trial</a:t>
            </a:r>
          </a:p>
          <a:p>
            <a:r>
              <a:rPr lang="en-US" sz="2800" dirty="0"/>
              <a:t>38(d), if demand is made, can only be withdrawn with other party’s consent</a:t>
            </a:r>
          </a:p>
          <a:p>
            <a:r>
              <a:rPr lang="en-US" sz="2800" dirty="0"/>
              <a:t>39(b), if no demand is made, case is tried by the court</a:t>
            </a:r>
          </a:p>
        </p:txBody>
      </p:sp>
    </p:spTree>
    <p:extLst>
      <p:ext uri="{BB962C8B-B14F-4D97-AF65-F5344CB8AC3E}">
        <p14:creationId xmlns:p14="http://schemas.microsoft.com/office/powerpoint/2010/main" val="354900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ocument with text on it&#10;&#10;AI-generated content may be incorrect.">
            <a:extLst>
              <a:ext uri="{FF2B5EF4-FFF2-40B4-BE49-F238E27FC236}">
                <a16:creationId xmlns:a16="http://schemas.microsoft.com/office/drawing/2014/main" id="{1778FFF1-1E7B-38F7-1B9F-3244E4E6B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597159"/>
            <a:ext cx="6298166" cy="47866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C704FB7E-B449-8D98-D706-359A605B4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312" y="2334749"/>
            <a:ext cx="5460059" cy="15561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DA5DBE-6965-C582-7CAF-0BC213D8495F}"/>
                  </a:ext>
                </a:extLst>
              </p14:cNvPr>
              <p14:cNvContentPartPr/>
              <p14:nvPr/>
            </p14:nvContentPartPr>
            <p14:xfrm>
              <a:off x="4601667" y="4857502"/>
              <a:ext cx="1016280" cy="25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DA5DBE-6965-C582-7CAF-0BC213D849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8027" y="4749862"/>
                <a:ext cx="11239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D5FAC8-7430-6677-319C-5660831738F4}"/>
                  </a:ext>
                </a:extLst>
              </p14:cNvPr>
              <p14:cNvContentPartPr/>
              <p14:nvPr/>
            </p14:nvContentPartPr>
            <p14:xfrm>
              <a:off x="1257987" y="3639622"/>
              <a:ext cx="586440" cy="16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D5FAC8-7430-6677-319C-5660831738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4347" y="3531982"/>
                <a:ext cx="6940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681094-8049-D6DD-7191-D77BD6A86F06}"/>
                  </a:ext>
                </a:extLst>
              </p14:cNvPr>
              <p14:cNvContentPartPr/>
              <p14:nvPr/>
            </p14:nvContentPartPr>
            <p14:xfrm>
              <a:off x="2449587" y="3841222"/>
              <a:ext cx="1429560" cy="37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681094-8049-D6DD-7191-D77BD6A86F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5587" y="3733222"/>
                <a:ext cx="15372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1CA7CAC-DB63-8DE1-2248-26941AF2136A}"/>
                  </a:ext>
                </a:extLst>
              </p14:cNvPr>
              <p14:cNvContentPartPr/>
              <p14:nvPr/>
            </p14:nvContentPartPr>
            <p14:xfrm>
              <a:off x="9938667" y="3536662"/>
              <a:ext cx="1329840" cy="24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1CA7CAC-DB63-8DE1-2248-26941AF213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85027" y="3429022"/>
                <a:ext cx="1437480" cy="2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964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FDEE-A27F-943F-BBA3-B4AA3FD4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8034"/>
            <a:ext cx="9603275" cy="636122"/>
          </a:xfrm>
        </p:spPr>
        <p:txBody>
          <a:bodyPr>
            <a:normAutofit fontScale="90000"/>
          </a:bodyPr>
          <a:lstStyle/>
          <a:p>
            <a:r>
              <a:rPr lang="en-US" dirty="0"/>
              <a:t>does jury right apply to new causes of action?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1E71-BA61-719B-3A74-CE9F3677F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7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/>
              <a:t>Curtis</a:t>
            </a:r>
            <a:r>
              <a:rPr lang="en-US" sz="2800" dirty="0"/>
              <a:t>:</a:t>
            </a:r>
            <a:endParaRPr lang="en-US" sz="2800" i="1" dirty="0"/>
          </a:p>
          <a:p>
            <a:r>
              <a:rPr lang="en-US" sz="2800" dirty="0"/>
              <a:t>Jury trial right applies to:</a:t>
            </a:r>
          </a:p>
          <a:p>
            <a:pPr lvl="1"/>
            <a:r>
              <a:rPr lang="en-US" sz="2800" dirty="0"/>
              <a:t>The right as it existed in 1791</a:t>
            </a:r>
          </a:p>
          <a:p>
            <a:pPr lvl="1"/>
            <a:r>
              <a:rPr lang="en-US" sz="2800" dirty="0"/>
              <a:t>Also to common-law causes of action from </a:t>
            </a:r>
            <a:r>
              <a:rPr lang="en-US" sz="2800" u="sng" dirty="0"/>
              <a:t>after</a:t>
            </a:r>
            <a:r>
              <a:rPr lang="en-US" sz="2800" dirty="0"/>
              <a:t> 1791</a:t>
            </a:r>
          </a:p>
          <a:p>
            <a:pPr lvl="1"/>
            <a:r>
              <a:rPr lang="en-US" sz="2800" dirty="0"/>
              <a:t>And applies to “statutory rights,” if the statute creates “legal rights and remedies”</a:t>
            </a:r>
          </a:p>
        </p:txBody>
      </p:sp>
    </p:spTree>
    <p:extLst>
      <p:ext uri="{BB962C8B-B14F-4D97-AF65-F5344CB8AC3E}">
        <p14:creationId xmlns:p14="http://schemas.microsoft.com/office/powerpoint/2010/main" val="161185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4FDEE-A27F-943F-BBA3-B4AA3FD4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46025"/>
            <a:ext cx="9603275" cy="589469"/>
          </a:xfrm>
        </p:spPr>
        <p:txBody>
          <a:bodyPr>
            <a:normAutofit/>
          </a:bodyPr>
          <a:lstStyle/>
          <a:p>
            <a:r>
              <a:rPr lang="en-US" dirty="0"/>
              <a:t>What are “legal rights and remedies”?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1E71-BA61-719B-3A74-CE9F3677F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7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/>
              <a:t>Curtis</a:t>
            </a:r>
            <a:r>
              <a:rPr lang="en-US" sz="2800" dirty="0"/>
              <a:t> and </a:t>
            </a:r>
            <a:r>
              <a:rPr lang="en-US" sz="2800" i="1" dirty="0"/>
              <a:t>Chauffeurs</a:t>
            </a:r>
            <a:r>
              <a:rPr lang="en-US" sz="2800" dirty="0"/>
              <a:t>:</a:t>
            </a:r>
            <a:endParaRPr lang="en-US" sz="2800" i="1" dirty="0"/>
          </a:p>
          <a:p>
            <a:r>
              <a:rPr lang="en-US" sz="2800" dirty="0"/>
              <a:t>Test for “legal rights” is: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Analogous to actions recognized at common law, and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Relief sought is money damages (not equitable relief like an injunction)</a:t>
            </a:r>
          </a:p>
        </p:txBody>
      </p:sp>
    </p:spTree>
    <p:extLst>
      <p:ext uri="{BB962C8B-B14F-4D97-AF65-F5344CB8AC3E}">
        <p14:creationId xmlns:p14="http://schemas.microsoft.com/office/powerpoint/2010/main" val="139794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DB4E-EB94-8F9F-EA01-E2A18398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Jury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6DD2E-3155-15D8-D059-C4202F40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4144"/>
          </a:xfrm>
        </p:spPr>
        <p:txBody>
          <a:bodyPr>
            <a:normAutofit/>
          </a:bodyPr>
          <a:lstStyle/>
          <a:p>
            <a:r>
              <a:rPr lang="en-US" sz="2800" dirty="0"/>
              <a:t>6-person juries are sufficient for jury trial right (</a:t>
            </a:r>
            <a:r>
              <a:rPr lang="en-US" sz="2800" i="1" dirty="0"/>
              <a:t>Colgrove</a:t>
            </a:r>
            <a:r>
              <a:rPr lang="en-US" sz="2800" dirty="0"/>
              <a:t>)</a:t>
            </a:r>
          </a:p>
          <a:p>
            <a:r>
              <a:rPr lang="en-US" sz="2800" dirty="0"/>
              <a:t>Rule 48(a), “a jury must begin with at least 6 and no more than 12 members”</a:t>
            </a:r>
          </a:p>
          <a:p>
            <a:r>
              <a:rPr lang="en-US" sz="2800" dirty="0"/>
              <a:t>48(b), verdict must be unanimous, by at least a 6-person jury, unless “parties stipulate otherwise”</a:t>
            </a:r>
          </a:p>
        </p:txBody>
      </p:sp>
    </p:spTree>
    <p:extLst>
      <p:ext uri="{BB962C8B-B14F-4D97-AF65-F5344CB8AC3E}">
        <p14:creationId xmlns:p14="http://schemas.microsoft.com/office/powerpoint/2010/main" val="9911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784C-D355-2B59-1C24-5D04C0E1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/>
          <a:lstStyle/>
          <a:p>
            <a:r>
              <a:rPr lang="en-US" dirty="0"/>
              <a:t>Jury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F45F-92EC-3087-60B8-2B0A0A968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89305"/>
            <a:ext cx="9603275" cy="395693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During </a:t>
            </a:r>
            <a:r>
              <a:rPr lang="en-US" sz="2800" i="1" dirty="0" err="1"/>
              <a:t>voir</a:t>
            </a:r>
            <a:r>
              <a:rPr lang="en-US" sz="2800" i="1" dirty="0"/>
              <a:t> dire</a:t>
            </a:r>
            <a:r>
              <a:rPr lang="en-US" sz="2800" dirty="0"/>
              <a:t>, examine potential jurors in the jury pool: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47(a), attorneys or the court examine prospective jurors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47(c), can excuse “for good cause”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Also 3 peremptory challenges, per 47(b) and 28 U.S.C. § 1870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The Equal Protection Clause of the Constitution prohibits using peremptory strikes for racial or gender discrimination (</a:t>
            </a:r>
            <a:r>
              <a:rPr lang="en-US" sz="2800" i="1" dirty="0"/>
              <a:t>Edmonson</a:t>
            </a:r>
            <a:r>
              <a:rPr lang="en-US" sz="2800" dirty="0"/>
              <a:t> and </a:t>
            </a:r>
            <a:r>
              <a:rPr lang="en-US" sz="2800" i="1" dirty="0"/>
              <a:t>J.E.B.</a:t>
            </a:r>
            <a:r>
              <a:rPr lang="en-US" sz="2800" dirty="0"/>
              <a:t>), applies to both state and federal courts</a:t>
            </a:r>
          </a:p>
        </p:txBody>
      </p:sp>
    </p:spTree>
    <p:extLst>
      <p:ext uri="{BB962C8B-B14F-4D97-AF65-F5344CB8AC3E}">
        <p14:creationId xmlns:p14="http://schemas.microsoft.com/office/powerpoint/2010/main" val="390683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9BAA-F3EB-48FE-2B27-426CCEFA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Takeaways</a:t>
            </a:r>
          </a:p>
        </p:txBody>
      </p:sp>
    </p:spTree>
    <p:extLst>
      <p:ext uri="{BB962C8B-B14F-4D97-AF65-F5344CB8AC3E}">
        <p14:creationId xmlns:p14="http://schemas.microsoft.com/office/powerpoint/2010/main" val="123874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861A-65E7-A481-E825-723F4906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6659"/>
            <a:ext cx="9603275" cy="729991"/>
          </a:xfrm>
        </p:spPr>
        <p:txBody>
          <a:bodyPr/>
          <a:lstStyle/>
          <a:p>
            <a:r>
              <a:rPr lang="en-US" dirty="0"/>
              <a:t>Key Takeaways for jury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32DC-2818-B0EA-63E0-F6BDA5984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36644"/>
            <a:ext cx="9603275" cy="3990931"/>
          </a:xfrm>
        </p:spPr>
        <p:txBody>
          <a:bodyPr>
            <a:normAutofit/>
          </a:bodyPr>
          <a:lstStyle/>
          <a:p>
            <a:r>
              <a:rPr lang="en-US" sz="2800" dirty="0"/>
              <a:t>Seventh Amendment guarantees jury trial in civil cases, in federal court, for common law causes of action</a:t>
            </a:r>
          </a:p>
          <a:p>
            <a:r>
              <a:rPr lang="en-US" sz="2800" dirty="0"/>
              <a:t>For new causes of action since 1791: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Was there an analogous action at common law in 1791?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Is the relief sought legal, like money damages, rather than equitable, like an injunction? (</a:t>
            </a:r>
            <a:r>
              <a:rPr lang="en-US" sz="2800" i="1" dirty="0"/>
              <a:t>Curtis</a:t>
            </a:r>
            <a:r>
              <a:rPr lang="en-US" sz="2800" dirty="0"/>
              <a:t>; </a:t>
            </a:r>
            <a:r>
              <a:rPr lang="en-US" sz="2800" i="1" dirty="0"/>
              <a:t>Chauffeurs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39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861A-65E7-A481-E825-723F4906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6659"/>
            <a:ext cx="9603275" cy="729991"/>
          </a:xfrm>
        </p:spPr>
        <p:txBody>
          <a:bodyPr/>
          <a:lstStyle/>
          <a:p>
            <a:r>
              <a:rPr lang="en-US" dirty="0"/>
              <a:t>Key Takeaways for jury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32DC-2818-B0EA-63E0-F6BDA5984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2669"/>
            <a:ext cx="9763817" cy="4101289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38(b), can demand jury trial by writing within 14 days of last pleading</a:t>
            </a:r>
          </a:p>
          <a:p>
            <a:r>
              <a:rPr lang="en-US" sz="2800" dirty="0"/>
              <a:t>38(d), if don’t properly demand, jury trial right is waived</a:t>
            </a:r>
          </a:p>
          <a:p>
            <a:r>
              <a:rPr lang="en-US" sz="2800" dirty="0"/>
              <a:t>39(b), if no proper demand, bench trial by the court</a:t>
            </a:r>
          </a:p>
          <a:p>
            <a:r>
              <a:rPr lang="en-US" sz="2800" dirty="0"/>
              <a:t>47, examine jurors, can excuse for “good cause,” plus 3 peremptory challenges; can’t use peremptory challenge for discriminatory purpose</a:t>
            </a:r>
          </a:p>
          <a:p>
            <a:r>
              <a:rPr lang="en-US" sz="2800" dirty="0"/>
              <a:t>48, need unanimous verdict by at least 6-person jury (6-person civil jury is ok per </a:t>
            </a:r>
            <a:r>
              <a:rPr lang="en-US" sz="2800" i="1" dirty="0"/>
              <a:t>Colgrove</a:t>
            </a:r>
            <a:r>
              <a:rPr lang="en-US" sz="2800" dirty="0"/>
              <a:t>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255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5974</TotalTime>
  <Words>708</Words>
  <Application>Microsoft Macintosh PowerPoint</Application>
  <PresentationFormat>Widescreen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Candara</vt:lpstr>
      <vt:lpstr>Gill Sans MT</vt:lpstr>
      <vt:lpstr>Gallery</vt:lpstr>
      <vt:lpstr>Civil Procedure</vt:lpstr>
      <vt:lpstr>Agenda</vt:lpstr>
      <vt:lpstr>I. Recap</vt:lpstr>
      <vt:lpstr>Key Takeaways for default and Dismissal</vt:lpstr>
      <vt:lpstr>Summary Judgment—Steps in the Analysis</vt:lpstr>
      <vt:lpstr>II. Trial by jury</vt:lpstr>
      <vt:lpstr>Constitutional Right to a Jury trial</vt:lpstr>
      <vt:lpstr>Jury Trial under the FRCP</vt:lpstr>
      <vt:lpstr>PowerPoint Presentation</vt:lpstr>
      <vt:lpstr>does jury right apply to new causes of action?</vt:lpstr>
      <vt:lpstr>What are “legal rights and remedies”?</vt:lpstr>
      <vt:lpstr>Jury Selection</vt:lpstr>
      <vt:lpstr>Jury Selection</vt:lpstr>
      <vt:lpstr>III. Takeaways</vt:lpstr>
      <vt:lpstr>Key Takeaways for jury trial</vt:lpstr>
      <vt:lpstr>Key Takeaways for jury trial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318</cp:revision>
  <dcterms:created xsi:type="dcterms:W3CDTF">2024-08-16T15:30:55Z</dcterms:created>
  <dcterms:modified xsi:type="dcterms:W3CDTF">2026-09-25T16:22:08Z</dcterms:modified>
</cp:coreProperties>
</file>