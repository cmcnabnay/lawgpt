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92" r:id="rId6"/>
    <p:sldId id="261" r:id="rId7"/>
    <p:sldId id="291" r:id="rId8"/>
    <p:sldId id="281" r:id="rId9"/>
    <p:sldId id="282" r:id="rId10"/>
    <p:sldId id="289" r:id="rId11"/>
    <p:sldId id="262" r:id="rId12"/>
    <p:sldId id="263" r:id="rId13"/>
    <p:sldId id="270" r:id="rId14"/>
    <p:sldId id="274" r:id="rId15"/>
    <p:sldId id="276" r:id="rId16"/>
    <p:sldId id="293" r:id="rId17"/>
    <p:sldId id="277" r:id="rId18"/>
    <p:sldId id="288" r:id="rId19"/>
    <p:sldId id="278" r:id="rId20"/>
    <p:sldId id="279" r:id="rId21"/>
    <p:sldId id="280" r:id="rId22"/>
    <p:sldId id="287" r:id="rId23"/>
    <p:sldId id="286" r:id="rId24"/>
    <p:sldId id="294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94568"/>
  </p:normalViewPr>
  <p:slideViewPr>
    <p:cSldViewPr snapToGrid="0">
      <p:cViewPr varScale="1">
        <p:scale>
          <a:sx n="143" d="100"/>
          <a:sy n="143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90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4DE784-E725-8845-A7E6-6B2721F585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13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xcourts.gov/media/1461638/court-structure-chart-dec-2025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1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7602"/>
            <a:ext cx="9603275" cy="620869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What </a:t>
            </a:r>
            <a:r>
              <a:rPr lang="en-US" sz="3200" u="sng" dirty="0"/>
              <a:t>is</a:t>
            </a:r>
            <a:r>
              <a:rPr lang="en-US" sz="3200" dirty="0"/>
              <a:t> civil procedure?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u="sng" dirty="0"/>
              <a:t>Anonymous Physician v.  </a:t>
            </a:r>
            <a:r>
              <a:rPr lang="en-US" sz="3200" u="sng" dirty="0" err="1"/>
              <a:t>Wininger</a:t>
            </a:r>
            <a:endParaRPr lang="en-US" sz="3200" u="sng" dirty="0"/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Overview of the U.S. court system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Course logistics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D3093-6C9D-9A03-8D71-15F63320A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910368"/>
            <a:ext cx="8630446" cy="1012929"/>
          </a:xfrm>
        </p:spPr>
        <p:txBody>
          <a:bodyPr>
            <a:normAutofit/>
          </a:bodyPr>
          <a:lstStyle/>
          <a:p>
            <a:r>
              <a:rPr lang="en-US" sz="3600" dirty="0"/>
              <a:t>Welcome!</a:t>
            </a:r>
          </a:p>
        </p:txBody>
      </p:sp>
    </p:spTree>
    <p:extLst>
      <p:ext uri="{BB962C8B-B14F-4D97-AF65-F5344CB8AC3E}">
        <p14:creationId xmlns:p14="http://schemas.microsoft.com/office/powerpoint/2010/main" val="144403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6E00-8A26-B931-7165-30EFD6DC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4A9C-B6A9-4FEE-06E8-C727E8FE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587"/>
            <a:ext cx="9603275" cy="711765"/>
          </a:xfrm>
        </p:spPr>
        <p:txBody>
          <a:bodyPr/>
          <a:lstStyle/>
          <a:p>
            <a:r>
              <a:rPr lang="en-US" dirty="0"/>
              <a:t>Teaching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E7B1F-9978-834C-ECA6-0942C0165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r>
              <a:rPr lang="en-US" sz="2400" dirty="0"/>
              <a:t>Professor: Andrew Lanham</a:t>
            </a:r>
          </a:p>
          <a:p>
            <a:r>
              <a:rPr lang="en-US" sz="2400" dirty="0"/>
              <a:t>Tutors:</a:t>
            </a:r>
          </a:p>
          <a:p>
            <a:pPr lvl="1"/>
            <a:r>
              <a:rPr lang="en-US" sz="2400" dirty="0"/>
              <a:t>Lainey Brown</a:t>
            </a:r>
          </a:p>
          <a:p>
            <a:pPr lvl="1"/>
            <a:r>
              <a:rPr lang="en-US" sz="2400" dirty="0"/>
              <a:t>Justin Nguyen</a:t>
            </a:r>
          </a:p>
          <a:p>
            <a:pPr lvl="1"/>
            <a:r>
              <a:rPr lang="en-US" sz="2400" dirty="0"/>
              <a:t>Emily O’Neill</a:t>
            </a:r>
          </a:p>
          <a:p>
            <a:pPr lvl="1"/>
            <a:r>
              <a:rPr lang="en-US" sz="2400" dirty="0"/>
              <a:t>Christine Song</a:t>
            </a:r>
          </a:p>
          <a:p>
            <a:pPr lvl="1"/>
            <a:r>
              <a:rPr lang="en-US" sz="2400" dirty="0"/>
              <a:t>Austin Trevino</a:t>
            </a:r>
          </a:p>
          <a:p>
            <a:pPr lvl="1"/>
            <a:r>
              <a:rPr lang="en-US" sz="2400" dirty="0"/>
              <a:t>Sarah Williams</a:t>
            </a:r>
          </a:p>
        </p:txBody>
      </p:sp>
    </p:spTree>
    <p:extLst>
      <p:ext uri="{BB962C8B-B14F-4D97-AF65-F5344CB8AC3E}">
        <p14:creationId xmlns:p14="http://schemas.microsoft.com/office/powerpoint/2010/main" val="63089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107F-313F-308B-2F9F-73FC724C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What is civil procedure?</a:t>
            </a:r>
          </a:p>
        </p:txBody>
      </p:sp>
    </p:spTree>
    <p:extLst>
      <p:ext uri="{BB962C8B-B14F-4D97-AF65-F5344CB8AC3E}">
        <p14:creationId xmlns:p14="http://schemas.microsoft.com/office/powerpoint/2010/main" val="344788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0AD1BD-C739-4042-0F24-9B8AEF0E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Procedure  vs.  substance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D8800-D6AD-1332-D966-9F5E7AC53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31529" cy="345061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Substance = the law governing what people are allowed to do (torts, contracts, property, etc.)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Procedure = the law governing </a:t>
            </a:r>
            <a:r>
              <a:rPr lang="en-US" sz="3200" i="1" dirty="0"/>
              <a:t>how</a:t>
            </a:r>
            <a:r>
              <a:rPr lang="en-US" sz="3200" dirty="0"/>
              <a:t> a court can enforce those substantive rules, i.e., the </a:t>
            </a:r>
            <a:r>
              <a:rPr lang="en-US" sz="3200" i="1" dirty="0"/>
              <a:t>process</a:t>
            </a:r>
            <a:r>
              <a:rPr lang="en-US" sz="3200" dirty="0"/>
              <a:t> for resolving cases</a:t>
            </a:r>
          </a:p>
        </p:txBody>
      </p:sp>
    </p:spTree>
    <p:extLst>
      <p:ext uri="{BB962C8B-B14F-4D97-AF65-F5344CB8AC3E}">
        <p14:creationId xmlns:p14="http://schemas.microsoft.com/office/powerpoint/2010/main" val="208673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EF5C-2580-20B2-C39F-656A38F7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2312"/>
            <a:ext cx="9603275" cy="839086"/>
          </a:xfrm>
        </p:spPr>
        <p:txBody>
          <a:bodyPr/>
          <a:lstStyle/>
          <a:p>
            <a:r>
              <a:rPr lang="en-US" dirty="0"/>
              <a:t>Civil vs. Criminal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23D4-C8BC-D7FF-DE75-8877822A4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Civil cases involve private parties or the government suing for a civil cause of action—such as contract or tort claims. The “plaintiff” sues the “defendant.”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Criminal cases involve the government prosecuting a defendant for breaking a criminal law. Criminal cases have their own procedures.</a:t>
            </a:r>
          </a:p>
        </p:txBody>
      </p:sp>
    </p:spTree>
    <p:extLst>
      <p:ext uri="{BB962C8B-B14F-4D97-AF65-F5344CB8AC3E}">
        <p14:creationId xmlns:p14="http://schemas.microsoft.com/office/powerpoint/2010/main" val="389266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AF78-BA97-AA00-D877-A77F6098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4198"/>
            <a:ext cx="9603275" cy="734914"/>
          </a:xfrm>
        </p:spPr>
        <p:txBody>
          <a:bodyPr/>
          <a:lstStyle/>
          <a:p>
            <a:r>
              <a:rPr lang="en-US" dirty="0"/>
              <a:t>Sources of Procedural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3775-5893-BE18-547E-2ABCCD37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985675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Federal Rules of Civil Procedure (FRCP)</a:t>
            </a:r>
          </a:p>
          <a:p>
            <a:r>
              <a:rPr lang="en-US" sz="3200" dirty="0"/>
              <a:t>State procedural rules</a:t>
            </a:r>
          </a:p>
          <a:p>
            <a:r>
              <a:rPr lang="en-US" sz="3200" dirty="0"/>
              <a:t>Statutes</a:t>
            </a:r>
          </a:p>
          <a:p>
            <a:r>
              <a:rPr lang="en-US" sz="3200" dirty="0"/>
              <a:t>Local court rules</a:t>
            </a:r>
          </a:p>
          <a:p>
            <a:r>
              <a:rPr lang="en-US" sz="3200" dirty="0"/>
              <a:t>The U.S. Constitution</a:t>
            </a:r>
          </a:p>
          <a:p>
            <a:r>
              <a:rPr lang="en-US" sz="3200" dirty="0"/>
              <a:t>Court cases</a:t>
            </a:r>
          </a:p>
        </p:txBody>
      </p:sp>
    </p:spTree>
    <p:extLst>
      <p:ext uri="{BB962C8B-B14F-4D97-AF65-F5344CB8AC3E}">
        <p14:creationId xmlns:p14="http://schemas.microsoft.com/office/powerpoint/2010/main" val="1452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CDA0-158E-3997-2132-904AC92B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3686"/>
            <a:ext cx="9603275" cy="815937"/>
          </a:xfrm>
        </p:spPr>
        <p:txBody>
          <a:bodyPr/>
          <a:lstStyle/>
          <a:p>
            <a:r>
              <a:rPr lang="en-US" dirty="0"/>
              <a:t>Procedure in everyday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9B061-23D8-AAF4-28C2-5FC0A2FC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40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Federal Rules of Civil Procedure can be technical and complex.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But we think about procedure and fairness all the time in everyday life.  And good lawyers use everyday analogies to help explain the law.</a:t>
            </a:r>
          </a:p>
        </p:txBody>
      </p:sp>
    </p:spTree>
    <p:extLst>
      <p:ext uri="{BB962C8B-B14F-4D97-AF65-F5344CB8AC3E}">
        <p14:creationId xmlns:p14="http://schemas.microsoft.com/office/powerpoint/2010/main" val="365500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CDA0-158E-3997-2132-904AC92B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3686"/>
            <a:ext cx="9603275" cy="815937"/>
          </a:xfrm>
        </p:spPr>
        <p:txBody>
          <a:bodyPr/>
          <a:lstStyle/>
          <a:p>
            <a:r>
              <a:rPr lang="en-US" dirty="0"/>
              <a:t>Procedure in everyday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9B061-23D8-AAF4-28C2-5FC0A2FC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402"/>
          </a:xfrm>
        </p:spPr>
        <p:txBody>
          <a:bodyPr>
            <a:normAutofit/>
          </a:bodyPr>
          <a:lstStyle/>
          <a:p>
            <a:r>
              <a:rPr lang="en-US" sz="3200" dirty="0"/>
              <a:t>I will bring in Halloween candy later in the semester</a:t>
            </a:r>
          </a:p>
          <a:p>
            <a:r>
              <a:rPr lang="en-US" sz="3200" u="sng" dirty="0"/>
              <a:t>Substantively</a:t>
            </a:r>
            <a:r>
              <a:rPr lang="en-US" sz="3200" dirty="0"/>
              <a:t>, we need to know what kind of candy I should buy</a:t>
            </a:r>
          </a:p>
          <a:p>
            <a:r>
              <a:rPr lang="en-US" sz="3200" u="sng" dirty="0"/>
              <a:t>Procedurally:</a:t>
            </a:r>
            <a:r>
              <a:rPr lang="en-US" sz="3200" dirty="0"/>
              <a:t> How should we choose what kind of candy I will buy?</a:t>
            </a:r>
          </a:p>
        </p:txBody>
      </p:sp>
    </p:spTree>
    <p:extLst>
      <p:ext uri="{BB962C8B-B14F-4D97-AF65-F5344CB8AC3E}">
        <p14:creationId xmlns:p14="http://schemas.microsoft.com/office/powerpoint/2010/main" val="312283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CDA0-158E-3997-2132-904AC92B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3686"/>
            <a:ext cx="9603275" cy="815937"/>
          </a:xfrm>
        </p:spPr>
        <p:txBody>
          <a:bodyPr/>
          <a:lstStyle/>
          <a:p>
            <a:r>
              <a:rPr lang="en-US" dirty="0"/>
              <a:t>Procedure in everyday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9B061-23D8-AAF4-28C2-5FC0A2FC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9402"/>
          </a:xfrm>
        </p:spPr>
        <p:txBody>
          <a:bodyPr>
            <a:normAutofit/>
          </a:bodyPr>
          <a:lstStyle/>
          <a:p>
            <a:r>
              <a:rPr lang="en-US" sz="3200" dirty="0"/>
              <a:t>Form groups of 3–5 in your area of the classroom,</a:t>
            </a:r>
          </a:p>
          <a:p>
            <a:r>
              <a:rPr lang="en-US" sz="3200" dirty="0"/>
              <a:t>And talk through the following questions: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 dirty="0"/>
              <a:t>What would be the </a:t>
            </a:r>
            <a:r>
              <a:rPr lang="en-US" sz="3200" i="1" dirty="0"/>
              <a:t>fairest</a:t>
            </a:r>
            <a:r>
              <a:rPr lang="en-US" sz="3200" dirty="0"/>
              <a:t> way to decide?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 dirty="0"/>
              <a:t>What process is most likely to yield the outcome that you </a:t>
            </a:r>
            <a:r>
              <a:rPr lang="en-US" sz="3200" i="1" dirty="0"/>
              <a:t>want</a:t>
            </a:r>
            <a:r>
              <a:rPr lang="en-US" sz="3200" dirty="0"/>
              <a:t>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 dirty="0"/>
              <a:t>What process </a:t>
            </a:r>
            <a:r>
              <a:rPr lang="en-US" sz="3200" i="1" dirty="0"/>
              <a:t>should</a:t>
            </a:r>
            <a:r>
              <a:rPr lang="en-US" sz="3200" dirty="0"/>
              <a:t> we use?</a:t>
            </a:r>
          </a:p>
        </p:txBody>
      </p:sp>
    </p:spTree>
    <p:extLst>
      <p:ext uri="{BB962C8B-B14F-4D97-AF65-F5344CB8AC3E}">
        <p14:creationId xmlns:p14="http://schemas.microsoft.com/office/powerpoint/2010/main" val="164016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og lying on grass with a blue leash&#10;&#10;Description automatically generated">
            <a:extLst>
              <a:ext uri="{FF2B5EF4-FFF2-40B4-BE49-F238E27FC236}">
                <a16:creationId xmlns:a16="http://schemas.microsoft.com/office/drawing/2014/main" id="{ADABD696-F456-470E-7E8A-75998F72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94" b="2471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1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700C-AD1F-B16F-C4A2-27BD800B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3135"/>
            <a:ext cx="9603275" cy="677040"/>
          </a:xfrm>
        </p:spPr>
        <p:txBody>
          <a:bodyPr/>
          <a:lstStyle/>
          <a:p>
            <a:r>
              <a:rPr lang="en-US" dirty="0"/>
              <a:t>Some key Procedural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D92B-5856-6870-85D9-3B625809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Who decides?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do they decide?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When do they decide?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Is that the right process? (normative or ‘policy’ question)</a:t>
            </a:r>
          </a:p>
        </p:txBody>
      </p:sp>
    </p:spTree>
    <p:extLst>
      <p:ext uri="{BB962C8B-B14F-4D97-AF65-F5344CB8AC3E}">
        <p14:creationId xmlns:p14="http://schemas.microsoft.com/office/powerpoint/2010/main" val="229351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F6EA-E8AF-57F0-8DE0-84D64109C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</a:t>
            </a:r>
            <a:r>
              <a:rPr lang="en-US" i="1" dirty="0"/>
              <a:t>Anonymous Physician v.  </a:t>
            </a:r>
            <a:r>
              <a:rPr lang="en-US" i="1" dirty="0" err="1"/>
              <a:t>Wininger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4510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B746-464A-25A9-6F51-5D2299CA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6754-A730-852C-368B-2F721F74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1560"/>
            <a:ext cx="9603275" cy="700190"/>
          </a:xfrm>
        </p:spPr>
        <p:txBody>
          <a:bodyPr/>
          <a:lstStyle/>
          <a:p>
            <a:r>
              <a:rPr lang="en-US" dirty="0"/>
              <a:t>Statute of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ED187-9F03-7FFD-A5E2-A736F1942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922081"/>
          </a:xfrm>
        </p:spPr>
        <p:txBody>
          <a:bodyPr>
            <a:noAutofit/>
          </a:bodyPr>
          <a:lstStyle/>
          <a:p>
            <a:r>
              <a:rPr lang="en-US" sz="3200" dirty="0"/>
              <a:t>“limitations period” = how long the clock runs for</a:t>
            </a:r>
          </a:p>
          <a:p>
            <a:r>
              <a:rPr lang="en-US" sz="3200" dirty="0"/>
              <a:t>The clock begins running when the claim “accrues”</a:t>
            </a:r>
          </a:p>
          <a:p>
            <a:r>
              <a:rPr lang="en-US" sz="3200" dirty="0"/>
              <a:t>Plaintiff must start lawsuit within “limitations period”</a:t>
            </a:r>
          </a:p>
          <a:p>
            <a:r>
              <a:rPr lang="en-US" sz="3200" dirty="0"/>
              <a:t>Limitations period might be “tolled,” i.e. paused, depending on the context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6174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B54E-9D6A-CDC3-679E-40B667D4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2623"/>
            <a:ext cx="9603275" cy="758063"/>
          </a:xfrm>
        </p:spPr>
        <p:txBody>
          <a:bodyPr/>
          <a:lstStyle/>
          <a:p>
            <a:r>
              <a:rPr lang="en-US" dirty="0"/>
              <a:t>Hypotheticals: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2D13-828A-61FC-5D46-3991599A8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962" y="1969433"/>
            <a:ext cx="10030507" cy="4107276"/>
          </a:xfrm>
        </p:spPr>
        <p:txBody>
          <a:bodyPr>
            <a:noAutofit/>
          </a:bodyPr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</a:t>
            </a:r>
            <a:r>
              <a:rPr lang="en-US" sz="26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Wininger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filed her claim on </a:t>
            </a:r>
            <a:r>
              <a:rPr lang="en-US" sz="2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 1, 2009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Would that be within the 2-year period? How about </a:t>
            </a:r>
            <a:r>
              <a:rPr lang="en-US" sz="2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September 30, 2009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sz="2600" kern="100" dirty="0"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that in </a:t>
            </a:r>
            <a:r>
              <a:rPr lang="en-US" sz="2600" i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Johnson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the plaintiff’s problem wasn’t from the surgery, but from a </a:t>
            </a:r>
            <a:r>
              <a:rPr lang="en-US" sz="2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post-operative infection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When did the clock start to run?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kern="100" dirty="0"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you represent a medical insurance company. You bring a claim against A.P. alleging that they overcharged your company for </a:t>
            </a:r>
            <a:r>
              <a:rPr lang="en-US" sz="2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25 years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 statute of limitations is </a:t>
            </a:r>
            <a:r>
              <a:rPr lang="en-US" sz="2600" b="1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 years</a:t>
            </a:r>
            <a:r>
              <a:rPr lang="en-US" sz="26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How should it apply?</a:t>
            </a:r>
          </a:p>
        </p:txBody>
      </p:sp>
    </p:spTree>
    <p:extLst>
      <p:ext uri="{BB962C8B-B14F-4D97-AF65-F5344CB8AC3E}">
        <p14:creationId xmlns:p14="http://schemas.microsoft.com/office/powerpoint/2010/main" val="1239518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EBB3-2442-9D45-8F6D-3DC4AA7C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1560"/>
            <a:ext cx="9603275" cy="700190"/>
          </a:xfrm>
        </p:spPr>
        <p:txBody>
          <a:bodyPr/>
          <a:lstStyle/>
          <a:p>
            <a:r>
              <a:rPr lang="en-US" dirty="0"/>
              <a:t>Key Questions for Every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E44A3-8B6B-AABF-43E3-D0EA5857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92208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are the parties? What court are they in?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is the dispute? I.e., what are the </a:t>
            </a:r>
            <a:r>
              <a:rPr lang="en-US" sz="2600" b="1" u="sng" dirty="0"/>
              <a:t>facts</a:t>
            </a:r>
            <a:r>
              <a:rPr lang="en-US" sz="2600" dirty="0"/>
              <a:t> of the case?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is the </a:t>
            </a:r>
            <a:r>
              <a:rPr lang="en-US" sz="2600" b="1" u="sng" dirty="0"/>
              <a:t>procedural posture</a:t>
            </a:r>
            <a:r>
              <a:rPr lang="en-US" sz="2600" dirty="0"/>
              <a:t>? I.e., what process has already occurred, and what procedural stage is the case at now?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does the court decide?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How does the court decide? What is its </a:t>
            </a:r>
            <a:r>
              <a:rPr lang="en-US" sz="2600" i="1" dirty="0"/>
              <a:t>reasoning?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Normatively, is this a </a:t>
            </a:r>
            <a:r>
              <a:rPr lang="en-US" sz="2600" i="1" dirty="0"/>
              <a:t>good</a:t>
            </a:r>
            <a:r>
              <a:rPr lang="en-US" sz="2600" dirty="0"/>
              <a:t> procedural rule?</a:t>
            </a:r>
          </a:p>
        </p:txBody>
      </p:sp>
    </p:spTree>
    <p:extLst>
      <p:ext uri="{BB962C8B-B14F-4D97-AF65-F5344CB8AC3E}">
        <p14:creationId xmlns:p14="http://schemas.microsoft.com/office/powerpoint/2010/main" val="179789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447B-D519-1C18-63E8-4190B362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Overview of the U.S. Court system</a:t>
            </a:r>
          </a:p>
        </p:txBody>
      </p:sp>
    </p:spTree>
    <p:extLst>
      <p:ext uri="{BB962C8B-B14F-4D97-AF65-F5344CB8AC3E}">
        <p14:creationId xmlns:p14="http://schemas.microsoft.com/office/powerpoint/2010/main" val="1148127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1325-E839-2C20-E8BE-4948385E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70738"/>
            <a:ext cx="9603275" cy="769638"/>
          </a:xfrm>
        </p:spPr>
        <p:txBody>
          <a:bodyPr/>
          <a:lstStyle/>
          <a:p>
            <a:r>
              <a:rPr lang="en-US" dirty="0"/>
              <a:t>State Courts and federal Courts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D4F9-3E58-7F09-4271-4B3CBA526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states and the federal government each have their own civil litigation systems.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Each court system has its own procedural rules.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The Federal Rules of Civil Procedure have been very influential, so they provide a good way to learn procedural law. We’ll focus mainly on federal procedure.</a:t>
            </a:r>
          </a:p>
        </p:txBody>
      </p:sp>
    </p:spTree>
    <p:extLst>
      <p:ext uri="{BB962C8B-B14F-4D97-AF65-F5344CB8AC3E}">
        <p14:creationId xmlns:p14="http://schemas.microsoft.com/office/powerpoint/2010/main" val="303859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CFA2-3291-990D-74A2-8CE33115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40186"/>
            <a:ext cx="9603275" cy="677040"/>
          </a:xfrm>
        </p:spPr>
        <p:txBody>
          <a:bodyPr/>
          <a:lstStyle/>
          <a:p>
            <a:r>
              <a:rPr lang="en-US" dirty="0"/>
              <a:t>Structure of the Federal Courts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F05F-B287-D409-3E23-B9725FE5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U.S. District Courts—trial court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Circuit Court—court of appeals; 12 circuits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Supreme Court—highest court; decides which appeals from the Circuit Court it will choose hear (</a:t>
            </a:r>
            <a:r>
              <a:rPr lang="en-US" sz="3200" i="1" dirty="0"/>
              <a:t>certiorari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3093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 descr="circuits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1300" y="1428751"/>
            <a:ext cx="6457950" cy="4320779"/>
          </a:xfrm>
          <a:noFill/>
        </p:spPr>
      </p:pic>
      <p:sp>
        <p:nvSpPr>
          <p:cNvPr id="2253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924300" y="432074"/>
            <a:ext cx="4343400" cy="708422"/>
          </a:xfrm>
        </p:spPr>
        <p:txBody>
          <a:bodyPr anchor="b"/>
          <a:lstStyle/>
          <a:p>
            <a:pPr eaLnBrk="1" hangingPunct="1"/>
            <a:r>
              <a:rPr lang="en-US" altLang="en-US" b="1" dirty="0">
                <a:ea typeface="Times New Roman" charset="0"/>
                <a:cs typeface="Times New Roman" charset="0"/>
              </a:rPr>
              <a:t>Federal circuits</a:t>
            </a:r>
          </a:p>
        </p:txBody>
      </p:sp>
    </p:spTree>
    <p:extLst>
      <p:ext uri="{BB962C8B-B14F-4D97-AF65-F5344CB8AC3E}">
        <p14:creationId xmlns:p14="http://schemas.microsoft.com/office/powerpoint/2010/main" val="1468659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143" y="403450"/>
            <a:ext cx="4914900" cy="685800"/>
          </a:xfrm>
        </p:spPr>
        <p:txBody>
          <a:bodyPr/>
          <a:lstStyle/>
          <a:p>
            <a:pPr eaLnBrk="1" hangingPunct="1"/>
            <a:r>
              <a:rPr lang="en-US" altLang="en-US" b="1" dirty="0">
                <a:ea typeface="Times New Roman" charset="0"/>
                <a:cs typeface="Times New Roman" charset="0"/>
              </a:rPr>
              <a:t>U.S. Judicial system</a:t>
            </a:r>
          </a:p>
        </p:txBody>
      </p:sp>
      <p:grpSp>
        <p:nvGrpSpPr>
          <p:cNvPr id="21506" name="Group 3"/>
          <p:cNvGrpSpPr>
            <a:grpSpLocks noChangeAspect="1"/>
          </p:cNvGrpSpPr>
          <p:nvPr/>
        </p:nvGrpSpPr>
        <p:grpSpPr bwMode="auto">
          <a:xfrm>
            <a:off x="2736543" y="1406127"/>
            <a:ext cx="6193631" cy="3257040"/>
            <a:chOff x="288" y="420"/>
            <a:chExt cx="5178" cy="4317"/>
          </a:xfrm>
        </p:grpSpPr>
        <p:sp>
          <p:nvSpPr>
            <p:cNvPr id="21509" name="AutoShape 4"/>
            <p:cNvSpPr>
              <a:spLocks noChangeAspect="1" noChangeArrowheads="1" noTextEdit="1"/>
            </p:cNvSpPr>
            <p:nvPr/>
          </p:nvSpPr>
          <p:spPr bwMode="auto">
            <a:xfrm>
              <a:off x="288" y="1019"/>
              <a:ext cx="5178" cy="3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cxnSp>
          <p:nvCxnSpPr>
            <p:cNvPr id="21510" name="_s3077"/>
            <p:cNvCxnSpPr>
              <a:cxnSpLocks noChangeShapeType="1"/>
              <a:stCxn id="21526" idx="0"/>
              <a:endCxn id="21525" idx="2"/>
            </p:cNvCxnSpPr>
            <p:nvPr/>
          </p:nvCxnSpPr>
          <p:spPr bwMode="auto">
            <a:xfrm rot="-5400000">
              <a:off x="4367" y="3948"/>
              <a:ext cx="654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1" name="_s3078"/>
            <p:cNvCxnSpPr>
              <a:cxnSpLocks noChangeShapeType="1"/>
              <a:stCxn id="21525" idx="0"/>
              <a:endCxn id="21518" idx="3"/>
            </p:cNvCxnSpPr>
            <p:nvPr/>
          </p:nvCxnSpPr>
          <p:spPr bwMode="auto">
            <a:xfrm rot="16200000" flipV="1">
              <a:off x="2651" y="871"/>
              <a:ext cx="2259" cy="1825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2" name="_s3079"/>
            <p:cNvCxnSpPr>
              <a:cxnSpLocks noChangeShapeType="1"/>
              <a:stCxn id="21524" idx="0"/>
              <a:endCxn id="21523" idx="2"/>
            </p:cNvCxnSpPr>
            <p:nvPr/>
          </p:nvCxnSpPr>
          <p:spPr bwMode="auto">
            <a:xfrm rot="-5400000">
              <a:off x="2491" y="3966"/>
              <a:ext cx="758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3" name="_s3080"/>
            <p:cNvCxnSpPr>
              <a:cxnSpLocks noChangeShapeType="1"/>
              <a:stCxn id="21523" idx="0"/>
              <a:endCxn id="21522" idx="2"/>
            </p:cNvCxnSpPr>
            <p:nvPr/>
          </p:nvCxnSpPr>
          <p:spPr bwMode="auto">
            <a:xfrm rot="-5400000">
              <a:off x="2510" y="2843"/>
              <a:ext cx="720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4" name="_s3081"/>
            <p:cNvCxnSpPr>
              <a:cxnSpLocks noChangeShapeType="1"/>
              <a:stCxn id="21522" idx="0"/>
              <a:endCxn id="21518" idx="2"/>
            </p:cNvCxnSpPr>
            <p:nvPr/>
          </p:nvCxnSpPr>
          <p:spPr bwMode="auto">
            <a:xfrm rot="16200000" flipV="1">
              <a:off x="1842" y="1026"/>
              <a:ext cx="1165" cy="88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5" name="_s3082"/>
            <p:cNvCxnSpPr>
              <a:cxnSpLocks noChangeShapeType="1"/>
              <a:stCxn id="21521" idx="0"/>
              <a:endCxn id="21520" idx="2"/>
            </p:cNvCxnSpPr>
            <p:nvPr/>
          </p:nvCxnSpPr>
          <p:spPr bwMode="auto">
            <a:xfrm rot="5400000" flipH="1" flipV="1">
              <a:off x="835" y="4125"/>
              <a:ext cx="454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6" name="_s3083"/>
            <p:cNvCxnSpPr>
              <a:cxnSpLocks noChangeShapeType="1"/>
              <a:stCxn id="21520" idx="0"/>
              <a:endCxn id="21519" idx="2"/>
            </p:cNvCxnSpPr>
            <p:nvPr/>
          </p:nvCxnSpPr>
          <p:spPr bwMode="auto">
            <a:xfrm rot="-5400000">
              <a:off x="686" y="2826"/>
              <a:ext cx="753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7" name="_s3084"/>
            <p:cNvCxnSpPr>
              <a:cxnSpLocks noChangeShapeType="1"/>
              <a:stCxn id="21519" idx="0"/>
              <a:endCxn id="21518" idx="2"/>
            </p:cNvCxnSpPr>
            <p:nvPr/>
          </p:nvCxnSpPr>
          <p:spPr bwMode="auto">
            <a:xfrm rot="5400000" flipH="1" flipV="1">
              <a:off x="938" y="1011"/>
              <a:ext cx="1165" cy="91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18" name="_s3085"/>
            <p:cNvSpPr>
              <a:spLocks noChangeArrowheads="1"/>
            </p:cNvSpPr>
            <p:nvPr/>
          </p:nvSpPr>
          <p:spPr bwMode="auto">
            <a:xfrm>
              <a:off x="1092" y="420"/>
              <a:ext cx="1776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U.S. Supreme Court</a:t>
              </a:r>
            </a:p>
          </p:txBody>
        </p:sp>
        <p:sp>
          <p:nvSpPr>
            <p:cNvPr id="21519" name="_s3086"/>
            <p:cNvSpPr>
              <a:spLocks noChangeArrowheads="1"/>
            </p:cNvSpPr>
            <p:nvPr/>
          </p:nvSpPr>
          <p:spPr bwMode="auto">
            <a:xfrm>
              <a:off x="288" y="2053"/>
              <a:ext cx="1548" cy="397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Court of Appeals</a:t>
              </a:r>
            </a:p>
          </p:txBody>
        </p:sp>
        <p:sp>
          <p:nvSpPr>
            <p:cNvPr id="21520" name="_s3087"/>
            <p:cNvSpPr>
              <a:spLocks noChangeArrowheads="1"/>
            </p:cNvSpPr>
            <p:nvPr/>
          </p:nvSpPr>
          <p:spPr bwMode="auto">
            <a:xfrm>
              <a:off x="288" y="3203"/>
              <a:ext cx="1548" cy="695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Supreme Court,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Appellate Division</a:t>
              </a:r>
            </a:p>
          </p:txBody>
        </p:sp>
        <p:sp>
          <p:nvSpPr>
            <p:cNvPr id="21521" name="_s3088"/>
            <p:cNvSpPr>
              <a:spLocks noChangeArrowheads="1"/>
            </p:cNvSpPr>
            <p:nvPr/>
          </p:nvSpPr>
          <p:spPr bwMode="auto">
            <a:xfrm>
              <a:off x="288" y="4352"/>
              <a:ext cx="1548" cy="385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Supreme Court</a:t>
              </a:r>
            </a:p>
          </p:txBody>
        </p:sp>
        <p:sp>
          <p:nvSpPr>
            <p:cNvPr id="21522" name="_s3089"/>
            <p:cNvSpPr>
              <a:spLocks noChangeArrowheads="1"/>
            </p:cNvSpPr>
            <p:nvPr/>
          </p:nvSpPr>
          <p:spPr bwMode="auto">
            <a:xfrm>
              <a:off x="2095" y="2053"/>
              <a:ext cx="1547" cy="432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Supreme Court</a:t>
              </a:r>
            </a:p>
          </p:txBody>
        </p:sp>
        <p:sp>
          <p:nvSpPr>
            <p:cNvPr id="21523" name="_s3090"/>
            <p:cNvSpPr>
              <a:spLocks noChangeArrowheads="1"/>
            </p:cNvSpPr>
            <p:nvPr/>
          </p:nvSpPr>
          <p:spPr bwMode="auto">
            <a:xfrm>
              <a:off x="2095" y="3204"/>
              <a:ext cx="1547" cy="38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Court of Appeal</a:t>
              </a:r>
            </a:p>
          </p:txBody>
        </p:sp>
        <p:sp>
          <p:nvSpPr>
            <p:cNvPr id="21524" name="_s3091"/>
            <p:cNvSpPr>
              <a:spLocks noChangeArrowheads="1"/>
            </p:cNvSpPr>
            <p:nvPr/>
          </p:nvSpPr>
          <p:spPr bwMode="auto">
            <a:xfrm>
              <a:off x="2095" y="4346"/>
              <a:ext cx="1547" cy="38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Superior Court</a:t>
              </a:r>
            </a:p>
          </p:txBody>
        </p:sp>
        <p:sp>
          <p:nvSpPr>
            <p:cNvPr id="21525" name="_s3092"/>
            <p:cNvSpPr>
              <a:spLocks noChangeArrowheads="1"/>
            </p:cNvSpPr>
            <p:nvPr/>
          </p:nvSpPr>
          <p:spPr bwMode="auto">
            <a:xfrm>
              <a:off x="3919" y="2913"/>
              <a:ext cx="1547" cy="709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Circuit Court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of Appeals</a:t>
              </a:r>
            </a:p>
          </p:txBody>
        </p:sp>
        <p:sp>
          <p:nvSpPr>
            <p:cNvPr id="21526" name="_s3093"/>
            <p:cNvSpPr>
              <a:spLocks noChangeArrowheads="1"/>
            </p:cNvSpPr>
            <p:nvPr/>
          </p:nvSpPr>
          <p:spPr bwMode="auto">
            <a:xfrm>
              <a:off x="3919" y="4276"/>
              <a:ext cx="1547" cy="433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575" b="1" dirty="0">
                  <a:latin typeface="+mn-lt"/>
                  <a:ea typeface="Times New Roman" charset="0"/>
                  <a:cs typeface="Times New Roman" charset="0"/>
                </a:rPr>
                <a:t>District Court</a:t>
              </a:r>
            </a:p>
          </p:txBody>
        </p:sp>
      </p:grpSp>
      <p:sp>
        <p:nvSpPr>
          <p:cNvPr id="21507" name="Rectangle 22"/>
          <p:cNvSpPr>
            <a:spLocks noGrp="1" noChangeArrowheads="1"/>
          </p:cNvSpPr>
          <p:nvPr>
            <p:ph type="body" sz="half" idx="2"/>
          </p:nvPr>
        </p:nvSpPr>
        <p:spPr>
          <a:xfrm>
            <a:off x="3009900" y="4855369"/>
            <a:ext cx="6172200" cy="596504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b="1" dirty="0">
                <a:ea typeface="Times New Roman" charset="0"/>
                <a:cs typeface="Times New Roman" charset="0"/>
              </a:rPr>
              <a:t>New York		       California 	         Federal Courts</a:t>
            </a:r>
          </a:p>
        </p:txBody>
      </p:sp>
      <p:sp>
        <p:nvSpPr>
          <p:cNvPr id="21508" name="Text Box 23"/>
          <p:cNvSpPr txBox="1">
            <a:spLocks noChangeArrowheads="1"/>
          </p:cNvSpPr>
          <p:nvPr/>
        </p:nvSpPr>
        <p:spPr bwMode="auto">
          <a:xfrm>
            <a:off x="4038003" y="2268583"/>
            <a:ext cx="20574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350" b="1" i="1" dirty="0">
                <a:latin typeface="+mn-lt"/>
                <a:ea typeface="Times New Roman" charset="0"/>
                <a:cs typeface="Times New Roman" charset="0"/>
              </a:rPr>
              <a:t>federal issues only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8A131-733F-DF75-2C78-CDCE13C736D5}"/>
              </a:ext>
            </a:extLst>
          </p:cNvPr>
          <p:cNvSpPr txBox="1"/>
          <p:nvPr/>
        </p:nvSpPr>
        <p:spPr>
          <a:xfrm>
            <a:off x="1446835" y="4828170"/>
            <a:ext cx="1701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 Courts:</a:t>
            </a:r>
          </a:p>
        </p:txBody>
      </p:sp>
    </p:spTree>
    <p:extLst>
      <p:ext uri="{BB962C8B-B14F-4D97-AF65-F5344CB8AC3E}">
        <p14:creationId xmlns:p14="http://schemas.microsoft.com/office/powerpoint/2010/main" val="404617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6723-DFF8-D54A-3818-51FFF691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5C09-B383-00E6-B0E5-59B96758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40186"/>
            <a:ext cx="9603275" cy="677040"/>
          </a:xfrm>
        </p:spPr>
        <p:txBody>
          <a:bodyPr/>
          <a:lstStyle/>
          <a:p>
            <a:r>
              <a:rPr lang="en-US" dirty="0"/>
              <a:t>Texas state court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DE4A0-7412-682D-9F56-9896684A2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200" dirty="0">
                <a:hlinkClick r:id="rId2"/>
              </a:rPr>
              <a:t>https://www.txcourts.gov/media/1461638/court-structure-chart-dec-2025.pdf</a:t>
            </a: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483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5210-7EEA-236B-F429-0448C7AC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Course Logistics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D4714-C7CD-CCFA-D460-37B415D8A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898792"/>
            <a:ext cx="8630446" cy="1012929"/>
          </a:xfrm>
        </p:spPr>
        <p:txBody>
          <a:bodyPr>
            <a:normAutofit/>
          </a:bodyPr>
          <a:lstStyle/>
          <a:p>
            <a:r>
              <a:rPr lang="en-US" sz="3200" dirty="0"/>
              <a:t>The syllabus is your guide.</a:t>
            </a:r>
          </a:p>
        </p:txBody>
      </p:sp>
    </p:spTree>
    <p:extLst>
      <p:ext uri="{BB962C8B-B14F-4D97-AF65-F5344CB8AC3E}">
        <p14:creationId xmlns:p14="http://schemas.microsoft.com/office/powerpoint/2010/main" val="3540423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D449-F6E7-2CE7-B969-842B0A4E5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00B7-24C1-0527-415C-ED3E7E8D1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433" y="1981008"/>
            <a:ext cx="9729565" cy="411885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Courts do not have general authority to resolve all disputes. Their powers are constrained by procedural limits.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So the </a:t>
            </a:r>
            <a:r>
              <a:rPr lang="en-US" sz="3200" i="1" dirty="0"/>
              <a:t>procedures</a:t>
            </a:r>
            <a:r>
              <a:rPr lang="en-US" sz="3200" dirty="0"/>
              <a:t> can be just as important as the </a:t>
            </a:r>
            <a:r>
              <a:rPr lang="en-US" sz="3200" i="1" dirty="0"/>
              <a:t>substantive</a:t>
            </a:r>
            <a:r>
              <a:rPr lang="en-US" sz="3200" dirty="0"/>
              <a:t> law in deciding who wins the case.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Good lawyering involves thinking strategically about how to navigate the procedural steps in the case. This class is about those procedural steps.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One limit is a </a:t>
            </a:r>
            <a:r>
              <a:rPr lang="en-US" sz="3200" i="1" dirty="0"/>
              <a:t>statute of limitations</a:t>
            </a:r>
            <a:r>
              <a:rPr lang="en-US" sz="3200" dirty="0"/>
              <a:t>: plaintiffs must sue within a certain amount of time after an injury occurs, though the time may be tolled.</a:t>
            </a:r>
          </a:p>
        </p:txBody>
      </p:sp>
    </p:spTree>
    <p:extLst>
      <p:ext uri="{BB962C8B-B14F-4D97-AF65-F5344CB8AC3E}">
        <p14:creationId xmlns:p14="http://schemas.microsoft.com/office/powerpoint/2010/main" val="287322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1620</TotalTime>
  <Words>881</Words>
  <Application>Microsoft Macintosh PowerPoint</Application>
  <PresentationFormat>Widescreen</PresentationFormat>
  <Paragraphs>103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Candara</vt:lpstr>
      <vt:lpstr>Gill Sans MT</vt:lpstr>
      <vt:lpstr>Times New Roman</vt:lpstr>
      <vt:lpstr>Gallery</vt:lpstr>
      <vt:lpstr>Civil Procedure</vt:lpstr>
      <vt:lpstr>Agenda</vt:lpstr>
      <vt:lpstr>I. Introduction</vt:lpstr>
      <vt:lpstr>I. Introduction</vt:lpstr>
      <vt:lpstr>Teaching team</vt:lpstr>
      <vt:lpstr>II. What is civil procedure?</vt:lpstr>
      <vt:lpstr>Procedure  vs.  substance</vt:lpstr>
      <vt:lpstr>Civil vs. Criminal cases</vt:lpstr>
      <vt:lpstr>Sources of Procedural law</vt:lpstr>
      <vt:lpstr>Procedure in everyday life</vt:lpstr>
      <vt:lpstr>Procedure in everyday life</vt:lpstr>
      <vt:lpstr>Procedure in everyday life</vt:lpstr>
      <vt:lpstr>PowerPoint Presentation</vt:lpstr>
      <vt:lpstr>Some key Procedural Questions</vt:lpstr>
      <vt:lpstr>III. Anonymous Physician v.  Wininger</vt:lpstr>
      <vt:lpstr>Statute of Limitations</vt:lpstr>
      <vt:lpstr>Hypotheticals:</vt:lpstr>
      <vt:lpstr>Key Questions for Every Case</vt:lpstr>
      <vt:lpstr>IV. Overview of the U.S. Court system</vt:lpstr>
      <vt:lpstr>State Courts and federal Courts</vt:lpstr>
      <vt:lpstr>Structure of the Federal Courts</vt:lpstr>
      <vt:lpstr>Federal circuits</vt:lpstr>
      <vt:lpstr>U.S. Judicial system</vt:lpstr>
      <vt:lpstr>Texas state court system</vt:lpstr>
      <vt:lpstr>V. Course Logistics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53</cp:revision>
  <dcterms:created xsi:type="dcterms:W3CDTF">2024-08-16T15:30:55Z</dcterms:created>
  <dcterms:modified xsi:type="dcterms:W3CDTF">2026-08-23T19:33:16Z</dcterms:modified>
</cp:coreProperties>
</file>