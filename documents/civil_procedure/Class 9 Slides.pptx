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385" r:id="rId5"/>
    <p:sldId id="402" r:id="rId6"/>
    <p:sldId id="383" r:id="rId7"/>
    <p:sldId id="386" r:id="rId8"/>
    <p:sldId id="387" r:id="rId9"/>
    <p:sldId id="393" r:id="rId10"/>
    <p:sldId id="398" r:id="rId11"/>
    <p:sldId id="394" r:id="rId12"/>
    <p:sldId id="395" r:id="rId13"/>
    <p:sldId id="396" r:id="rId14"/>
    <p:sldId id="399" r:id="rId15"/>
    <p:sldId id="397" r:id="rId16"/>
    <p:sldId id="388" r:id="rId17"/>
    <p:sldId id="389" r:id="rId18"/>
    <p:sldId id="400" r:id="rId19"/>
    <p:sldId id="401" r:id="rId20"/>
    <p:sldId id="390" r:id="rId21"/>
    <p:sldId id="39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144"/>
    <p:restoredTop sz="94475"/>
  </p:normalViewPr>
  <p:slideViewPr>
    <p:cSldViewPr snapToGrid="0">
      <p:cViewPr varScale="1">
        <p:scale>
          <a:sx n="85" d="100"/>
          <a:sy n="85" d="100"/>
        </p:scale>
        <p:origin x="1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1A86BF-6829-5045-A663-F100E0247FC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98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36C72-0B33-0A48-B3F4-90C09BB8A580}"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79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36C72-0B33-0A48-B3F4-90C09BB8A580}"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0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36C72-0B33-0A48-B3F4-90C09BB8A580}" type="datetimeFigureOut">
              <a:rPr lang="en-US" smtClean="0"/>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A86BF-6829-5045-A663-F100E0247FC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772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36C72-0B33-0A48-B3F4-90C09BB8A580}" type="datetimeFigureOut">
              <a:rPr lang="en-US" smtClean="0"/>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A86BF-6829-5045-A663-F100E0247FC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2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36C72-0B33-0A48-B3F4-90C09BB8A580}" type="datetimeFigureOut">
              <a:rPr lang="en-US" smtClean="0"/>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A86BF-6829-5045-A663-F100E0247FC7}" type="slidenum">
              <a:rPr lang="en-US" smtClean="0"/>
              <a:t>‹#›</a:t>
            </a:fld>
            <a:endParaRPr lang="en-US"/>
          </a:p>
        </p:txBody>
      </p:sp>
    </p:spTree>
    <p:extLst>
      <p:ext uri="{BB962C8B-B14F-4D97-AF65-F5344CB8AC3E}">
        <p14:creationId xmlns:p14="http://schemas.microsoft.com/office/powerpoint/2010/main" val="444876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36C72-0B33-0A48-B3F4-90C09BB8A580}" type="datetimeFigureOut">
              <a:rPr lang="en-US" smtClean="0"/>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DC36C72-0B33-0A48-B3F4-90C09BB8A580}" type="datetimeFigureOut">
              <a:rPr lang="en-US" smtClean="0"/>
              <a:t>9/10/26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36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109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31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DC36C72-0B33-0A48-B3F4-90C09BB8A580}" type="datetimeFigureOut">
              <a:rPr lang="en-US" smtClean="0"/>
              <a:t>9/10/26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1A86BF-6829-5045-A663-F100E0247FC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1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E135C-E1F7-457C-793B-6F84BBEA4FB1}"/>
              </a:ext>
            </a:extLst>
          </p:cNvPr>
          <p:cNvSpPr>
            <a:spLocks noGrp="1"/>
          </p:cNvSpPr>
          <p:nvPr>
            <p:ph type="ctrTitle"/>
          </p:nvPr>
        </p:nvSpPr>
        <p:spPr/>
        <p:txBody>
          <a:bodyPr/>
          <a:lstStyle/>
          <a:p>
            <a:r>
              <a:rPr lang="en-US" dirty="0"/>
              <a:t>Civil Procedure</a:t>
            </a:r>
          </a:p>
        </p:txBody>
      </p:sp>
      <p:sp>
        <p:nvSpPr>
          <p:cNvPr id="3" name="Subtitle 2">
            <a:extLst>
              <a:ext uri="{FF2B5EF4-FFF2-40B4-BE49-F238E27FC236}">
                <a16:creationId xmlns:a16="http://schemas.microsoft.com/office/drawing/2014/main" id="{8F6D2300-46B5-4ED8-98CD-7D18437CEC22}"/>
              </a:ext>
            </a:extLst>
          </p:cNvPr>
          <p:cNvSpPr>
            <a:spLocks noGrp="1"/>
          </p:cNvSpPr>
          <p:nvPr>
            <p:ph type="subTitle" idx="1"/>
          </p:nvPr>
        </p:nvSpPr>
        <p:spPr>
          <a:xfrm>
            <a:off x="2417780" y="3646951"/>
            <a:ext cx="8637072" cy="977621"/>
          </a:xfrm>
        </p:spPr>
        <p:txBody>
          <a:bodyPr>
            <a:normAutofit/>
          </a:bodyPr>
          <a:lstStyle/>
          <a:p>
            <a:r>
              <a:rPr lang="en-US" sz="3600" dirty="0">
                <a:latin typeface="Candara" panose="020E0502030303020204" pitchFamily="34" charset="0"/>
              </a:rPr>
              <a:t>Class 9</a:t>
            </a:r>
          </a:p>
        </p:txBody>
      </p:sp>
    </p:spTree>
    <p:extLst>
      <p:ext uri="{BB962C8B-B14F-4D97-AF65-F5344CB8AC3E}">
        <p14:creationId xmlns:p14="http://schemas.microsoft.com/office/powerpoint/2010/main" val="27447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7AE-F040-67B6-9446-8FC8AA2B77C8}"/>
              </a:ext>
            </a:extLst>
          </p:cNvPr>
          <p:cNvSpPr>
            <a:spLocks noGrp="1"/>
          </p:cNvSpPr>
          <p:nvPr>
            <p:ph type="title"/>
          </p:nvPr>
        </p:nvSpPr>
        <p:spPr>
          <a:xfrm>
            <a:off x="1451579" y="1142847"/>
            <a:ext cx="9603275" cy="631089"/>
          </a:xfrm>
        </p:spPr>
        <p:txBody>
          <a:bodyPr/>
          <a:lstStyle/>
          <a:p>
            <a:r>
              <a:rPr lang="en-US" dirty="0"/>
              <a:t>Agenda</a:t>
            </a:r>
          </a:p>
        </p:txBody>
      </p:sp>
      <p:sp>
        <p:nvSpPr>
          <p:cNvPr id="3" name="Content Placeholder 2">
            <a:extLst>
              <a:ext uri="{FF2B5EF4-FFF2-40B4-BE49-F238E27FC236}">
                <a16:creationId xmlns:a16="http://schemas.microsoft.com/office/drawing/2014/main" id="{6B92D890-1782-3B9A-A9EE-7CCC33ACBBE4}"/>
              </a:ext>
            </a:extLst>
          </p:cNvPr>
          <p:cNvSpPr>
            <a:spLocks noGrp="1"/>
          </p:cNvSpPr>
          <p:nvPr>
            <p:ph idx="1"/>
          </p:nvPr>
        </p:nvSpPr>
        <p:spPr>
          <a:xfrm>
            <a:off x="1451579" y="2015732"/>
            <a:ext cx="9603275" cy="3933655"/>
          </a:xfrm>
        </p:spPr>
        <p:txBody>
          <a:bodyPr>
            <a:normAutofit/>
          </a:bodyPr>
          <a:lstStyle/>
          <a:p>
            <a:pPr marL="514350" indent="-514350">
              <a:buFont typeface="+mj-lt"/>
              <a:buAutoNum type="romanUcPeriod"/>
            </a:pPr>
            <a:r>
              <a:rPr lang="en-US" sz="3200" dirty="0"/>
              <a:t>Recap</a:t>
            </a:r>
          </a:p>
          <a:p>
            <a:pPr marL="514350" indent="-514350">
              <a:buFont typeface="+mj-lt"/>
              <a:buAutoNum type="romanUcPeriod"/>
            </a:pPr>
            <a:r>
              <a:rPr lang="en-US" sz="3200" dirty="0"/>
              <a:t>The Answer</a:t>
            </a:r>
          </a:p>
          <a:p>
            <a:pPr marL="514350" indent="-514350">
              <a:buFont typeface="+mj-lt"/>
              <a:buAutoNum type="romanUcPeriod"/>
            </a:pPr>
            <a:r>
              <a:rPr lang="en-US" sz="3200" dirty="0"/>
              <a:t>Rule 12 Motions</a:t>
            </a:r>
          </a:p>
          <a:p>
            <a:pPr marL="514350" indent="-514350">
              <a:buFont typeface="+mj-lt"/>
              <a:buAutoNum type="romanUcPeriod"/>
            </a:pPr>
            <a:r>
              <a:rPr lang="en-US" sz="3200" dirty="0"/>
              <a:t>Amendment</a:t>
            </a:r>
          </a:p>
          <a:p>
            <a:pPr marL="514350" indent="-514350">
              <a:buFont typeface="+mj-lt"/>
              <a:buAutoNum type="romanUcPeriod"/>
            </a:pPr>
            <a:r>
              <a:rPr lang="en-US" sz="3200" dirty="0"/>
              <a:t>Takeaways</a:t>
            </a:r>
          </a:p>
        </p:txBody>
      </p:sp>
    </p:spTree>
    <p:extLst>
      <p:ext uri="{BB962C8B-B14F-4D97-AF65-F5344CB8AC3E}">
        <p14:creationId xmlns:p14="http://schemas.microsoft.com/office/powerpoint/2010/main" val="16898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dirty="0"/>
              <a:t>I. Recap</a:t>
            </a:r>
          </a:p>
        </p:txBody>
      </p:sp>
    </p:spTree>
    <p:extLst>
      <p:ext uri="{BB962C8B-B14F-4D97-AF65-F5344CB8AC3E}">
        <p14:creationId xmlns:p14="http://schemas.microsoft.com/office/powerpoint/2010/main" val="3053693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Recap</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378007" y="2026242"/>
            <a:ext cx="9931125" cy="4006696"/>
          </a:xfrm>
        </p:spPr>
        <p:txBody>
          <a:bodyPr>
            <a:normAutofit fontScale="92500" lnSpcReduction="10000"/>
          </a:bodyPr>
          <a:lstStyle/>
          <a:p>
            <a:pPr>
              <a:spcAft>
                <a:spcPts val="1200"/>
              </a:spcAft>
            </a:pPr>
            <a:r>
              <a:rPr lang="en-US" sz="3200" dirty="0"/>
              <a:t>Rule 8(d),</a:t>
            </a:r>
          </a:p>
          <a:p>
            <a:pPr>
              <a:spcAft>
                <a:spcPts val="1200"/>
              </a:spcAft>
            </a:pPr>
            <a:r>
              <a:rPr lang="en-US" sz="3200" dirty="0"/>
              <a:t>Can plead claims or defenses in the alternative,</a:t>
            </a:r>
          </a:p>
          <a:p>
            <a:pPr>
              <a:spcAft>
                <a:spcPts val="1200"/>
              </a:spcAft>
            </a:pPr>
            <a:r>
              <a:rPr lang="en-US" sz="3200" dirty="0"/>
              <a:t>The alternatives do not have to be consistent with each other</a:t>
            </a:r>
          </a:p>
          <a:p>
            <a:pPr>
              <a:spcAft>
                <a:spcPts val="1200"/>
              </a:spcAft>
            </a:pPr>
            <a:r>
              <a:rPr lang="en-US" sz="3200" dirty="0"/>
              <a:t>And “the pleading is sufficient if any one of” the alternatives “is sufficient”</a:t>
            </a:r>
          </a:p>
        </p:txBody>
      </p:sp>
    </p:spTree>
    <p:extLst>
      <p:ext uri="{BB962C8B-B14F-4D97-AF65-F5344CB8AC3E}">
        <p14:creationId xmlns:p14="http://schemas.microsoft.com/office/powerpoint/2010/main" val="46804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82409-868F-76DA-0CC3-1CEBFE80B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A5315-1335-31D4-BDAB-64F043ED7A03}"/>
              </a:ext>
            </a:extLst>
          </p:cNvPr>
          <p:cNvSpPr>
            <a:spLocks noGrp="1"/>
          </p:cNvSpPr>
          <p:nvPr>
            <p:ph type="title"/>
          </p:nvPr>
        </p:nvSpPr>
        <p:spPr>
          <a:xfrm>
            <a:off x="1378007" y="1098087"/>
            <a:ext cx="9603275" cy="587136"/>
          </a:xfrm>
        </p:spPr>
        <p:txBody>
          <a:bodyPr/>
          <a:lstStyle/>
          <a:p>
            <a:r>
              <a:rPr lang="en-US" dirty="0" err="1"/>
              <a:t>RecaP</a:t>
            </a:r>
            <a:r>
              <a:rPr lang="en-US" dirty="0"/>
              <a:t>: Rule 11</a:t>
            </a:r>
          </a:p>
        </p:txBody>
      </p:sp>
      <p:sp>
        <p:nvSpPr>
          <p:cNvPr id="3" name="Content Placeholder 2">
            <a:extLst>
              <a:ext uri="{FF2B5EF4-FFF2-40B4-BE49-F238E27FC236}">
                <a16:creationId xmlns:a16="http://schemas.microsoft.com/office/drawing/2014/main" id="{3ECEE6CB-1CCB-85C4-FE03-6070B0CC40E9}"/>
              </a:ext>
            </a:extLst>
          </p:cNvPr>
          <p:cNvSpPr>
            <a:spLocks noGrp="1"/>
          </p:cNvSpPr>
          <p:nvPr>
            <p:ph idx="1"/>
          </p:nvPr>
        </p:nvSpPr>
        <p:spPr>
          <a:xfrm>
            <a:off x="1378007" y="2026242"/>
            <a:ext cx="9931125" cy="4006696"/>
          </a:xfrm>
        </p:spPr>
        <p:txBody>
          <a:bodyPr>
            <a:normAutofit fontScale="92500"/>
          </a:bodyPr>
          <a:lstStyle/>
          <a:p>
            <a:pPr>
              <a:spcAft>
                <a:spcPts val="1200"/>
              </a:spcAft>
            </a:pPr>
            <a:r>
              <a:rPr lang="en-US" sz="3000" dirty="0"/>
              <a:t>Representations to the court must be supported by evidence, or be legally nonfrivolous, “to the best of the person’s knowledge, information, and belief,” based on “an inquiry” that is “reasonable under the circumstances”</a:t>
            </a:r>
          </a:p>
          <a:p>
            <a:pPr>
              <a:spcAft>
                <a:spcPts val="1200"/>
              </a:spcAft>
            </a:pPr>
            <a:r>
              <a:rPr lang="en-US" sz="3000" dirty="0"/>
              <a:t>I.e., no factual misrepresentations, no legal misrepresentations</a:t>
            </a:r>
          </a:p>
          <a:p>
            <a:pPr>
              <a:spcAft>
                <a:spcPts val="1200"/>
              </a:spcAft>
            </a:pPr>
            <a:r>
              <a:rPr lang="en-US" sz="3000" dirty="0"/>
              <a:t>Violations of Rule 11 may </a:t>
            </a:r>
            <a:r>
              <a:rPr lang="en-US" sz="3000" dirty="0">
                <a:sym typeface="Wingdings" pitchFamily="2" charset="2"/>
              </a:rPr>
              <a:t></a:t>
            </a:r>
            <a:r>
              <a:rPr lang="en-US" sz="3000" dirty="0"/>
              <a:t> sanctions, to “deter” the conduct</a:t>
            </a:r>
          </a:p>
        </p:txBody>
      </p:sp>
    </p:spTree>
    <p:extLst>
      <p:ext uri="{BB962C8B-B14F-4D97-AF65-F5344CB8AC3E}">
        <p14:creationId xmlns:p14="http://schemas.microsoft.com/office/powerpoint/2010/main" val="1580687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C7AD-0F59-812E-3580-4E6C249DFF4D}"/>
              </a:ext>
            </a:extLst>
          </p:cNvPr>
          <p:cNvSpPr>
            <a:spLocks noGrp="1"/>
          </p:cNvSpPr>
          <p:nvPr>
            <p:ph type="title"/>
          </p:nvPr>
        </p:nvSpPr>
        <p:spPr>
          <a:xfrm>
            <a:off x="1378007" y="1098087"/>
            <a:ext cx="9603275" cy="587136"/>
          </a:xfrm>
        </p:spPr>
        <p:txBody>
          <a:bodyPr/>
          <a:lstStyle/>
          <a:p>
            <a:r>
              <a:rPr lang="en-US" dirty="0"/>
              <a:t>Heightened Pleading Standards</a:t>
            </a:r>
          </a:p>
        </p:txBody>
      </p:sp>
      <p:sp>
        <p:nvSpPr>
          <p:cNvPr id="3" name="Content Placeholder 2">
            <a:extLst>
              <a:ext uri="{FF2B5EF4-FFF2-40B4-BE49-F238E27FC236}">
                <a16:creationId xmlns:a16="http://schemas.microsoft.com/office/drawing/2014/main" id="{4179013C-7DEE-E18E-92E7-D761EE5E1482}"/>
              </a:ext>
            </a:extLst>
          </p:cNvPr>
          <p:cNvSpPr>
            <a:spLocks noGrp="1"/>
          </p:cNvSpPr>
          <p:nvPr>
            <p:ph idx="1"/>
          </p:nvPr>
        </p:nvSpPr>
        <p:spPr>
          <a:xfrm>
            <a:off x="1451579" y="2015732"/>
            <a:ext cx="9603275" cy="4006696"/>
          </a:xfrm>
        </p:spPr>
        <p:txBody>
          <a:bodyPr>
            <a:normAutofit/>
          </a:bodyPr>
          <a:lstStyle/>
          <a:p>
            <a:r>
              <a:rPr lang="en-US" sz="3200" dirty="0"/>
              <a:t>Some statutes and FRCP Rules have heightened pleading standards for certain types of claims, above the usual “plausibility” standard</a:t>
            </a:r>
          </a:p>
          <a:p>
            <a:r>
              <a:rPr lang="en-US" sz="3200" dirty="0"/>
              <a:t>E.g., Rule 9(b) requires “particularity” when alleging “fraud or mistake,” but it allows “malice, intent, [or] knowledge” to be “alleged generally”</a:t>
            </a:r>
          </a:p>
        </p:txBody>
      </p:sp>
    </p:spTree>
    <p:extLst>
      <p:ext uri="{BB962C8B-B14F-4D97-AF65-F5344CB8AC3E}">
        <p14:creationId xmlns:p14="http://schemas.microsoft.com/office/powerpoint/2010/main" val="340695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F2A2F-DCF9-0A64-BDBA-876F601B58B4}"/>
              </a:ext>
            </a:extLst>
          </p:cNvPr>
          <p:cNvSpPr>
            <a:spLocks noGrp="1"/>
          </p:cNvSpPr>
          <p:nvPr>
            <p:ph type="title"/>
          </p:nvPr>
        </p:nvSpPr>
        <p:spPr/>
        <p:txBody>
          <a:bodyPr/>
          <a:lstStyle/>
          <a:p>
            <a:r>
              <a:rPr lang="en-US" dirty="0"/>
              <a:t>II. The Answer</a:t>
            </a:r>
          </a:p>
        </p:txBody>
      </p:sp>
    </p:spTree>
    <p:extLst>
      <p:ext uri="{BB962C8B-B14F-4D97-AF65-F5344CB8AC3E}">
        <p14:creationId xmlns:p14="http://schemas.microsoft.com/office/powerpoint/2010/main" val="93262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8643B-5CB4-8D5F-4AC8-063B1FC4A5AD}"/>
              </a:ext>
            </a:extLst>
          </p:cNvPr>
          <p:cNvSpPr>
            <a:spLocks noGrp="1"/>
          </p:cNvSpPr>
          <p:nvPr>
            <p:ph type="title"/>
          </p:nvPr>
        </p:nvSpPr>
        <p:spPr>
          <a:xfrm>
            <a:off x="1451579" y="1033119"/>
            <a:ext cx="9603275" cy="740817"/>
          </a:xfrm>
        </p:spPr>
        <p:txBody>
          <a:bodyPr/>
          <a:lstStyle/>
          <a:p>
            <a:r>
              <a:rPr lang="en-US" dirty="0"/>
              <a:t>Rule 8(b)</a:t>
            </a:r>
          </a:p>
        </p:txBody>
      </p:sp>
      <p:sp>
        <p:nvSpPr>
          <p:cNvPr id="3" name="Content Placeholder 2">
            <a:extLst>
              <a:ext uri="{FF2B5EF4-FFF2-40B4-BE49-F238E27FC236}">
                <a16:creationId xmlns:a16="http://schemas.microsoft.com/office/drawing/2014/main" id="{7EF38E0E-7B64-79FF-7F36-523F6AAC3A41}"/>
              </a:ext>
            </a:extLst>
          </p:cNvPr>
          <p:cNvSpPr>
            <a:spLocks noGrp="1"/>
          </p:cNvSpPr>
          <p:nvPr>
            <p:ph idx="1"/>
          </p:nvPr>
        </p:nvSpPr>
        <p:spPr>
          <a:xfrm>
            <a:off x="1451579" y="2015732"/>
            <a:ext cx="9603275" cy="3912102"/>
          </a:xfrm>
        </p:spPr>
        <p:txBody>
          <a:bodyPr>
            <a:noAutofit/>
          </a:bodyPr>
          <a:lstStyle/>
          <a:p>
            <a:r>
              <a:rPr lang="en-US" sz="2600" dirty="0"/>
              <a:t>In a responsive pleading, must “admit or deny the allegations”</a:t>
            </a:r>
          </a:p>
          <a:p>
            <a:r>
              <a:rPr lang="en-US" sz="2600" dirty="0"/>
              <a:t>Can “deny only part of an allegation” and “admit the part that is true”</a:t>
            </a:r>
          </a:p>
          <a:p>
            <a:r>
              <a:rPr lang="en-US" sz="2600" dirty="0"/>
              <a:t>A party can plead that it “lacks knowledge or information sufficient to form a belief,” which “has the effect of a denial”</a:t>
            </a:r>
          </a:p>
          <a:p>
            <a:r>
              <a:rPr lang="en-US" sz="2600" dirty="0"/>
              <a:t>8(c), Must state any affirmative defenses in the responsive pleading</a:t>
            </a:r>
          </a:p>
        </p:txBody>
      </p:sp>
    </p:spTree>
    <p:extLst>
      <p:ext uri="{BB962C8B-B14F-4D97-AF65-F5344CB8AC3E}">
        <p14:creationId xmlns:p14="http://schemas.microsoft.com/office/powerpoint/2010/main" val="153020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D3F1A-FF43-86E9-25A0-3694A1E2E3D1}"/>
              </a:ext>
            </a:extLst>
          </p:cNvPr>
          <p:cNvSpPr>
            <a:spLocks noGrp="1"/>
          </p:cNvSpPr>
          <p:nvPr>
            <p:ph type="title"/>
          </p:nvPr>
        </p:nvSpPr>
        <p:spPr>
          <a:xfrm>
            <a:off x="1442435" y="1005687"/>
            <a:ext cx="9603275" cy="640233"/>
          </a:xfrm>
        </p:spPr>
        <p:txBody>
          <a:bodyPr/>
          <a:lstStyle/>
          <a:p>
            <a:r>
              <a:rPr lang="en-US" dirty="0"/>
              <a:t>Hypo: The </a:t>
            </a:r>
            <a:r>
              <a:rPr lang="en-US" i="1" dirty="0"/>
              <a:t>B.L.</a:t>
            </a:r>
            <a:r>
              <a:rPr lang="en-US" dirty="0"/>
              <a:t> Answer</a:t>
            </a:r>
          </a:p>
        </p:txBody>
      </p:sp>
      <p:sp>
        <p:nvSpPr>
          <p:cNvPr id="3" name="Content Placeholder 2">
            <a:extLst>
              <a:ext uri="{FF2B5EF4-FFF2-40B4-BE49-F238E27FC236}">
                <a16:creationId xmlns:a16="http://schemas.microsoft.com/office/drawing/2014/main" id="{D69D53B9-88A1-2D97-8768-CB9EEE41C867}"/>
              </a:ext>
            </a:extLst>
          </p:cNvPr>
          <p:cNvSpPr>
            <a:spLocks noGrp="1"/>
          </p:cNvSpPr>
          <p:nvPr>
            <p:ph idx="1"/>
          </p:nvPr>
        </p:nvSpPr>
        <p:spPr>
          <a:xfrm>
            <a:off x="1442435" y="1944078"/>
            <a:ext cx="9603275" cy="4213654"/>
          </a:xfrm>
        </p:spPr>
        <p:txBody>
          <a:bodyPr>
            <a:noAutofit/>
          </a:bodyPr>
          <a:lstStyle/>
          <a:p>
            <a:pPr marL="0" indent="0">
              <a:spcBef>
                <a:spcPts val="0"/>
              </a:spcBef>
              <a:spcAft>
                <a:spcPts val="600"/>
              </a:spcAft>
              <a:buNone/>
            </a:pPr>
            <a:r>
              <a:rPr lang="en-US" sz="2200" dirty="0"/>
              <a:t>36. </a:t>
            </a:r>
            <a:r>
              <a:rPr lang="en-US" sz="2200" dirty="0">
                <a:effectLst/>
              </a:rPr>
              <a:t>Admitted.</a:t>
            </a:r>
            <a:endParaRPr lang="en-US" sz="2200" dirty="0"/>
          </a:p>
          <a:p>
            <a:pPr marL="0" indent="0">
              <a:spcBef>
                <a:spcPts val="0"/>
              </a:spcBef>
              <a:spcAft>
                <a:spcPts val="600"/>
              </a:spcAft>
              <a:buNone/>
            </a:pPr>
            <a:r>
              <a:rPr lang="en-US" sz="2200" dirty="0"/>
              <a:t>37. Admitted.</a:t>
            </a:r>
          </a:p>
          <a:p>
            <a:pPr marL="0" indent="0">
              <a:spcBef>
                <a:spcPts val="0"/>
              </a:spcBef>
              <a:spcAft>
                <a:spcPts val="600"/>
              </a:spcAft>
              <a:buNone/>
            </a:pPr>
            <a:r>
              <a:rPr lang="en-US" sz="2200" dirty="0"/>
              <a:t>39. </a:t>
            </a:r>
            <a:r>
              <a:rPr lang="en-US" sz="2200" dirty="0">
                <a:effectLst/>
              </a:rPr>
              <a:t>Denied. The averments of this paragraph constitute conclusions of</a:t>
            </a:r>
            <a:r>
              <a:rPr lang="en-US" sz="2200" dirty="0"/>
              <a:t> </a:t>
            </a:r>
            <a:r>
              <a:rPr lang="en-US" sz="2200" dirty="0">
                <a:effectLst/>
              </a:rPr>
              <a:t>law or argument to which no response is required. To the extent that the averments</a:t>
            </a:r>
            <a:r>
              <a:rPr lang="en-US" sz="2200" dirty="0"/>
              <a:t> </a:t>
            </a:r>
            <a:r>
              <a:rPr lang="en-US" sz="2200" dirty="0">
                <a:effectLst/>
              </a:rPr>
              <a:t>are deemed factual, they are denied.</a:t>
            </a:r>
            <a:endParaRPr lang="en-US" sz="2200" dirty="0"/>
          </a:p>
          <a:p>
            <a:pPr marL="0" indent="0">
              <a:spcBef>
                <a:spcPts val="0"/>
              </a:spcBef>
              <a:spcAft>
                <a:spcPts val="600"/>
              </a:spcAft>
              <a:buNone/>
            </a:pPr>
            <a:r>
              <a:rPr lang="en-US" sz="2200" dirty="0"/>
              <a:t>40. Denied.</a:t>
            </a:r>
            <a:r>
              <a:rPr lang="en-US" sz="2200" dirty="0">
                <a:effectLst/>
              </a:rPr>
              <a:t> The District lacks sufficient information to formulate a belief</a:t>
            </a:r>
            <a:r>
              <a:rPr lang="en-US" sz="2200" dirty="0"/>
              <a:t> </a:t>
            </a:r>
            <a:r>
              <a:rPr lang="en-US" sz="2200" dirty="0">
                <a:effectLst/>
              </a:rPr>
              <a:t>as to the truth of the averments of this paragraph. Accordingly, they are denied. By way of further explanation, at this time the District is not aware of any other</a:t>
            </a:r>
            <a:r>
              <a:rPr lang="en-US" sz="2200" dirty="0"/>
              <a:t> </a:t>
            </a:r>
            <a:r>
              <a:rPr lang="en-US" sz="2200" dirty="0">
                <a:effectLst/>
              </a:rPr>
              <a:t>violations of the Cheerleading Rules by B.L.</a:t>
            </a:r>
          </a:p>
        </p:txBody>
      </p:sp>
    </p:spTree>
    <p:extLst>
      <p:ext uri="{BB962C8B-B14F-4D97-AF65-F5344CB8AC3E}">
        <p14:creationId xmlns:p14="http://schemas.microsoft.com/office/powerpoint/2010/main" val="95849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AA311-C0F4-D3EE-B359-0FC8DF961787}"/>
              </a:ext>
            </a:extLst>
          </p:cNvPr>
          <p:cNvSpPr>
            <a:spLocks noGrp="1"/>
          </p:cNvSpPr>
          <p:nvPr>
            <p:ph type="title"/>
          </p:nvPr>
        </p:nvSpPr>
        <p:spPr/>
        <p:txBody>
          <a:bodyPr/>
          <a:lstStyle/>
          <a:p>
            <a:r>
              <a:rPr lang="en-US" dirty="0"/>
              <a:t>Rule 12</a:t>
            </a:r>
          </a:p>
        </p:txBody>
      </p:sp>
    </p:spTree>
    <p:extLst>
      <p:ext uri="{BB962C8B-B14F-4D97-AF65-F5344CB8AC3E}">
        <p14:creationId xmlns:p14="http://schemas.microsoft.com/office/powerpoint/2010/main" val="1984096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4E68-A80B-B857-536E-D9D4179E22E5}"/>
              </a:ext>
            </a:extLst>
          </p:cNvPr>
          <p:cNvSpPr>
            <a:spLocks noGrp="1"/>
          </p:cNvSpPr>
          <p:nvPr>
            <p:ph type="title"/>
          </p:nvPr>
        </p:nvSpPr>
        <p:spPr>
          <a:xfrm>
            <a:off x="1451579" y="1065776"/>
            <a:ext cx="9603275" cy="623065"/>
          </a:xfrm>
        </p:spPr>
        <p:txBody>
          <a:bodyPr/>
          <a:lstStyle/>
          <a:p>
            <a:r>
              <a:rPr lang="en-US" dirty="0"/>
              <a:t>Rule 12(a)</a:t>
            </a:r>
          </a:p>
        </p:txBody>
      </p:sp>
      <p:sp>
        <p:nvSpPr>
          <p:cNvPr id="3" name="Content Placeholder 2">
            <a:extLst>
              <a:ext uri="{FF2B5EF4-FFF2-40B4-BE49-F238E27FC236}">
                <a16:creationId xmlns:a16="http://schemas.microsoft.com/office/drawing/2014/main" id="{7A8762C9-98CA-4B3E-25EC-90A11C880F9B}"/>
              </a:ext>
            </a:extLst>
          </p:cNvPr>
          <p:cNvSpPr>
            <a:spLocks noGrp="1"/>
          </p:cNvSpPr>
          <p:nvPr>
            <p:ph idx="1"/>
          </p:nvPr>
        </p:nvSpPr>
        <p:spPr>
          <a:xfrm>
            <a:off x="1451579" y="2015731"/>
            <a:ext cx="9603275" cy="4037749"/>
          </a:xfrm>
        </p:spPr>
        <p:txBody>
          <a:bodyPr>
            <a:normAutofit fontScale="92500" lnSpcReduction="10000"/>
          </a:bodyPr>
          <a:lstStyle/>
          <a:p>
            <a:r>
              <a:rPr lang="en-US" sz="2800" dirty="0"/>
              <a:t>12(a)(1), “defendant must serve an Answer within 21 days after being served” with the Summons and Complaint (unless they get extra time, 60 days, because they waived service)</a:t>
            </a:r>
          </a:p>
          <a:p>
            <a:r>
              <a:rPr lang="en-US" sz="2800" dirty="0"/>
              <a:t>But defendant may also file a Rule 12 motion</a:t>
            </a:r>
          </a:p>
          <a:p>
            <a:r>
              <a:rPr lang="en-US" sz="2800" dirty="0"/>
              <a:t>If so, defendant has 14 days to file the Answer </a:t>
            </a:r>
            <a:r>
              <a:rPr lang="en-US" sz="2800" u="sng" dirty="0"/>
              <a:t>after</a:t>
            </a:r>
            <a:r>
              <a:rPr lang="en-US" sz="2800" dirty="0"/>
              <a:t> the Rule 12 motion is denied or postponed</a:t>
            </a:r>
          </a:p>
          <a:p>
            <a:r>
              <a:rPr lang="en-US" sz="2800" dirty="0"/>
              <a:t>I.e., after the Complaint, the Defendant can </a:t>
            </a:r>
            <a:r>
              <a:rPr lang="en-US" sz="2800" b="1" dirty="0"/>
              <a:t>either</a:t>
            </a:r>
            <a:r>
              <a:rPr lang="en-US" sz="2800" dirty="0"/>
              <a:t> file an Answer </a:t>
            </a:r>
            <a:r>
              <a:rPr lang="en-US" sz="2800" b="1" u="sng" dirty="0"/>
              <a:t>OR</a:t>
            </a:r>
            <a:r>
              <a:rPr lang="en-US" sz="2800" dirty="0"/>
              <a:t> can file a pre-Answer motion under Rule 12</a:t>
            </a:r>
          </a:p>
        </p:txBody>
      </p:sp>
    </p:spTree>
    <p:extLst>
      <p:ext uri="{BB962C8B-B14F-4D97-AF65-F5344CB8AC3E}">
        <p14:creationId xmlns:p14="http://schemas.microsoft.com/office/powerpoint/2010/main" val="232535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4E68-A80B-B857-536E-D9D4179E22E5}"/>
              </a:ext>
            </a:extLst>
          </p:cNvPr>
          <p:cNvSpPr>
            <a:spLocks noGrp="1"/>
          </p:cNvSpPr>
          <p:nvPr>
            <p:ph type="title"/>
          </p:nvPr>
        </p:nvSpPr>
        <p:spPr>
          <a:xfrm>
            <a:off x="1451579" y="1037785"/>
            <a:ext cx="9603275" cy="679048"/>
          </a:xfrm>
        </p:spPr>
        <p:txBody>
          <a:bodyPr/>
          <a:lstStyle/>
          <a:p>
            <a:r>
              <a:rPr lang="en-US" dirty="0"/>
              <a:t>Rule 12(B)</a:t>
            </a:r>
          </a:p>
        </p:txBody>
      </p:sp>
      <p:sp>
        <p:nvSpPr>
          <p:cNvPr id="3" name="Content Placeholder 2">
            <a:extLst>
              <a:ext uri="{FF2B5EF4-FFF2-40B4-BE49-F238E27FC236}">
                <a16:creationId xmlns:a16="http://schemas.microsoft.com/office/drawing/2014/main" id="{7A8762C9-98CA-4B3E-25EC-90A11C880F9B}"/>
              </a:ext>
            </a:extLst>
          </p:cNvPr>
          <p:cNvSpPr>
            <a:spLocks noGrp="1"/>
          </p:cNvSpPr>
          <p:nvPr>
            <p:ph idx="1"/>
          </p:nvPr>
        </p:nvSpPr>
        <p:spPr>
          <a:xfrm>
            <a:off x="1451579" y="2015731"/>
            <a:ext cx="9603275" cy="4037749"/>
          </a:xfrm>
        </p:spPr>
        <p:txBody>
          <a:bodyPr>
            <a:normAutofit/>
          </a:bodyPr>
          <a:lstStyle/>
          <a:p>
            <a:r>
              <a:rPr lang="en-US" sz="2800" b="1" u="sng" dirty="0"/>
              <a:t>“Every defense . . . must be asserted”</a:t>
            </a:r>
            <a:r>
              <a:rPr lang="en-US" sz="2800" dirty="0"/>
              <a:t> in the Answer,</a:t>
            </a:r>
          </a:p>
          <a:p>
            <a:r>
              <a:rPr lang="en-US" sz="2800" dirty="0"/>
              <a:t>But 12(b) provides 7 defenses that can also be asserted in a </a:t>
            </a:r>
            <a:r>
              <a:rPr lang="en-US" sz="2800" b="1" u="sng" dirty="0"/>
              <a:t>pre-Answer motion</a:t>
            </a:r>
          </a:p>
          <a:p>
            <a:r>
              <a:rPr lang="en-US" sz="2800" dirty="0"/>
              <a:t>I.e., if defendant makes a 12(b) motion, it has to be </a:t>
            </a:r>
            <a:r>
              <a:rPr lang="en-US" sz="2800" u="sng" dirty="0"/>
              <a:t>before</a:t>
            </a:r>
            <a:r>
              <a:rPr lang="en-US" sz="2800" dirty="0"/>
              <a:t> the pleading</a:t>
            </a:r>
          </a:p>
          <a:p>
            <a:r>
              <a:rPr lang="en-US" sz="2800" dirty="0"/>
              <a:t>12(c) also allows a motion for “judgment on the pleadings,” once all pleadings have been filed</a:t>
            </a:r>
          </a:p>
        </p:txBody>
      </p:sp>
    </p:spTree>
    <p:extLst>
      <p:ext uri="{BB962C8B-B14F-4D97-AF65-F5344CB8AC3E}">
        <p14:creationId xmlns:p14="http://schemas.microsoft.com/office/powerpoint/2010/main" val="118108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4E68-A80B-B857-536E-D9D4179E22E5}"/>
              </a:ext>
            </a:extLst>
          </p:cNvPr>
          <p:cNvSpPr>
            <a:spLocks noGrp="1"/>
          </p:cNvSpPr>
          <p:nvPr>
            <p:ph type="title"/>
          </p:nvPr>
        </p:nvSpPr>
        <p:spPr>
          <a:xfrm>
            <a:off x="1451579" y="1093769"/>
            <a:ext cx="9603275" cy="679048"/>
          </a:xfrm>
        </p:spPr>
        <p:txBody>
          <a:bodyPr/>
          <a:lstStyle/>
          <a:p>
            <a:r>
              <a:rPr lang="en-US" dirty="0"/>
              <a:t>Rule 12—waiver trap</a:t>
            </a:r>
          </a:p>
        </p:txBody>
      </p:sp>
      <p:sp>
        <p:nvSpPr>
          <p:cNvPr id="3" name="Content Placeholder 2">
            <a:extLst>
              <a:ext uri="{FF2B5EF4-FFF2-40B4-BE49-F238E27FC236}">
                <a16:creationId xmlns:a16="http://schemas.microsoft.com/office/drawing/2014/main" id="{7A8762C9-98CA-4B3E-25EC-90A11C880F9B}"/>
              </a:ext>
            </a:extLst>
          </p:cNvPr>
          <p:cNvSpPr>
            <a:spLocks noGrp="1"/>
          </p:cNvSpPr>
          <p:nvPr>
            <p:ph idx="1"/>
          </p:nvPr>
        </p:nvSpPr>
        <p:spPr>
          <a:xfrm>
            <a:off x="1451579" y="2015731"/>
            <a:ext cx="9603275" cy="4037749"/>
          </a:xfrm>
        </p:spPr>
        <p:txBody>
          <a:bodyPr>
            <a:normAutofit fontScale="92500"/>
          </a:bodyPr>
          <a:lstStyle/>
          <a:p>
            <a:r>
              <a:rPr lang="en-US" sz="2800" dirty="0"/>
              <a:t>12(h), if defendant does not raise a 12(b)(2)-(5) defense in a Motion or in the Answer, that defense is </a:t>
            </a:r>
            <a:r>
              <a:rPr lang="en-US" sz="2800" i="1" dirty="0"/>
              <a:t>waived</a:t>
            </a:r>
            <a:r>
              <a:rPr lang="en-US" sz="2800" dirty="0"/>
              <a:t>—can’t raise it later</a:t>
            </a:r>
            <a:endParaRPr lang="en-US" sz="2800" i="1" dirty="0"/>
          </a:p>
          <a:p>
            <a:r>
              <a:rPr lang="en-US" sz="2800" dirty="0"/>
              <a:t>But a 12(b)(1) jurisdiction defense can be raised “at any time”</a:t>
            </a:r>
          </a:p>
          <a:p>
            <a:r>
              <a:rPr lang="en-US" sz="2800" dirty="0"/>
              <a:t>And a 12(b)(6) defense for failure to state a claim can be raised in any pleading, a 12(c) motion, or at trial</a:t>
            </a:r>
          </a:p>
          <a:p>
            <a:r>
              <a:rPr lang="en-US" sz="2800" dirty="0"/>
              <a:t>Takeaway: Plan carefully which defenses you want to raise, because if you don’t raise them at certain times, you miss your chance!</a:t>
            </a:r>
          </a:p>
        </p:txBody>
      </p:sp>
    </p:spTree>
    <p:extLst>
      <p:ext uri="{BB962C8B-B14F-4D97-AF65-F5344CB8AC3E}">
        <p14:creationId xmlns:p14="http://schemas.microsoft.com/office/powerpoint/2010/main" val="424451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64E68-A80B-B857-536E-D9D4179E22E5}"/>
              </a:ext>
            </a:extLst>
          </p:cNvPr>
          <p:cNvSpPr>
            <a:spLocks noGrp="1"/>
          </p:cNvSpPr>
          <p:nvPr>
            <p:ph type="title"/>
          </p:nvPr>
        </p:nvSpPr>
        <p:spPr>
          <a:xfrm>
            <a:off x="1451579" y="1142847"/>
            <a:ext cx="9603275" cy="631089"/>
          </a:xfrm>
        </p:spPr>
        <p:txBody>
          <a:bodyPr/>
          <a:lstStyle/>
          <a:p>
            <a:r>
              <a:rPr lang="en-US" dirty="0"/>
              <a:t>Rule 12(g)</a:t>
            </a:r>
          </a:p>
        </p:txBody>
      </p:sp>
      <p:sp>
        <p:nvSpPr>
          <p:cNvPr id="3" name="Content Placeholder 2">
            <a:extLst>
              <a:ext uri="{FF2B5EF4-FFF2-40B4-BE49-F238E27FC236}">
                <a16:creationId xmlns:a16="http://schemas.microsoft.com/office/drawing/2014/main" id="{7A8762C9-98CA-4B3E-25EC-90A11C880F9B}"/>
              </a:ext>
            </a:extLst>
          </p:cNvPr>
          <p:cNvSpPr>
            <a:spLocks noGrp="1"/>
          </p:cNvSpPr>
          <p:nvPr>
            <p:ph idx="1"/>
          </p:nvPr>
        </p:nvSpPr>
        <p:spPr>
          <a:xfrm>
            <a:off x="1451579" y="2015731"/>
            <a:ext cx="9603275" cy="4037749"/>
          </a:xfrm>
        </p:spPr>
        <p:txBody>
          <a:bodyPr>
            <a:normAutofit/>
          </a:bodyPr>
          <a:lstStyle/>
          <a:p>
            <a:r>
              <a:rPr lang="en-US" sz="2800" dirty="0"/>
              <a:t>12(g), a party must include its 12(b) defenses in the </a:t>
            </a:r>
            <a:r>
              <a:rPr lang="en-US" sz="2800" u="sng" dirty="0"/>
              <a:t>same motion</a:t>
            </a:r>
            <a:r>
              <a:rPr lang="en-US" sz="2800" dirty="0"/>
              <a:t>, if those defenses were “available” when the motion was filed</a:t>
            </a:r>
          </a:p>
          <a:p>
            <a:r>
              <a:rPr lang="en-US" sz="2800" dirty="0"/>
              <a:t>Except for 12(b)(1) and 12(b)(6) defenses, which can also be made later</a:t>
            </a:r>
          </a:p>
          <a:p>
            <a:r>
              <a:rPr lang="en-US" sz="2800" dirty="0"/>
              <a:t>Again: plan carefully which defenses you want to raise in a Rule 12 motion!</a:t>
            </a:r>
          </a:p>
        </p:txBody>
      </p:sp>
    </p:spTree>
    <p:extLst>
      <p:ext uri="{BB962C8B-B14F-4D97-AF65-F5344CB8AC3E}">
        <p14:creationId xmlns:p14="http://schemas.microsoft.com/office/powerpoint/2010/main" val="334715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64A64-3982-1536-20F8-B99B677FAE1A}"/>
              </a:ext>
            </a:extLst>
          </p:cNvPr>
          <p:cNvSpPr>
            <a:spLocks noGrp="1"/>
          </p:cNvSpPr>
          <p:nvPr>
            <p:ph type="title"/>
          </p:nvPr>
        </p:nvSpPr>
        <p:spPr/>
        <p:txBody>
          <a:bodyPr/>
          <a:lstStyle/>
          <a:p>
            <a:r>
              <a:rPr lang="en-US" dirty="0"/>
              <a:t>Does “plausibility” apply to responsive pleadings?</a:t>
            </a:r>
          </a:p>
        </p:txBody>
      </p:sp>
      <p:sp>
        <p:nvSpPr>
          <p:cNvPr id="3" name="Content Placeholder 2">
            <a:extLst>
              <a:ext uri="{FF2B5EF4-FFF2-40B4-BE49-F238E27FC236}">
                <a16:creationId xmlns:a16="http://schemas.microsoft.com/office/drawing/2014/main" id="{14FE766C-E354-4095-35A4-2BD6B10ABFD5}"/>
              </a:ext>
            </a:extLst>
          </p:cNvPr>
          <p:cNvSpPr>
            <a:spLocks noGrp="1"/>
          </p:cNvSpPr>
          <p:nvPr>
            <p:ph idx="1"/>
          </p:nvPr>
        </p:nvSpPr>
        <p:spPr/>
        <p:txBody>
          <a:bodyPr>
            <a:normAutofit/>
          </a:bodyPr>
          <a:lstStyle/>
          <a:p>
            <a:r>
              <a:rPr lang="en-US" sz="2800" dirty="0"/>
              <a:t>Lower courts are currently divided over whether an affirmative defense, pleaded in the Answer, has to meet the “plausibility” standard</a:t>
            </a:r>
          </a:p>
        </p:txBody>
      </p:sp>
    </p:spTree>
    <p:extLst>
      <p:ext uri="{BB962C8B-B14F-4D97-AF65-F5344CB8AC3E}">
        <p14:creationId xmlns:p14="http://schemas.microsoft.com/office/powerpoint/2010/main" val="378662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9A33B-572B-DAC2-5A40-0A47FFB51C23}"/>
              </a:ext>
            </a:extLst>
          </p:cNvPr>
          <p:cNvSpPr>
            <a:spLocks noGrp="1"/>
          </p:cNvSpPr>
          <p:nvPr>
            <p:ph type="title"/>
          </p:nvPr>
        </p:nvSpPr>
        <p:spPr/>
        <p:txBody>
          <a:bodyPr/>
          <a:lstStyle/>
          <a:p>
            <a:r>
              <a:rPr lang="en-US" dirty="0"/>
              <a:t>III. Amendment</a:t>
            </a:r>
          </a:p>
        </p:txBody>
      </p:sp>
    </p:spTree>
    <p:extLst>
      <p:ext uri="{BB962C8B-B14F-4D97-AF65-F5344CB8AC3E}">
        <p14:creationId xmlns:p14="http://schemas.microsoft.com/office/powerpoint/2010/main" val="2351062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A17BD-E3A6-A347-7BE1-CF83E72C74BE}"/>
              </a:ext>
            </a:extLst>
          </p:cNvPr>
          <p:cNvSpPr>
            <a:spLocks noGrp="1"/>
          </p:cNvSpPr>
          <p:nvPr>
            <p:ph type="title"/>
          </p:nvPr>
        </p:nvSpPr>
        <p:spPr>
          <a:xfrm>
            <a:off x="1451579" y="1098087"/>
            <a:ext cx="9603275" cy="587136"/>
          </a:xfrm>
        </p:spPr>
        <p:txBody>
          <a:bodyPr/>
          <a:lstStyle/>
          <a:p>
            <a:r>
              <a:rPr lang="en-US" dirty="0"/>
              <a:t>Rule 15</a:t>
            </a:r>
          </a:p>
        </p:txBody>
      </p:sp>
      <p:sp>
        <p:nvSpPr>
          <p:cNvPr id="3" name="Content Placeholder 2">
            <a:extLst>
              <a:ext uri="{FF2B5EF4-FFF2-40B4-BE49-F238E27FC236}">
                <a16:creationId xmlns:a16="http://schemas.microsoft.com/office/drawing/2014/main" id="{5E3A55EE-57F7-6ACB-6139-C82958BD5AAF}"/>
              </a:ext>
            </a:extLst>
          </p:cNvPr>
          <p:cNvSpPr>
            <a:spLocks noGrp="1"/>
          </p:cNvSpPr>
          <p:nvPr>
            <p:ph idx="1"/>
          </p:nvPr>
        </p:nvSpPr>
        <p:spPr/>
        <p:txBody>
          <a:bodyPr>
            <a:normAutofit/>
          </a:bodyPr>
          <a:lstStyle/>
          <a:p>
            <a:r>
              <a:rPr lang="en-US" sz="2800" dirty="0"/>
              <a:t>15(a)(1), can amend “as a matter of course” within 21 days of serving the pleading, or within 21 days of the other party’s response</a:t>
            </a:r>
          </a:p>
          <a:p>
            <a:r>
              <a:rPr lang="en-US" sz="2800" dirty="0"/>
              <a:t>15(a)(2), otherwise, can amend with other party’s consent, or the court’s “leave,” and the “court should freely give leave when justice so requires”</a:t>
            </a:r>
          </a:p>
        </p:txBody>
      </p:sp>
    </p:spTree>
    <p:extLst>
      <p:ext uri="{BB962C8B-B14F-4D97-AF65-F5344CB8AC3E}">
        <p14:creationId xmlns:p14="http://schemas.microsoft.com/office/powerpoint/2010/main" val="226302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E6A03-AF7F-B57B-81ED-6B424BEC79A6}"/>
              </a:ext>
            </a:extLst>
          </p:cNvPr>
          <p:cNvSpPr>
            <a:spLocks noGrp="1"/>
          </p:cNvSpPr>
          <p:nvPr>
            <p:ph type="title"/>
          </p:nvPr>
        </p:nvSpPr>
        <p:spPr>
          <a:xfrm>
            <a:off x="1451579" y="1062394"/>
            <a:ext cx="9603275" cy="658521"/>
          </a:xfrm>
        </p:spPr>
        <p:txBody>
          <a:bodyPr/>
          <a:lstStyle/>
          <a:p>
            <a:r>
              <a:rPr lang="en-US" dirty="0"/>
              <a:t>Amendment</a:t>
            </a:r>
          </a:p>
        </p:txBody>
      </p:sp>
      <p:sp>
        <p:nvSpPr>
          <p:cNvPr id="3" name="Content Placeholder 2">
            <a:extLst>
              <a:ext uri="{FF2B5EF4-FFF2-40B4-BE49-F238E27FC236}">
                <a16:creationId xmlns:a16="http://schemas.microsoft.com/office/drawing/2014/main" id="{3DF1F801-B700-34C2-8DA1-63CED29ECCDA}"/>
              </a:ext>
            </a:extLst>
          </p:cNvPr>
          <p:cNvSpPr>
            <a:spLocks noGrp="1"/>
          </p:cNvSpPr>
          <p:nvPr>
            <p:ph idx="1"/>
          </p:nvPr>
        </p:nvSpPr>
        <p:spPr/>
        <p:txBody>
          <a:bodyPr>
            <a:normAutofit/>
          </a:bodyPr>
          <a:lstStyle/>
          <a:p>
            <a:pPr marL="0" indent="0">
              <a:buNone/>
            </a:pPr>
            <a:r>
              <a:rPr lang="en-US" sz="2400" i="1" u="sng" dirty="0"/>
              <a:t>Global Technology</a:t>
            </a:r>
            <a:r>
              <a:rPr lang="en-US" sz="2400" u="sng" dirty="0"/>
              <a:t>:</a:t>
            </a:r>
            <a:endParaRPr lang="en-US" sz="2400" i="1" u="sng" dirty="0"/>
          </a:p>
          <a:p>
            <a:r>
              <a:rPr lang="en-US" sz="2400" dirty="0"/>
              <a:t>Rule 8(c) requires stating affirmative defenses in the pleadings,</a:t>
            </a:r>
          </a:p>
          <a:p>
            <a:r>
              <a:rPr lang="en-US" sz="2400" dirty="0"/>
              <a:t>But the court can give leave to amend the pleading under 15(a)(2) to add an otherwise untimely affirmative defense,</a:t>
            </a:r>
          </a:p>
          <a:p>
            <a:r>
              <a:rPr lang="en-US" sz="2400" dirty="0"/>
              <a:t>As long as the other party is not prejudiced</a:t>
            </a:r>
          </a:p>
        </p:txBody>
      </p:sp>
    </p:spTree>
    <p:extLst>
      <p:ext uri="{BB962C8B-B14F-4D97-AF65-F5344CB8AC3E}">
        <p14:creationId xmlns:p14="http://schemas.microsoft.com/office/powerpoint/2010/main" val="72094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E6A03-AF7F-B57B-81ED-6B424BEC79A6}"/>
              </a:ext>
            </a:extLst>
          </p:cNvPr>
          <p:cNvSpPr>
            <a:spLocks noGrp="1"/>
          </p:cNvSpPr>
          <p:nvPr>
            <p:ph type="title"/>
          </p:nvPr>
        </p:nvSpPr>
        <p:spPr>
          <a:xfrm>
            <a:off x="1451579" y="1078839"/>
            <a:ext cx="9603275" cy="640233"/>
          </a:xfrm>
        </p:spPr>
        <p:txBody>
          <a:bodyPr/>
          <a:lstStyle/>
          <a:p>
            <a:r>
              <a:rPr lang="en-US" dirty="0"/>
              <a:t>Amendment</a:t>
            </a:r>
          </a:p>
        </p:txBody>
      </p:sp>
      <p:sp>
        <p:nvSpPr>
          <p:cNvPr id="3" name="Content Placeholder 2">
            <a:extLst>
              <a:ext uri="{FF2B5EF4-FFF2-40B4-BE49-F238E27FC236}">
                <a16:creationId xmlns:a16="http://schemas.microsoft.com/office/drawing/2014/main" id="{3DF1F801-B700-34C2-8DA1-63CED29ECCDA}"/>
              </a:ext>
            </a:extLst>
          </p:cNvPr>
          <p:cNvSpPr>
            <a:spLocks noGrp="1"/>
          </p:cNvSpPr>
          <p:nvPr>
            <p:ph idx="1"/>
          </p:nvPr>
        </p:nvSpPr>
        <p:spPr>
          <a:xfrm>
            <a:off x="1451579" y="2015732"/>
            <a:ext cx="9603275" cy="3954144"/>
          </a:xfrm>
        </p:spPr>
        <p:txBody>
          <a:bodyPr>
            <a:normAutofit/>
          </a:bodyPr>
          <a:lstStyle/>
          <a:p>
            <a:pPr marL="0" indent="0">
              <a:buNone/>
            </a:pPr>
            <a:r>
              <a:rPr lang="en-US" sz="2400" i="1" u="sng" dirty="0" err="1"/>
              <a:t>Aquaslide</a:t>
            </a:r>
            <a:endParaRPr lang="en-US" sz="2400" dirty="0"/>
          </a:p>
          <a:p>
            <a:r>
              <a:rPr lang="en-US" sz="2400" dirty="0"/>
              <a:t>Leave to amend under Rule 15 should be “freely given” unless there is, among other things, “bad faith” or “undue prejudice”</a:t>
            </a:r>
          </a:p>
          <a:p>
            <a:r>
              <a:rPr lang="en-US" sz="2400" dirty="0"/>
              <a:t>The party opposing amendment must show prejudice</a:t>
            </a:r>
          </a:p>
          <a:p>
            <a:r>
              <a:rPr lang="en-US" sz="2400" dirty="0"/>
              <a:t>The trial court has “discretion” over leave to amend, and the appeals court only overturns that decision if the trial court “abuses” its discretion</a:t>
            </a:r>
          </a:p>
        </p:txBody>
      </p:sp>
    </p:spTree>
    <p:extLst>
      <p:ext uri="{BB962C8B-B14F-4D97-AF65-F5344CB8AC3E}">
        <p14:creationId xmlns:p14="http://schemas.microsoft.com/office/powerpoint/2010/main" val="235476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BA9C-357C-AC14-85DB-7FEB95926857}"/>
              </a:ext>
            </a:extLst>
          </p:cNvPr>
          <p:cNvSpPr>
            <a:spLocks noGrp="1"/>
          </p:cNvSpPr>
          <p:nvPr>
            <p:ph type="title"/>
          </p:nvPr>
        </p:nvSpPr>
        <p:spPr/>
        <p:txBody>
          <a:bodyPr/>
          <a:lstStyle/>
          <a:p>
            <a:r>
              <a:rPr lang="en-US" dirty="0"/>
              <a:t>IV. Takeaways</a:t>
            </a:r>
          </a:p>
        </p:txBody>
      </p:sp>
    </p:spTree>
    <p:extLst>
      <p:ext uri="{BB962C8B-B14F-4D97-AF65-F5344CB8AC3E}">
        <p14:creationId xmlns:p14="http://schemas.microsoft.com/office/powerpoint/2010/main" val="27787327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2DAC-CD48-7364-2587-8D58CB3CCDDA}"/>
              </a:ext>
            </a:extLst>
          </p:cNvPr>
          <p:cNvSpPr>
            <a:spLocks noGrp="1"/>
          </p:cNvSpPr>
          <p:nvPr>
            <p:ph type="title"/>
          </p:nvPr>
        </p:nvSpPr>
        <p:spPr>
          <a:xfrm>
            <a:off x="1451579" y="1106271"/>
            <a:ext cx="9603275" cy="640233"/>
          </a:xfrm>
        </p:spPr>
        <p:txBody>
          <a:bodyPr/>
          <a:lstStyle/>
          <a:p>
            <a:r>
              <a:rPr lang="en-US" dirty="0"/>
              <a:t>Takeaways</a:t>
            </a:r>
          </a:p>
        </p:txBody>
      </p:sp>
      <p:sp>
        <p:nvSpPr>
          <p:cNvPr id="3" name="Content Placeholder 2">
            <a:extLst>
              <a:ext uri="{FF2B5EF4-FFF2-40B4-BE49-F238E27FC236}">
                <a16:creationId xmlns:a16="http://schemas.microsoft.com/office/drawing/2014/main" id="{4D1495AC-C683-7B09-F86D-2BCD5DE10B8C}"/>
              </a:ext>
            </a:extLst>
          </p:cNvPr>
          <p:cNvSpPr>
            <a:spLocks noGrp="1"/>
          </p:cNvSpPr>
          <p:nvPr>
            <p:ph idx="1"/>
          </p:nvPr>
        </p:nvSpPr>
        <p:spPr>
          <a:xfrm>
            <a:off x="1451579" y="2015732"/>
            <a:ext cx="9868462" cy="4037749"/>
          </a:xfrm>
        </p:spPr>
        <p:txBody>
          <a:bodyPr>
            <a:normAutofit fontScale="92500" lnSpcReduction="20000"/>
          </a:bodyPr>
          <a:lstStyle/>
          <a:p>
            <a:r>
              <a:rPr lang="en-US" sz="2400" dirty="0"/>
              <a:t>8(b), in the Answer, party must “admit or deny the allegations,” or deny because the party “lacks knowledge or information sufficient to form a belief”</a:t>
            </a:r>
          </a:p>
          <a:p>
            <a:r>
              <a:rPr lang="en-US" sz="2400" dirty="0"/>
              <a:t>Rule 12: with narrow exceptions, party must assert “every defense to a claim” in “the responsive pleading,” such as an Answer</a:t>
            </a:r>
          </a:p>
          <a:p>
            <a:r>
              <a:rPr lang="en-US" sz="2400" dirty="0"/>
              <a:t>12(b), certain defenses, like “failure to state a claim,” can also be raised in a </a:t>
            </a:r>
            <a:r>
              <a:rPr lang="en-US" sz="2400" u="sng" dirty="0"/>
              <a:t>motion to dismiss</a:t>
            </a:r>
            <a:r>
              <a:rPr lang="en-US" sz="2400" dirty="0"/>
              <a:t> </a:t>
            </a:r>
            <a:r>
              <a:rPr lang="en-US" sz="2400" i="1" dirty="0"/>
              <a:t>before</a:t>
            </a:r>
            <a:r>
              <a:rPr lang="en-US" sz="2400" dirty="0"/>
              <a:t> filing the Answer/responsive pleading</a:t>
            </a:r>
          </a:p>
          <a:p>
            <a:r>
              <a:rPr lang="en-US" sz="2400" dirty="0"/>
              <a:t>For most defenses, if not raised in either responsive pleading or Rule 12 motion, that defense may be lost—so plan ahead!</a:t>
            </a:r>
          </a:p>
          <a:p>
            <a:r>
              <a:rPr lang="en-US" sz="2400" dirty="0"/>
              <a:t>Rule 15 allows amendment to a pleading “as a matter of course” within 21 days; after that, the court “should freely give leave” to amend “when justice so requires”</a:t>
            </a:r>
          </a:p>
        </p:txBody>
      </p:sp>
    </p:spTree>
    <p:extLst>
      <p:ext uri="{BB962C8B-B14F-4D97-AF65-F5344CB8AC3E}">
        <p14:creationId xmlns:p14="http://schemas.microsoft.com/office/powerpoint/2010/main" val="4094978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3832</TotalTime>
  <Words>1132</Words>
  <Application>Microsoft Macintosh PowerPoint</Application>
  <PresentationFormat>Widescreen</PresentationFormat>
  <Paragraphs>75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Candara</vt:lpstr>
      <vt:lpstr>Gill Sans MT</vt:lpstr>
      <vt:lpstr>Wingdings</vt:lpstr>
      <vt:lpstr>Gallery</vt:lpstr>
      <vt:lpstr>Civil Procedure</vt:lpstr>
      <vt:lpstr>Agenda</vt:lpstr>
      <vt:lpstr>I. Recap</vt:lpstr>
      <vt:lpstr>Recap</vt:lpstr>
      <vt:lpstr>RecaP: Rule 11</vt:lpstr>
      <vt:lpstr>Heightened Pleading Standards</vt:lpstr>
      <vt:lpstr>II. The Answer</vt:lpstr>
      <vt:lpstr>Rule 8(b)</vt:lpstr>
      <vt:lpstr>Hypo: The B.L. Answer</vt:lpstr>
      <vt:lpstr>Rule 12</vt:lpstr>
      <vt:lpstr>Rule 12(a)</vt:lpstr>
      <vt:lpstr>Rule 12(B)</vt:lpstr>
      <vt:lpstr>Rule 12—waiver trap</vt:lpstr>
      <vt:lpstr>Rule 12(g)</vt:lpstr>
      <vt:lpstr>Does “plausibility” apply to responsive pleadings?</vt:lpstr>
      <vt:lpstr>III. Amendment</vt:lpstr>
      <vt:lpstr>Rule 15</vt:lpstr>
      <vt:lpstr>Amendment</vt:lpstr>
      <vt:lpstr>Amendment</vt:lpstr>
      <vt:lpstr>IV. Takeaways</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Lanham</dc:creator>
  <cp:lastModifiedBy>Lanham, Andrew J</cp:lastModifiedBy>
  <cp:revision>234</cp:revision>
  <dcterms:created xsi:type="dcterms:W3CDTF">2024-08-16T15:30:55Z</dcterms:created>
  <dcterms:modified xsi:type="dcterms:W3CDTF">2026-09-10T16:50:46Z</dcterms:modified>
</cp:coreProperties>
</file>