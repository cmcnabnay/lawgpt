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483" r:id="rId5"/>
    <p:sldId id="494" r:id="rId6"/>
    <p:sldId id="484" r:id="rId7"/>
    <p:sldId id="492" r:id="rId8"/>
    <p:sldId id="497" r:id="rId9"/>
    <p:sldId id="491" r:id="rId10"/>
    <p:sldId id="496" r:id="rId11"/>
    <p:sldId id="500" r:id="rId12"/>
    <p:sldId id="510" r:id="rId13"/>
    <p:sldId id="511" r:id="rId14"/>
    <p:sldId id="498" r:id="rId15"/>
    <p:sldId id="49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/>
    <p:restoredTop sz="94607"/>
  </p:normalViewPr>
  <p:slideViewPr>
    <p:cSldViewPr snapToGrid="0">
      <p:cViewPr varScale="1">
        <p:scale>
          <a:sx n="88" d="100"/>
          <a:sy n="88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>
                <a:latin typeface="Candara" panose="020E0502030303020204" pitchFamily="34" charset="0"/>
              </a:rPr>
              <a:t>Class 17</a:t>
            </a:r>
            <a:endParaRPr lang="en-US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 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Collateral Order Doctrine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RecaP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C5F-262F-78C2-9BB3-0B953D82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Takeaways—JMOL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261A-AAE9-4C8E-108E-EB1CAF10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05000" cy="4017206"/>
          </a:xfrm>
        </p:spPr>
        <p:txBody>
          <a:bodyPr>
            <a:normAutofit/>
          </a:bodyPr>
          <a:lstStyle/>
          <a:p>
            <a:r>
              <a:rPr lang="en-US" sz="2800" dirty="0"/>
              <a:t>Once a party has been fully heard, the other party can move for JMOL, if no reasonable jury could find for nonmoving party, 50(a)</a:t>
            </a:r>
          </a:p>
          <a:p>
            <a:r>
              <a:rPr lang="en-US" sz="2800" dirty="0"/>
              <a:t>If court denies motion and sends case to the jury, party can </a:t>
            </a:r>
            <a:r>
              <a:rPr lang="en-US" sz="2800" u="sng" dirty="0"/>
              <a:t>renew</a:t>
            </a:r>
            <a:r>
              <a:rPr lang="en-US" sz="2800" dirty="0"/>
              <a:t> the motion for JMOL after the jury verdict, 50(b)</a:t>
            </a:r>
          </a:p>
          <a:p>
            <a:r>
              <a:rPr lang="en-US" sz="2800" dirty="0"/>
              <a:t>Can </a:t>
            </a:r>
            <a:r>
              <a:rPr lang="en-US" sz="2800" u="sng" dirty="0"/>
              <a:t>also</a:t>
            </a:r>
            <a:r>
              <a:rPr lang="en-US" sz="2800" dirty="0"/>
              <a:t> ask for a new trial, 50(b) and 59</a:t>
            </a:r>
          </a:p>
          <a:p>
            <a:r>
              <a:rPr lang="en-US" sz="2800" dirty="0"/>
              <a:t>If court grants JMOL, must conditionally rule on motion for new trial, 50(c)</a:t>
            </a:r>
          </a:p>
        </p:txBody>
      </p:sp>
    </p:spTree>
    <p:extLst>
      <p:ext uri="{BB962C8B-B14F-4D97-AF65-F5344CB8AC3E}">
        <p14:creationId xmlns:p14="http://schemas.microsoft.com/office/powerpoint/2010/main" val="32258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6195-455A-6AFA-B589-70C3F4B37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Takeaways—New trial &amp; harmless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30D50-A545-ECC6-6C05-7ED787B8B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4654"/>
          </a:xfrm>
        </p:spPr>
        <p:txBody>
          <a:bodyPr>
            <a:normAutofit/>
          </a:bodyPr>
          <a:lstStyle/>
          <a:p>
            <a:r>
              <a:rPr lang="en-US" sz="2800" dirty="0"/>
              <a:t>Court may grant new trial for any reason recognized in law or equity, Rule 59 (e.g., the verdict was against the weight of the evidence)</a:t>
            </a:r>
          </a:p>
          <a:p>
            <a:r>
              <a:rPr lang="en-US" sz="2800" dirty="0"/>
              <a:t>Court can do so on its own motion or a party’s motion</a:t>
            </a:r>
          </a:p>
          <a:p>
            <a:r>
              <a:rPr lang="en-US" sz="2800" dirty="0"/>
              <a:t>But any error “that does not affect any party’s substantial rights” must be “disregard[ed],” Rule 61—i.e., harmless error</a:t>
            </a:r>
          </a:p>
        </p:txBody>
      </p:sp>
    </p:spTree>
    <p:extLst>
      <p:ext uri="{BB962C8B-B14F-4D97-AF65-F5344CB8AC3E}">
        <p14:creationId xmlns:p14="http://schemas.microsoft.com/office/powerpoint/2010/main" val="318834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C5F-262F-78C2-9BB3-0B953D82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Takeaways—Finality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261A-AAE9-4C8E-108E-EB1CAF10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122309"/>
          </a:xfrm>
        </p:spPr>
        <p:txBody>
          <a:bodyPr>
            <a:normAutofit/>
          </a:bodyPr>
          <a:lstStyle/>
          <a:p>
            <a:r>
              <a:rPr lang="en-US" sz="2800" dirty="0"/>
              <a:t>§ 1291 gives appeals court jurisdiction over “all final decisions”</a:t>
            </a:r>
          </a:p>
          <a:p>
            <a:r>
              <a:rPr lang="en-US" sz="2800" dirty="0"/>
              <a:t>In multi-claim or multi-party cases, trial court may enter final judgment for fewer than all claims or parties, 54(b)</a:t>
            </a:r>
          </a:p>
          <a:p>
            <a:r>
              <a:rPr lang="en-US" sz="2800" dirty="0"/>
              <a:t>§ 1292(a), appeals court has jurisdiction over interlocutory orders regarding </a:t>
            </a:r>
            <a:r>
              <a:rPr lang="en-US" sz="2800" u="sng" dirty="0"/>
              <a:t>injunctions</a:t>
            </a:r>
          </a:p>
          <a:p>
            <a:r>
              <a:rPr lang="en-US" sz="2800" dirty="0"/>
              <a:t>§ 1292(b), district court can certify controlling questions of law for interlocutory appeal; court of appeals has discretion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774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0F9B-A323-2D5A-7523-426CE83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8594-88E8-3661-E834-662886CA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697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Under Rule 54(b):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If there are multiple claims or multiple parties, the District Court </a:t>
            </a:r>
            <a:r>
              <a:rPr lang="en-US" sz="2800" u="sng" dirty="0"/>
              <a:t>may</a:t>
            </a:r>
            <a:r>
              <a:rPr lang="en-US" sz="2800" dirty="0"/>
              <a:t> enter final judgment for less than all of them, if it expressly determines that “there is no just reason for delay”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Otherwise, they all wait for entry of final judgment that resolves all the claims for all parties</a:t>
            </a:r>
          </a:p>
        </p:txBody>
      </p:sp>
    </p:spTree>
    <p:extLst>
      <p:ext uri="{BB962C8B-B14F-4D97-AF65-F5344CB8AC3E}">
        <p14:creationId xmlns:p14="http://schemas.microsoft.com/office/powerpoint/2010/main" val="91010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Collateral Order Doctrine</a:t>
            </a:r>
          </a:p>
        </p:txBody>
      </p:sp>
    </p:spTree>
    <p:extLst>
      <p:ext uri="{BB962C8B-B14F-4D97-AF65-F5344CB8AC3E}">
        <p14:creationId xmlns:p14="http://schemas.microsoft.com/office/powerpoint/2010/main" val="190979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0F9B-A323-2D5A-7523-426CE83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8594-88E8-3661-E834-662886CA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697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§ 1291, the federal courts of appeals have jurisdiction over appeals from “all final decisions” by the district courts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“A ‘final decision’ generally is one which ends the litigation on the merits and leaves nothing for the court to do but execute the judgment” (Supreme Court in </a:t>
            </a:r>
            <a:r>
              <a:rPr lang="en-US" sz="2800" i="1" dirty="0"/>
              <a:t>Catlin</a:t>
            </a:r>
            <a:r>
              <a:rPr lang="en-US" sz="2800" dirty="0"/>
              <a:t>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The </a:t>
            </a:r>
            <a:r>
              <a:rPr lang="en-US" sz="2800" u="sng" dirty="0"/>
              <a:t>collateral order doctrine</a:t>
            </a:r>
            <a:r>
              <a:rPr lang="en-US" sz="2800" dirty="0"/>
              <a:t> expands what counts as “final”</a:t>
            </a:r>
          </a:p>
        </p:txBody>
      </p:sp>
    </p:spTree>
    <p:extLst>
      <p:ext uri="{BB962C8B-B14F-4D97-AF65-F5344CB8AC3E}">
        <p14:creationId xmlns:p14="http://schemas.microsoft.com/office/powerpoint/2010/main" val="334188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61CE-C11E-C177-B7D9-CAD7C45D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/>
          <a:lstStyle/>
          <a:p>
            <a:r>
              <a:rPr lang="en-US" dirty="0"/>
              <a:t>Collateral Order doctrine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89F9-4565-9F5E-B4FB-0A30BF01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26253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200"/>
              </a:spcAft>
            </a:pPr>
            <a:r>
              <a:rPr lang="en-US" sz="4000" dirty="0"/>
              <a:t>Per </a:t>
            </a:r>
            <a:r>
              <a:rPr lang="en-US" sz="4000" i="1" dirty="0"/>
              <a:t>Cohen</a:t>
            </a:r>
            <a:r>
              <a:rPr lang="en-US" sz="4000" dirty="0"/>
              <a:t> and </a:t>
            </a:r>
            <a:r>
              <a:rPr lang="en-US" sz="4000" i="1" dirty="0"/>
              <a:t>Mohawk Industries</a:t>
            </a:r>
            <a:r>
              <a:rPr lang="en-US" sz="4000" dirty="0"/>
              <a:t>,</a:t>
            </a:r>
          </a:p>
          <a:p>
            <a:pPr>
              <a:spcAft>
                <a:spcPts val="1200"/>
              </a:spcAft>
            </a:pPr>
            <a:r>
              <a:rPr lang="en-US" sz="4000" dirty="0"/>
              <a:t>Orders are a “final decision” under § 1291 if:</a:t>
            </a:r>
          </a:p>
          <a:p>
            <a:pPr>
              <a:spcAft>
                <a:spcPts val="1200"/>
              </a:spcAft>
            </a:pPr>
            <a:r>
              <a:rPr lang="en-US" sz="4000" dirty="0"/>
              <a:t>“decisions [1] that are conclusive, [2] that resolve important questions separate from the merits, and [3] that are effectively unreviewable on appeal from the final judgment”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295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61CE-C11E-C177-B7D9-CAD7C45D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/>
          <a:lstStyle/>
          <a:p>
            <a:r>
              <a:rPr lang="en-US" dirty="0"/>
              <a:t>Collateral Order doctrine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89F9-4565-9F5E-B4FB-0A30BF01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2625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Look to “the entire category to which a claim belongs” (</a:t>
            </a:r>
            <a:r>
              <a:rPr lang="en-US" sz="2800" i="1" dirty="0"/>
              <a:t>Mohawk</a:t>
            </a:r>
            <a:r>
              <a:rPr lang="en-US" sz="2800" dirty="0"/>
              <a:t>)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I.e., don’t ask whether this specific order is appealable as a collateral order—ask whether this </a:t>
            </a:r>
            <a:r>
              <a:rPr lang="en-US" sz="2800" u="sng" dirty="0"/>
              <a:t>type</a:t>
            </a:r>
            <a:r>
              <a:rPr lang="en-US" sz="2800" dirty="0"/>
              <a:t> of order is appealable</a:t>
            </a:r>
          </a:p>
        </p:txBody>
      </p:sp>
    </p:spTree>
    <p:extLst>
      <p:ext uri="{BB962C8B-B14F-4D97-AF65-F5344CB8AC3E}">
        <p14:creationId xmlns:p14="http://schemas.microsoft.com/office/powerpoint/2010/main" val="386765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9650-ADD9-EA24-1874-2714FD7F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Collateral Order Hypo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4A63F-EC07-9CC6-A22A-F49798356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/>
              <a:t>Mohawk Industries</a:t>
            </a:r>
            <a:r>
              <a:rPr lang="en-US" sz="2800" dirty="0"/>
              <a:t> involved a trial court order to disclose material allegedly protected by attorney-client privilege</a:t>
            </a:r>
          </a:p>
          <a:p>
            <a:r>
              <a:rPr lang="en-US" sz="2800" dirty="0"/>
              <a:t>The Supreme Court did not decide how the first and second prongs of the test apply</a:t>
            </a:r>
          </a:p>
          <a:p>
            <a:r>
              <a:rPr lang="en-US" sz="2800" dirty="0"/>
              <a:t>How should they apply?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38564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9B840-64DB-1C6B-C92B-10A7EFAE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22D3-7E96-3DA6-63A1-D00C2A99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Collateral Order Hypo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F1456-EE5F-4FF6-89AB-7803AC048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77158"/>
          </a:xfrm>
        </p:spPr>
        <p:txBody>
          <a:bodyPr>
            <a:noAutofit/>
          </a:bodyPr>
          <a:lstStyle/>
          <a:p>
            <a:r>
              <a:rPr lang="en-US" sz="2200" dirty="0"/>
              <a:t>In </a:t>
            </a:r>
            <a:r>
              <a:rPr lang="en-US" sz="2200" i="1" dirty="0"/>
              <a:t>Mohawk Industries</a:t>
            </a:r>
            <a:r>
              <a:rPr lang="en-US" sz="2200" dirty="0"/>
              <a:t>, the Supreme Court says that an order disqualifying counsel wouldn’t pass the collateral order test</a:t>
            </a:r>
          </a:p>
          <a:p>
            <a:r>
              <a:rPr lang="en-US" sz="2200" dirty="0"/>
              <a:t>How should the test apply?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200" dirty="0"/>
              <a:t>Seems conclusive—counsel is removed from case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200" dirty="0"/>
              <a:t>Seems important (counsel matters!); </a:t>
            </a:r>
            <a:r>
              <a:rPr lang="en-US" sz="2200" u="sng" dirty="0"/>
              <a:t>potentially</a:t>
            </a:r>
            <a:r>
              <a:rPr lang="en-US" sz="2200" dirty="0"/>
              <a:t> separate from merits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200" dirty="0"/>
              <a:t>Often the question is whether disqualification of counsel affected the remainder of the case, so best reviewed after case is done; and if the disqualification was wrong, can order new trial with reinstated lawyer</a:t>
            </a:r>
          </a:p>
        </p:txBody>
      </p:sp>
    </p:spTree>
    <p:extLst>
      <p:ext uri="{BB962C8B-B14F-4D97-AF65-F5344CB8AC3E}">
        <p14:creationId xmlns:p14="http://schemas.microsoft.com/office/powerpoint/2010/main" val="84335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Takeaways</a:t>
            </a:r>
          </a:p>
        </p:txBody>
      </p:sp>
    </p:spTree>
    <p:extLst>
      <p:ext uri="{BB962C8B-B14F-4D97-AF65-F5344CB8AC3E}">
        <p14:creationId xmlns:p14="http://schemas.microsoft.com/office/powerpoint/2010/main" val="4066830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61CE-C11E-C177-B7D9-CAD7C45D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72"/>
            <a:ext cx="9603275" cy="711765"/>
          </a:xfrm>
        </p:spPr>
        <p:txBody>
          <a:bodyPr>
            <a:normAutofit/>
          </a:bodyPr>
          <a:lstStyle/>
          <a:p>
            <a:r>
              <a:rPr lang="en-US" dirty="0"/>
              <a:t>Takeaways—Collateral Order doctrine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E89F9-4565-9F5E-B4FB-0A30BF01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43054"/>
            <a:ext cx="9903776" cy="3806496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200"/>
              </a:spcAft>
            </a:pPr>
            <a:r>
              <a:rPr lang="en-US" sz="4000" dirty="0"/>
              <a:t>An order is a “final decision” for appeal under § 1291 if it’s:</a:t>
            </a:r>
          </a:p>
          <a:p>
            <a:pPr marL="742950" indent="-742950">
              <a:spcAft>
                <a:spcPts val="1200"/>
              </a:spcAft>
              <a:buFont typeface="+mj-lt"/>
              <a:buAutoNum type="arabicParenR"/>
            </a:pPr>
            <a:r>
              <a:rPr lang="en-US" sz="4000" dirty="0"/>
              <a:t>Conclusive</a:t>
            </a:r>
          </a:p>
          <a:p>
            <a:pPr marL="742950" indent="-742950">
              <a:spcAft>
                <a:spcPts val="1200"/>
              </a:spcAft>
              <a:buFont typeface="+mj-lt"/>
              <a:buAutoNum type="arabicParenR"/>
            </a:pPr>
            <a:r>
              <a:rPr lang="en-US" sz="4000" dirty="0"/>
              <a:t>Important question separate from the merits</a:t>
            </a:r>
          </a:p>
          <a:p>
            <a:pPr marL="742950" indent="-742950">
              <a:spcAft>
                <a:spcPts val="1200"/>
              </a:spcAft>
              <a:buFont typeface="+mj-lt"/>
              <a:buAutoNum type="arabicParenR"/>
            </a:pPr>
            <a:r>
              <a:rPr lang="en-US" sz="4000" dirty="0"/>
              <a:t>Effectively unreviewable on appeal from final judgment</a:t>
            </a:r>
          </a:p>
          <a:p>
            <a:pPr marL="0" indent="0">
              <a:buNone/>
            </a:pPr>
            <a:r>
              <a:rPr lang="en-US" sz="4000" dirty="0"/>
              <a:t>(</a:t>
            </a:r>
            <a:r>
              <a:rPr lang="en-US" sz="4000" i="1" dirty="0"/>
              <a:t>Cohen</a:t>
            </a:r>
            <a:r>
              <a:rPr lang="en-US" sz="4000" dirty="0"/>
              <a:t>; </a:t>
            </a:r>
            <a:r>
              <a:rPr lang="en-US" sz="4000" i="1" dirty="0"/>
              <a:t>Mohawk Industries</a:t>
            </a:r>
            <a:r>
              <a:rPr lang="en-US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557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8145</TotalTime>
  <Words>661</Words>
  <Application>Microsoft Macintosh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Candara</vt:lpstr>
      <vt:lpstr>Gill Sans MT</vt:lpstr>
      <vt:lpstr>Gallery</vt:lpstr>
      <vt:lpstr>Civil Procedure</vt:lpstr>
      <vt:lpstr>Agenda</vt:lpstr>
      <vt:lpstr>I. RecaP</vt:lpstr>
      <vt:lpstr>Takeaways—JMOL</vt:lpstr>
      <vt:lpstr>Takeaways—New trial &amp; harmless error</vt:lpstr>
      <vt:lpstr>Takeaways—Finality</vt:lpstr>
      <vt:lpstr>Finality</vt:lpstr>
      <vt:lpstr>II. Collateral Order Doctrine</vt:lpstr>
      <vt:lpstr>Finality</vt:lpstr>
      <vt:lpstr>Collateral Order doctrine</vt:lpstr>
      <vt:lpstr>Collateral Order doctrine</vt:lpstr>
      <vt:lpstr>Collateral Order Hypo</vt:lpstr>
      <vt:lpstr>Collateral Order Hypo</vt:lpstr>
      <vt:lpstr>III. Takeaways</vt:lpstr>
      <vt:lpstr>Takeaways—Collateral Order doctrine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Lanham, Andrew J</cp:lastModifiedBy>
  <cp:revision>374</cp:revision>
  <dcterms:created xsi:type="dcterms:W3CDTF">2024-08-16T15:30:55Z</dcterms:created>
  <dcterms:modified xsi:type="dcterms:W3CDTF">2026-09-30T19:41:36Z</dcterms:modified>
</cp:coreProperties>
</file>