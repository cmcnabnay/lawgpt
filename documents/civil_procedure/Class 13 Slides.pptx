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459" r:id="rId5"/>
    <p:sldId id="429" r:id="rId6"/>
    <p:sldId id="417" r:id="rId7"/>
    <p:sldId id="449" r:id="rId8"/>
    <p:sldId id="462" r:id="rId9"/>
    <p:sldId id="450" r:id="rId10"/>
    <p:sldId id="458" r:id="rId11"/>
    <p:sldId id="453" r:id="rId12"/>
    <p:sldId id="454" r:id="rId13"/>
    <p:sldId id="460" r:id="rId14"/>
    <p:sldId id="455" r:id="rId15"/>
    <p:sldId id="456" r:id="rId16"/>
    <p:sldId id="457" r:id="rId17"/>
    <p:sldId id="451" r:id="rId18"/>
    <p:sldId id="452" r:id="rId19"/>
    <p:sldId id="440" r:id="rId20"/>
    <p:sldId id="44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13"/>
    <p:restoredTop sz="94461"/>
  </p:normalViewPr>
  <p:slideViewPr>
    <p:cSldViewPr snapToGrid="0">
      <p:cViewPr varScale="1">
        <p:scale>
          <a:sx n="105" d="100"/>
          <a:sy n="105" d="100"/>
        </p:scale>
        <p:origin x="19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9/23/26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9/23/26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9/23/26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dirty="0">
                <a:latin typeface="Candara" panose="020E0502030303020204" pitchFamily="34" charset="0"/>
              </a:rPr>
              <a:t>Class 13</a:t>
            </a: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a:xfrm>
            <a:off x="1516894" y="1149752"/>
            <a:ext cx="9603275" cy="529759"/>
          </a:xfrm>
        </p:spPr>
        <p:txBody>
          <a:bodyPr>
            <a:normAutofit fontScale="90000"/>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a:bodyPr>
          <a:lstStyle/>
          <a:p>
            <a:pPr marL="514350" indent="-514350">
              <a:buFont typeface="+mj-lt"/>
              <a:buAutoNum type="romanUcPeriod"/>
            </a:pPr>
            <a:r>
              <a:rPr lang="en-US" sz="3200" dirty="0"/>
              <a:t>Recap</a:t>
            </a:r>
          </a:p>
          <a:p>
            <a:pPr marL="514350" indent="-514350">
              <a:buFont typeface="+mj-lt"/>
              <a:buAutoNum type="romanUcPeriod"/>
            </a:pPr>
            <a:r>
              <a:rPr lang="en-US" sz="3200" dirty="0"/>
              <a:t>Summary Judgment</a:t>
            </a:r>
          </a:p>
          <a:p>
            <a:pPr marL="514350" indent="-514350">
              <a:buFont typeface="+mj-lt"/>
              <a:buAutoNum type="romanUcPeriod"/>
            </a:pPr>
            <a:r>
              <a:rPr lang="en-US" sz="3200" dirty="0"/>
              <a:t>Takeaways</a:t>
            </a:r>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A3F3E-CA3A-AC57-CDE3-5C9C7E4E0709}"/>
              </a:ext>
            </a:extLst>
          </p:cNvPr>
          <p:cNvSpPr>
            <a:spLocks noGrp="1"/>
          </p:cNvSpPr>
          <p:nvPr>
            <p:ph type="title"/>
          </p:nvPr>
        </p:nvSpPr>
        <p:spPr>
          <a:xfrm>
            <a:off x="1451579" y="1018410"/>
            <a:ext cx="9603275" cy="746489"/>
          </a:xfrm>
        </p:spPr>
        <p:txBody>
          <a:bodyPr/>
          <a:lstStyle/>
          <a:p>
            <a:r>
              <a:rPr lang="en-US" dirty="0"/>
              <a:t>Overall Takeaways for Discovery</a:t>
            </a:r>
          </a:p>
        </p:txBody>
      </p:sp>
      <p:sp>
        <p:nvSpPr>
          <p:cNvPr id="3" name="Content Placeholder 2">
            <a:extLst>
              <a:ext uri="{FF2B5EF4-FFF2-40B4-BE49-F238E27FC236}">
                <a16:creationId xmlns:a16="http://schemas.microsoft.com/office/drawing/2014/main" id="{92AB020E-C737-2F38-E9D6-64B32B5C8E7D}"/>
              </a:ext>
            </a:extLst>
          </p:cNvPr>
          <p:cNvSpPr>
            <a:spLocks noGrp="1"/>
          </p:cNvSpPr>
          <p:nvPr>
            <p:ph idx="1"/>
          </p:nvPr>
        </p:nvSpPr>
        <p:spPr>
          <a:xfrm>
            <a:off x="1451579" y="2015732"/>
            <a:ext cx="9603275" cy="4072552"/>
          </a:xfrm>
        </p:spPr>
        <p:txBody>
          <a:bodyPr>
            <a:normAutofit/>
          </a:bodyPr>
          <a:lstStyle/>
          <a:p>
            <a:r>
              <a:rPr lang="en-US" sz="2200" dirty="0"/>
              <a:t>Scope of discovery is: (1) nonprivileged, (2) relevant, (3) proportional</a:t>
            </a:r>
          </a:p>
          <a:p>
            <a:r>
              <a:rPr lang="en-US" sz="2200" dirty="0"/>
              <a:t>Each side makes initial disclosures of basis for their claims or defenses</a:t>
            </a:r>
          </a:p>
          <a:p>
            <a:r>
              <a:rPr lang="en-US" sz="2200" dirty="0"/>
              <a:t>Discovery toolkit: depositions, interrogatories, document requests, requests for admission, mental/physical examination</a:t>
            </a:r>
          </a:p>
          <a:p>
            <a:r>
              <a:rPr lang="en-US" sz="2200" dirty="0"/>
              <a:t>Exceptions to discovery:</a:t>
            </a:r>
          </a:p>
          <a:p>
            <a:pPr lvl="1"/>
            <a:r>
              <a:rPr lang="en-US" sz="2200" dirty="0"/>
              <a:t>Attorney-Client Privilege</a:t>
            </a:r>
          </a:p>
          <a:p>
            <a:pPr lvl="1"/>
            <a:r>
              <a:rPr lang="en-US" sz="2200" dirty="0"/>
              <a:t>Work Product Protection</a:t>
            </a:r>
          </a:p>
          <a:p>
            <a:pPr lvl="1"/>
            <a:r>
              <a:rPr lang="en-US" sz="2200" dirty="0"/>
              <a:t>But the Crime-Fraud Exception overcomes Privilege</a:t>
            </a:r>
          </a:p>
        </p:txBody>
      </p:sp>
    </p:spTree>
    <p:extLst>
      <p:ext uri="{BB962C8B-B14F-4D97-AF65-F5344CB8AC3E}">
        <p14:creationId xmlns:p14="http://schemas.microsoft.com/office/powerpoint/2010/main" val="319213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B6DD1-1160-3606-1D01-0AEBF4643228}"/>
              </a:ext>
            </a:extLst>
          </p:cNvPr>
          <p:cNvSpPr>
            <a:spLocks noGrp="1"/>
          </p:cNvSpPr>
          <p:nvPr>
            <p:ph type="title"/>
          </p:nvPr>
        </p:nvSpPr>
        <p:spPr/>
        <p:txBody>
          <a:bodyPr/>
          <a:lstStyle/>
          <a:p>
            <a:r>
              <a:rPr lang="en-US" dirty="0"/>
              <a:t>II. Summary judgment</a:t>
            </a:r>
          </a:p>
        </p:txBody>
      </p:sp>
    </p:spTree>
    <p:extLst>
      <p:ext uri="{BB962C8B-B14F-4D97-AF65-F5344CB8AC3E}">
        <p14:creationId xmlns:p14="http://schemas.microsoft.com/office/powerpoint/2010/main" val="419350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D02-26BC-D5C7-1DDA-0EF01DCECC4A}"/>
              </a:ext>
            </a:extLst>
          </p:cNvPr>
          <p:cNvSpPr>
            <a:spLocks noGrp="1"/>
          </p:cNvSpPr>
          <p:nvPr>
            <p:ph type="title"/>
          </p:nvPr>
        </p:nvSpPr>
        <p:spPr>
          <a:xfrm>
            <a:off x="1451579" y="995128"/>
            <a:ext cx="9603275" cy="793053"/>
          </a:xfrm>
        </p:spPr>
        <p:txBody>
          <a:bodyPr/>
          <a:lstStyle/>
          <a:p>
            <a:r>
              <a:rPr lang="en-US" dirty="0"/>
              <a:t>Rule 56</a:t>
            </a:r>
          </a:p>
        </p:txBody>
      </p:sp>
      <p:sp>
        <p:nvSpPr>
          <p:cNvPr id="3" name="Content Placeholder 2">
            <a:extLst>
              <a:ext uri="{FF2B5EF4-FFF2-40B4-BE49-F238E27FC236}">
                <a16:creationId xmlns:a16="http://schemas.microsoft.com/office/drawing/2014/main" id="{8A8650F5-50B8-C043-A797-B8347EE16D6F}"/>
              </a:ext>
            </a:extLst>
          </p:cNvPr>
          <p:cNvSpPr>
            <a:spLocks noGrp="1"/>
          </p:cNvSpPr>
          <p:nvPr>
            <p:ph idx="1"/>
          </p:nvPr>
        </p:nvSpPr>
        <p:spPr>
          <a:xfrm>
            <a:off x="1451579" y="2013831"/>
            <a:ext cx="9603275" cy="3985753"/>
          </a:xfrm>
        </p:spPr>
        <p:txBody>
          <a:bodyPr>
            <a:noAutofit/>
          </a:bodyPr>
          <a:lstStyle/>
          <a:p>
            <a:pPr>
              <a:spcBef>
                <a:spcPts val="0"/>
              </a:spcBef>
              <a:spcAft>
                <a:spcPts val="1200"/>
              </a:spcAft>
            </a:pPr>
            <a:r>
              <a:rPr lang="en-US" sz="2400" dirty="0"/>
              <a:t>Either party may move for summary judgment or partial summary judgment</a:t>
            </a:r>
          </a:p>
          <a:p>
            <a:pPr>
              <a:spcBef>
                <a:spcPts val="0"/>
              </a:spcBef>
              <a:spcAft>
                <a:spcPts val="1200"/>
              </a:spcAft>
            </a:pPr>
            <a:r>
              <a:rPr lang="en-US" sz="2400" dirty="0"/>
              <a:t>Can move for summary judgment “at any time until 30 days after the close of all discovery”</a:t>
            </a:r>
          </a:p>
          <a:p>
            <a:pPr>
              <a:spcBef>
                <a:spcPts val="0"/>
              </a:spcBef>
              <a:spcAft>
                <a:spcPts val="1200"/>
              </a:spcAft>
            </a:pPr>
            <a:r>
              <a:rPr lang="en-US" sz="2400" dirty="0"/>
              <a:t>Summary judgment is appropriate if:</a:t>
            </a:r>
          </a:p>
          <a:p>
            <a:pPr lvl="1">
              <a:spcBef>
                <a:spcPts val="0"/>
              </a:spcBef>
              <a:spcAft>
                <a:spcPts val="1200"/>
              </a:spcAft>
            </a:pPr>
            <a:r>
              <a:rPr lang="en-US" sz="2400" dirty="0"/>
              <a:t>There is “no genuine dispute of material fact” AND</a:t>
            </a:r>
          </a:p>
          <a:p>
            <a:pPr lvl="1">
              <a:spcBef>
                <a:spcPts val="0"/>
              </a:spcBef>
              <a:spcAft>
                <a:spcPts val="1200"/>
              </a:spcAft>
            </a:pPr>
            <a:r>
              <a:rPr lang="en-US" sz="2400" dirty="0"/>
              <a:t>The movant “is entitled to judgment as a matter of law”</a:t>
            </a:r>
          </a:p>
        </p:txBody>
      </p:sp>
    </p:spTree>
    <p:extLst>
      <p:ext uri="{BB962C8B-B14F-4D97-AF65-F5344CB8AC3E}">
        <p14:creationId xmlns:p14="http://schemas.microsoft.com/office/powerpoint/2010/main" val="287732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D02-26BC-D5C7-1DDA-0EF01DCECC4A}"/>
              </a:ext>
            </a:extLst>
          </p:cNvPr>
          <p:cNvSpPr>
            <a:spLocks noGrp="1"/>
          </p:cNvSpPr>
          <p:nvPr>
            <p:ph type="title"/>
          </p:nvPr>
        </p:nvSpPr>
        <p:spPr>
          <a:xfrm>
            <a:off x="1451579" y="995128"/>
            <a:ext cx="9603275" cy="793053"/>
          </a:xfrm>
        </p:spPr>
        <p:txBody>
          <a:bodyPr/>
          <a:lstStyle/>
          <a:p>
            <a:r>
              <a:rPr lang="en-US" i="1" dirty="0"/>
              <a:t>Anderson v. Liberty lobby</a:t>
            </a:r>
          </a:p>
        </p:txBody>
      </p:sp>
      <p:sp>
        <p:nvSpPr>
          <p:cNvPr id="3" name="Content Placeholder 2">
            <a:extLst>
              <a:ext uri="{FF2B5EF4-FFF2-40B4-BE49-F238E27FC236}">
                <a16:creationId xmlns:a16="http://schemas.microsoft.com/office/drawing/2014/main" id="{8A8650F5-50B8-C043-A797-B8347EE16D6F}"/>
              </a:ext>
            </a:extLst>
          </p:cNvPr>
          <p:cNvSpPr>
            <a:spLocks noGrp="1"/>
          </p:cNvSpPr>
          <p:nvPr>
            <p:ph idx="1"/>
          </p:nvPr>
        </p:nvSpPr>
        <p:spPr>
          <a:xfrm>
            <a:off x="1451579" y="1969008"/>
            <a:ext cx="9603275" cy="4092679"/>
          </a:xfrm>
        </p:spPr>
        <p:txBody>
          <a:bodyPr>
            <a:normAutofit/>
          </a:bodyPr>
          <a:lstStyle/>
          <a:p>
            <a:pPr>
              <a:spcBef>
                <a:spcPts val="0"/>
              </a:spcBef>
              <a:spcAft>
                <a:spcPts val="1200"/>
              </a:spcAft>
            </a:pPr>
            <a:r>
              <a:rPr lang="en-US" sz="2800" dirty="0"/>
              <a:t>Applying Rule 56:</a:t>
            </a:r>
          </a:p>
          <a:p>
            <a:pPr>
              <a:spcBef>
                <a:spcPts val="0"/>
              </a:spcBef>
              <a:spcAft>
                <a:spcPts val="1200"/>
              </a:spcAft>
            </a:pPr>
            <a:r>
              <a:rPr lang="en-US" sz="2800" dirty="0"/>
              <a:t>The “mere existence of some alleged factual dispute” doesn’t prevent summary judgment</a:t>
            </a:r>
          </a:p>
          <a:p>
            <a:pPr>
              <a:spcBef>
                <a:spcPts val="0"/>
              </a:spcBef>
              <a:spcAft>
                <a:spcPts val="1200"/>
              </a:spcAft>
            </a:pPr>
            <a:r>
              <a:rPr lang="en-US" sz="2800" dirty="0"/>
              <a:t>Instead, the facts must be “material”—i.e., they might affect the outcome of the case under the relevant law</a:t>
            </a:r>
          </a:p>
          <a:p>
            <a:pPr>
              <a:spcBef>
                <a:spcPts val="0"/>
              </a:spcBef>
              <a:spcAft>
                <a:spcPts val="1200"/>
              </a:spcAft>
            </a:pPr>
            <a:r>
              <a:rPr lang="en-US" sz="2800" dirty="0"/>
              <a:t>And the dispute of fact must be “genuine”—i.e., a “reasonable jury” could resolve the factual dispute “in favor of either party”</a:t>
            </a:r>
          </a:p>
        </p:txBody>
      </p:sp>
    </p:spTree>
    <p:extLst>
      <p:ext uri="{BB962C8B-B14F-4D97-AF65-F5344CB8AC3E}">
        <p14:creationId xmlns:p14="http://schemas.microsoft.com/office/powerpoint/2010/main" val="88863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3D47-E62C-ECEA-9BC1-760B37528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BF3F7-17D8-76CD-897E-AB6F16F1C94C}"/>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2FCDD290-C9B3-3452-C62E-54411CC8322E}"/>
              </a:ext>
            </a:extLst>
          </p:cNvPr>
          <p:cNvSpPr>
            <a:spLocks noGrp="1"/>
          </p:cNvSpPr>
          <p:nvPr>
            <p:ph idx="1"/>
          </p:nvPr>
        </p:nvSpPr>
        <p:spPr>
          <a:xfrm>
            <a:off x="1451579" y="2015732"/>
            <a:ext cx="9717164" cy="4003103"/>
          </a:xfrm>
        </p:spPr>
        <p:txBody>
          <a:bodyPr>
            <a:normAutofit lnSpcReduction="10000"/>
          </a:bodyPr>
          <a:lstStyle/>
          <a:p>
            <a:r>
              <a:rPr lang="en-US" sz="2800" dirty="0"/>
              <a:t>Plaintiff claims Defendant negligently caused a car wreck. State law makes it negligent to text while driving.</a:t>
            </a:r>
          </a:p>
          <a:p>
            <a:r>
              <a:rPr lang="en-US" sz="2800" dirty="0"/>
              <a:t>Witness A’s deposition: “The car had tangerine colored paint”</a:t>
            </a:r>
          </a:p>
          <a:p>
            <a:r>
              <a:rPr lang="en-US" sz="2800" dirty="0"/>
              <a:t>Witness B’s deposition: “The car was kind of burnt orange-</a:t>
            </a:r>
            <a:r>
              <a:rPr lang="en-US" sz="2800" dirty="0" err="1"/>
              <a:t>ish</a:t>
            </a:r>
            <a:r>
              <a:rPr lang="en-US" sz="2800" dirty="0"/>
              <a:t>”</a:t>
            </a:r>
          </a:p>
          <a:p>
            <a:r>
              <a:rPr lang="en-US" sz="2800" dirty="0"/>
              <a:t>Is that a genuine dispute of material fact?</a:t>
            </a:r>
          </a:p>
          <a:p>
            <a:r>
              <a:rPr lang="en-US" sz="2800" u="sng" dirty="0"/>
              <a:t>No</a:t>
            </a:r>
            <a:r>
              <a:rPr lang="en-US" sz="2800" dirty="0"/>
              <a:t>, the color of the car isn’t </a:t>
            </a:r>
            <a:r>
              <a:rPr lang="en-US" sz="2800" u="sng" dirty="0"/>
              <a:t>material</a:t>
            </a:r>
            <a:r>
              <a:rPr lang="en-US" sz="2800" dirty="0"/>
              <a:t> to the case, because it isn’t relevant to whether Defendant was texting</a:t>
            </a:r>
            <a:endParaRPr lang="en-US" sz="2800" u="sng" dirty="0"/>
          </a:p>
        </p:txBody>
      </p:sp>
    </p:spTree>
    <p:extLst>
      <p:ext uri="{BB962C8B-B14F-4D97-AF65-F5344CB8AC3E}">
        <p14:creationId xmlns:p14="http://schemas.microsoft.com/office/powerpoint/2010/main" val="203841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08B49-DAC1-E14D-C8B1-F35728E4E64F}"/>
              </a:ext>
            </a:extLst>
          </p:cNvPr>
          <p:cNvSpPr>
            <a:spLocks noGrp="1"/>
          </p:cNvSpPr>
          <p:nvPr>
            <p:ph type="title"/>
          </p:nvPr>
        </p:nvSpPr>
        <p:spPr>
          <a:xfrm>
            <a:off x="1451579" y="1016149"/>
            <a:ext cx="9603275" cy="751012"/>
          </a:xfrm>
        </p:spPr>
        <p:txBody>
          <a:bodyPr/>
          <a:lstStyle/>
          <a:p>
            <a:r>
              <a:rPr lang="en-US" i="1" dirty="0"/>
              <a:t>Matsushita v. Zenith</a:t>
            </a:r>
          </a:p>
        </p:txBody>
      </p:sp>
      <p:sp>
        <p:nvSpPr>
          <p:cNvPr id="3" name="Content Placeholder 2">
            <a:extLst>
              <a:ext uri="{FF2B5EF4-FFF2-40B4-BE49-F238E27FC236}">
                <a16:creationId xmlns:a16="http://schemas.microsoft.com/office/drawing/2014/main" id="{85131FF7-9273-91F5-31D7-E33B063CD14F}"/>
              </a:ext>
            </a:extLst>
          </p:cNvPr>
          <p:cNvSpPr>
            <a:spLocks noGrp="1"/>
          </p:cNvSpPr>
          <p:nvPr>
            <p:ph idx="1"/>
          </p:nvPr>
        </p:nvSpPr>
        <p:spPr>
          <a:xfrm>
            <a:off x="1451579" y="2015732"/>
            <a:ext cx="9603275" cy="3946529"/>
          </a:xfrm>
        </p:spPr>
        <p:txBody>
          <a:bodyPr>
            <a:normAutofit lnSpcReduction="10000"/>
          </a:bodyPr>
          <a:lstStyle/>
          <a:p>
            <a:r>
              <a:rPr lang="en-US" sz="2800" dirty="0"/>
              <a:t>So:</a:t>
            </a:r>
          </a:p>
          <a:p>
            <a:r>
              <a:rPr lang="en-US" sz="2800" dirty="0"/>
              <a:t>Ask what evidence the parties can present,</a:t>
            </a:r>
          </a:p>
          <a:p>
            <a:r>
              <a:rPr lang="en-US" sz="2800" dirty="0"/>
              <a:t>And what reasonable </a:t>
            </a:r>
            <a:r>
              <a:rPr lang="en-US" sz="2800" u="sng" dirty="0"/>
              <a:t>inferences</a:t>
            </a:r>
            <a:r>
              <a:rPr lang="en-US" sz="2800" dirty="0"/>
              <a:t> a jury could draw from that evidence,</a:t>
            </a:r>
          </a:p>
          <a:p>
            <a:r>
              <a:rPr lang="en-US" sz="2800" dirty="0"/>
              <a:t>If a jury could not reasonably draw inferences in favor of one of the parties, the court should grant summary judgment against that party</a:t>
            </a:r>
          </a:p>
        </p:txBody>
      </p:sp>
    </p:spTree>
    <p:extLst>
      <p:ext uri="{BB962C8B-B14F-4D97-AF65-F5344CB8AC3E}">
        <p14:creationId xmlns:p14="http://schemas.microsoft.com/office/powerpoint/2010/main" val="297501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1C0FB-9BA1-9D82-F709-9A00B5B83C6F}"/>
              </a:ext>
            </a:extLst>
          </p:cNvPr>
          <p:cNvSpPr>
            <a:spLocks noGrp="1"/>
          </p:cNvSpPr>
          <p:nvPr>
            <p:ph type="title"/>
          </p:nvPr>
        </p:nvSpPr>
        <p:spPr/>
        <p:txBody>
          <a:bodyPr/>
          <a:lstStyle/>
          <a:p>
            <a:r>
              <a:rPr lang="en-US" dirty="0"/>
              <a:t>Some Hypos:</a:t>
            </a:r>
          </a:p>
        </p:txBody>
      </p:sp>
    </p:spTree>
    <p:extLst>
      <p:ext uri="{BB962C8B-B14F-4D97-AF65-F5344CB8AC3E}">
        <p14:creationId xmlns:p14="http://schemas.microsoft.com/office/powerpoint/2010/main" val="787618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810A-037B-22F8-31E2-A36E02E4E5CD}"/>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89101F57-F407-8B1C-A36E-748FFF261901}"/>
              </a:ext>
            </a:extLst>
          </p:cNvPr>
          <p:cNvSpPr>
            <a:spLocks noGrp="1"/>
          </p:cNvSpPr>
          <p:nvPr>
            <p:ph idx="1"/>
          </p:nvPr>
        </p:nvSpPr>
        <p:spPr>
          <a:xfrm>
            <a:off x="1451579" y="2015732"/>
            <a:ext cx="9717164" cy="4003103"/>
          </a:xfrm>
        </p:spPr>
        <p:txBody>
          <a:bodyPr>
            <a:normAutofit lnSpcReduction="10000"/>
          </a:bodyPr>
          <a:lstStyle/>
          <a:p>
            <a:r>
              <a:rPr lang="en-US" sz="2800" dirty="0"/>
              <a:t>Plaintiff claims Defendant negligently caused a car wreck. State law makes it negligent to text while driving.</a:t>
            </a:r>
          </a:p>
          <a:p>
            <a:r>
              <a:rPr lang="en-US" sz="2800" dirty="0"/>
              <a:t>Plaintiff’s deposition: “As the car veered into mine, I saw Defendant texting.”</a:t>
            </a:r>
          </a:p>
          <a:p>
            <a:r>
              <a:rPr lang="en-US" sz="2800" dirty="0"/>
              <a:t>Defendant’s deposition: “I was not texting.”</a:t>
            </a:r>
          </a:p>
          <a:p>
            <a:r>
              <a:rPr lang="en-US" sz="2800" dirty="0"/>
              <a:t>Plaintiff moves for summary judgment. Should the court grant it?</a:t>
            </a:r>
          </a:p>
          <a:p>
            <a:r>
              <a:rPr lang="en-US" sz="2800" u="sng" dirty="0"/>
              <a:t>No</a:t>
            </a:r>
            <a:r>
              <a:rPr lang="en-US" sz="2800" dirty="0"/>
              <a:t>, factual dispute about whether Defendant was texting</a:t>
            </a:r>
          </a:p>
        </p:txBody>
      </p:sp>
    </p:spTree>
    <p:extLst>
      <p:ext uri="{BB962C8B-B14F-4D97-AF65-F5344CB8AC3E}">
        <p14:creationId xmlns:p14="http://schemas.microsoft.com/office/powerpoint/2010/main" val="387838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810A-037B-22F8-31E2-A36E02E4E5CD}"/>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89101F57-F407-8B1C-A36E-748FFF261901}"/>
              </a:ext>
            </a:extLst>
          </p:cNvPr>
          <p:cNvSpPr>
            <a:spLocks noGrp="1"/>
          </p:cNvSpPr>
          <p:nvPr>
            <p:ph idx="1"/>
          </p:nvPr>
        </p:nvSpPr>
        <p:spPr>
          <a:xfrm>
            <a:off x="1451579" y="2015732"/>
            <a:ext cx="9603275" cy="4003103"/>
          </a:xfrm>
        </p:spPr>
        <p:txBody>
          <a:bodyPr>
            <a:normAutofit lnSpcReduction="10000"/>
          </a:bodyPr>
          <a:lstStyle/>
          <a:p>
            <a:r>
              <a:rPr lang="en-US" sz="2800" dirty="0"/>
              <a:t>Plaintiff claims Defendant negligently caused a car wreck. State law makes it negligent to text while driving.</a:t>
            </a:r>
          </a:p>
          <a:p>
            <a:r>
              <a:rPr lang="en-US" sz="2800" dirty="0"/>
              <a:t>Plaintiff’s deposition: “As the car veered into mine, I saw Defendant texting.”</a:t>
            </a:r>
          </a:p>
          <a:p>
            <a:r>
              <a:rPr lang="en-US" sz="2800" dirty="0"/>
              <a:t>Defendant’s deposition: “I was not texting.”</a:t>
            </a:r>
          </a:p>
          <a:p>
            <a:r>
              <a:rPr lang="en-US" sz="2800" dirty="0"/>
              <a:t>Defendant moves for summary judgment. Grant it?</a:t>
            </a:r>
          </a:p>
          <a:p>
            <a:r>
              <a:rPr lang="en-US" sz="2800" u="sng" dirty="0"/>
              <a:t>No</a:t>
            </a:r>
            <a:r>
              <a:rPr lang="en-US" sz="2800" dirty="0"/>
              <a:t>, factual dispute about whether Defendant was texting</a:t>
            </a:r>
            <a:endParaRPr lang="en-US" sz="2800" u="sng" dirty="0"/>
          </a:p>
        </p:txBody>
      </p:sp>
    </p:spTree>
    <p:extLst>
      <p:ext uri="{BB962C8B-B14F-4D97-AF65-F5344CB8AC3E}">
        <p14:creationId xmlns:p14="http://schemas.microsoft.com/office/powerpoint/2010/main" val="269875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810A-037B-22F8-31E2-A36E02E4E5CD}"/>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89101F57-F407-8B1C-A36E-748FFF261901}"/>
              </a:ext>
            </a:extLst>
          </p:cNvPr>
          <p:cNvSpPr>
            <a:spLocks noGrp="1"/>
          </p:cNvSpPr>
          <p:nvPr>
            <p:ph idx="1"/>
          </p:nvPr>
        </p:nvSpPr>
        <p:spPr>
          <a:xfrm>
            <a:off x="1451579" y="2015732"/>
            <a:ext cx="9603275" cy="4003103"/>
          </a:xfrm>
        </p:spPr>
        <p:txBody>
          <a:bodyPr>
            <a:normAutofit lnSpcReduction="10000"/>
          </a:bodyPr>
          <a:lstStyle/>
          <a:p>
            <a:r>
              <a:rPr lang="en-US" sz="2800" dirty="0"/>
              <a:t>Plaintiff claims Defendant negligently caused a car wreck. State law makes it negligent to text while driving.</a:t>
            </a:r>
          </a:p>
          <a:p>
            <a:r>
              <a:rPr lang="en-US" sz="2800" dirty="0"/>
              <a:t>Plaintiff’s deposition: “As the car veered into mine, I saw Defendant texting.”</a:t>
            </a:r>
          </a:p>
          <a:p>
            <a:r>
              <a:rPr lang="en-US" sz="2800" dirty="0"/>
              <a:t>Defendant’s deposition: “Yeah, I was texting.”</a:t>
            </a:r>
          </a:p>
          <a:p>
            <a:r>
              <a:rPr lang="en-US" sz="2800" dirty="0"/>
              <a:t>Plaintiff moves for summary judgment. Grant it?</a:t>
            </a:r>
          </a:p>
          <a:p>
            <a:r>
              <a:rPr lang="en-US" sz="2800" u="sng" dirty="0"/>
              <a:t>Yes</a:t>
            </a:r>
            <a:r>
              <a:rPr lang="en-US" sz="2800" dirty="0"/>
              <a:t>, undisputed that D was texting, and that’s legally negligent</a:t>
            </a:r>
            <a:endParaRPr lang="en-US" sz="2800" u="sng" dirty="0"/>
          </a:p>
        </p:txBody>
      </p:sp>
    </p:spTree>
    <p:extLst>
      <p:ext uri="{BB962C8B-B14F-4D97-AF65-F5344CB8AC3E}">
        <p14:creationId xmlns:p14="http://schemas.microsoft.com/office/powerpoint/2010/main" val="296508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810A-037B-22F8-31E2-A36E02E4E5CD}"/>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89101F57-F407-8B1C-A36E-748FFF261901}"/>
              </a:ext>
            </a:extLst>
          </p:cNvPr>
          <p:cNvSpPr>
            <a:spLocks noGrp="1"/>
          </p:cNvSpPr>
          <p:nvPr>
            <p:ph idx="1"/>
          </p:nvPr>
        </p:nvSpPr>
        <p:spPr>
          <a:xfrm>
            <a:off x="1451579" y="2015732"/>
            <a:ext cx="9775864" cy="4003103"/>
          </a:xfrm>
        </p:spPr>
        <p:txBody>
          <a:bodyPr>
            <a:normAutofit fontScale="77500" lnSpcReduction="20000"/>
          </a:bodyPr>
          <a:lstStyle/>
          <a:p>
            <a:r>
              <a:rPr lang="en-US" sz="2800" dirty="0"/>
              <a:t>Car wreck. State law makes it negligent to text while driving.</a:t>
            </a:r>
          </a:p>
          <a:p>
            <a:r>
              <a:rPr lang="en-US" sz="2800" dirty="0"/>
              <a:t>Plaintiff’s Complaint reads, in relevant part, “5. On information and belief, Defendant was texting.”</a:t>
            </a:r>
          </a:p>
          <a:p>
            <a:r>
              <a:rPr lang="en-US" sz="2800" dirty="0"/>
              <a:t>Defendant’s Answer: “5. Denied. Defendant was not texting.”</a:t>
            </a:r>
          </a:p>
          <a:p>
            <a:r>
              <a:rPr lang="en-US" sz="2800" dirty="0"/>
              <a:t>The only discovery evidence is Defendant’s deposition, where Defendant said, “I was not texting.”</a:t>
            </a:r>
          </a:p>
          <a:p>
            <a:r>
              <a:rPr lang="en-US" sz="2800" dirty="0"/>
              <a:t>Defendant moves for summary judgment. Grant it?</a:t>
            </a:r>
          </a:p>
          <a:p>
            <a:r>
              <a:rPr lang="en-US" sz="2800" u="sng" dirty="0"/>
              <a:t>Yes</a:t>
            </a:r>
            <a:r>
              <a:rPr lang="en-US" sz="2800" dirty="0"/>
              <a:t>, at summary judgment we need </a:t>
            </a:r>
            <a:r>
              <a:rPr lang="en-US" sz="2800" u="sng" dirty="0"/>
              <a:t>facts</a:t>
            </a:r>
            <a:r>
              <a:rPr lang="en-US" sz="2800" dirty="0"/>
              <a:t>, not just the Complaint, and there’s no factual dispute here because the only testimony is that Defendant was not texting</a:t>
            </a:r>
            <a:endParaRPr lang="en-US" sz="2800" u="sng" dirty="0"/>
          </a:p>
        </p:txBody>
      </p:sp>
    </p:spTree>
    <p:extLst>
      <p:ext uri="{BB962C8B-B14F-4D97-AF65-F5344CB8AC3E}">
        <p14:creationId xmlns:p14="http://schemas.microsoft.com/office/powerpoint/2010/main" val="167880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810A-037B-22F8-31E2-A36E02E4E5CD}"/>
              </a:ext>
            </a:extLst>
          </p:cNvPr>
          <p:cNvSpPr>
            <a:spLocks noGrp="1"/>
          </p:cNvSpPr>
          <p:nvPr>
            <p:ph type="title"/>
          </p:nvPr>
        </p:nvSpPr>
        <p:spPr>
          <a:xfrm>
            <a:off x="1451579" y="1098087"/>
            <a:ext cx="9603275" cy="587136"/>
          </a:xfrm>
        </p:spPr>
        <p:txBody>
          <a:bodyPr/>
          <a:lstStyle/>
          <a:p>
            <a:r>
              <a:rPr lang="en-US" dirty="0" err="1"/>
              <a:t>HypO</a:t>
            </a:r>
            <a:endParaRPr lang="en-US" dirty="0"/>
          </a:p>
        </p:txBody>
      </p:sp>
      <p:sp>
        <p:nvSpPr>
          <p:cNvPr id="3" name="Content Placeholder 2">
            <a:extLst>
              <a:ext uri="{FF2B5EF4-FFF2-40B4-BE49-F238E27FC236}">
                <a16:creationId xmlns:a16="http://schemas.microsoft.com/office/drawing/2014/main" id="{89101F57-F407-8B1C-A36E-748FFF261901}"/>
              </a:ext>
            </a:extLst>
          </p:cNvPr>
          <p:cNvSpPr>
            <a:spLocks noGrp="1"/>
          </p:cNvSpPr>
          <p:nvPr>
            <p:ph idx="1"/>
          </p:nvPr>
        </p:nvSpPr>
        <p:spPr>
          <a:xfrm>
            <a:off x="1451579" y="1951988"/>
            <a:ext cx="9775864" cy="4132162"/>
          </a:xfrm>
        </p:spPr>
        <p:txBody>
          <a:bodyPr>
            <a:normAutofit fontScale="85000" lnSpcReduction="20000"/>
          </a:bodyPr>
          <a:lstStyle/>
          <a:p>
            <a:r>
              <a:rPr lang="en-US" sz="2800" dirty="0"/>
              <a:t>Car wreck. State law makes it negligent to text while driving.</a:t>
            </a:r>
          </a:p>
          <a:p>
            <a:r>
              <a:rPr lang="en-US" sz="2800" dirty="0"/>
              <a:t>Defendant’s deposition: “I was not texting.”</a:t>
            </a:r>
          </a:p>
          <a:p>
            <a:r>
              <a:rPr lang="en-US" sz="2800" dirty="0"/>
              <a:t>Plaintiff presents: (1) a printout of Defendant’s friend’s texts, showing a text from Defendant at 10:03; (2) surveillance video showing the wreck at 10:03; (3) a screenshot of Defendant’s phone, one week later, with Siri voice commands turned off.</a:t>
            </a:r>
          </a:p>
          <a:p>
            <a:r>
              <a:rPr lang="en-US" sz="2800" dirty="0"/>
              <a:t>Defendant moves for summary judgment. Grant it?</a:t>
            </a:r>
          </a:p>
          <a:p>
            <a:r>
              <a:rPr lang="en-US" sz="2800" u="sng" dirty="0"/>
              <a:t>No</a:t>
            </a:r>
            <a:r>
              <a:rPr lang="en-US" sz="2800" dirty="0"/>
              <a:t>, the Plaintiff’s evidence is likely enough for a reasonable jury to infer that Defendant was texting</a:t>
            </a:r>
            <a:endParaRPr lang="en-US" sz="2800" u="sng" dirty="0"/>
          </a:p>
        </p:txBody>
      </p:sp>
    </p:spTree>
    <p:extLst>
      <p:ext uri="{BB962C8B-B14F-4D97-AF65-F5344CB8AC3E}">
        <p14:creationId xmlns:p14="http://schemas.microsoft.com/office/powerpoint/2010/main" val="232489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E6D9-FD9B-3957-CC38-34AF4C789D14}"/>
              </a:ext>
            </a:extLst>
          </p:cNvPr>
          <p:cNvSpPr>
            <a:spLocks noGrp="1"/>
          </p:cNvSpPr>
          <p:nvPr>
            <p:ph type="title"/>
          </p:nvPr>
        </p:nvSpPr>
        <p:spPr/>
        <p:txBody>
          <a:bodyPr/>
          <a:lstStyle/>
          <a:p>
            <a:r>
              <a:rPr lang="en-US" i="1" dirty="0"/>
              <a:t>Celotex</a:t>
            </a:r>
            <a:r>
              <a:rPr lang="en-US" dirty="0"/>
              <a:t> and Burden of proof</a:t>
            </a:r>
            <a:endParaRPr lang="en-US" i="1" dirty="0"/>
          </a:p>
        </p:txBody>
      </p:sp>
    </p:spTree>
    <p:extLst>
      <p:ext uri="{BB962C8B-B14F-4D97-AF65-F5344CB8AC3E}">
        <p14:creationId xmlns:p14="http://schemas.microsoft.com/office/powerpoint/2010/main" val="3531382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02BE-F1FC-FEC5-4AAB-258FCF8F102C}"/>
              </a:ext>
            </a:extLst>
          </p:cNvPr>
          <p:cNvSpPr>
            <a:spLocks noGrp="1"/>
          </p:cNvSpPr>
          <p:nvPr>
            <p:ph type="title"/>
          </p:nvPr>
        </p:nvSpPr>
        <p:spPr>
          <a:xfrm>
            <a:off x="1451579" y="1047680"/>
            <a:ext cx="9603275" cy="687950"/>
          </a:xfrm>
        </p:spPr>
        <p:txBody>
          <a:bodyPr/>
          <a:lstStyle/>
          <a:p>
            <a:r>
              <a:rPr lang="en-US" i="1" dirty="0"/>
              <a:t>Celotex</a:t>
            </a:r>
          </a:p>
        </p:txBody>
      </p:sp>
      <p:sp>
        <p:nvSpPr>
          <p:cNvPr id="3" name="Content Placeholder 2">
            <a:extLst>
              <a:ext uri="{FF2B5EF4-FFF2-40B4-BE49-F238E27FC236}">
                <a16:creationId xmlns:a16="http://schemas.microsoft.com/office/drawing/2014/main" id="{76FF4EE4-076D-C489-52F3-3D7D4D2A3E40}"/>
              </a:ext>
            </a:extLst>
          </p:cNvPr>
          <p:cNvSpPr>
            <a:spLocks noGrp="1"/>
          </p:cNvSpPr>
          <p:nvPr>
            <p:ph idx="1"/>
          </p:nvPr>
        </p:nvSpPr>
        <p:spPr>
          <a:xfrm>
            <a:off x="1451579" y="2015732"/>
            <a:ext cx="9783980" cy="4048737"/>
          </a:xfrm>
        </p:spPr>
        <p:txBody>
          <a:bodyPr>
            <a:normAutofit fontScale="85000" lnSpcReduction="10000"/>
          </a:bodyPr>
          <a:lstStyle/>
          <a:p>
            <a:pPr>
              <a:spcBef>
                <a:spcPts val="0"/>
              </a:spcBef>
              <a:spcAft>
                <a:spcPts val="1200"/>
              </a:spcAft>
            </a:pPr>
            <a:r>
              <a:rPr lang="en-US" sz="2800" dirty="0"/>
              <a:t>At trial, plaintiff bears </a:t>
            </a:r>
            <a:r>
              <a:rPr lang="en-US" sz="2800" u="sng" dirty="0"/>
              <a:t>burden of production</a:t>
            </a:r>
            <a:r>
              <a:rPr lang="en-US" sz="2800" dirty="0"/>
              <a:t> and </a:t>
            </a:r>
            <a:r>
              <a:rPr lang="en-US" sz="2800" u="sng" dirty="0"/>
              <a:t>burden of persuasion</a:t>
            </a:r>
            <a:r>
              <a:rPr lang="en-US" sz="2800" dirty="0"/>
              <a:t> on their claims</a:t>
            </a:r>
          </a:p>
          <a:p>
            <a:pPr>
              <a:spcBef>
                <a:spcPts val="0"/>
              </a:spcBef>
              <a:spcAft>
                <a:spcPts val="1200"/>
              </a:spcAft>
            </a:pPr>
            <a:r>
              <a:rPr lang="en-US" sz="2800" dirty="0"/>
              <a:t>So plaintiff must produce evidence, and that evidence must persuade jury that plaintiff’s story is more likely true, by </a:t>
            </a:r>
            <a:r>
              <a:rPr lang="en-US" sz="2800" u="sng" dirty="0"/>
              <a:t>preponderance of the evidence</a:t>
            </a:r>
          </a:p>
          <a:p>
            <a:pPr>
              <a:spcBef>
                <a:spcPts val="0"/>
              </a:spcBef>
              <a:spcAft>
                <a:spcPts val="1200"/>
              </a:spcAft>
            </a:pPr>
            <a:r>
              <a:rPr lang="en-US" sz="2800" dirty="0"/>
              <a:t>At trial, defendant does not have to produce evidence, unless plaintiff has produced sufficient evidence and </a:t>
            </a:r>
            <a:r>
              <a:rPr lang="en-US" sz="2800"/>
              <a:t>defendant must then </a:t>
            </a:r>
            <a:r>
              <a:rPr lang="en-US" sz="2800" dirty="0"/>
              <a:t>rebut that evidence</a:t>
            </a:r>
          </a:p>
          <a:p>
            <a:pPr>
              <a:spcBef>
                <a:spcPts val="0"/>
              </a:spcBef>
              <a:spcAft>
                <a:spcPts val="1200"/>
              </a:spcAft>
            </a:pPr>
            <a:r>
              <a:rPr lang="en-US" sz="2800" dirty="0"/>
              <a:t>For summary judgment, the </a:t>
            </a:r>
            <a:r>
              <a:rPr lang="en-US" sz="2800" u="sng" dirty="0"/>
              <a:t>moving party</a:t>
            </a:r>
            <a:r>
              <a:rPr lang="en-US" sz="2800" dirty="0"/>
              <a:t> has the burden of production and persuasion</a:t>
            </a:r>
          </a:p>
        </p:txBody>
      </p:sp>
    </p:spTree>
    <p:extLst>
      <p:ext uri="{BB962C8B-B14F-4D97-AF65-F5344CB8AC3E}">
        <p14:creationId xmlns:p14="http://schemas.microsoft.com/office/powerpoint/2010/main" val="81493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02BE-F1FC-FEC5-4AAB-258FCF8F102C}"/>
              </a:ext>
            </a:extLst>
          </p:cNvPr>
          <p:cNvSpPr>
            <a:spLocks noGrp="1"/>
          </p:cNvSpPr>
          <p:nvPr>
            <p:ph type="title"/>
          </p:nvPr>
        </p:nvSpPr>
        <p:spPr>
          <a:xfrm>
            <a:off x="1451579" y="1047680"/>
            <a:ext cx="9603275" cy="687950"/>
          </a:xfrm>
        </p:spPr>
        <p:txBody>
          <a:bodyPr/>
          <a:lstStyle/>
          <a:p>
            <a:r>
              <a:rPr lang="en-US" i="1" dirty="0"/>
              <a:t>Celotex</a:t>
            </a:r>
          </a:p>
        </p:txBody>
      </p:sp>
      <p:sp>
        <p:nvSpPr>
          <p:cNvPr id="3" name="Content Placeholder 2">
            <a:extLst>
              <a:ext uri="{FF2B5EF4-FFF2-40B4-BE49-F238E27FC236}">
                <a16:creationId xmlns:a16="http://schemas.microsoft.com/office/drawing/2014/main" id="{76FF4EE4-076D-C489-52F3-3D7D4D2A3E40}"/>
              </a:ext>
            </a:extLst>
          </p:cNvPr>
          <p:cNvSpPr>
            <a:spLocks noGrp="1"/>
          </p:cNvSpPr>
          <p:nvPr>
            <p:ph idx="1"/>
          </p:nvPr>
        </p:nvSpPr>
        <p:spPr>
          <a:xfrm>
            <a:off x="1451579" y="2015732"/>
            <a:ext cx="9783980" cy="4048737"/>
          </a:xfrm>
        </p:spPr>
        <p:txBody>
          <a:bodyPr>
            <a:normAutofit/>
          </a:bodyPr>
          <a:lstStyle/>
          <a:p>
            <a:pPr>
              <a:spcBef>
                <a:spcPts val="0"/>
              </a:spcBef>
              <a:spcAft>
                <a:spcPts val="1200"/>
              </a:spcAft>
            </a:pPr>
            <a:r>
              <a:rPr lang="en-US" sz="2800" dirty="0"/>
              <a:t>Therefore:</a:t>
            </a:r>
          </a:p>
          <a:p>
            <a:pPr>
              <a:spcBef>
                <a:spcPts val="0"/>
              </a:spcBef>
              <a:spcAft>
                <a:spcPts val="1200"/>
              </a:spcAft>
            </a:pPr>
            <a:r>
              <a:rPr lang="en-US" sz="2800" dirty="0"/>
              <a:t>Summary judgment is appropriate against a party that failed to produce enough evidence to “establish the existence of an element essential to that party’s case, and on which that party will bear the burden of proof at trial”</a:t>
            </a:r>
          </a:p>
        </p:txBody>
      </p:sp>
    </p:spTree>
    <p:extLst>
      <p:ext uri="{BB962C8B-B14F-4D97-AF65-F5344CB8AC3E}">
        <p14:creationId xmlns:p14="http://schemas.microsoft.com/office/powerpoint/2010/main" val="295032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8D2D-9495-F628-1239-942C448F5587}"/>
              </a:ext>
            </a:extLst>
          </p:cNvPr>
          <p:cNvSpPr>
            <a:spLocks noGrp="1"/>
          </p:cNvSpPr>
          <p:nvPr>
            <p:ph type="title"/>
          </p:nvPr>
        </p:nvSpPr>
        <p:spPr/>
        <p:txBody>
          <a:bodyPr/>
          <a:lstStyle/>
          <a:p>
            <a:r>
              <a:rPr lang="en-US" dirty="0"/>
              <a:t>III. Takeaways</a:t>
            </a:r>
          </a:p>
        </p:txBody>
      </p:sp>
    </p:spTree>
    <p:extLst>
      <p:ext uri="{BB962C8B-B14F-4D97-AF65-F5344CB8AC3E}">
        <p14:creationId xmlns:p14="http://schemas.microsoft.com/office/powerpoint/2010/main" val="3929659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85F4-10BA-CE89-6221-3B82E26CCEA0}"/>
              </a:ext>
            </a:extLst>
          </p:cNvPr>
          <p:cNvSpPr>
            <a:spLocks noGrp="1"/>
          </p:cNvSpPr>
          <p:nvPr>
            <p:ph type="title"/>
          </p:nvPr>
        </p:nvSpPr>
        <p:spPr>
          <a:xfrm>
            <a:off x="1451579" y="1047680"/>
            <a:ext cx="9603275" cy="687950"/>
          </a:xfrm>
        </p:spPr>
        <p:txBody>
          <a:bodyPr/>
          <a:lstStyle/>
          <a:p>
            <a:r>
              <a:rPr lang="en-US" dirty="0"/>
              <a:t>Key takeaways for Summary Judgment</a:t>
            </a:r>
          </a:p>
        </p:txBody>
      </p:sp>
      <p:sp>
        <p:nvSpPr>
          <p:cNvPr id="3" name="Content Placeholder 2">
            <a:extLst>
              <a:ext uri="{FF2B5EF4-FFF2-40B4-BE49-F238E27FC236}">
                <a16:creationId xmlns:a16="http://schemas.microsoft.com/office/drawing/2014/main" id="{8E33A92F-2D8F-FBD2-CA8E-29ED08D226F6}"/>
              </a:ext>
            </a:extLst>
          </p:cNvPr>
          <p:cNvSpPr>
            <a:spLocks noGrp="1"/>
          </p:cNvSpPr>
          <p:nvPr>
            <p:ph idx="1"/>
          </p:nvPr>
        </p:nvSpPr>
        <p:spPr>
          <a:xfrm>
            <a:off x="1451579" y="1963180"/>
            <a:ext cx="9973166" cy="4132819"/>
          </a:xfrm>
        </p:spPr>
        <p:txBody>
          <a:bodyPr>
            <a:normAutofit fontScale="85000" lnSpcReduction="10000"/>
          </a:bodyPr>
          <a:lstStyle/>
          <a:p>
            <a:pPr>
              <a:spcAft>
                <a:spcPts val="1200"/>
              </a:spcAft>
            </a:pPr>
            <a:r>
              <a:rPr lang="en-US" sz="2800" dirty="0"/>
              <a:t>Rule 56: Court should grant motion for summary judgment when there are no genuine disputes of material fact, and the moving party is entitled to judgment as a matter of law</a:t>
            </a:r>
          </a:p>
          <a:p>
            <a:pPr>
              <a:spcAft>
                <a:spcPts val="1200"/>
              </a:spcAft>
            </a:pPr>
            <a:r>
              <a:rPr lang="en-US" sz="2800" dirty="0"/>
              <a:t>Put another way: Summary judgment is appropriate when, viewing the evidence in the light most favorable to the non-moving party, no reasonable jury could decide in favor of the non-moving party (</a:t>
            </a:r>
            <a:r>
              <a:rPr lang="en-US" sz="2800" i="1" dirty="0"/>
              <a:t>Anderson</a:t>
            </a:r>
            <a:r>
              <a:rPr lang="en-US" sz="2800" dirty="0"/>
              <a:t>; </a:t>
            </a:r>
            <a:r>
              <a:rPr lang="en-US" sz="2800" i="1" dirty="0"/>
              <a:t>Celotex</a:t>
            </a:r>
            <a:r>
              <a:rPr lang="en-US" sz="2800" dirty="0"/>
              <a:t>)</a:t>
            </a:r>
          </a:p>
          <a:p>
            <a:pPr>
              <a:spcAft>
                <a:spcPts val="1200"/>
              </a:spcAft>
            </a:pPr>
            <a:r>
              <a:rPr lang="en-US" sz="2800" dirty="0"/>
              <a:t>Can grant summary judgment in whole or in part; </a:t>
            </a:r>
            <a:r>
              <a:rPr lang="en-US" sz="2800"/>
              <a:t>either party can </a:t>
            </a:r>
            <a:r>
              <a:rPr lang="en-US" sz="2800" dirty="0"/>
              <a:t>move for summary judgment at any time up until 30 days after discovery</a:t>
            </a:r>
          </a:p>
        </p:txBody>
      </p:sp>
    </p:spTree>
    <p:extLst>
      <p:ext uri="{BB962C8B-B14F-4D97-AF65-F5344CB8AC3E}">
        <p14:creationId xmlns:p14="http://schemas.microsoft.com/office/powerpoint/2010/main" val="356781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5407</TotalTime>
  <Words>991</Words>
  <Application>Microsoft Macintosh PowerPoint</Application>
  <PresentationFormat>Widescreen</PresentationFormat>
  <Paragraphs>84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Candara</vt:lpstr>
      <vt:lpstr>Gill Sans MT</vt:lpstr>
      <vt:lpstr>Gallery</vt:lpstr>
      <vt:lpstr>Civil Procedure</vt:lpstr>
      <vt:lpstr>Agenda</vt:lpstr>
      <vt:lpstr>I. Recap</vt:lpstr>
      <vt:lpstr>Overall Takeaways for Discovery</vt:lpstr>
      <vt:lpstr>II. Summary judgment</vt:lpstr>
      <vt:lpstr>Rule 56</vt:lpstr>
      <vt:lpstr>Anderson v. Liberty lobby</vt:lpstr>
      <vt:lpstr>Hypo</vt:lpstr>
      <vt:lpstr>Matsushita v. Zenith</vt:lpstr>
      <vt:lpstr>Some Hypos:</vt:lpstr>
      <vt:lpstr>Hypo</vt:lpstr>
      <vt:lpstr>Hypo</vt:lpstr>
      <vt:lpstr>Hypo</vt:lpstr>
      <vt:lpstr>Hypo</vt:lpstr>
      <vt:lpstr>HypO</vt:lpstr>
      <vt:lpstr>Celotex and Burden of proof</vt:lpstr>
      <vt:lpstr>Celotex</vt:lpstr>
      <vt:lpstr>Celotex</vt:lpstr>
      <vt:lpstr>III. Takeaways</vt:lpstr>
      <vt:lpstr>Key takeaways for Summary Judgment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Andrew Lanham</cp:lastModifiedBy>
  <cp:revision>311</cp:revision>
  <dcterms:created xsi:type="dcterms:W3CDTF">2024-08-16T15:30:55Z</dcterms:created>
  <dcterms:modified xsi:type="dcterms:W3CDTF">2026-09-23T15:47:29Z</dcterms:modified>
</cp:coreProperties>
</file>